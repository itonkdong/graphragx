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fa5a7f3a2e4e75" /><Relationship Type="http://schemas.openxmlformats.org/officeDocument/2006/relationships/extended-properties" Target="/docProps/app.xml" Id="R9e1c01174f1c44e9" /><Relationship Type="http://schemas.openxmlformats.org/officeDocument/2006/relationships/officeDocument" Target="/ppt/presentation.xml" Id="R371ae69c374b43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b7dd386cfb4b33"/>
  </p:sldMasterIdLst>
  <p:notesMasterIdLst>
    <p:notesMasterId xmlns:r="http://schemas.openxmlformats.org/officeDocument/2006/relationships" r:id="R8d19420820e54ed6"/>
  </p:notesMasterIdLst>
  <p:sldIdLst>
    <p:sldId xmlns:r="http://schemas.openxmlformats.org/officeDocument/2006/relationships" id="256" r:id="R4f2fb24c77974fae"/>
    <p:sldId xmlns:r="http://schemas.openxmlformats.org/officeDocument/2006/relationships" id="257" r:id="Rfe3008147d9e4f76"/>
    <p:sldId xmlns:r="http://schemas.openxmlformats.org/officeDocument/2006/relationships" id="258" r:id="R574d06c4674342aa"/>
    <p:sldId xmlns:r="http://schemas.openxmlformats.org/officeDocument/2006/relationships" id="259" r:id="Rb83b2f1dfb564081"/>
    <p:sldId xmlns:r="http://schemas.openxmlformats.org/officeDocument/2006/relationships" id="260" r:id="Rcd54878fc74a4944"/>
    <p:sldId xmlns:r="http://schemas.openxmlformats.org/officeDocument/2006/relationships" id="261" r:id="R541dfcc981644d6a"/>
    <p:sldId xmlns:r="http://schemas.openxmlformats.org/officeDocument/2006/relationships" id="262" r:id="R4b649753c36141ca"/>
    <p:sldId xmlns:r="http://schemas.openxmlformats.org/officeDocument/2006/relationships" id="263" r:id="Ref7e4170cd6c4d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e060f56f1c4f16" /><Relationship Type="http://schemas.openxmlformats.org/officeDocument/2006/relationships/slideMaster" Target="/ppt/slideMasters/slideMaster1.xml" Id="R59b7dd386cfb4b33" /><Relationship Type="http://schemas.openxmlformats.org/officeDocument/2006/relationships/notesMaster" Target="/ppt/notesMasters/notesMaster1.xml" Id="R8d19420820e54ed6" /><Relationship Type="http://schemas.openxmlformats.org/officeDocument/2006/relationships/presProps" Target="/ppt/presProps.xml" Id="Rfed548345237407b" /><Relationship Type="http://schemas.openxmlformats.org/officeDocument/2006/relationships/tableStyles" Target="/ppt/tableStyles.xml" Id="Ra938202b68dc46bc" /><Relationship Type="http://schemas.openxmlformats.org/officeDocument/2006/relationships/slide" Target="/ppt/slides/slide1.xml" Id="R4f2fb24c77974fae" /><Relationship Type="http://schemas.openxmlformats.org/officeDocument/2006/relationships/slide" Target="/ppt/slides/slide2.xml" Id="Rfe3008147d9e4f76" /><Relationship Type="http://schemas.openxmlformats.org/officeDocument/2006/relationships/slide" Target="/ppt/slides/slide3.xml" Id="R574d06c4674342aa" /><Relationship Type="http://schemas.openxmlformats.org/officeDocument/2006/relationships/slide" Target="/ppt/slides/slide4.xml" Id="Rb83b2f1dfb564081" /><Relationship Type="http://schemas.openxmlformats.org/officeDocument/2006/relationships/slide" Target="/ppt/slides/slide5.xml" Id="Rcd54878fc74a4944" /><Relationship Type="http://schemas.openxmlformats.org/officeDocument/2006/relationships/slide" Target="/ppt/slides/slide6.xml" Id="R541dfcc981644d6a" /><Relationship Type="http://schemas.openxmlformats.org/officeDocument/2006/relationships/slide" Target="/ppt/slides/slide7.xml" Id="R4b649753c36141ca" /><Relationship Type="http://schemas.openxmlformats.org/officeDocument/2006/relationships/slide" Target="/ppt/slides/slide8.xml" Id="Ref7e4170cd6c4d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ac78399a0846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1ffd5c66854338" /><Relationship Type="http://schemas.openxmlformats.org/officeDocument/2006/relationships/notesMaster" Target="/ppt/notesMasters/notesMaster1.xml" Id="R4062a11d0b9d48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aa49a87a614ce8" /><Relationship Type="http://schemas.openxmlformats.org/officeDocument/2006/relationships/notesMaster" Target="/ppt/notesMasters/notesMaster1.xml" Id="R5edf1e7f11794f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dae1753f534bfb" /><Relationship Type="http://schemas.openxmlformats.org/officeDocument/2006/relationships/notesMaster" Target="/ppt/notesMasters/notesMaster1.xml" Id="Radd3e5e8bfa443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edfd956d594fcc" /><Relationship Type="http://schemas.openxmlformats.org/officeDocument/2006/relationships/notesMaster" Target="/ppt/notesMasters/notesMaster1.xml" Id="R565dd3b14c5140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3bd204d463428a" /><Relationship Type="http://schemas.openxmlformats.org/officeDocument/2006/relationships/notesMaster" Target="/ppt/notesMasters/notesMaster1.xml" Id="R722c06ed113d4c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e17ae96bac454f" /><Relationship Type="http://schemas.openxmlformats.org/officeDocument/2006/relationships/notesMaster" Target="/ppt/notesMasters/notesMaster1.xml" Id="R226c8873431843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41d843e6ff4535" /><Relationship Type="http://schemas.openxmlformats.org/officeDocument/2006/relationships/notesMaster" Target="/ppt/notesMasters/notesMaster1.xml" Id="R8ee6e0616eed44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2f34a79901421f" /><Relationship Type="http://schemas.openxmlformats.org/officeDocument/2006/relationships/notesMaster" Target="/ppt/notesMasters/notesMaster1.xml" Id="R5edcc9c0b6b149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ee02903fb441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ac2affd2f44489" /><Relationship Type="http://schemas.openxmlformats.org/officeDocument/2006/relationships/slideLayout" Target="/ppt/slideLayouts/slideLayout1.xml" Id="Re817eff1ae194e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17eff1ae194e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3a8faa4584e71" /><Relationship Type="http://schemas.openxmlformats.org/officeDocument/2006/relationships/notesSlide" Target="/ppt/notesSlides/notesSlide1.xml" Id="R65c8494f27bb42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d70e8374c4f53" /><Relationship Type="http://schemas.openxmlformats.org/officeDocument/2006/relationships/notesSlide" Target="/ppt/notesSlides/notesSlide2.xml" Id="Re36f8c634d974c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42ecbf7794408" /><Relationship Type="http://schemas.openxmlformats.org/officeDocument/2006/relationships/notesSlide" Target="/ppt/notesSlides/notesSlide3.xml" Id="R77295f9debde48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37a48682a43c3" /><Relationship Type="http://schemas.openxmlformats.org/officeDocument/2006/relationships/notesSlide" Target="/ppt/notesSlides/notesSlide4.xml" Id="R7b25ffbbd0df48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9b71006674426" /><Relationship Type="http://schemas.openxmlformats.org/officeDocument/2006/relationships/notesSlide" Target="/ppt/notesSlides/notesSlide5.xml" Id="Rea75287a5f3647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cc88f6b3fe497d" /><Relationship Type="http://schemas.openxmlformats.org/officeDocument/2006/relationships/notesSlide" Target="/ppt/notesSlides/notesSlide6.xml" Id="R8a4115e1a9e14f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45d82db7a4782" /><Relationship Type="http://schemas.openxmlformats.org/officeDocument/2006/relationships/notesSlide" Target="/ppt/notesSlides/notesSlide7.xml" Id="R49e9f75845d748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256d58b0b84a68" /><Relationship Type="http://schemas.openxmlformats.org/officeDocument/2006/relationships/notesSlide" Target="/ppt/notesSlides/notesSlide8.xml" Id="Rbb90c93a722f4a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404DB6-FD8C-4B75-AE88-A1BDD50B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42809-1B81-43CC-8012-F7387BA9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386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0ADEF5-32E0-45F3-9B70-682E0BAB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67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34697-0827-4642-ACF5-99864BEF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4352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11CA4D-772F-4823-A421-FFD871E1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4956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cxnSp>
        <p:nvCxnSpPr>
          <p:cNvPr id="34" name=""/>
          <p:cNvCxnSpPr>
            <a:stCxn xmlns:a="http://schemas.openxmlformats.org/drawingml/2006/main" id="1" idx="4"/>
            <a:endCxn xmlns:a="http://schemas.openxmlformats.org/drawingml/2006/main" id="2" idx="1"/>
          </p:cNvCxnSpPr>
          <p:nvPr/>
        </p:nvCxnSpPr>
        <p:spPr>
          <a:xfrm xmlns:a="http://schemas.openxmlformats.org/drawingml/2006/main">
            <a:off x="1000125" y="3790950"/>
            <a:ext cx="388693" cy="883993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35" name=""/>
          <p:cNvCxnSpPr>
            <a:stCxn xmlns:a="http://schemas.openxmlformats.org/drawingml/2006/main" id="2" idx="6"/>
            <a:endCxn xmlns:a="http://schemas.openxmlformats.org/drawingml/2006/main" id="3" idx="2"/>
          </p:cNvCxnSpPr>
          <p:nvPr/>
        </p:nvCxnSpPr>
        <p:spPr>
          <a:xfrm xmlns:a="http://schemas.openxmlformats.org/drawingml/2006/main">
            <a:off x="1600200" y="4762500"/>
            <a:ext cx="146685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36" name=""/>
          <p:cNvCxnSpPr>
            <a:stCxn xmlns:a="http://schemas.openxmlformats.org/drawingml/2006/main" id="4" idx="7"/>
            <a:endCxn xmlns:a="http://schemas.openxmlformats.org/drawingml/2006/main" id="5" idx="3"/>
          </p:cNvCxnSpPr>
          <p:nvPr/>
        </p:nvCxnSpPr>
        <p:spPr>
          <a:xfrm xmlns:a="http://schemas.openxmlformats.org/drawingml/2006/main" flipV="1">
            <a:off x="10374557" y="3707057"/>
            <a:ext cx="634510" cy="68213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63AD3-A68F-4503-B67C-C8CF2D45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"/>
            <a:ext cx="93345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Who did Viggo Mortensen play in The Lord of the Rings?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F6BA24-8845-4121-AFF4-EC9ED45B2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762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Прашање од WebQSP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33E658-900C-4829-B424-9CB77216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29813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F87E9-E084-4A59-965C-A923360D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623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Viggo Mortensen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46D52-0F08-4035-B8BF-D573C8F7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099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0215A-F29D-445F-85FA-7FCB4074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337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настап / улога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A3E9B4-54FD-4CF1-AE45-92A9F99E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9813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46A201-6CF1-476E-8F67-E2D1C6FF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95600"/>
            <a:ext cx="685800" cy="685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C393B-CD47-4ED1-AC6D-0B5096B1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E9B69"/>
                </a:solidFill>
                <a:latin typeface="Arial"/>
                <a:ea typeface="Arial"/>
                <a:cs typeface="Arial"/>
              </a:rPr>
              <a:t>Aragorn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662EFB-17EC-4A36-9EF5-C43D9409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219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876BC8-5A60-46AB-B01F-3CC4A846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7054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The Lord of the Rings</a:t>
            </a:r>
          </a:p>
        </p:txBody>
      </p:sp>
      <p:cxnSp>
        <p:nvCxnSpPr>
          <p:cNvPr id="48" name=""/>
          <p:cNvCxnSpPr>
            <a:stCxn xmlns:a="http://schemas.openxmlformats.org/drawingml/2006/main" id="11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>
            <a:off x="2638425" y="3238500"/>
            <a:ext cx="30384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13" idx="6"/>
            <a:endCxn xmlns:a="http://schemas.openxmlformats.org/drawingml/2006/main" id="15" idx="2"/>
          </p:cNvCxnSpPr>
          <p:nvPr/>
        </p:nvCxnSpPr>
        <p:spPr>
          <a:xfrm xmlns:a="http://schemas.openxmlformats.org/drawingml/2006/main">
            <a:off x="6134100" y="3238500"/>
            <a:ext cx="31337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3" idx="4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5905500" y="3467100"/>
            <a:ext cx="0" cy="17526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7A5B09-3C53-40CE-B930-F8E2C3C4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film.actor.film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DBC005-305B-4178-954F-4C0F05E0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098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film.performance.character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BB72D5-DF00-47F6-A238-A187F623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98D84"/>
                </a:solidFill>
                <a:latin typeface="Arial"/>
                <a:ea typeface="Arial"/>
                <a:cs typeface="Arial"/>
              </a:rPr>
              <a:t>film.performance.film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C60FCB-BC0F-40A2-9ACE-998B04EA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9528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почетен ентитет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2FBBD0-1674-4BF6-9D71-3D5FABC7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528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9B69"/>
                </a:solidFill>
                <a:latin typeface="Arial"/>
                <a:ea typeface="Arial"/>
                <a:cs typeface="Arial"/>
              </a:rPr>
              <a:t>точен одговор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67A2D1-45E0-4C75-9670-425CC530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388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две последователни релации</a:t>
            </a:r>
          </a:p>
        </p:txBody>
      </p:sp>
    </p:spTree>
    <p:extLst>
      <p:ext uri="{BB962C8B-B14F-4D97-AF65-F5344CB8AC3E}">
        <p14:creationId xmlns:p14="http://schemas.microsoft.com/office/powerpoint/2010/main" val="12992070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D0F2BB-4493-4F8A-A7DC-8AFDF063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20BA2-5187-43F9-83AB-AA14F47D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4F745B-9D9E-4834-89E4-86996F7B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BA97DB-0131-41DD-982C-A6A5B0D7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cxnSp>
        <p:nvCxnSpPr>
          <p:cNvPr id="47" name=""/>
          <p:cNvCxnSpPr>
            <a:stCxn xmlns:a="http://schemas.openxmlformats.org/drawingml/2006/main" id="1" idx="6"/>
            <a:endCxn xmlns:a="http://schemas.openxmlformats.org/drawingml/2006/main" id="2" idx="2"/>
          </p:cNvCxnSpPr>
          <p:nvPr/>
        </p:nvCxnSpPr>
        <p:spPr>
          <a:xfrm xmlns:a="http://schemas.openxmlformats.org/drawingml/2006/main">
            <a:off x="1638300" y="3314700"/>
            <a:ext cx="2819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2" idx="6"/>
            <a:endCxn xmlns:a="http://schemas.openxmlformats.org/drawingml/2006/main" id="3" idx="2"/>
          </p:cNvCxnSpPr>
          <p:nvPr/>
        </p:nvCxnSpPr>
        <p:spPr>
          <a:xfrm xmlns:a="http://schemas.openxmlformats.org/drawingml/2006/main">
            <a:off x="4591050" y="3314700"/>
            <a:ext cx="28670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3" idx="6"/>
            <a:endCxn xmlns:a="http://schemas.openxmlformats.org/drawingml/2006/main" id="4" idx="2"/>
          </p:cNvCxnSpPr>
          <p:nvPr/>
        </p:nvCxnSpPr>
        <p:spPr>
          <a:xfrm xmlns:a="http://schemas.openxmlformats.org/drawingml/2006/main">
            <a:off x="7591425" y="3314700"/>
            <a:ext cx="2819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FDD1B-766B-417B-A1CE-9959DBFF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95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7970B-3DE7-4C98-87E2-E12A2402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2288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B7B1B-0139-4F48-B46E-0F920A7E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71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1C89B4-231E-4C92-A57D-4CD38DEB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800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cxnSp>
        <p:nvCxnSpPr>
          <p:cNvPr id="54" name=""/>
          <p:cNvCxnSpPr>
            <a:stCxn xmlns:a="http://schemas.openxmlformats.org/drawingml/2006/main" id="9" idx="5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1023797" y="2423972"/>
            <a:ext cx="433329" cy="319029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none" w="med" len="med"/>
          </a:ln>
        </p:spPr>
      </p:cxnSp>
      <p:cxnSp>
        <p:nvCxnSpPr>
          <p:cNvPr id="55" name=""/>
          <p:cNvCxnSpPr>
            <a:stCxn xmlns:a="http://schemas.openxmlformats.org/drawingml/2006/main" id="10" idx="7"/>
            <a:endCxn xmlns:a="http://schemas.openxmlformats.org/drawingml/2006/main" id="8" idx="3"/>
          </p:cNvCxnSpPr>
          <p:nvPr/>
        </p:nvCxnSpPr>
        <p:spPr>
          <a:xfrm xmlns:a="http://schemas.openxmlformats.org/drawingml/2006/main" flipV="1">
            <a:off x="890447" y="2971998"/>
            <a:ext cx="566679" cy="233304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none" w="med" len="med"/>
          </a:ln>
        </p:spPr>
      </p:cxnSp>
      <p:cxnSp>
        <p:nvCxnSpPr>
          <p:cNvPr id="56" name=""/>
          <p:cNvCxnSpPr>
            <a:stCxn xmlns:a="http://schemas.openxmlformats.org/drawingml/2006/main" id="11" idx="2"/>
            <a:endCxn xmlns:a="http://schemas.openxmlformats.org/drawingml/2006/main" id="8" idx="6"/>
          </p:cNvCxnSpPr>
          <p:nvPr/>
        </p:nvCxnSpPr>
        <p:spPr>
          <a:xfrm xmlns:a="http://schemas.openxmlformats.org/drawingml/2006/main" flipH="1" flipV="1">
            <a:off x="1733550" y="2857500"/>
            <a:ext cx="428625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non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57B1C2-DF3A-4BF0-9610-558546FB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95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D979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88209-EF57-4019-94BC-C13ABDE1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343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59" name=""/>
          <p:cNvCxnSpPr>
            <a:stCxn xmlns:a="http://schemas.openxmlformats.org/drawingml/2006/main" id="16" idx="5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862247" y="2538272"/>
            <a:ext cx="547629" cy="204729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4F86C6"/>
            </a:solidFill>
            <a:prstDash val="solid"/>
            <a:tailEnd type="none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E520A8-176F-4E6B-85AC-B21D7285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004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61" name=""/>
          <p:cNvCxnSpPr>
            <a:stCxn xmlns:a="http://schemas.openxmlformats.org/drawingml/2006/main" id="18" idx="7"/>
            <a:endCxn xmlns:a="http://schemas.openxmlformats.org/drawingml/2006/main" id="15" idx="3"/>
          </p:cNvCxnSpPr>
          <p:nvPr/>
        </p:nvCxnSpPr>
        <p:spPr>
          <a:xfrm xmlns:a="http://schemas.openxmlformats.org/drawingml/2006/main" flipV="1">
            <a:off x="3862247" y="2971998"/>
            <a:ext cx="547629" cy="261879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A23C"/>
            </a:solidFill>
            <a:prstDash val="solid"/>
            <a:tailEnd type="non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BC5628-7819-4A37-89D8-086F8E0D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63" name=""/>
          <p:cNvCxnSpPr>
            <a:stCxn xmlns:a="http://schemas.openxmlformats.org/drawingml/2006/main" id="20" idx="2"/>
            <a:endCxn xmlns:a="http://schemas.openxmlformats.org/drawingml/2006/main" id="15" idx="6"/>
          </p:cNvCxnSpPr>
          <p:nvPr/>
        </p:nvCxnSpPr>
        <p:spPr>
          <a:xfrm xmlns:a="http://schemas.openxmlformats.org/drawingml/2006/main" flipH="1">
            <a:off x="4686300" y="2762250"/>
            <a:ext cx="438150" cy="952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none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2D1A84-4579-4AC1-8C95-AC6B3391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076450"/>
            <a:ext cx="10477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4441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i₁  i₂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687C9C-4C62-4073-A867-6B7AEFB4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886075"/>
            <a:ext cx="1047750" cy="523875"/>
          </a:xfrm>
          <a:prstGeom xmlns:a="http://schemas.openxmlformats.org/drawingml/2006/main" prst="roundRect">
            <a:avLst>
              <a:gd name="adj" fmla="val 25455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GNN</a:t>
            </a:r>
          </a:p>
        </p:txBody>
      </p:sp>
      <p:cxnSp>
        <p:nvCxnSpPr>
          <p:cNvPr id="66" name=""/>
          <p:cNvCxnSpPr>
            <a:stCxn xmlns:a="http://schemas.openxmlformats.org/drawingml/2006/main" id="22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7524750" y="2476500"/>
            <a:ext cx="0" cy="4095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64A2"/>
            </a:solidFill>
            <a:prstDash val="solid"/>
            <a:tailEnd type="triangle" w="sm" len="sm"/>
          </a:ln>
        </p:spPr>
      </p:cxnSp>
      <p:cxnSp>
        <p:nvCxnSpPr>
          <p:cNvPr id="67" name=""/>
          <p:cNvCxnSpPr>
            <a:stCxn xmlns:a="http://schemas.openxmlformats.org/drawingml/2006/main" id="23" idx="3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V="1">
            <a:off x="8048625" y="2276475"/>
            <a:ext cx="0" cy="871538"/>
          </a:xfrm>
          <a:prstGeom xmlns:a="http://schemas.openxmlformats.org/drawingml/2006/main" prst="curvedConnector2">
            <a:avLst/>
          </a:prstGeom>
          <a:ln xmlns:a="http://schemas.openxmlformats.org/drawingml/2006/main" w="23813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832D3A-23CA-4335-AC5C-BE4E740E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7336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31D41D-B890-49A3-94D6-6C2D9B68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81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CADB0C-83D3-48E7-AFC8-C8676AA8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790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19B4F9-C297-47B1-B7B6-869C6D0F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371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7B380A-50EC-420D-A6C8-3A30EF96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286000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cxnSp>
        <p:nvCxnSpPr>
          <p:cNvPr id="73" name=""/>
          <p:cNvCxnSpPr>
            <a:stCxn xmlns:a="http://schemas.openxmlformats.org/drawingml/2006/main" id="26" idx="7"/>
            <a:endCxn xmlns:a="http://schemas.openxmlformats.org/drawingml/2006/main" id="27" idx="3"/>
          </p:cNvCxnSpPr>
          <p:nvPr/>
        </p:nvCxnSpPr>
        <p:spPr>
          <a:xfrm xmlns:a="http://schemas.openxmlformats.org/drawingml/2006/main" flipV="1">
            <a:off x="9688757" y="2576372"/>
            <a:ext cx="441220" cy="19357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27" idx="5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10291622" y="2576372"/>
            <a:ext cx="447955" cy="24793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28" idx="7"/>
            <a:endCxn xmlns:a="http://schemas.openxmlformats.org/drawingml/2006/main" id="29" idx="3"/>
          </p:cNvCxnSpPr>
          <p:nvPr/>
        </p:nvCxnSpPr>
        <p:spPr>
          <a:xfrm xmlns:a="http://schemas.openxmlformats.org/drawingml/2006/main" flipV="1">
            <a:off x="10901222" y="2583107"/>
            <a:ext cx="422170" cy="24119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3146C1-89C0-4AC2-96AD-6B8AAA68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Агрегација на</a:t>
            </a:r>
          </a:p>
          <a:p xmlns:a="http://schemas.openxmlformats.org/drawingml/2006/main">
            <a:pPr algn="ctr">
              <a:defRPr sz="18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соседството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C28090-3A42-4522-BA25-A8D9BA9D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GraphSAGE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4F4AB6-BFA5-4A5A-AA50-644ECCB2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Релациско</a:t>
            </a:r>
          </a:p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моделирање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A537B1-A8B3-430A-9A85-DA0ACFCF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Advance GraphSAGE</a:t>
            </a:r>
          </a:p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R-GCN · HGT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29068B-D355-4A97-BECF-46761D34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Приспособливо</a:t>
            </a:r>
          </a:p>
          <a:p xmlns:a="http://schemas.openxmlformats.org/drawingml/2006/main">
            <a:pPr algn="ctr">
              <a:defRPr sz="180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расудување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D5E9D4-E6FC-4428-8043-0C76CBC4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ReaRev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F62B6A-12E6-4956-BDB1-796FFD12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Расудување по</a:t>
            </a:r>
          </a:p>
          <a:p xmlns:a="http://schemas.openxmlformats.org/drawingml/2006/main">
            <a:pPr algn="ctr">
              <a:defRPr sz="180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релациски патеки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8E2418-3C1A-4013-80EB-C14DBCE2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NBFNet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85EF85D-CA4A-47A2-B78E-946CD453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Од локална агрегација кон расудување по патеки условени од прашањето</a:t>
            </a:r>
          </a:p>
        </p:txBody>
      </p:sp>
    </p:spTree>
    <p:extLst>
      <p:ext uri="{BB962C8B-B14F-4D97-AF65-F5344CB8AC3E}">
        <p14:creationId xmlns:p14="http://schemas.microsoft.com/office/powerpoint/2010/main" val="2906189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F639E1-69B8-43ED-9DFA-62CC48A6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GraphSAGE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A793C0-D3F1-410A-8635-273BCA01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Advance GraphSAGE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91E60-82F4-427D-8440-D6AE2870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3875"/>
            <a:ext cx="19050" cy="557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DC87C-8E0E-40A0-AA21-5B6151C4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000125"/>
            <a:ext cx="171450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прашање  q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7469B5-FD90-4458-98AA-EF39EA81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000125"/>
            <a:ext cx="142875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A9B4BE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cos(q, r)</a:t>
            </a:r>
          </a:p>
        </p:txBody>
      </p:sp>
      <p:cxnSp>
        <p:nvCxnSpPr>
          <p:cNvPr id="4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667125" y="1247775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63C29-5C65-4D9B-9322-F43CD407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114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84071-E944-4085-8271-8823937B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49" name=""/>
          <p:cNvCxnSpPr>
            <a:stCxn xmlns:a="http://schemas.openxmlformats.org/drawingml/2006/main" id="8" idx="5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1835733" y="2454858"/>
            <a:ext cx="1247857" cy="723982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801260-BA23-4F8C-8C85-F6EAFF02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66988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DB19FA-AF71-41EE-BA44-5155E682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1" idx="6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1647825" y="3333750"/>
            <a:ext cx="13716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5A23C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8CB857-4A3A-418A-8DF8-EB402828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6938" y="32575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ACC65-F8FC-434E-B62C-D36DAC70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55" name=""/>
          <p:cNvCxnSpPr>
            <a:stCxn xmlns:a="http://schemas.openxmlformats.org/drawingml/2006/main" id="14" idx="0"/>
            <a:endCxn xmlns:a="http://schemas.openxmlformats.org/drawingml/2006/main" id="7" idx="4"/>
          </p:cNvCxnSpPr>
          <p:nvPr/>
        </p:nvCxnSpPr>
        <p:spPr>
          <a:xfrm xmlns:a="http://schemas.openxmlformats.org/drawingml/2006/main" flipH="1" flipV="1">
            <a:off x="3238500" y="3552825"/>
            <a:ext cx="1428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ACE465-E047-4313-8011-1C55CBC6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438" y="3709988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550F9A-6854-4B7B-B919-476BF2FA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86100"/>
            <a:ext cx="1000125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оценка</a:t>
            </a:r>
          </a:p>
        </p:txBody>
      </p:sp>
      <p:cxnSp>
        <p:nvCxnSpPr>
          <p:cNvPr id="58" name=""/>
          <p:cNvCxnSpPr>
            <a:stCxn xmlns:a="http://schemas.openxmlformats.org/drawingml/2006/main" id="7" idx="6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3457575" y="3333750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AAFC4E-00D9-4885-B182-AA73CED3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Фиксно семантичко пондерирање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6BD4EB-173A-43ED-928E-FE4173C0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000125"/>
            <a:ext cx="171450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прашање  q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E21DBB-E635-4C16-8D1D-494F5C37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000125"/>
            <a:ext cx="219075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научена порта  α(q, r)</a:t>
            </a:r>
          </a:p>
        </p:txBody>
      </p:sp>
      <p:cxnSp>
        <p:nvCxnSpPr>
          <p:cNvPr id="62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8953500" y="1247775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97942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361760-EA68-4343-AB90-714CD953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14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D9794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EB07BB-0E22-4A30-80E8-66CF4E64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62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65" name=""/>
          <p:cNvCxnSpPr>
            <a:stCxn xmlns:a="http://schemas.openxmlformats.org/drawingml/2006/main" id="24" idx="5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312608" y="2454858"/>
            <a:ext cx="1247857" cy="72398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23" idx="1"/>
            <a:endCxn xmlns:a="http://schemas.openxmlformats.org/drawingml/2006/main" id="24" idx="5"/>
          </p:cNvCxnSpPr>
          <p:nvPr/>
        </p:nvCxnSpPr>
        <p:spPr>
          <a:xfrm xmlns:a="http://schemas.openxmlformats.org/drawingml/2006/main" flipH="1" flipV="1">
            <a:off x="7312608" y="2454858"/>
            <a:ext cx="1247857" cy="723982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1AD987-447B-49E0-B610-253014BC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66988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812B98-B92C-4BEE-BD4C-B4C38862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69" name=""/>
          <p:cNvCxnSpPr>
            <a:stCxn xmlns:a="http://schemas.openxmlformats.org/drawingml/2006/main" id="28" idx="6"/>
            <a:endCxn xmlns:a="http://schemas.openxmlformats.org/drawingml/2006/main" id="23" idx="2"/>
          </p:cNvCxnSpPr>
          <p:nvPr/>
        </p:nvCxnSpPr>
        <p:spPr>
          <a:xfrm xmlns:a="http://schemas.openxmlformats.org/drawingml/2006/main" flipV="1">
            <a:off x="7124700" y="3333750"/>
            <a:ext cx="13716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A23C"/>
            </a:solidFill>
            <a:prstDash val="solid"/>
            <a:tailEnd type="triangle" w="sm" len="sm"/>
          </a:ln>
        </p:spPr>
      </p:cxnSp>
      <p:cxnSp>
        <p:nvCxnSpPr>
          <p:cNvPr id="70" name=""/>
          <p:cNvCxnSpPr>
            <a:stCxn xmlns:a="http://schemas.openxmlformats.org/drawingml/2006/main" id="23" idx="2"/>
            <a:endCxn xmlns:a="http://schemas.openxmlformats.org/drawingml/2006/main" id="28" idx="6"/>
          </p:cNvCxnSpPr>
          <p:nvPr/>
        </p:nvCxnSpPr>
        <p:spPr>
          <a:xfrm xmlns:a="http://schemas.openxmlformats.org/drawingml/2006/main" flipH="1">
            <a:off x="7124700" y="3333750"/>
            <a:ext cx="13716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6A6498-6B65-433A-8B02-A829B3D4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3813" y="32575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133F87-F92C-4C9D-B9A2-4FC5D513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73" name=""/>
          <p:cNvCxnSpPr>
            <a:stCxn xmlns:a="http://schemas.openxmlformats.org/drawingml/2006/main" id="32" idx="0"/>
            <a:endCxn xmlns:a="http://schemas.openxmlformats.org/drawingml/2006/main" id="23" idx="4"/>
          </p:cNvCxnSpPr>
          <p:nvPr/>
        </p:nvCxnSpPr>
        <p:spPr>
          <a:xfrm xmlns:a="http://schemas.openxmlformats.org/drawingml/2006/main" flipH="1" flipV="1">
            <a:off x="8715375" y="3552825"/>
            <a:ext cx="1428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23" idx="4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8715375" y="3552825"/>
            <a:ext cx="1428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727B9C-14D2-4324-8727-A9A3C51F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6313" y="3709988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242B0E-7EE1-4E08-A48B-542652C3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086100"/>
            <a:ext cx="1000125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оценка</a:t>
            </a:r>
          </a:p>
        </p:txBody>
      </p:sp>
      <p:cxnSp>
        <p:nvCxnSpPr>
          <p:cNvPr id="77" name=""/>
          <p:cNvCxnSpPr>
            <a:stCxn xmlns:a="http://schemas.openxmlformats.org/drawingml/2006/main" id="23" idx="6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8934450" y="3333750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7942"/>
            </a:solidFill>
            <a:prstDash val="solid"/>
            <a:tailEnd type="triangle" w="sm" len="sm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6200C0-F926-4C2B-A2FA-9BD2EA05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43500"/>
            <a:ext cx="1143000" cy="361950"/>
          </a:xfrm>
          <a:prstGeom xmlns:a="http://schemas.openxmlformats.org/drawingml/2006/main" prst="roundRect">
            <a:avLst>
              <a:gd name="adj" fmla="val 36842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A9B4BE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080"/>
                </a:solidFill>
                <a:latin typeface="Arial"/>
                <a:ea typeface="Arial"/>
                <a:cs typeface="Arial"/>
              </a:rPr>
              <a:t>residual</a:t>
            </a:r>
          </a:p>
        </p:txBody>
      </p:sp>
      <p:cxnSp>
        <p:nvCxnSpPr>
          <p:cNvPr id="79" name=""/>
          <p:cNvCxnSpPr>
            <a:stCxn xmlns:a="http://schemas.openxmlformats.org/drawingml/2006/main" id="38" idx="3"/>
            <a:endCxn xmlns:a="http://schemas.openxmlformats.org/drawingml/2006/main" id="36" idx="2"/>
          </p:cNvCxnSpPr>
          <p:nvPr/>
        </p:nvCxnSpPr>
        <p:spPr>
          <a:xfrm xmlns:a="http://schemas.openxmlformats.org/drawingml/2006/main" flipV="1">
            <a:off x="9525000" y="3581400"/>
            <a:ext cx="547688" cy="1743075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A9B4BE"/>
            </a:solidFill>
            <a:prstDash val="solid"/>
            <a:tailEnd type="triangle" w="sm" len="sm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7B7AEE6-D53B-4AEF-B1ED-D3318E08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7150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72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Пондерирање научено за конкретното прашање</a:t>
            </a:r>
          </a:p>
        </p:txBody>
      </p:sp>
    </p:spTree>
    <p:extLst>
      <p:ext uri="{BB962C8B-B14F-4D97-AF65-F5344CB8AC3E}">
        <p14:creationId xmlns:p14="http://schemas.microsoft.com/office/powerpoint/2010/main" val="8620687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0B5F7F-31DD-4E94-A0C2-4699F550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R-GCN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3DBA8-AAB1-4696-9CDB-3EC30EE2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HGT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15323-9123-4BF3-A644-34BB35E9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3875"/>
            <a:ext cx="19050" cy="557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5F7AD-AE18-45FA-91BA-12AB396E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9622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D9794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1FFEA-958D-47AB-84EA-F9A87447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971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E50F79-5D9B-4A1A-BBC9-F5EA62E6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71725"/>
            <a:ext cx="7048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Wᵣ₁</a:t>
            </a:r>
          </a:p>
        </p:txBody>
      </p:sp>
      <p:cxnSp>
        <p:nvCxnSpPr>
          <p:cNvPr id="42" name=""/>
          <p:cNvCxnSpPr>
            <a:stCxn xmlns:a="http://schemas.openxmlformats.org/drawingml/2006/main" id="5" idx="6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076450" y="2143125"/>
            <a:ext cx="116205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F86C6"/>
            </a:solidFill>
            <a:prstDash val="solid"/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6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43350" y="2571750"/>
            <a:ext cx="514630" cy="45748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AB1A9C-6CF6-4C3A-ABC2-210041D9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335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8CA30-EF9A-48B1-B0B5-E964CBA1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57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A22C3-6CFC-4168-B070-5E9CE5BF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152775"/>
            <a:ext cx="7048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A23C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Wᵣ₂</a:t>
            </a:r>
          </a:p>
        </p:txBody>
      </p:sp>
      <p:cxnSp>
        <p:nvCxnSpPr>
          <p:cNvPr id="47" name=""/>
          <p:cNvCxnSpPr>
            <a:stCxn xmlns:a="http://schemas.openxmlformats.org/drawingml/2006/main" id="10" idx="6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1885950" y="3352800"/>
            <a:ext cx="1352550" cy="76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E5A23C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11" idx="3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3943350" y="3190875"/>
            <a:ext cx="447675" cy="1619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5A23C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B5140-A170-4546-B5F1-24FCFEAA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2194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35DA37-C571-4FFE-B140-2DAC4A84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5197F-B1BC-4375-8B8F-9259EBB4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933825"/>
            <a:ext cx="7048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98D84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Wᵣ₃</a:t>
            </a:r>
          </a:p>
        </p:txBody>
      </p:sp>
      <p:cxnSp>
        <p:nvCxnSpPr>
          <p:cNvPr id="52" name=""/>
          <p:cNvCxnSpPr>
            <a:stCxn xmlns:a="http://schemas.openxmlformats.org/drawingml/2006/main" id="15" idx="7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2692983" y="4133850"/>
            <a:ext cx="545517" cy="364542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6" idx="3"/>
            <a:endCxn xmlns:a="http://schemas.openxmlformats.org/drawingml/2006/main" id="4" idx="3"/>
          </p:cNvCxnSpPr>
          <p:nvPr/>
        </p:nvCxnSpPr>
        <p:spPr>
          <a:xfrm xmlns:a="http://schemas.openxmlformats.org/drawingml/2006/main" flipV="1">
            <a:off x="3943350" y="3352520"/>
            <a:ext cx="514630" cy="78133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C528F4-86DA-498F-9DE5-6A4DB851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410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27A028-EF2B-4CAD-B2DA-1FC5CEB8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9622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8064A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C223A1-903A-4D0C-806E-619D3290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24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57" name=""/>
          <p:cNvCxnSpPr>
            <a:stCxn xmlns:a="http://schemas.openxmlformats.org/drawingml/2006/main" id="21" idx="6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7600950" y="2095500"/>
            <a:ext cx="2095780" cy="933730"/>
          </a:xfrm>
          <a:prstGeom xmlns:a="http://schemas.openxmlformats.org/drawingml/2006/main" prst="straightConnector1">
            <a:avLst/>
          </a:prstGeom>
          <a:ln xmlns:a="http://schemas.openxmlformats.org/drawingml/2006/main" w="52388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6D3A98-798F-498D-A38C-87C29511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85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FF3E03-2EE7-401B-89EC-3860036E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488" y="2309813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α₁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EE0E40-5A5C-4399-A00D-38AC8DEF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305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61" name=""/>
          <p:cNvCxnSpPr>
            <a:stCxn xmlns:a="http://schemas.openxmlformats.org/drawingml/2006/main" id="25" idx="6"/>
            <a:endCxn xmlns:a="http://schemas.openxmlformats.org/drawingml/2006/main" id="20" idx="2"/>
          </p:cNvCxnSpPr>
          <p:nvPr/>
        </p:nvCxnSpPr>
        <p:spPr>
          <a:xfrm xmlns:a="http://schemas.openxmlformats.org/drawingml/2006/main" flipV="1">
            <a:off x="7410450" y="3190875"/>
            <a:ext cx="2219325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5A23C"/>
            </a:solidFill>
            <a:prstDash val="solid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01093B-0D59-4FF6-BA5C-6D727A6F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67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CB511F-9FE4-4976-AC60-1B93EC6D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300037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α₂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1D7183-229A-4743-85C3-77FFE988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65" name=""/>
          <p:cNvCxnSpPr>
            <a:stCxn xmlns:a="http://schemas.openxmlformats.org/drawingml/2006/main" id="29" idx="7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V="1">
            <a:off x="8265108" y="3352520"/>
            <a:ext cx="1431622" cy="1145872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0D0C79-898C-429E-A65F-ED15BC56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0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935EA8-AFF4-4306-8DDD-987D60C4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57187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α₃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9AF1A9-608F-475D-8646-5B576EBE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143500"/>
            <a:ext cx="2381250" cy="428625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multi-head attention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FFD31A-2DED-4CF6-A1D6-91443532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816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Трансформација според типот на релацијата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0C31BF-F5E7-41DC-B3AA-8E9441FE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810250"/>
            <a:ext cx="4429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7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Релациски зависна тежина на вниманието</a:t>
            </a:r>
          </a:p>
        </p:txBody>
      </p:sp>
    </p:spTree>
    <p:extLst>
      <p:ext uri="{BB962C8B-B14F-4D97-AF65-F5344CB8AC3E}">
        <p14:creationId xmlns:p14="http://schemas.microsoft.com/office/powerpoint/2010/main" val="18343289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99D2D1-45EF-4D4E-89F8-91544B28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1571625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Прашање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E9041-BD2C-47B8-82CF-EBAC48DB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952500"/>
            <a:ext cx="2095500" cy="1000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Инструкции</a:t>
            </a:r>
          </a:p>
          <a:p xmlns:a="http://schemas.openxmlformats.org/drawingml/2006/main">
            <a:pPr algn="ctr">
              <a:defRPr sz="172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i₁   i₂   i₃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42319-4A6A-41D8-84F4-94272AFA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714625"/>
            <a:ext cx="2095500" cy="1000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Расудување</a:t>
            </a:r>
          </a:p>
          <a:p xmlns:a="http://schemas.openxmlformats.org/drawingml/2006/main">
            <a:pPr algn="ctr">
              <a:defRPr sz="17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над графот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FD6711-A251-436F-9F57-F0D80EC5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29125"/>
            <a:ext cx="20002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398D84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Собрана</a:t>
            </a:r>
          </a:p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информација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41F6B-54D2-493A-8440-20E87B4F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143000"/>
            <a:ext cx="2095500" cy="1000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Ревизија на</a:t>
            </a:r>
          </a:p>
          <a:p xmlns:a="http://schemas.openxmlformats.org/drawingml/2006/main">
            <a:pPr algn="ctr">
              <a:defRPr sz="16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инструкциите</a:t>
            </a:r>
          </a:p>
        </p:txBody>
      </p:sp>
      <p:cxnSp>
        <p:nvCxnSpPr>
          <p:cNvPr id="25" name=""/>
          <p:cNvCxnSpPr>
            <a:stCxn xmlns:a="http://schemas.openxmlformats.org/drawingml/2006/main" id="1" idx="3"/>
            <a:endCxn xmlns:a="http://schemas.openxmlformats.org/drawingml/2006/main" id="2" idx="1"/>
          </p:cNvCxnSpPr>
          <p:nvPr/>
        </p:nvCxnSpPr>
        <p:spPr>
          <a:xfrm xmlns:a="http://schemas.openxmlformats.org/drawingml/2006/main" flipV="1">
            <a:off x="2238375" y="1452563"/>
            <a:ext cx="809625" cy="1500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2" idx="2"/>
            <a:endCxn xmlns:a="http://schemas.openxmlformats.org/drawingml/2006/main" id="3" idx="0"/>
          </p:cNvCxnSpPr>
          <p:nvPr/>
        </p:nvCxnSpPr>
        <p:spPr>
          <a:xfrm xmlns:a="http://schemas.openxmlformats.org/drawingml/2006/main">
            <a:off x="4095750" y="1952625"/>
            <a:ext cx="2047875" cy="762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8064A2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7191375" y="3214688"/>
            <a:ext cx="619125" cy="16906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D97942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4" idx="0"/>
            <a:endCxn xmlns:a="http://schemas.openxmlformats.org/drawingml/2006/main" id="5" idx="2"/>
          </p:cNvCxnSpPr>
          <p:nvPr/>
        </p:nvCxnSpPr>
        <p:spPr>
          <a:xfrm xmlns:a="http://schemas.openxmlformats.org/drawingml/2006/main" flipV="1">
            <a:off x="8810625" y="2143125"/>
            <a:ext cx="1666875" cy="2286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5" idx="1"/>
            <a:endCxn xmlns:a="http://schemas.openxmlformats.org/drawingml/2006/main" id="2" idx="3"/>
          </p:cNvCxnSpPr>
          <p:nvPr/>
        </p:nvCxnSpPr>
        <p:spPr>
          <a:xfrm xmlns:a="http://schemas.openxmlformats.org/drawingml/2006/main" flipH="1" flipV="1">
            <a:off x="5143500" y="1452563"/>
            <a:ext cx="4286250" cy="1905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8064A2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E3BA3-1A06-4D8F-B3F5-C5203B77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762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CAF9BC-BEB0-41D2-813C-D1C5C409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67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0963D0-6E00-4AE6-AC7A-3798471B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196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469C5A-7B14-4E39-A1BD-227195FC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533900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cxnSp>
        <p:nvCxnSpPr>
          <p:cNvPr id="34" name=""/>
          <p:cNvCxnSpPr>
            <a:stCxn xmlns:a="http://schemas.openxmlformats.org/drawingml/2006/main" id="11" idx="6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715000" y="4905375"/>
            <a:ext cx="531568" cy="198193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35" name=""/>
          <p:cNvCxnSpPr>
            <a:stCxn xmlns:a="http://schemas.openxmlformats.org/drawingml/2006/main" id="12" idx="7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V="1">
            <a:off x="6421682" y="4863528"/>
            <a:ext cx="573415" cy="24004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63746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DC1719-E1D0-428C-9034-6AD8F8FD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481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итерација  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94C507-EB0A-4673-B172-7EBE6165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953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следна итерација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052DE2-1935-434C-A2FE-98DC59FE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048375"/>
            <a:ext cx="790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481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Инструкциите се менуваат според информацијата откриена во графот</a:t>
            </a:r>
          </a:p>
        </p:txBody>
      </p:sp>
    </p:spTree>
    <p:extLst>
      <p:ext uri="{BB962C8B-B14F-4D97-AF65-F5344CB8AC3E}">
        <p14:creationId xmlns:p14="http://schemas.microsoft.com/office/powerpoint/2010/main" val="13813739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17C0E8-504B-453D-8789-5335F8AA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l = 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65E7F-2086-498C-8245-A56F3FB5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l =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00092-90D1-4F29-AC8A-56A0BD8D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l =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D2E82-5F62-41C3-95F5-F5F79EA5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Оценки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9745C5-E7ED-468B-8B6F-BFD4B709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000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1CE0FE-3604-4F0A-B318-A8CE4ABA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43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почетен ентитет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5799C-9890-4E2F-B95D-DAF31F61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19250"/>
            <a:ext cx="1047750" cy="57150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9DDC-6541-4919-90F9-E6CBBD9F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иницијализација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ED962B-48F8-4718-8AD3-03EACAF4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669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32DAB4-A2AE-4ACC-9D27-6BC037D0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067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9B778E-E719-4D6A-A9AA-7731B491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43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EAE7B-AA50-4DD5-85F7-FFF57BB3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05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22054-DD1A-48F1-9395-1AF40E50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38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A73E4D-38EE-48BD-80A9-794A2762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52650"/>
            <a:ext cx="647700" cy="647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C286D7-6098-4900-8D53-403AEEF3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813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E9B69"/>
                </a:solidFill>
                <a:latin typeface="Arial"/>
                <a:ea typeface="Arial"/>
                <a:cs typeface="Arial"/>
              </a:rPr>
              <a:t>точен одговор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931C84-99F4-4CC6-8F1E-479CDB20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257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C08B38-5D37-4020-8F00-50C71A27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625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E5A23C"/>
                </a:solidFill>
                <a:latin typeface="Arial"/>
                <a:ea typeface="Arial"/>
                <a:cs typeface="Arial"/>
              </a:rPr>
              <a:t>друг кандидат</a:t>
            </a:r>
          </a:p>
        </p:txBody>
      </p:sp>
      <p:cxnSp>
        <p:nvCxnSpPr>
          <p:cNvPr id="48" name=""/>
          <p:cNvCxnSpPr>
            <a:stCxn xmlns:a="http://schemas.openxmlformats.org/drawingml/2006/main" id="5" idx="6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1666875" y="2238375"/>
            <a:ext cx="225742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9" idx="6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4267200" y="2238375"/>
            <a:ext cx="232410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6934200" y="2476500"/>
            <a:ext cx="2257425" cy="23812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51" name=""/>
          <p:cNvCxnSpPr>
            <a:stCxn xmlns:a="http://schemas.openxmlformats.org/drawingml/2006/main" id="5" idx="6"/>
            <a:endCxn xmlns:a="http://schemas.openxmlformats.org/drawingml/2006/main" id="10" idx="2"/>
          </p:cNvCxnSpPr>
          <p:nvPr/>
        </p:nvCxnSpPr>
        <p:spPr>
          <a:xfrm xmlns:a="http://schemas.openxmlformats.org/drawingml/2006/main">
            <a:off x="1666875" y="3238500"/>
            <a:ext cx="225742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solid"/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0" idx="6"/>
            <a:endCxn xmlns:a="http://schemas.openxmlformats.org/drawingml/2006/main" id="12" idx="2"/>
          </p:cNvCxnSpPr>
          <p:nvPr/>
        </p:nvCxnSpPr>
        <p:spPr>
          <a:xfrm xmlns:a="http://schemas.openxmlformats.org/drawingml/2006/main">
            <a:off x="4267200" y="4238625"/>
            <a:ext cx="232410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solid"/>
            <a:tail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2" idx="6"/>
            <a:endCxn xmlns:a="http://schemas.openxmlformats.org/drawingml/2006/main" id="16" idx="2"/>
          </p:cNvCxnSpPr>
          <p:nvPr/>
        </p:nvCxnSpPr>
        <p:spPr>
          <a:xfrm xmlns:a="http://schemas.openxmlformats.org/drawingml/2006/main">
            <a:off x="6934200" y="4476750"/>
            <a:ext cx="2276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solid"/>
            <a:tailEnd type="triangle" w="sm" len="sm"/>
          </a:ln>
        </p:spPr>
      </p:cxnSp>
      <p:cxnSp>
        <p:nvCxnSpPr>
          <p:cNvPr id="54" name=""/>
          <p:cNvCxnSpPr>
            <a:stCxn xmlns:a="http://schemas.openxmlformats.org/drawingml/2006/main" id="9" idx="5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216983" y="2359608"/>
            <a:ext cx="2424533" cy="199590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A9B4BE"/>
            </a:solidFill>
            <a:prstDash val="dash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D7C959-C049-449D-9C0C-D796BB8F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431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wᵣ₁(q)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6DB5BE-14A7-493E-8FA6-BF8996C0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526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wᵣ₂(q)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26F822-209F-43D6-916E-264CDBA7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09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wᵣ₃(q)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101652-ED6B-4571-A9CE-90522F76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190750"/>
            <a:ext cx="1238250" cy="476250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AF6EE"/>
          </a:solidFill>
          <a:ln xmlns:a="http://schemas.openxmlformats.org/drawingml/2006/main" w="19050">
            <a:solidFill>
              <a:srgbClr val="4E9B69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4E9B69"/>
                </a:solidFill>
                <a:latin typeface="Arial"/>
                <a:ea typeface="Arial"/>
                <a:cs typeface="Arial"/>
              </a:rPr>
              <a:t>висока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73E8ED-BA40-4BE5-BA20-9986EEE3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91000"/>
            <a:ext cx="1238250" cy="476250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A9B4BE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ниска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F26F49-452F-4892-80A5-52BDAC1F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9531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Патеките и релациите се условени од прашањето</a:t>
            </a:r>
          </a:p>
        </p:txBody>
      </p:sp>
    </p:spTree>
    <p:extLst>
      <p:ext uri="{BB962C8B-B14F-4D97-AF65-F5344CB8AC3E}">
        <p14:creationId xmlns:p14="http://schemas.microsoft.com/office/powerpoint/2010/main" val="17628435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50C5A19-34E8-4077-9409-73FCA0DC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Унија на најкратки патеки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22BE7C-F3D5-4E7C-BC9E-071CE7E8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PCST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1E27D6-DC0D-4F45-8857-D90BA28C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3875"/>
            <a:ext cx="19050" cy="557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72BF9-771A-40F8-B172-088AF4FA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219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E315A-ED07-4BA2-9899-42BC0D82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750244-9CFC-4EC8-ADFC-CA265BD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6E14D-AE75-45E8-A21C-D9267007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1790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F527F-343A-4B1A-AA8E-C3B63BB5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886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97389-4374-445F-8805-EF9E8E3E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495300" cy="495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2196C5-74C5-44EF-8DE4-5B9F19FF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57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D2A669-D964-4020-8B68-E97D1ECA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600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cxnSp>
        <p:nvCxnSpPr>
          <p:cNvPr id="51" name=""/>
          <p:cNvCxnSpPr>
            <a:stCxn xmlns:a="http://schemas.openxmlformats.org/drawingml/2006/main" id="4" idx="7"/>
            <a:endCxn xmlns:a="http://schemas.openxmlformats.org/drawingml/2006/main" id="5" idx="3"/>
          </p:cNvCxnSpPr>
          <p:nvPr/>
        </p:nvCxnSpPr>
        <p:spPr>
          <a:xfrm xmlns:a="http://schemas.openxmlformats.org/drawingml/2006/main" flipV="1">
            <a:off x="876498" y="2352873"/>
            <a:ext cx="866378" cy="914003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2" name=""/>
          <p:cNvCxnSpPr>
            <a:stCxn xmlns:a="http://schemas.openxmlformats.org/drawingml/2006/main" id="5" idx="5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1971873" y="2352873"/>
            <a:ext cx="866378" cy="6758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3" name=""/>
          <p:cNvCxnSpPr>
            <a:stCxn xmlns:a="http://schemas.openxmlformats.org/drawingml/2006/main" id="6" idx="7"/>
            <a:endCxn xmlns:a="http://schemas.openxmlformats.org/drawingml/2006/main" id="7" idx="3"/>
          </p:cNvCxnSpPr>
          <p:nvPr/>
        </p:nvCxnSpPr>
        <p:spPr>
          <a:xfrm xmlns:a="http://schemas.openxmlformats.org/drawingml/2006/main" flipV="1">
            <a:off x="3067248" y="2067123"/>
            <a:ext cx="914003" cy="96162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4" name=""/>
          <p:cNvCxnSpPr>
            <a:stCxn xmlns:a="http://schemas.openxmlformats.org/drawingml/2006/main" id="7" idx="5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210248" y="2067123"/>
            <a:ext cx="818753" cy="8663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5" name=""/>
          <p:cNvCxnSpPr>
            <a:stCxn xmlns:a="http://schemas.openxmlformats.org/drawingml/2006/main" id="6" idx="5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67248" y="3257748"/>
            <a:ext cx="675878" cy="12473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6" name=""/>
          <p:cNvCxnSpPr>
            <a:stCxn xmlns:a="http://schemas.openxmlformats.org/drawingml/2006/main" id="10" idx="2"/>
            <a:endCxn xmlns:a="http://schemas.openxmlformats.org/drawingml/2006/main" id="11" idx="6"/>
          </p:cNvCxnSpPr>
          <p:nvPr/>
        </p:nvCxnSpPr>
        <p:spPr>
          <a:xfrm xmlns:a="http://schemas.openxmlformats.org/drawingml/2006/main" flipH="1">
            <a:off x="2019300" y="4619625"/>
            <a:ext cx="167640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7" name=""/>
          <p:cNvCxnSpPr>
            <a:stCxn xmlns:a="http://schemas.openxmlformats.org/drawingml/2006/main" id="11" idx="1"/>
            <a:endCxn xmlns:a="http://schemas.openxmlformats.org/drawingml/2006/main" id="4" idx="5"/>
          </p:cNvCxnSpPr>
          <p:nvPr/>
        </p:nvCxnSpPr>
        <p:spPr>
          <a:xfrm xmlns:a="http://schemas.openxmlformats.org/drawingml/2006/main" flipH="1" flipV="1">
            <a:off x="876498" y="3495873"/>
            <a:ext cx="866378" cy="115212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8" name=""/>
          <p:cNvCxnSpPr>
            <a:stCxn xmlns:a="http://schemas.openxmlformats.org/drawingml/2006/main" id="5" idx="4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857375" y="2400300"/>
            <a:ext cx="0" cy="2200275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E7E896-30B9-4327-9000-D47E5ADF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19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962062-FC95-4A10-8FC6-DC1301C3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A828D7-FCEB-417F-B46A-E6A52F2A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AA7310-7A37-4754-9DDB-9AE679E1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790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D93D1E-A6EF-46F4-8DB3-0049C62A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886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718D61-846B-48F6-846D-E3E20FF2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2800350"/>
            <a:ext cx="495300" cy="495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5C41A7-CE88-4D37-85C2-43E099E2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57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13EB48-6BF6-44CD-B783-4A6C4944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600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cxnSp>
        <p:nvCxnSpPr>
          <p:cNvPr id="67" name=""/>
          <p:cNvCxnSpPr>
            <a:stCxn xmlns:a="http://schemas.openxmlformats.org/drawingml/2006/main" id="20" idx="7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V="1">
            <a:off x="7020123" y="2352873"/>
            <a:ext cx="866378" cy="914003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8" name=""/>
          <p:cNvCxnSpPr>
            <a:stCxn xmlns:a="http://schemas.openxmlformats.org/drawingml/2006/main" id="21" idx="5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8115498" y="2352873"/>
            <a:ext cx="866378" cy="6758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9" name=""/>
          <p:cNvCxnSpPr>
            <a:stCxn xmlns:a="http://schemas.openxmlformats.org/drawingml/2006/main" id="22" idx="7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V="1">
            <a:off x="9210873" y="2067123"/>
            <a:ext cx="914003" cy="96162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70" name=""/>
          <p:cNvCxnSpPr>
            <a:stCxn xmlns:a="http://schemas.openxmlformats.org/drawingml/2006/main" id="23" idx="5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10353873" y="2067123"/>
            <a:ext cx="818753" cy="8663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71" name=""/>
          <p:cNvCxnSpPr>
            <a:stCxn xmlns:a="http://schemas.openxmlformats.org/drawingml/2006/main" id="22" idx="5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9210873" y="3257748"/>
            <a:ext cx="675878" cy="124737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72" name=""/>
          <p:cNvCxnSpPr>
            <a:stCxn xmlns:a="http://schemas.openxmlformats.org/drawingml/2006/main" id="26" idx="2"/>
            <a:endCxn xmlns:a="http://schemas.openxmlformats.org/drawingml/2006/main" id="27" idx="6"/>
          </p:cNvCxnSpPr>
          <p:nvPr/>
        </p:nvCxnSpPr>
        <p:spPr>
          <a:xfrm xmlns:a="http://schemas.openxmlformats.org/drawingml/2006/main" flipH="1">
            <a:off x="8162925" y="4619625"/>
            <a:ext cx="167640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73" name=""/>
          <p:cNvCxnSpPr>
            <a:stCxn xmlns:a="http://schemas.openxmlformats.org/drawingml/2006/main" id="27" idx="1"/>
            <a:endCxn xmlns:a="http://schemas.openxmlformats.org/drawingml/2006/main" id="20" idx="5"/>
          </p:cNvCxnSpPr>
          <p:nvPr/>
        </p:nvCxnSpPr>
        <p:spPr>
          <a:xfrm xmlns:a="http://schemas.openxmlformats.org/drawingml/2006/main" flipH="1" flipV="1">
            <a:off x="7020123" y="3495873"/>
            <a:ext cx="866378" cy="115212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74" name=""/>
          <p:cNvCxnSpPr>
            <a:stCxn xmlns:a="http://schemas.openxmlformats.org/drawingml/2006/main" id="21" idx="4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8001000" y="2400300"/>
            <a:ext cx="0" cy="22002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74E525-49AA-4A6A-A78F-189B3905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768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591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Се задржува патека до секој достижен кандидат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EB55EF-C8B7-45A3-A7B3-B5CF4C3D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8162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Наградите на јазлите се споредуваат со трошоците на рабовите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507523-98D1-4E4D-8DC9-9E01D613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143625"/>
            <a:ext cx="21907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повеќе тројки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6F7C6B-BD38-491E-9901-BD9CE51F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143625"/>
            <a:ext cx="2524125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398D84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компактен подграф</a:t>
            </a:r>
          </a:p>
        </p:txBody>
      </p:sp>
    </p:spTree>
    <p:extLst>
      <p:ext uri="{BB962C8B-B14F-4D97-AF65-F5344CB8AC3E}">
        <p14:creationId xmlns:p14="http://schemas.microsoft.com/office/powerpoint/2010/main" val="18300402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C4E70B-17CD-4B54-B554-D63C61FD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Локален граф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26153-937B-42E3-9F93-55FF9E75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Пребарани</a:t>
            </a:r>
          </a:p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ентитети-кандидати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CE765-6A1D-4F6B-A6B7-F2CE218C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Доказен контекст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E03BE-7C46-4A0F-B89B-79FB50C2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Одговор од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D68129-A0DA-4AA2-8366-933CCCB9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47C14-1CF5-483C-8A28-F118D0E4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9CDC2-688E-43EA-B081-FB4114DA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F325FE-EC34-485F-9079-475FEBEF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cxnSp>
        <p:nvCxnSpPr>
          <p:cNvPr id="49" name=""/>
          <p:cNvCxnSpPr>
            <a:stCxn xmlns:a="http://schemas.openxmlformats.org/drawingml/2006/main" id="5" idx="6"/>
            <a:endCxn xmlns:a="http://schemas.openxmlformats.org/drawingml/2006/main" id="6" idx="2"/>
          </p:cNvCxnSpPr>
          <p:nvPr/>
        </p:nvCxnSpPr>
        <p:spPr>
          <a:xfrm xmlns:a="http://schemas.openxmlformats.org/drawingml/2006/main">
            <a:off x="1619250" y="1647825"/>
            <a:ext cx="2809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6" idx="6"/>
            <a:endCxn xmlns:a="http://schemas.openxmlformats.org/drawingml/2006/main" id="7" idx="2"/>
          </p:cNvCxnSpPr>
          <p:nvPr/>
        </p:nvCxnSpPr>
        <p:spPr>
          <a:xfrm xmlns:a="http://schemas.openxmlformats.org/drawingml/2006/main">
            <a:off x="4524375" y="1647825"/>
            <a:ext cx="2905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51" name=""/>
          <p:cNvCxnSpPr>
            <a:stCxn xmlns:a="http://schemas.openxmlformats.org/drawingml/2006/main" id="7" idx="6"/>
            <a:endCxn xmlns:a="http://schemas.openxmlformats.org/drawingml/2006/main" id="8" idx="2"/>
          </p:cNvCxnSpPr>
          <p:nvPr/>
        </p:nvCxnSpPr>
        <p:spPr>
          <a:xfrm xmlns:a="http://schemas.openxmlformats.org/drawingml/2006/main">
            <a:off x="7524750" y="1647825"/>
            <a:ext cx="2809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6CA5A-C4A7-480D-9398-EC9DE038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28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C7E4DC-1946-4449-BA2B-14B4EC92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05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AC00F2-FEED-405D-99A5-A5140263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933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5BE273-73D7-4D4F-A4C9-0F97E479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2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5BE958-3DF4-4502-8667-751808CD0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67100"/>
            <a:ext cx="40005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EFA3F5-E71A-4C14-BA56-78254A75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7433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cxnSp>
        <p:nvCxnSpPr>
          <p:cNvPr id="58" name=""/>
          <p:cNvCxnSpPr>
            <a:stCxn xmlns:a="http://schemas.openxmlformats.org/drawingml/2006/main" id="12" idx="7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V="1">
            <a:off x="890447" y="2700197"/>
            <a:ext cx="457480" cy="36223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9" name=""/>
          <p:cNvCxnSpPr>
            <a:stCxn xmlns:a="http://schemas.openxmlformats.org/drawingml/2006/main" id="13" idx="5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1509572" y="2700197"/>
            <a:ext cx="505105" cy="26698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0" name=""/>
          <p:cNvCxnSpPr>
            <a:stCxn xmlns:a="http://schemas.openxmlformats.org/drawingml/2006/main" id="14" idx="5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176322" y="3128822"/>
            <a:ext cx="266980" cy="45748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1" name=""/>
          <p:cNvCxnSpPr>
            <a:stCxn xmlns:a="http://schemas.openxmlformats.org/drawingml/2006/main" id="14" idx="3"/>
            <a:endCxn xmlns:a="http://schemas.openxmlformats.org/drawingml/2006/main" id="17" idx="7"/>
          </p:cNvCxnSpPr>
          <p:nvPr/>
        </p:nvCxnSpPr>
        <p:spPr>
          <a:xfrm xmlns:a="http://schemas.openxmlformats.org/drawingml/2006/main" flipH="1">
            <a:off x="1652447" y="3128822"/>
            <a:ext cx="362230" cy="64798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2" name=""/>
          <p:cNvCxnSpPr>
            <a:stCxn xmlns:a="http://schemas.openxmlformats.org/drawingml/2006/main" id="17" idx="1"/>
            <a:endCxn xmlns:a="http://schemas.openxmlformats.org/drawingml/2006/main" id="12" idx="5"/>
          </p:cNvCxnSpPr>
          <p:nvPr/>
        </p:nvCxnSpPr>
        <p:spPr>
          <a:xfrm xmlns:a="http://schemas.openxmlformats.org/drawingml/2006/main" flipH="1" flipV="1">
            <a:off x="890447" y="3224072"/>
            <a:ext cx="600355" cy="55273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286D20-43C8-4352-8484-643A5BED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33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88650-F41B-4960-A092-6291DED0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52675"/>
            <a:ext cx="1190625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2BF957-9F84-4C1B-A87C-3DA04009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813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914CF5-057B-4B73-9985-8CE244EA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895600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1FF980-7EE0-4E86-97F9-33C13809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00375"/>
            <a:ext cx="1019175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EAF6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515BB2-1923-4B71-9426-08127957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290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0577C4-8B18-47B5-9A8A-9432D97D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48075"/>
            <a:ext cx="847725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2AA956-2E43-4CD9-A660-0C08AC60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2857D8-5E52-46DF-A1F8-BCCD0285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790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B06CF3-3964-4AB2-93A6-56ACDBBD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FC1524-2164-4A69-963A-3FF3B760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71825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cxnSp>
        <p:nvCxnSpPr>
          <p:cNvPr id="74" name=""/>
          <p:cNvCxnSpPr>
            <a:stCxn xmlns:a="http://schemas.openxmlformats.org/drawingml/2006/main" id="30" idx="7"/>
            <a:endCxn xmlns:a="http://schemas.openxmlformats.org/drawingml/2006/main" id="31" idx="3"/>
          </p:cNvCxnSpPr>
          <p:nvPr/>
        </p:nvCxnSpPr>
        <p:spPr>
          <a:xfrm xmlns:a="http://schemas.openxmlformats.org/drawingml/2006/main" flipV="1">
            <a:off x="6707432" y="2985947"/>
            <a:ext cx="688870" cy="450745"/>
          </a:xfrm>
          <a:prstGeom xmlns:a="http://schemas.openxmlformats.org/drawingml/2006/main" prst="straightConnector1">
            <a:avLst/>
          </a:prstGeom>
          <a:ln xmlns:a="http://schemas.openxmlformats.org/drawingml/2006/main" w="26670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31" idx="5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7557947" y="2985947"/>
            <a:ext cx="688870" cy="30787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4ED1AA-93AC-4746-A988-B6629895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867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D040F9-DB14-493F-8C37-BC193B2E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909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вратен одговор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056F4F-3E97-49CD-B1FE-C5207B31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898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4E9B69"/>
                </a:solidFill>
                <a:latin typeface="Arial"/>
                <a:ea typeface="Arial"/>
                <a:cs typeface="Arial"/>
              </a:rPr>
              <a:t>точниот ентитет е присутен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8756FE-D72B-49CC-AE79-13C21C5B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но не е вратен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630469-9639-4D07-9F87-88CBD1B8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9055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Загубата може да настане и по пребарувањето</a:t>
            </a:r>
          </a:p>
        </p:txBody>
      </p:sp>
    </p:spTree>
    <p:extLst>
      <p:ext uri="{BB962C8B-B14F-4D97-AF65-F5344CB8AC3E}">
        <p14:creationId xmlns:p14="http://schemas.microsoft.com/office/powerpoint/2010/main" val="9963336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2026-09-07T19:32:39.3400000Z</dcterms:created>
  <dcterms:modified xsi:type="dcterms:W3CDTF">2026-09-07T19:32:39.3400000Z</dcterms:modified>
</coreProperties>
</file>