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5"/>
  </p:notesMasterIdLst>
  <p:sldIdLst>
    <p:sldId id="256" r:id="rId2"/>
    <p:sldId id="257" r:id="rId3"/>
    <p:sldId id="258" r:id="rId4"/>
    <p:sldId id="259" r:id="rId5"/>
    <p:sldId id="261" r:id="rId6"/>
    <p:sldId id="260" r:id="rId7"/>
    <p:sldId id="262" r:id="rId8"/>
    <p:sldId id="278"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F86C6"/>
    <a:srgbClr val="617080"/>
    <a:srgbClr val="26374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724"/>
    <p:restoredTop sz="70959"/>
  </p:normalViewPr>
  <p:slideViewPr>
    <p:cSldViewPr snapToGrid="0">
      <p:cViewPr varScale="1">
        <p:scale>
          <a:sx n="88" d="100"/>
          <a:sy n="88" d="100"/>
        </p:scale>
        <p:origin x="1112"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mk-MK" dirty="0"/>
              <a:t>Да започнеме со едноставен пример. Прашањето е: „На кој континент се наоѓа Колосеумот?“</a:t>
            </a:r>
          </a:p>
          <a:p>
            <a:endParaRPr lang="mk-MK" dirty="0"/>
          </a:p>
          <a:p>
            <a:r>
              <a:rPr lang="mk-MK" dirty="0"/>
              <a:t>Во прашањето го препознаваме Колосеумот како почетен ентитет. Сепак, одговорот Европа не е непосредно поврзан со него. До него стигнуваме преку Рим и Италија. Локалниот граф содржи и други врски, како гранката кон италијанскиот јазик, кои не се потребни за конкретниот одговор.</a:t>
            </a:r>
          </a:p>
          <a:p>
            <a:endParaRPr lang="mk-MK" dirty="0"/>
          </a:p>
          <a:p>
            <a:r>
              <a:rPr lang="mk-MK" dirty="0"/>
              <a:t>Задачата на системот е да го пронајде точниот ентитет меѓу голем број можности и да ги зачува релациите што објаснуваат зошто тој е точниот одговор.</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mk-MK" dirty="0"/>
              <a:t>Оваа дипломска се надоврзува на две важни насоки.</a:t>
            </a:r>
          </a:p>
          <a:p>
            <a:endParaRPr lang="mk-MK" dirty="0"/>
          </a:p>
          <a:p>
            <a:r>
              <a:rPr lang="en-US" dirty="0"/>
              <a:t>GNN-RAG </a:t>
            </a:r>
            <a:r>
              <a:rPr lang="mk-MK" dirty="0"/>
              <a:t>користи граф </a:t>
            </a:r>
            <a:r>
              <a:rPr lang="mk-MK" dirty="0" err="1"/>
              <a:t>невронска</a:t>
            </a:r>
            <a:r>
              <a:rPr lang="mk-MK" dirty="0"/>
              <a:t> мрежа за рангирање на ентитетите, а потоа ги користи најкратките патеки како доказен контекст за јазичниот модел.</a:t>
            </a:r>
          </a:p>
          <a:p>
            <a:endParaRPr lang="mk-MK" dirty="0"/>
          </a:p>
          <a:p>
            <a:r>
              <a:rPr lang="en-US" dirty="0"/>
              <a:t>G-Retriever, </a:t>
            </a:r>
            <a:r>
              <a:rPr lang="mk-MK" dirty="0"/>
              <a:t>од друга страна, користи </a:t>
            </a:r>
            <a:r>
              <a:rPr lang="en-US" dirty="0"/>
              <a:t>PCST </a:t>
            </a:r>
            <a:r>
              <a:rPr lang="mk-MK" dirty="0"/>
              <a:t>за избор на покомпактен подграф.</a:t>
            </a:r>
          </a:p>
          <a:p>
            <a:endParaRPr lang="mk-MK" dirty="0"/>
          </a:p>
          <a:p>
            <a:r>
              <a:rPr lang="mk-MK" dirty="0"/>
              <a:t>Сепак, недостига контролирана споредба во која различни архитектури за пребарување, стратегии за конструкција на докази и јазични модели се оценуваат во иста рамка. Токму тоа е просторот што го испитува оваа дипломска.</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mk-MK" dirty="0"/>
              <a:t>Системот е организиран во три главни фази.</a:t>
            </a:r>
          </a:p>
          <a:p>
            <a:endParaRPr lang="mk-MK" dirty="0"/>
          </a:p>
          <a:p>
            <a:r>
              <a:rPr lang="mk-MK" dirty="0"/>
              <a:t>Најпрво, граф </a:t>
            </a:r>
            <a:r>
              <a:rPr lang="mk-MK" dirty="0" err="1"/>
              <a:t>невронската</a:t>
            </a:r>
            <a:r>
              <a:rPr lang="mk-MK" dirty="0"/>
              <a:t> мрежа го обработува локалниот граф и ги рангира ентитетите според веројатноста да бидат одговори. Потоа, од избраните ентитети-кандидати се конструира доказен подграф преку најкратки патеки или </a:t>
            </a:r>
            <a:r>
              <a:rPr lang="en-US" dirty="0"/>
              <a:t>PCST. </a:t>
            </a:r>
            <a:r>
              <a:rPr lang="mk-MK" dirty="0"/>
              <a:t>На крај, </a:t>
            </a:r>
            <a:r>
              <a:rPr lang="mk-MK" dirty="0" err="1"/>
              <a:t>подграфот</a:t>
            </a:r>
            <a:r>
              <a:rPr lang="mk-MK" dirty="0"/>
              <a:t> се </a:t>
            </a:r>
            <a:r>
              <a:rPr lang="mk-MK" dirty="0" err="1"/>
              <a:t>текстуализира</a:t>
            </a:r>
            <a:r>
              <a:rPr lang="mk-MK" dirty="0"/>
              <a:t> и се доставува до јазичниот модел, кој го генерира конечниот одговор.</a:t>
            </a:r>
          </a:p>
          <a:p>
            <a:endParaRPr lang="mk-MK" dirty="0"/>
          </a:p>
          <a:p>
            <a:r>
              <a:rPr lang="mk-MK" dirty="0" err="1"/>
              <a:t>Метриките</a:t>
            </a:r>
            <a:r>
              <a:rPr lang="mk-MK" dirty="0"/>
              <a:t> се следат одделно во секоја фаза. На тој начин можеме да утврдиме дали информацијата се губи при пребарувањето, при конструкцијата на контекстот или при генерирањето.</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mk-MK" dirty="0"/>
              <a:t>Евалуацијата е направена врз </a:t>
            </a:r>
            <a:r>
              <a:rPr lang="en-US" dirty="0" err="1"/>
              <a:t>WebQuestionsSP</a:t>
            </a:r>
            <a:r>
              <a:rPr lang="en-US" dirty="0"/>
              <a:t>, </a:t>
            </a:r>
            <a:r>
              <a:rPr lang="mk-MK" dirty="0"/>
              <a:t>односно </a:t>
            </a:r>
            <a:r>
              <a:rPr lang="en-US" dirty="0" err="1"/>
              <a:t>WebQSP</a:t>
            </a:r>
            <a:r>
              <a:rPr lang="en-US" dirty="0"/>
              <a:t>. </a:t>
            </a:r>
            <a:r>
              <a:rPr lang="mk-MK" dirty="0"/>
              <a:t>Податочното множество содржи прашања на природен јазик поврзани со ентитети и релации од </a:t>
            </a:r>
            <a:r>
              <a:rPr lang="en-US" dirty="0"/>
              <a:t>Freebase.</a:t>
            </a:r>
          </a:p>
          <a:p>
            <a:endParaRPr lang="en-US" dirty="0"/>
          </a:p>
          <a:p>
            <a:r>
              <a:rPr lang="mk-MK" dirty="0"/>
              <a:t>Користени се 2.848 примероци за тренирање, 250 за валидација и 1.639 за тестирање. </a:t>
            </a:r>
            <a:r>
              <a:rPr lang="mk-MK" dirty="0" err="1"/>
              <a:t>Валидациското</a:t>
            </a:r>
            <a:r>
              <a:rPr lang="mk-MK" dirty="0"/>
              <a:t> и тест-множеството се обединети за конечната евалуација.</a:t>
            </a:r>
          </a:p>
          <a:p>
            <a:endParaRPr lang="mk-MK" dirty="0"/>
          </a:p>
          <a:p>
            <a:r>
              <a:rPr lang="mk-MK" dirty="0"/>
              <a:t>Секоја архитектура е извршена со три почетни вредности: 42, 1337 и 2026. Се користи праг од 0,7, со најмалку 10 и најмногу 15 ентитети-кандидати. Со задржување на иста постапка за сите модели, споредбата го изолира влијанието на самата архитектура.</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mk-MK" dirty="0"/>
              <a:t>Експериментите се организирани околу три истражувачки прашања.</a:t>
            </a:r>
          </a:p>
          <a:p>
            <a:endParaRPr lang="mk-MK" dirty="0"/>
          </a:p>
          <a:p>
            <a:r>
              <a:rPr lang="mk-MK" dirty="0"/>
              <a:t>Првото е како изборот на </a:t>
            </a:r>
            <a:r>
              <a:rPr lang="en-US" dirty="0"/>
              <a:t>GNN-</a:t>
            </a:r>
            <a:r>
              <a:rPr lang="mk-MK" dirty="0"/>
              <a:t>архитектура влијае врз рангирањето и покриеноста на точните одговори.</a:t>
            </a:r>
          </a:p>
          <a:p>
            <a:endParaRPr lang="mk-MK" dirty="0"/>
          </a:p>
          <a:p>
            <a:r>
              <a:rPr lang="mk-MK" dirty="0"/>
              <a:t>Второто е колку може да се намали доказниот подграф без да се изгубат релевантните информации.</a:t>
            </a:r>
          </a:p>
          <a:p>
            <a:endParaRPr lang="mk-MK" dirty="0"/>
          </a:p>
          <a:p>
            <a:r>
              <a:rPr lang="mk-MK" dirty="0"/>
              <a:t>Третото е како изборот на јазичен модел влијае врз конечната точност и врз искористувањето на информациите што веќе се присутни во контекстот.</a:t>
            </a:r>
          </a:p>
          <a:p>
            <a:endParaRPr lang="mk-MK" dirty="0"/>
          </a:p>
          <a:p>
            <a:r>
              <a:rPr lang="mk-MK" dirty="0"/>
              <a:t>На овие три прашања ќе се вратам во заклучокот.</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mk-MK" dirty="0"/>
              <a:t>Споредени се шест архитектури, распоредени според нивната главна идеја.</a:t>
            </a:r>
          </a:p>
          <a:p>
            <a:endParaRPr lang="mk-MK" dirty="0"/>
          </a:p>
          <a:p>
            <a:r>
              <a:rPr lang="en-US" dirty="0" err="1"/>
              <a:t>GraphSAGE</a:t>
            </a:r>
            <a:r>
              <a:rPr lang="en-US" dirty="0"/>
              <a:t> </a:t>
            </a:r>
            <a:r>
              <a:rPr lang="mk-MK" dirty="0"/>
              <a:t>се заснова на </a:t>
            </a:r>
            <a:r>
              <a:rPr lang="mk-MK" dirty="0" err="1"/>
              <a:t>агрегација</a:t>
            </a:r>
            <a:r>
              <a:rPr lang="mk-MK" dirty="0"/>
              <a:t> на соседството. </a:t>
            </a:r>
            <a:r>
              <a:rPr lang="en-US" dirty="0"/>
              <a:t>Advance </a:t>
            </a:r>
            <a:r>
              <a:rPr lang="en-US" dirty="0" err="1"/>
              <a:t>GraphSAGE</a:t>
            </a:r>
            <a:r>
              <a:rPr lang="en-US" dirty="0"/>
              <a:t>, R-GCN </a:t>
            </a:r>
            <a:r>
              <a:rPr lang="mk-MK" dirty="0"/>
              <a:t>и </a:t>
            </a:r>
            <a:r>
              <a:rPr lang="en-US" dirty="0"/>
              <a:t>HGT </a:t>
            </a:r>
            <a:r>
              <a:rPr lang="mk-MK" dirty="0"/>
              <a:t>подетално ги моделираат типовите на релациите. </a:t>
            </a:r>
            <a:r>
              <a:rPr lang="en-US" dirty="0" err="1"/>
              <a:t>ReaRev</a:t>
            </a:r>
            <a:r>
              <a:rPr lang="en-US" dirty="0"/>
              <a:t> </a:t>
            </a:r>
            <a:r>
              <a:rPr lang="mk-MK" dirty="0"/>
              <a:t>и </a:t>
            </a:r>
            <a:r>
              <a:rPr lang="en-US" dirty="0" err="1"/>
              <a:t>NBFNet</a:t>
            </a:r>
            <a:r>
              <a:rPr lang="en-US" dirty="0"/>
              <a:t> </a:t>
            </a:r>
            <a:r>
              <a:rPr lang="mk-MK" dirty="0"/>
              <a:t>се насочени кон </a:t>
            </a:r>
            <a:r>
              <a:rPr lang="mk-MK" dirty="0" err="1"/>
              <a:t>повеќечекорно</a:t>
            </a:r>
            <a:r>
              <a:rPr lang="mk-MK" dirty="0"/>
              <a:t> расудување условено од прашањето.</a:t>
            </a:r>
          </a:p>
          <a:p>
            <a:endParaRPr lang="mk-MK" dirty="0"/>
          </a:p>
          <a:p>
            <a:r>
              <a:rPr lang="mk-MK" dirty="0"/>
              <a:t>Сите архитектури се приспособени на истата задача: на секој јазол да му доделат веројатност дека претставува можен одговор.</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mk-MK"/>
              <a:t>Пред да ги разгледаме конкретните архитектури, накратко да ја објаснам заедничката идеја на граф невронските мрежи. Целта е да добиеме вектор за секој јазол што ќе ги содржи и неговите почетни својства и информациите од графот.</a:t>
            </a:r>
          </a:p>
          <a:p>
            <a:endParaRPr lang="mk-MK"/>
          </a:p>
          <a:p>
            <a:r>
              <a:rPr lang="mk-MK"/>
              <a:t>Прво, почетните својства на ентитетот ги проектираме во скриена репрезентација. Во секој слој, соседот u испраќа порака до јазолот v. Во овој пример, научена трансформација го обработува векторот на соседот, а тежината w ја одредува важноста на релацијата за прашањето.</a:t>
            </a:r>
          </a:p>
          <a:p>
            <a:endParaRPr lang="mk-MK"/>
          </a:p>
          <a:p>
            <a:r>
              <a:rPr lang="mk-MK"/>
              <a:t>Потоа јазолот ги сумира примените пораки. Агрегатот го спојува со својот тековен вектор и преку научено ажурирање и ReLU добива нова репрезентација. Симболот ℓ го означува слојот, а двојната вертикална црта означува спојување на вектори.</a:t>
            </a:r>
          </a:p>
          <a:p>
            <a:endParaRPr lang="mk-MK"/>
          </a:p>
          <a:p>
            <a:r>
              <a:rPr lang="mk-MK"/>
              <a:t>Кога го повторуваме овој процес низ повеќе слоеви, информацијата стигнува и од подалечни соседи. Овие формули покажуваат еден конкретен пондериран слој, а различните архитектури користат различни функции за пораки, агрегација и ажурирање. Со оваа основа, сега можеме да видиме што прави GraphSAGE и што менуваме во Advance GraphSAGE.</a:t>
            </a:r>
          </a:p>
          <a:p>
            <a:endParaRPr lang="mk-MK"/>
          </a:p>
          <a:p>
            <a:r>
              <a:rPr lang="mk-MK"/>
              <a:t>Извор на формулите: формулите доставени за слајдот и pipeline/preparation/models/gnn_answer_retriever.py, WeightedMessagePassingLayer и GnnAnswerRetriever.entity_projection. Ориентационо време: 60–75 секунди.</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err="1"/>
              <a:t>GraphSAGE</a:t>
            </a:r>
            <a:r>
              <a:rPr lang="en-US" dirty="0"/>
              <a:t> </a:t>
            </a:r>
            <a:r>
              <a:rPr lang="mk-MK" dirty="0"/>
              <a:t>ги создава репрезентациите на јазлите преку </a:t>
            </a:r>
            <a:r>
              <a:rPr lang="mk-MK" dirty="0" err="1"/>
              <a:t>агрегација</a:t>
            </a:r>
            <a:r>
              <a:rPr lang="mk-MK" dirty="0"/>
              <a:t> на информациите од нивните соседи. Во нашата варијанта, пораките по рабовите се пондерираат според </a:t>
            </a:r>
            <a:r>
              <a:rPr lang="mk-MK" dirty="0" err="1"/>
              <a:t>косинусната</a:t>
            </a:r>
            <a:r>
              <a:rPr lang="mk-MK" dirty="0"/>
              <a:t> сличност меѓу прашањето и релацијата.</a:t>
            </a:r>
          </a:p>
          <a:p>
            <a:endParaRPr lang="mk-MK" dirty="0"/>
          </a:p>
          <a:p>
            <a:r>
              <a:rPr lang="en-US" dirty="0"/>
              <a:t>Advance </a:t>
            </a:r>
            <a:r>
              <a:rPr lang="en-US" dirty="0" err="1"/>
              <a:t>GraphSAGE</a:t>
            </a:r>
            <a:r>
              <a:rPr lang="en-US" dirty="0"/>
              <a:t> </a:t>
            </a:r>
            <a:r>
              <a:rPr lang="mk-MK" dirty="0"/>
              <a:t>го заменува ова фиксно пондерирање со научен </a:t>
            </a:r>
            <a:r>
              <a:rPr lang="en-US" dirty="0"/>
              <a:t>gate. </a:t>
            </a:r>
            <a:r>
              <a:rPr lang="mk-MK" dirty="0"/>
              <a:t>Тој ја комбинира репрезентацијата на прашањето со репрезентацијата на релацијата и учи колкаво влијание треба да има конкретната врска.</a:t>
            </a:r>
          </a:p>
          <a:p>
            <a:endParaRPr lang="mk-MK" dirty="0"/>
          </a:p>
          <a:p>
            <a:r>
              <a:rPr lang="mk-MK" dirty="0"/>
              <a:t>Дополнително се користат обратни рабови, резидуални врски, нормализација и класификатор условен од прашањето. Значи, главниот премин е од фиксна семантичка сличност кон научено пондерирање за конкретното прашање.</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R-GCN </a:t>
            </a:r>
            <a:r>
              <a:rPr lang="mk-MK" dirty="0"/>
              <a:t>и </a:t>
            </a:r>
            <a:r>
              <a:rPr lang="en-US" dirty="0"/>
              <a:t>HGT </a:t>
            </a:r>
            <a:r>
              <a:rPr lang="mk-MK" dirty="0"/>
              <a:t>ја задржуваат </a:t>
            </a:r>
            <a:r>
              <a:rPr lang="mk-MK" dirty="0" err="1"/>
              <a:t>релациската</a:t>
            </a:r>
            <a:r>
              <a:rPr lang="mk-MK" dirty="0"/>
              <a:t> структура, но ја моделираат на различен начин.</a:t>
            </a:r>
          </a:p>
          <a:p>
            <a:endParaRPr lang="mk-MK" dirty="0"/>
          </a:p>
          <a:p>
            <a:r>
              <a:rPr lang="mk-MK" dirty="0"/>
              <a:t>Кај </a:t>
            </a:r>
            <a:r>
              <a:rPr lang="en-US" dirty="0"/>
              <a:t>R-GCN, </a:t>
            </a:r>
            <a:r>
              <a:rPr lang="mk-MK" dirty="0"/>
              <a:t>секој тип релација има сопствена трансформација. Пораките што пристигнуваат преку различни релации затоа не се обработуваат идентично. Базната декомпозиција го ограничува бројот параметри.</a:t>
            </a:r>
          </a:p>
          <a:p>
            <a:endParaRPr lang="mk-MK" dirty="0"/>
          </a:p>
          <a:p>
            <a:r>
              <a:rPr lang="en-US" dirty="0"/>
              <a:t>HGT </a:t>
            </a:r>
            <a:r>
              <a:rPr lang="mk-MK" dirty="0"/>
              <a:t>наместо тоа користи </a:t>
            </a:r>
            <a:r>
              <a:rPr lang="mk-MK" dirty="0" err="1"/>
              <a:t>релациски</a:t>
            </a:r>
            <a:r>
              <a:rPr lang="mk-MK" dirty="0"/>
              <a:t> зависен </a:t>
            </a:r>
            <a:r>
              <a:rPr lang="en-US" dirty="0"/>
              <a:t>attention. </a:t>
            </a:r>
            <a:r>
              <a:rPr lang="mk-MK" dirty="0"/>
              <a:t>Моделот учи кои соседи и релации треба да имаат поголемо влијание врз ажурирањето на јазолот.</a:t>
            </a:r>
          </a:p>
          <a:p>
            <a:endParaRPr lang="mk-MK" dirty="0"/>
          </a:p>
          <a:p>
            <a:r>
              <a:rPr lang="mk-MK" dirty="0"/>
              <a:t>Во системот, двете архитектури се приспособени да произведуваат директни оценки за ентитетите-кандидати.</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err="1"/>
              <a:t>ReaRev</a:t>
            </a:r>
            <a:r>
              <a:rPr lang="en-US" dirty="0"/>
              <a:t> </a:t>
            </a:r>
            <a:r>
              <a:rPr lang="mk-MK" dirty="0"/>
              <a:t>воведува приспособлив циклус на расудување.</a:t>
            </a:r>
          </a:p>
          <a:p>
            <a:endParaRPr lang="mk-MK" dirty="0"/>
          </a:p>
          <a:p>
            <a:r>
              <a:rPr lang="mk-MK" dirty="0"/>
              <a:t>Од прашањето најпрво се извлекуваат повеќе инструкции, насочени кон различни негови делови. Овие инструкции го контролираат преносот на пораки низ графот. Собраната информација потоа се користи за ревизија на инструкциите пред следната итерација.</a:t>
            </a:r>
          </a:p>
          <a:p>
            <a:endParaRPr lang="mk-MK" dirty="0"/>
          </a:p>
          <a:p>
            <a:r>
              <a:rPr lang="mk-MK" dirty="0"/>
              <a:t>Во формулата, веројатноста на почетниот јазол, релацијата и тековната инструкција заеднички ја определуваат пораката.</a:t>
            </a:r>
          </a:p>
          <a:p>
            <a:endParaRPr lang="mk-MK" dirty="0"/>
          </a:p>
          <a:p>
            <a:r>
              <a:rPr lang="mk-MK" dirty="0"/>
              <a:t>Главната идеја е дека моделот не мора да го толкува прашањето на ист начин во сите чекори. Тој може да го менува својот фокус според информацијата што веќе ја открил.</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err="1"/>
              <a:t>NBFNet</a:t>
            </a:r>
            <a:r>
              <a:rPr lang="en-US" dirty="0"/>
              <a:t> </a:t>
            </a:r>
            <a:r>
              <a:rPr lang="mk-MK" dirty="0"/>
              <a:t>може да се разбере како научена варијанта на алгоритамот </a:t>
            </a:r>
            <a:r>
              <a:rPr lang="en-US" dirty="0"/>
              <a:t>Bellman–Ford.</a:t>
            </a:r>
          </a:p>
          <a:p>
            <a:endParaRPr lang="en-US" dirty="0"/>
          </a:p>
          <a:p>
            <a:r>
              <a:rPr lang="mk-MK" dirty="0"/>
              <a:t>Репрезентацијата на прашањето прво се поставува во почетните ентитети, додека другите јазли започнуваат од нулта состојба. Потоа информацијата се пренесува по различни </a:t>
            </a:r>
            <a:r>
              <a:rPr lang="mk-MK" dirty="0" err="1"/>
              <a:t>релациски</a:t>
            </a:r>
            <a:r>
              <a:rPr lang="mk-MK" dirty="0"/>
              <a:t> патеки.</a:t>
            </a:r>
          </a:p>
          <a:p>
            <a:endParaRPr lang="mk-MK" dirty="0"/>
          </a:p>
          <a:p>
            <a:r>
              <a:rPr lang="mk-MK" dirty="0"/>
              <a:t>За разлика од класичната верзија на </a:t>
            </a:r>
            <a:r>
              <a:rPr lang="en-US" dirty="0" err="1"/>
              <a:t>NBFNet</a:t>
            </a:r>
            <a:r>
              <a:rPr lang="en-US" dirty="0"/>
              <a:t>, </a:t>
            </a:r>
            <a:r>
              <a:rPr lang="mk-MK" dirty="0"/>
              <a:t>познатата релација од задачата за предвидување врски е заменета со репрезентација на </a:t>
            </a:r>
            <a:r>
              <a:rPr lang="mk-MK" dirty="0" err="1"/>
              <a:t>природнојазичното</a:t>
            </a:r>
            <a:r>
              <a:rPr lang="mk-MK" dirty="0"/>
              <a:t> прашање. Поддржани се и повеќе почетни ентитети.</a:t>
            </a:r>
          </a:p>
          <a:p>
            <a:endParaRPr lang="mk-MK" dirty="0"/>
          </a:p>
          <a:p>
            <a:r>
              <a:rPr lang="mk-MK" dirty="0"/>
              <a:t>Затоа, конечната репрезентација на кандидатот опишува како тој може да се достигне преку патеки релевантни за прашањето.</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mk-MK" dirty="0"/>
              <a:t>Квалитетот на пребарувањето се оценува од два аспекта.</a:t>
            </a:r>
          </a:p>
          <a:p>
            <a:endParaRPr lang="mk-MK" dirty="0"/>
          </a:p>
          <a:p>
            <a:r>
              <a:rPr lang="en-US" dirty="0"/>
              <a:t>Hits@1 </a:t>
            </a:r>
            <a:r>
              <a:rPr lang="mk-MK" dirty="0"/>
              <a:t>и </a:t>
            </a:r>
            <a:r>
              <a:rPr lang="en-US" dirty="0"/>
              <a:t>Hits@10 </a:t>
            </a:r>
            <a:r>
              <a:rPr lang="mk-MK" dirty="0"/>
              <a:t>покажуваат дали барем еден точен одговор се наоѓа меѓу првите еден или десет кандидати. </a:t>
            </a:r>
            <a:r>
              <a:rPr lang="en-US" dirty="0"/>
              <a:t>nDCG@10 </a:t>
            </a:r>
            <a:r>
              <a:rPr lang="mk-MK" dirty="0"/>
              <a:t>дополнително ја зема предвид позицијата на точните одговори и нивниот број.</a:t>
            </a:r>
          </a:p>
          <a:p>
            <a:endParaRPr lang="mk-MK" dirty="0"/>
          </a:p>
          <a:p>
            <a:r>
              <a:rPr lang="en-US" dirty="0" err="1"/>
              <a:t>RetrievalGoldCoverage</a:t>
            </a:r>
            <a:r>
              <a:rPr lang="en-US" dirty="0"/>
              <a:t> </a:t>
            </a:r>
            <a:r>
              <a:rPr lang="mk-MK" dirty="0"/>
              <a:t>го мери просечниот удел на пронајдени точни одговори. </a:t>
            </a:r>
            <a:r>
              <a:rPr lang="en-US" dirty="0" err="1"/>
              <a:t>RetrievalFullGoldCoverage</a:t>
            </a:r>
            <a:r>
              <a:rPr lang="en-US" dirty="0"/>
              <a:t> </a:t>
            </a:r>
            <a:r>
              <a:rPr lang="mk-MK" dirty="0"/>
              <a:t>е построга метрика и бара да бидат пронајдени сите точни одговори за прашањето.</a:t>
            </a:r>
          </a:p>
          <a:p>
            <a:endParaRPr lang="mk-MK" dirty="0"/>
          </a:p>
          <a:p>
            <a:r>
              <a:rPr lang="mk-MK" dirty="0"/>
              <a:t>На пример, ако се пронајдат два од три точни одговори, покриеноста е две третини, но примерокот не се смета за целосно покриен.</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err="1"/>
              <a:t>NBFNet</a:t>
            </a:r>
            <a:r>
              <a:rPr lang="en-US" dirty="0"/>
              <a:t> </a:t>
            </a:r>
            <a:r>
              <a:rPr lang="mk-MK" dirty="0"/>
              <a:t>постигнува најдобар резултат кај секоја главна метрика.</a:t>
            </a:r>
          </a:p>
          <a:p>
            <a:endParaRPr lang="mk-MK" dirty="0"/>
          </a:p>
          <a:p>
            <a:r>
              <a:rPr lang="en-US" dirty="0"/>
              <a:t>Hits@1 </a:t>
            </a:r>
            <a:r>
              <a:rPr lang="mk-MK" dirty="0"/>
              <a:t>изнесува 0,692, </a:t>
            </a:r>
            <a:r>
              <a:rPr lang="en-US" dirty="0"/>
              <a:t>Hits@10 </a:t>
            </a:r>
            <a:r>
              <a:rPr lang="mk-MK" dirty="0"/>
              <a:t>е 0,921, а </a:t>
            </a:r>
            <a:r>
              <a:rPr lang="en-US" dirty="0"/>
              <a:t>nDCG@10 </a:t>
            </a:r>
            <a:r>
              <a:rPr lang="mk-MK" dirty="0"/>
              <a:t>е 0,796. </a:t>
            </a:r>
            <a:r>
              <a:rPr lang="en-US" dirty="0" err="1"/>
              <a:t>RetrievalGoldCoverage</a:t>
            </a:r>
            <a:r>
              <a:rPr lang="en-US" dirty="0"/>
              <a:t> </a:t>
            </a:r>
            <a:r>
              <a:rPr lang="mk-MK" dirty="0"/>
              <a:t>достигнува 0,877, додека целосната покриеност е 0,827. Малите стандардни девијации покажуваат дека резултатите се стабилни меѓу трите извршувања.</a:t>
            </a:r>
          </a:p>
          <a:p>
            <a:endParaRPr lang="mk-MK" dirty="0"/>
          </a:p>
          <a:p>
            <a:r>
              <a:rPr lang="en-US" dirty="0" err="1"/>
              <a:t>ReaRev</a:t>
            </a:r>
            <a:r>
              <a:rPr lang="en-US" dirty="0"/>
              <a:t> </a:t>
            </a:r>
            <a:r>
              <a:rPr lang="mk-MK" dirty="0"/>
              <a:t>е второрангиран, но покажува поголема варијабилност. </a:t>
            </a:r>
            <a:r>
              <a:rPr lang="en-US" dirty="0"/>
              <a:t>Advance </a:t>
            </a:r>
            <a:r>
              <a:rPr lang="en-US" dirty="0" err="1"/>
              <a:t>GraphSAGE</a:t>
            </a:r>
            <a:r>
              <a:rPr lang="en-US" dirty="0"/>
              <a:t>, </a:t>
            </a:r>
            <a:r>
              <a:rPr lang="mk-MK" dirty="0"/>
              <a:t>иако не е најдобар, значително го надминува основниот </a:t>
            </a:r>
            <a:r>
              <a:rPr lang="en-US" dirty="0" err="1"/>
              <a:t>GraphSAGE</a:t>
            </a:r>
            <a:r>
              <a:rPr lang="en-US" dirty="0"/>
              <a:t>. </a:t>
            </a:r>
            <a:r>
              <a:rPr lang="mk-MK" dirty="0"/>
              <a:t>Во практичните извршувања се тренира и многу брзо, па нуди добар однос меѓу едноставноста и резултатите.</a:t>
            </a:r>
          </a:p>
          <a:p>
            <a:endParaRPr lang="mk-MK" dirty="0"/>
          </a:p>
          <a:p>
            <a:r>
              <a:rPr lang="mk-MK" dirty="0"/>
              <a:t>Овие резултати покажуваат дека условувањето со прашањето и експлицитното моделирање на </a:t>
            </a:r>
            <a:r>
              <a:rPr lang="mk-MK" dirty="0" err="1"/>
              <a:t>релациските</a:t>
            </a:r>
            <a:r>
              <a:rPr lang="mk-MK" dirty="0"/>
              <a:t> патеки се особено корисни за оваа задача.</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mk-MK" dirty="0"/>
              <a:t>Откако ќе се изберат кандидатите, треба да се конструира доказниот контекст.</a:t>
            </a:r>
          </a:p>
          <a:p>
            <a:endParaRPr lang="mk-MK" dirty="0"/>
          </a:p>
          <a:p>
            <a:r>
              <a:rPr lang="mk-MK" dirty="0"/>
              <a:t>Првиот пристап ја зема унијата на најкратките патеки од почетните ентитети до секој достижен кандидат. Така се гарантира поврзаност до кандидатите, но унијата може да содржи многу дополнителни тројки.</a:t>
            </a:r>
          </a:p>
          <a:p>
            <a:endParaRPr lang="mk-MK" dirty="0"/>
          </a:p>
          <a:p>
            <a:r>
              <a:rPr lang="en-US" dirty="0"/>
              <a:t>PCST </a:t>
            </a:r>
            <a:r>
              <a:rPr lang="mk-MK" dirty="0"/>
              <a:t>го формулира изборот како рамнотежа меѓу наградите на јазлите и трошоците на рабовите. </a:t>
            </a:r>
            <a:r>
              <a:rPr lang="mk-MK" dirty="0" err="1"/>
              <a:t>Високорангираните</a:t>
            </a:r>
            <a:r>
              <a:rPr lang="mk-MK" dirty="0"/>
              <a:t> кандидати имаат поголеми награди, но кандидат може да биде отфрлен ако неговото поврзување е прескапо.</a:t>
            </a:r>
          </a:p>
          <a:p>
            <a:endParaRPr lang="mk-MK" dirty="0"/>
          </a:p>
          <a:p>
            <a:r>
              <a:rPr lang="mk-MK" dirty="0"/>
              <a:t>Разгледани се константен трошок и семантички трошок, кај кој релациите послични на прашањето се поевтини.</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mk-MK" dirty="0"/>
              <a:t>Кај доказниот контекст не е доволно да се измери само неговата големина.</a:t>
            </a:r>
          </a:p>
          <a:p>
            <a:endParaRPr lang="mk-MK" dirty="0"/>
          </a:p>
          <a:p>
            <a:r>
              <a:rPr lang="en-US" dirty="0" err="1"/>
              <a:t>AverageTriples</a:t>
            </a:r>
            <a:r>
              <a:rPr lang="en-US" dirty="0"/>
              <a:t> </a:t>
            </a:r>
            <a:r>
              <a:rPr lang="mk-MK" dirty="0"/>
              <a:t>го мери просечниот број тројки. </a:t>
            </a:r>
            <a:r>
              <a:rPr lang="en-US" dirty="0" err="1"/>
              <a:t>ContextCandidateCoverage</a:t>
            </a:r>
            <a:r>
              <a:rPr lang="en-US" dirty="0"/>
              <a:t> </a:t>
            </a:r>
            <a:r>
              <a:rPr lang="mk-MK" dirty="0"/>
              <a:t>покажува колкав дел од </a:t>
            </a:r>
            <a:r>
              <a:rPr lang="mk-MK" dirty="0" err="1"/>
              <a:t>пребараните</a:t>
            </a:r>
            <a:r>
              <a:rPr lang="mk-MK" dirty="0"/>
              <a:t> кандидати останале присутни, а </a:t>
            </a:r>
            <a:r>
              <a:rPr lang="en-US" dirty="0" err="1"/>
              <a:t>CandidateReduction</a:t>
            </a:r>
            <a:r>
              <a:rPr lang="en-US" dirty="0"/>
              <a:t> </a:t>
            </a:r>
            <a:r>
              <a:rPr lang="mk-MK" dirty="0"/>
              <a:t>колкав дел бил отфрлен.</a:t>
            </a:r>
          </a:p>
          <a:p>
            <a:endParaRPr lang="mk-MK" dirty="0"/>
          </a:p>
          <a:p>
            <a:r>
              <a:rPr lang="en-US" dirty="0" err="1"/>
              <a:t>ContextGoldCoverage</a:t>
            </a:r>
            <a:r>
              <a:rPr lang="en-US" dirty="0"/>
              <a:t> </a:t>
            </a:r>
            <a:r>
              <a:rPr lang="mk-MK" dirty="0"/>
              <a:t>го мери уделот на точните одговори што останале достапни во контекстот. </a:t>
            </a:r>
            <a:r>
              <a:rPr lang="en-US" dirty="0" err="1"/>
              <a:t>ContextFullGoldCoverage</a:t>
            </a:r>
            <a:r>
              <a:rPr lang="en-US" dirty="0"/>
              <a:t> </a:t>
            </a:r>
            <a:r>
              <a:rPr lang="mk-MK" dirty="0"/>
              <a:t>бара контекстот да ги содржи сите точни одговори.</a:t>
            </a:r>
          </a:p>
          <a:p>
            <a:endParaRPr lang="mk-MK" dirty="0"/>
          </a:p>
          <a:p>
            <a:r>
              <a:rPr lang="mk-MK" dirty="0"/>
              <a:t>Според тоа, компактноста секогаш се разгледува заедно со зачуваната информација. Мал подграф не е корисен ако ги отстрани доказите потребни за одговорот.</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mk-MK" dirty="0"/>
              <a:t>Разликата во големината на контекстот е значителна.</a:t>
            </a:r>
          </a:p>
          <a:p>
            <a:endParaRPr lang="mk-MK" dirty="0"/>
          </a:p>
          <a:p>
            <a:r>
              <a:rPr lang="mk-MK" dirty="0"/>
              <a:t>Унијата на најкратки патеки содржи просечно 94,47 тројки. </a:t>
            </a:r>
            <a:r>
              <a:rPr lang="en-US" dirty="0"/>
              <a:t>PCST-</a:t>
            </a:r>
            <a:r>
              <a:rPr lang="mk-MK" dirty="0"/>
              <a:t>конфигурациите содржат само околу 13,5 до 14,5 тројки. Тоа претставува намалување од приближно 85 проценти.</a:t>
            </a:r>
          </a:p>
          <a:p>
            <a:endParaRPr lang="mk-MK" dirty="0"/>
          </a:p>
          <a:p>
            <a:r>
              <a:rPr lang="mk-MK" dirty="0"/>
              <a:t>Наспроти ова големо намалување, покриеноста на точните одговори се менува многу малку. </a:t>
            </a:r>
            <a:r>
              <a:rPr lang="en-US" dirty="0" err="1"/>
              <a:t>ContextGoldCoverage</a:t>
            </a:r>
            <a:r>
              <a:rPr lang="en-US" dirty="0"/>
              <a:t> </a:t>
            </a:r>
            <a:r>
              <a:rPr lang="mk-MK" dirty="0"/>
              <a:t>се намалува од 0,888 на приближно 0,881, а целосната покриеност од 0,838 на околу 0,830.</a:t>
            </a:r>
          </a:p>
          <a:p>
            <a:endParaRPr lang="mk-MK" dirty="0"/>
          </a:p>
          <a:p>
            <a:r>
              <a:rPr lang="mk-MK" dirty="0"/>
              <a:t>Промените на параметарот ламбда имаат ограничено влијание во најголем дел од </a:t>
            </a:r>
            <a:r>
              <a:rPr lang="mk-MK" dirty="0" err="1"/>
              <a:t>испитаниот</a:t>
            </a:r>
            <a:r>
              <a:rPr lang="mk-MK" dirty="0"/>
              <a:t> интервал. Поголемо влијание има изборот меѓу константен и семантички трошок. </a:t>
            </a:r>
            <a:r>
              <a:rPr lang="mk-MK" dirty="0" err="1"/>
              <a:t>Семантичката</a:t>
            </a:r>
            <a:r>
              <a:rPr lang="mk-MK" dirty="0"/>
              <a:t> варијанта подобро ги зачувува кандидатите при повисок трошок.</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mk-MK" dirty="0"/>
              <a:t>Конечниот одговор се оценува преку </a:t>
            </a:r>
            <a:r>
              <a:rPr lang="en-US" dirty="0"/>
              <a:t>Hit, </a:t>
            </a:r>
            <a:r>
              <a:rPr lang="en-US" dirty="0" err="1"/>
              <a:t>ExactMatch</a:t>
            </a:r>
            <a:r>
              <a:rPr lang="en-US" dirty="0"/>
              <a:t>, Precision, Recall </a:t>
            </a:r>
            <a:r>
              <a:rPr lang="mk-MK" dirty="0"/>
              <a:t>и </a:t>
            </a:r>
            <a:r>
              <a:rPr lang="en-US" dirty="0"/>
              <a:t>F1.</a:t>
            </a:r>
          </a:p>
          <a:p>
            <a:endParaRPr lang="en-US" dirty="0"/>
          </a:p>
          <a:p>
            <a:r>
              <a:rPr lang="en-US" dirty="0"/>
              <a:t>Hit </a:t>
            </a:r>
            <a:r>
              <a:rPr lang="mk-MK" dirty="0"/>
              <a:t>бара моделот да врати барем еден точен одговор. </a:t>
            </a:r>
            <a:r>
              <a:rPr lang="en-US" dirty="0" err="1"/>
              <a:t>ExactMatch</a:t>
            </a:r>
            <a:r>
              <a:rPr lang="en-US" dirty="0"/>
              <a:t> </a:t>
            </a:r>
            <a:r>
              <a:rPr lang="mk-MK" dirty="0"/>
              <a:t>бара целосно совпаѓање меѓу предвиденото и точното множество, додека </a:t>
            </a:r>
            <a:r>
              <a:rPr lang="en-US" dirty="0"/>
              <a:t>Precision, Recall </a:t>
            </a:r>
            <a:r>
              <a:rPr lang="mk-MK" dirty="0"/>
              <a:t>и </a:t>
            </a:r>
            <a:r>
              <a:rPr lang="en-US" dirty="0"/>
              <a:t>F1 </a:t>
            </a:r>
            <a:r>
              <a:rPr lang="mk-MK" dirty="0"/>
              <a:t>го оценуваат квалитетот на целото </a:t>
            </a:r>
            <a:r>
              <a:rPr lang="mk-MK" dirty="0" err="1"/>
              <a:t>генерирано</a:t>
            </a:r>
            <a:r>
              <a:rPr lang="mk-MK" dirty="0"/>
              <a:t> множество.</a:t>
            </a:r>
          </a:p>
          <a:p>
            <a:endParaRPr lang="mk-MK" dirty="0"/>
          </a:p>
          <a:p>
            <a:r>
              <a:rPr lang="mk-MK" dirty="0"/>
              <a:t>Дополнително го следиме искористувањето на контекстот. </a:t>
            </a:r>
            <a:r>
              <a:rPr lang="en-US" dirty="0" err="1"/>
              <a:t>FullContextCompleteAnswer</a:t>
            </a:r>
            <a:r>
              <a:rPr lang="en-US" dirty="0"/>
              <a:t> </a:t>
            </a:r>
            <a:r>
              <a:rPr lang="mk-MK" dirty="0"/>
              <a:t>означува дека контекстот и одговорот се целосни. </a:t>
            </a:r>
            <a:r>
              <a:rPr lang="en-US" dirty="0" err="1"/>
              <a:t>FullContextLLMOmission</a:t>
            </a:r>
            <a:r>
              <a:rPr lang="en-US" dirty="0"/>
              <a:t> </a:t>
            </a:r>
            <a:r>
              <a:rPr lang="mk-MK" dirty="0"/>
              <a:t>означува дека контекстот ги содржел сите точни одговори, но моделот испуштил најмалку еден.</a:t>
            </a:r>
          </a:p>
          <a:p>
            <a:endParaRPr lang="mk-MK" dirty="0"/>
          </a:p>
          <a:p>
            <a:r>
              <a:rPr lang="en-US" dirty="0" err="1"/>
              <a:t>LLMOmissionGivenFullContext</a:t>
            </a:r>
            <a:r>
              <a:rPr lang="en-US" dirty="0"/>
              <a:t> </a:t>
            </a:r>
            <a:r>
              <a:rPr lang="mk-MK" dirty="0"/>
              <a:t>го мери уделот на ваквите пропусти само кај прашањата со целосен контекст. Така не го казнуваме јазичниот модел за информација што претходните фази не му ја доставиле.</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mk-MK" dirty="0"/>
              <a:t>Со најкратките патеки двата јазични модели постигнуваат речиси идентичен </a:t>
            </a:r>
            <a:r>
              <a:rPr lang="en-US" dirty="0"/>
              <a:t>Hit: 0,802 </a:t>
            </a:r>
            <a:r>
              <a:rPr lang="mk-MK" dirty="0"/>
              <a:t>кај </a:t>
            </a:r>
            <a:r>
              <a:rPr lang="en-US" dirty="0"/>
              <a:t>DeepSeek </a:t>
            </a:r>
            <a:r>
              <a:rPr lang="mk-MK" dirty="0"/>
              <a:t>и 0,804 кај </a:t>
            </a:r>
            <a:r>
              <a:rPr lang="en-US" dirty="0"/>
              <a:t>GPT. DeepSeek </a:t>
            </a:r>
            <a:r>
              <a:rPr lang="mk-MK" dirty="0"/>
              <a:t>има повисок </a:t>
            </a:r>
            <a:r>
              <a:rPr lang="en-US" dirty="0"/>
              <a:t>F1, </a:t>
            </a:r>
            <a:r>
              <a:rPr lang="mk-MK" dirty="0"/>
              <a:t>односно 0,627 наспроти 0,613.</a:t>
            </a:r>
          </a:p>
          <a:p>
            <a:endParaRPr lang="mk-MK" dirty="0"/>
          </a:p>
          <a:p>
            <a:r>
              <a:rPr lang="mk-MK" dirty="0"/>
              <a:t>Цената на овој квалитет е поголем контекст: околу 3,42 милиони </a:t>
            </a:r>
            <a:r>
              <a:rPr lang="mk-MK" dirty="0" err="1"/>
              <a:t>токени</a:t>
            </a:r>
            <a:r>
              <a:rPr lang="mk-MK" dirty="0"/>
              <a:t> кај </a:t>
            </a:r>
            <a:r>
              <a:rPr lang="en-US" dirty="0"/>
              <a:t>DeepSeek </a:t>
            </a:r>
            <a:r>
              <a:rPr lang="mk-MK" dirty="0"/>
              <a:t>и 3,07 милиони кај </a:t>
            </a:r>
            <a:r>
              <a:rPr lang="en-US" dirty="0"/>
              <a:t>GPT.</a:t>
            </a:r>
          </a:p>
          <a:p>
            <a:endParaRPr lang="en-US" dirty="0"/>
          </a:p>
          <a:p>
            <a:r>
              <a:rPr lang="mk-MK" dirty="0"/>
              <a:t>Со семантички </a:t>
            </a:r>
            <a:r>
              <a:rPr lang="en-US" dirty="0"/>
              <a:t>PCST </a:t>
            </a:r>
            <a:r>
              <a:rPr lang="mk-MK" dirty="0"/>
              <a:t>и ламбда една, бројот </a:t>
            </a:r>
            <a:r>
              <a:rPr lang="mk-MK" dirty="0" err="1"/>
              <a:t>токени</a:t>
            </a:r>
            <a:r>
              <a:rPr lang="mk-MK" dirty="0"/>
              <a:t> се намалува на околу 0,69 и 0,66 милиони. Тоа е намалување од приближно 78 до 80 проценти. Истовремено, </a:t>
            </a:r>
            <a:r>
              <a:rPr lang="en-US" dirty="0"/>
              <a:t>Hit </a:t>
            </a:r>
            <a:r>
              <a:rPr lang="mk-MK" dirty="0"/>
              <a:t>се намалува на 0,689 кај </a:t>
            </a:r>
            <a:r>
              <a:rPr lang="en-US" dirty="0"/>
              <a:t>DeepSeek </a:t>
            </a:r>
            <a:r>
              <a:rPr lang="mk-MK" dirty="0"/>
              <a:t>и 0,728 кај </a:t>
            </a:r>
            <a:r>
              <a:rPr lang="en-US" dirty="0"/>
              <a:t>GPT.</a:t>
            </a:r>
          </a:p>
          <a:p>
            <a:endParaRPr lang="en-US" dirty="0"/>
          </a:p>
          <a:p>
            <a:r>
              <a:rPr lang="mk-MK" dirty="0"/>
              <a:t>Затоа, најкратките патеки го даваат највисокиот квалитет, додека семантичкиот </a:t>
            </a:r>
            <a:r>
              <a:rPr lang="en-US" dirty="0"/>
              <a:t>PCST </a:t>
            </a:r>
            <a:r>
              <a:rPr lang="mk-MK" dirty="0"/>
              <a:t>нуди подобар компромис кога компактноста и трошокот се приоритет.</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mk-MK" dirty="0"/>
              <a:t>Ова е централната анализа на целиот систем.</a:t>
            </a:r>
          </a:p>
          <a:p>
            <a:endParaRPr lang="mk-MK" dirty="0"/>
          </a:p>
          <a:p>
            <a:r>
              <a:rPr lang="en-US" dirty="0" err="1"/>
              <a:t>NBFNet</a:t>
            </a:r>
            <a:r>
              <a:rPr lang="en-US" dirty="0"/>
              <a:t> </a:t>
            </a:r>
            <a:r>
              <a:rPr lang="mk-MK" dirty="0"/>
              <a:t>постигнува </a:t>
            </a:r>
            <a:r>
              <a:rPr lang="en-US" dirty="0" err="1"/>
              <a:t>RetrievalGoldCoverage</a:t>
            </a:r>
            <a:r>
              <a:rPr lang="en-US" dirty="0"/>
              <a:t> </a:t>
            </a:r>
            <a:r>
              <a:rPr lang="mk-MK" dirty="0"/>
              <a:t>од 0,877. По конструкцијата со најкратки патеки, </a:t>
            </a:r>
            <a:r>
              <a:rPr lang="en-US" dirty="0" err="1"/>
              <a:t>ContextGoldCoverage</a:t>
            </a:r>
            <a:r>
              <a:rPr lang="en-US" dirty="0"/>
              <a:t> </a:t>
            </a:r>
            <a:r>
              <a:rPr lang="mk-MK" dirty="0"/>
              <a:t>е дури малку повисок, 0,888. Причината е што точен ентитет може да се појави како посреден јазол во патеката иако не бил директно избран како кандидат.</a:t>
            </a:r>
          </a:p>
          <a:p>
            <a:endParaRPr lang="mk-MK" dirty="0"/>
          </a:p>
          <a:p>
            <a:r>
              <a:rPr lang="mk-MK" dirty="0"/>
              <a:t>Сепак, присуството на точниот ентитет не гарантира дека јазичниот модел ќе го врати. Со најкратките патеки, условната стапка на испуштање е 0,211 кај </a:t>
            </a:r>
            <a:r>
              <a:rPr lang="en-US" dirty="0"/>
              <a:t>DeepSeek </a:t>
            </a:r>
            <a:r>
              <a:rPr lang="mk-MK" dirty="0"/>
              <a:t>и 0,237 кај </a:t>
            </a:r>
            <a:r>
              <a:rPr lang="en-US" dirty="0"/>
              <a:t>GPT. </a:t>
            </a:r>
            <a:r>
              <a:rPr lang="mk-MK" dirty="0"/>
              <a:t>Со семантички </a:t>
            </a:r>
            <a:r>
              <a:rPr lang="en-US" dirty="0"/>
              <a:t>PCST </a:t>
            </a:r>
            <a:r>
              <a:rPr lang="mk-MK" dirty="0"/>
              <a:t>таа се зголемува на приближно 0,477 кај двата модела.</a:t>
            </a:r>
          </a:p>
          <a:p>
            <a:endParaRPr lang="mk-MK" dirty="0"/>
          </a:p>
          <a:p>
            <a:r>
              <a:rPr lang="mk-MK" dirty="0"/>
              <a:t>Ова укажува дека компресијата може да зачува ентитет, но да отстрани </a:t>
            </a:r>
            <a:r>
              <a:rPr lang="mk-MK" dirty="0" err="1"/>
              <a:t>релациски</a:t>
            </a:r>
            <a:r>
              <a:rPr lang="mk-MK" dirty="0"/>
              <a:t> тројки што ја прават неговата врска со прашањето јасна. Главниот проблем затоа не е само присуството на одговорот, туку и употребливоста на доказите околу него.</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mk-MK" dirty="0"/>
              <a:t>Од резултатите може да се издвојат три главни заклучоци.</a:t>
            </a:r>
          </a:p>
          <a:p>
            <a:endParaRPr lang="mk-MK" dirty="0"/>
          </a:p>
          <a:p>
            <a:r>
              <a:rPr lang="en-US" dirty="0" err="1"/>
              <a:t>NBFNet</a:t>
            </a:r>
            <a:r>
              <a:rPr lang="en-US" dirty="0"/>
              <a:t> </a:t>
            </a:r>
            <a:r>
              <a:rPr lang="mk-MK" dirty="0"/>
              <a:t>е најуспешната и </a:t>
            </a:r>
            <a:r>
              <a:rPr lang="mk-MK" dirty="0" err="1"/>
              <a:t>најстабилната</a:t>
            </a:r>
            <a:r>
              <a:rPr lang="mk-MK" dirty="0"/>
              <a:t> архитектура за пребарување. Нејзината предност произлегува од директното моделирање на </a:t>
            </a:r>
            <a:r>
              <a:rPr lang="mk-MK" dirty="0" err="1"/>
              <a:t>релациски</a:t>
            </a:r>
            <a:r>
              <a:rPr lang="mk-MK" dirty="0"/>
              <a:t> патеки условени од прашањето.</a:t>
            </a:r>
          </a:p>
          <a:p>
            <a:endParaRPr lang="mk-MK" dirty="0"/>
          </a:p>
          <a:p>
            <a:r>
              <a:rPr lang="mk-MK" dirty="0"/>
              <a:t>Кај доказниот подграф, најкратките патеки го даваат највисокиот конечен квалитет. Семантичкиот </a:t>
            </a:r>
            <a:r>
              <a:rPr lang="en-US" dirty="0"/>
              <a:t>PCST </a:t>
            </a:r>
            <a:r>
              <a:rPr lang="mk-MK" dirty="0"/>
              <a:t>создава приближно 85 проценти помал контекст и е подобар избор кога компактноста и потрошувачката се поважни.</a:t>
            </a:r>
          </a:p>
          <a:p>
            <a:endParaRPr lang="mk-MK" dirty="0"/>
          </a:p>
          <a:p>
            <a:r>
              <a:rPr lang="mk-MK" dirty="0"/>
              <a:t>Изборот на јазичен модел го менува балансот меѓу </a:t>
            </a:r>
            <a:r>
              <a:rPr lang="en-US" dirty="0"/>
              <a:t>Hit </a:t>
            </a:r>
            <a:r>
              <a:rPr lang="mk-MK" dirty="0"/>
              <a:t>и </a:t>
            </a:r>
            <a:r>
              <a:rPr lang="en-US" dirty="0"/>
              <a:t>F1, </a:t>
            </a:r>
            <a:r>
              <a:rPr lang="mk-MK" dirty="0"/>
              <a:t>но разликата меѓу моделите е помала од влијанието на доказниот контекст.</a:t>
            </a:r>
          </a:p>
          <a:p>
            <a:endParaRPr lang="mk-MK" dirty="0"/>
          </a:p>
          <a:p>
            <a:r>
              <a:rPr lang="mk-MK" dirty="0"/>
              <a:t>Главниот заклучок е дека успешното одговарање не зависи само од </a:t>
            </a:r>
            <a:r>
              <a:rPr lang="mk-MK" dirty="0" err="1"/>
              <a:t>пронаоѓањето</a:t>
            </a:r>
            <a:r>
              <a:rPr lang="mk-MK" dirty="0"/>
              <a:t> на точниот ентитет. Потребно е да се зачуваат и правилно да се искористат релациите што објаснуваат зошто тој ентитет е одговорот.</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mk-MK" dirty="0"/>
              <a:t>Како идна насока, најинтересна е хибридна конструкција на доказниот подграф. Таа би ја задржала компактноста на </a:t>
            </a:r>
            <a:r>
              <a:rPr lang="en-US" dirty="0"/>
              <a:t>PCST, </a:t>
            </a:r>
            <a:r>
              <a:rPr lang="mk-MK" dirty="0"/>
              <a:t>но би гарантирала целосни и разбирливи патеки до најважните кандидати.</a:t>
            </a:r>
          </a:p>
          <a:p>
            <a:endParaRPr lang="mk-MK" dirty="0"/>
          </a:p>
          <a:p>
            <a:r>
              <a:rPr lang="mk-MK" dirty="0"/>
              <a:t>Дополнително, пребарувачот и конструкцијата на </a:t>
            </a:r>
            <a:r>
              <a:rPr lang="mk-MK" dirty="0" err="1"/>
              <a:t>подграфот</a:t>
            </a:r>
            <a:r>
              <a:rPr lang="mk-MK" dirty="0"/>
              <a:t> би можеле заеднички да учат кои патеки се најкорисни за јазичниот модел.</a:t>
            </a:r>
          </a:p>
          <a:p>
            <a:endParaRPr lang="mk-MK" dirty="0"/>
          </a:p>
          <a:p>
            <a:r>
              <a:rPr lang="mk-MK" dirty="0"/>
              <a:t>Поширока евалуација врз други податочни множества, подолги патеки и дополнителни јазични модели би покажала колку добро заклучоците се пренесуваат надвор од </a:t>
            </a:r>
            <a:r>
              <a:rPr lang="en-US" dirty="0" err="1"/>
              <a:t>WebQSP</a:t>
            </a:r>
            <a:r>
              <a:rPr lang="en-US" dirty="0"/>
              <a:t>.</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60.png"/><Relationship Id="rId4" Type="http://schemas.openxmlformats.org/officeDocument/2006/relationships/image" Target="../media/image50.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90.png"/><Relationship Id="rId4" Type="http://schemas.openxmlformats.org/officeDocument/2006/relationships/image" Target="../media/image80.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06389AF-E398-4865-B3A1-73701CBAD7E1}"/>
              </a:ext>
            </a:extLst>
          </p:cNvPr>
          <p:cNvSpPr>
            <a:spLocks noGrp="1"/>
          </p:cNvSpPr>
          <p:nvPr/>
        </p:nvSpPr>
        <p:spPr>
          <a:xfrm>
            <a:off x="762000" y="457200"/>
            <a:ext cx="10668000" cy="304800"/>
          </a:xfrm>
          <a:prstGeom prst="rect">
            <a:avLst/>
          </a:prstGeom>
          <a:noFill/>
          <a:ln w="0">
            <a:noFill/>
            <a:prstDash val="solid"/>
          </a:ln>
        </p:spPr>
        <p:txBody>
          <a:bodyPr wrap="square" lIns="38100" tIns="19050" rIns="38100" bIns="19050" anchor="ctr">
            <a:normAutofit/>
          </a:bodyPr>
          <a:lstStyle/>
          <a:p>
            <a:pPr algn="ctr">
              <a:defRPr sz="1200" b="0" i="0">
                <a:solidFill>
                  <a:srgbClr val="617080"/>
                </a:solidFill>
                <a:latin typeface="Arial"/>
                <a:ea typeface="Arial"/>
                <a:cs typeface="Arial"/>
              </a:defRPr>
            </a:pPr>
            <a:r>
              <a:rPr sz="1200" b="0" i="0" dirty="0" err="1">
                <a:solidFill>
                  <a:srgbClr val="617080"/>
                </a:solidFill>
                <a:latin typeface="Arial"/>
                <a:ea typeface="Arial"/>
                <a:cs typeface="Arial"/>
              </a:rPr>
              <a:t>Универзитет</a:t>
            </a:r>
            <a:r>
              <a:rPr sz="1200" b="0" i="0" dirty="0">
                <a:solidFill>
                  <a:srgbClr val="617080"/>
                </a:solidFill>
                <a:latin typeface="Arial"/>
                <a:ea typeface="Arial"/>
                <a:cs typeface="Arial"/>
              </a:rPr>
              <a:t> „</a:t>
            </a:r>
            <a:r>
              <a:rPr sz="1200" b="0" i="0" dirty="0" err="1">
                <a:solidFill>
                  <a:srgbClr val="617080"/>
                </a:solidFill>
                <a:latin typeface="Arial"/>
                <a:ea typeface="Arial"/>
                <a:cs typeface="Arial"/>
              </a:rPr>
              <a:t>Св</a:t>
            </a:r>
            <a:r>
              <a:rPr sz="1200" b="0" i="0" dirty="0">
                <a:solidFill>
                  <a:srgbClr val="617080"/>
                </a:solidFill>
                <a:latin typeface="Arial"/>
                <a:ea typeface="Arial"/>
                <a:cs typeface="Arial"/>
              </a:rPr>
              <a:t>. </a:t>
            </a:r>
            <a:r>
              <a:rPr sz="1200" b="0" i="0" dirty="0" err="1">
                <a:solidFill>
                  <a:srgbClr val="617080"/>
                </a:solidFill>
                <a:latin typeface="Arial"/>
                <a:ea typeface="Arial"/>
                <a:cs typeface="Arial"/>
              </a:rPr>
              <a:t>Кирил</a:t>
            </a:r>
            <a:r>
              <a:rPr sz="1200" b="0" i="0" dirty="0">
                <a:solidFill>
                  <a:srgbClr val="617080"/>
                </a:solidFill>
                <a:latin typeface="Arial"/>
                <a:ea typeface="Arial"/>
                <a:cs typeface="Arial"/>
              </a:rPr>
              <a:t> </a:t>
            </a:r>
            <a:r>
              <a:rPr sz="1200" b="0" i="0" dirty="0" err="1">
                <a:solidFill>
                  <a:srgbClr val="617080"/>
                </a:solidFill>
                <a:latin typeface="Arial"/>
                <a:ea typeface="Arial"/>
                <a:cs typeface="Arial"/>
              </a:rPr>
              <a:t>и</a:t>
            </a:r>
            <a:r>
              <a:rPr sz="1200" b="0" i="0" dirty="0">
                <a:solidFill>
                  <a:srgbClr val="617080"/>
                </a:solidFill>
                <a:latin typeface="Arial"/>
                <a:ea typeface="Arial"/>
                <a:cs typeface="Arial"/>
              </a:rPr>
              <a:t> </a:t>
            </a:r>
            <a:r>
              <a:rPr sz="1200" b="0" i="0" dirty="0" err="1">
                <a:solidFill>
                  <a:srgbClr val="617080"/>
                </a:solidFill>
                <a:latin typeface="Arial"/>
                <a:ea typeface="Arial"/>
                <a:cs typeface="Arial"/>
              </a:rPr>
              <a:t>Методиј</a:t>
            </a:r>
            <a:r>
              <a:rPr sz="1200" b="0" i="0" dirty="0">
                <a:solidFill>
                  <a:srgbClr val="617080"/>
                </a:solidFill>
                <a:latin typeface="Arial"/>
                <a:ea typeface="Arial"/>
                <a:cs typeface="Arial"/>
              </a:rPr>
              <a:t>“</a:t>
            </a:r>
            <a:r>
              <a:rPr lang="mk-MK" sz="1200" b="0" i="0" dirty="0">
                <a:solidFill>
                  <a:srgbClr val="617080"/>
                </a:solidFill>
                <a:latin typeface="Arial"/>
                <a:ea typeface="Arial"/>
                <a:cs typeface="Arial"/>
              </a:rPr>
              <a:t> - </a:t>
            </a:r>
            <a:r>
              <a:rPr sz="1200" b="0" i="0" dirty="0" err="1">
                <a:solidFill>
                  <a:srgbClr val="617080"/>
                </a:solidFill>
                <a:latin typeface="Arial"/>
                <a:ea typeface="Arial"/>
                <a:cs typeface="Arial"/>
              </a:rPr>
              <a:t>Скопје</a:t>
            </a:r>
            <a:endParaRPr sz="1200" b="0" i="0" dirty="0">
              <a:solidFill>
                <a:srgbClr val="617080"/>
              </a:solidFill>
              <a:latin typeface="Arial"/>
              <a:ea typeface="Arial"/>
              <a:cs typeface="Arial"/>
            </a:endParaRPr>
          </a:p>
        </p:txBody>
      </p:sp>
      <p:sp>
        <p:nvSpPr>
          <p:cNvPr id="2" name="Rectangle 1">
            <a:extLst>
              <a:ext uri="{FF2B5EF4-FFF2-40B4-BE49-F238E27FC236}">
                <a16:creationId xmlns:a16="http://schemas.microsoft.com/office/drawing/2014/main" id="{DB1B371A-8F62-439C-A1DE-138615320F83}"/>
              </a:ext>
            </a:extLst>
          </p:cNvPr>
          <p:cNvSpPr>
            <a:spLocks noGrp="1"/>
          </p:cNvSpPr>
          <p:nvPr/>
        </p:nvSpPr>
        <p:spPr>
          <a:xfrm>
            <a:off x="762000" y="752475"/>
            <a:ext cx="10668000" cy="323850"/>
          </a:xfrm>
          <a:prstGeom prst="rect">
            <a:avLst/>
          </a:prstGeom>
          <a:noFill/>
          <a:ln w="0">
            <a:noFill/>
            <a:prstDash val="solid"/>
          </a:ln>
        </p:spPr>
        <p:txBody>
          <a:bodyPr wrap="square" lIns="38100" tIns="19050" rIns="38100" bIns="19050" anchor="ctr">
            <a:normAutofit/>
          </a:bodyPr>
          <a:lstStyle/>
          <a:p>
            <a:pPr algn="ctr">
              <a:defRPr sz="1275" b="1" i="0">
                <a:solidFill>
                  <a:srgbClr val="263746"/>
                </a:solidFill>
                <a:latin typeface="Arial"/>
                <a:ea typeface="Arial"/>
                <a:cs typeface="Arial"/>
              </a:defRPr>
            </a:pPr>
            <a:r>
              <a:rPr sz="1275" b="1" i="0">
                <a:solidFill>
                  <a:srgbClr val="263746"/>
                </a:solidFill>
                <a:latin typeface="Arial"/>
                <a:ea typeface="Arial"/>
                <a:cs typeface="Arial"/>
              </a:rPr>
              <a:t>Факултет за информатички науки и компјутерско инженерство</a:t>
            </a:r>
          </a:p>
        </p:txBody>
      </p:sp>
      <p:sp>
        <p:nvSpPr>
          <p:cNvPr id="3" name="Rectangle 2">
            <a:extLst>
              <a:ext uri="{FF2B5EF4-FFF2-40B4-BE49-F238E27FC236}">
                <a16:creationId xmlns:a16="http://schemas.microsoft.com/office/drawing/2014/main" id="{0C5E962A-2F16-4EDE-8E73-AAF2FC51C097}"/>
              </a:ext>
            </a:extLst>
          </p:cNvPr>
          <p:cNvSpPr>
            <a:spLocks noGrp="1"/>
          </p:cNvSpPr>
          <p:nvPr/>
        </p:nvSpPr>
        <p:spPr>
          <a:xfrm>
            <a:off x="3143250" y="1257300"/>
            <a:ext cx="5905500" cy="47625"/>
          </a:xfrm>
          <a:prstGeom prst="rect">
            <a:avLst/>
          </a:prstGeom>
          <a:solidFill>
            <a:srgbClr val="4F86C6"/>
          </a:solidFill>
          <a:ln w="0">
            <a:noFill/>
            <a:prstDash val="solid"/>
          </a:ln>
        </p:spPr>
        <p:txBody>
          <a:bodyPr/>
          <a:lstStyle/>
          <a:p>
            <a:endParaRPr lang="en-US"/>
          </a:p>
        </p:txBody>
      </p:sp>
      <p:sp>
        <p:nvSpPr>
          <p:cNvPr id="4" name="Rectangle 3">
            <a:extLst>
              <a:ext uri="{FF2B5EF4-FFF2-40B4-BE49-F238E27FC236}">
                <a16:creationId xmlns:a16="http://schemas.microsoft.com/office/drawing/2014/main" id="{6371A606-1B5F-4767-A3AF-C477C0DBB232}"/>
              </a:ext>
            </a:extLst>
          </p:cNvPr>
          <p:cNvSpPr>
            <a:spLocks noGrp="1"/>
          </p:cNvSpPr>
          <p:nvPr/>
        </p:nvSpPr>
        <p:spPr>
          <a:xfrm>
            <a:off x="1095375" y="1752600"/>
            <a:ext cx="10001250" cy="2019300"/>
          </a:xfrm>
          <a:prstGeom prst="rect">
            <a:avLst/>
          </a:prstGeom>
          <a:noFill/>
          <a:ln w="0">
            <a:noFill/>
            <a:prstDash val="solid"/>
          </a:ln>
        </p:spPr>
        <p:txBody>
          <a:bodyPr wrap="square" lIns="38100" tIns="19050" rIns="38100" bIns="19050" anchor="ctr">
            <a:normAutofit/>
          </a:bodyPr>
          <a:lstStyle/>
          <a:p>
            <a:pPr algn="ctr">
              <a:defRPr sz="2625" b="1" i="0">
                <a:solidFill>
                  <a:srgbClr val="263746"/>
                </a:solidFill>
                <a:latin typeface="Arial"/>
                <a:ea typeface="Arial"/>
                <a:cs typeface="Arial"/>
              </a:defRPr>
            </a:pPr>
            <a:r>
              <a:rPr lang="mk-MK" sz="2625" b="1" i="0" noProof="0" dirty="0">
                <a:solidFill>
                  <a:srgbClr val="263746"/>
                </a:solidFill>
                <a:latin typeface="Arial"/>
                <a:ea typeface="Arial"/>
                <a:cs typeface="Arial"/>
              </a:rPr>
              <a:t>Напредни архитектури на граф невронски мрежи за пребарување и расудување над графови при одговарање на прашања над графови на знаење</a:t>
            </a:r>
          </a:p>
        </p:txBody>
      </p:sp>
      <p:sp>
        <p:nvSpPr>
          <p:cNvPr id="7" name="Rectangle 6">
            <a:extLst>
              <a:ext uri="{FF2B5EF4-FFF2-40B4-BE49-F238E27FC236}">
                <a16:creationId xmlns:a16="http://schemas.microsoft.com/office/drawing/2014/main" id="{D3546335-4866-42CE-81A2-7F4C99F4E654}"/>
              </a:ext>
            </a:extLst>
          </p:cNvPr>
          <p:cNvSpPr>
            <a:spLocks noGrp="1"/>
          </p:cNvSpPr>
          <p:nvPr/>
        </p:nvSpPr>
        <p:spPr>
          <a:xfrm>
            <a:off x="1047750" y="4953000"/>
            <a:ext cx="4762500" cy="361950"/>
          </a:xfrm>
          <a:prstGeom prst="rect">
            <a:avLst/>
          </a:prstGeom>
          <a:noFill/>
          <a:ln w="0">
            <a:noFill/>
            <a:prstDash val="solid"/>
          </a:ln>
        </p:spPr>
        <p:txBody>
          <a:bodyPr wrap="square" lIns="38100" tIns="19050" rIns="38100" bIns="19050" anchor="ctr">
            <a:normAutofit/>
          </a:bodyPr>
          <a:lstStyle/>
          <a:p>
            <a:pPr>
              <a:defRPr sz="1575" b="1" i="0">
                <a:solidFill>
                  <a:srgbClr val="263746"/>
                </a:solidFill>
                <a:latin typeface="Arial"/>
                <a:ea typeface="Arial"/>
                <a:cs typeface="Arial"/>
              </a:defRPr>
            </a:pPr>
            <a:r>
              <a:rPr lang="mk-MK" sz="1575" b="1" dirty="0">
                <a:solidFill>
                  <a:srgbClr val="263746"/>
                </a:solidFill>
                <a:latin typeface="Arial"/>
                <a:ea typeface="Arial"/>
                <a:cs typeface="Arial"/>
              </a:rPr>
              <a:t>Ментор: проф. д-р Соња Гиевска</a:t>
            </a:r>
          </a:p>
        </p:txBody>
      </p:sp>
      <p:sp>
        <p:nvSpPr>
          <p:cNvPr id="8" name="Rectangle 7">
            <a:extLst>
              <a:ext uri="{FF2B5EF4-FFF2-40B4-BE49-F238E27FC236}">
                <a16:creationId xmlns:a16="http://schemas.microsoft.com/office/drawing/2014/main" id="{A0089A6C-A514-418A-859B-4DB4D713029F}"/>
              </a:ext>
            </a:extLst>
          </p:cNvPr>
          <p:cNvSpPr>
            <a:spLocks noGrp="1"/>
          </p:cNvSpPr>
          <p:nvPr/>
        </p:nvSpPr>
        <p:spPr>
          <a:xfrm>
            <a:off x="6381750" y="4953000"/>
            <a:ext cx="4762500" cy="361950"/>
          </a:xfrm>
          <a:prstGeom prst="rect">
            <a:avLst/>
          </a:prstGeom>
          <a:noFill/>
          <a:ln w="0">
            <a:noFill/>
            <a:prstDash val="solid"/>
          </a:ln>
        </p:spPr>
        <p:txBody>
          <a:bodyPr wrap="square" lIns="38100" tIns="19050" rIns="38100" bIns="19050" anchor="ctr">
            <a:normAutofit/>
          </a:bodyPr>
          <a:lstStyle/>
          <a:p>
            <a:pPr algn="r">
              <a:defRPr sz="1575" b="1" i="0">
                <a:solidFill>
                  <a:srgbClr val="263746"/>
                </a:solidFill>
                <a:latin typeface="Arial"/>
                <a:ea typeface="Arial"/>
                <a:cs typeface="Arial"/>
              </a:defRPr>
            </a:pPr>
            <a:r>
              <a:rPr lang="mk-MK" sz="1575" b="1" dirty="0">
                <a:solidFill>
                  <a:srgbClr val="263746"/>
                </a:solidFill>
                <a:latin typeface="Arial"/>
                <a:ea typeface="Arial"/>
                <a:cs typeface="Arial"/>
              </a:rPr>
              <a:t>Виктор Костадиноски · 226009</a:t>
            </a:r>
          </a:p>
        </p:txBody>
      </p:sp>
      <p:sp>
        <p:nvSpPr>
          <p:cNvPr id="9" name="Rectangle 8">
            <a:extLst>
              <a:ext uri="{FF2B5EF4-FFF2-40B4-BE49-F238E27FC236}">
                <a16:creationId xmlns:a16="http://schemas.microsoft.com/office/drawing/2014/main" id="{200896EC-DE7B-4E1D-A622-9F1FAEEE9481}"/>
              </a:ext>
            </a:extLst>
          </p:cNvPr>
          <p:cNvSpPr>
            <a:spLocks noGrp="1"/>
          </p:cNvSpPr>
          <p:nvPr/>
        </p:nvSpPr>
        <p:spPr>
          <a:xfrm>
            <a:off x="1047750" y="5619750"/>
            <a:ext cx="10096500" cy="14288"/>
          </a:xfrm>
          <a:prstGeom prst="rect">
            <a:avLst/>
          </a:prstGeom>
          <a:solidFill>
            <a:srgbClr val="A9B4BE"/>
          </a:solidFill>
          <a:ln w="0">
            <a:noFill/>
            <a:prstDash val="solid"/>
          </a:ln>
        </p:spPr>
        <p:txBody>
          <a:bodyPr/>
          <a:lstStyle/>
          <a:p>
            <a:endParaRPr lang="en-US"/>
          </a:p>
        </p:txBody>
      </p:sp>
      <p:sp>
        <p:nvSpPr>
          <p:cNvPr id="10" name="Rectangle 9">
            <a:extLst>
              <a:ext uri="{FF2B5EF4-FFF2-40B4-BE49-F238E27FC236}">
                <a16:creationId xmlns:a16="http://schemas.microsoft.com/office/drawing/2014/main" id="{7C7CF861-C097-46A0-9B08-1B615CC949C5}"/>
              </a:ext>
            </a:extLst>
          </p:cNvPr>
          <p:cNvSpPr>
            <a:spLocks noGrp="1"/>
          </p:cNvSpPr>
          <p:nvPr/>
        </p:nvSpPr>
        <p:spPr>
          <a:xfrm>
            <a:off x="1047750" y="5810250"/>
            <a:ext cx="10096500" cy="285750"/>
          </a:xfrm>
          <a:prstGeom prst="rect">
            <a:avLst/>
          </a:prstGeom>
          <a:noFill/>
          <a:ln w="0">
            <a:noFill/>
            <a:prstDash val="solid"/>
          </a:ln>
        </p:spPr>
        <p:txBody>
          <a:bodyPr wrap="square" lIns="38100" tIns="19050" rIns="38100" bIns="19050" anchor="ctr">
            <a:normAutofit/>
          </a:bodyPr>
          <a:lstStyle/>
          <a:p>
            <a:pPr algn="ctr">
              <a:defRPr sz="1200" b="0" i="0">
                <a:solidFill>
                  <a:srgbClr val="617080"/>
                </a:solidFill>
                <a:latin typeface="Arial"/>
                <a:ea typeface="Arial"/>
                <a:cs typeface="Arial"/>
              </a:defRPr>
            </a:pPr>
            <a:r>
              <a:rPr lang="mk-MK" sz="1200" b="0" i="0" dirty="0">
                <a:solidFill>
                  <a:srgbClr val="617080"/>
                </a:solidFill>
                <a:latin typeface="Arial"/>
                <a:ea typeface="Arial"/>
                <a:cs typeface="Arial"/>
              </a:rPr>
              <a:t>октомври</a:t>
            </a:r>
            <a:r>
              <a:rPr sz="1200" b="0" i="0" dirty="0">
                <a:solidFill>
                  <a:srgbClr val="617080"/>
                </a:solidFill>
                <a:latin typeface="Arial"/>
                <a:ea typeface="Arial"/>
                <a:cs typeface="Arial"/>
              </a:rPr>
              <a:t> 2026</a:t>
            </a:r>
          </a:p>
        </p:txBody>
      </p:sp>
    </p:spTree>
    <p:extLst>
      <p:ext uri="{BB962C8B-B14F-4D97-AF65-F5344CB8AC3E}">
        <p14:creationId xmlns:p14="http://schemas.microsoft.com/office/powerpoint/2010/main" val="3806994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E4D6C56-A4D5-44CD-8CAE-89551DA1AF33}"/>
              </a:ext>
            </a:extLst>
          </p:cNvPr>
          <p:cNvSpPr>
            <a:spLocks noGrp="1"/>
          </p:cNvSpPr>
          <p:nvPr/>
        </p:nvSpPr>
        <p:spPr>
          <a:xfrm>
            <a:off x="552450" y="209550"/>
            <a:ext cx="10763250" cy="523875"/>
          </a:xfrm>
          <a:prstGeom prst="rect">
            <a:avLst/>
          </a:prstGeom>
          <a:noFill/>
          <a:ln w="0">
            <a:noFill/>
            <a:prstDash val="solid"/>
          </a:ln>
        </p:spPr>
        <p:txBody>
          <a:bodyPr wrap="square" lIns="38100" tIns="19050" rIns="38100" bIns="19050" anchor="ctr">
            <a:normAutofit/>
          </a:bodyPr>
          <a:lstStyle/>
          <a:p>
            <a:pPr algn="l">
              <a:defRPr sz="2325" b="1" i="0">
                <a:solidFill>
                  <a:srgbClr val="263746"/>
                </a:solidFill>
                <a:latin typeface="Arial"/>
                <a:ea typeface="Arial"/>
                <a:cs typeface="Arial"/>
              </a:defRPr>
            </a:pPr>
            <a:r>
              <a:rPr sz="2325" b="1" i="0">
                <a:solidFill>
                  <a:srgbClr val="263746"/>
                </a:solidFill>
                <a:latin typeface="Arial"/>
                <a:ea typeface="Arial"/>
                <a:cs typeface="Arial"/>
              </a:rPr>
              <a:t>Од прашање до одговор</a:t>
            </a:r>
          </a:p>
        </p:txBody>
      </p:sp>
      <p:sp>
        <p:nvSpPr>
          <p:cNvPr id="2" name="Rectangle 1">
            <a:extLst>
              <a:ext uri="{FF2B5EF4-FFF2-40B4-BE49-F238E27FC236}">
                <a16:creationId xmlns:a16="http://schemas.microsoft.com/office/drawing/2014/main" id="{25F9236A-1A57-49AA-AE22-28EE1ABB9A57}"/>
              </a:ext>
            </a:extLst>
          </p:cNvPr>
          <p:cNvSpPr>
            <a:spLocks noGrp="1"/>
          </p:cNvSpPr>
          <p:nvPr/>
        </p:nvSpPr>
        <p:spPr>
          <a:xfrm>
            <a:off x="552450" y="781050"/>
            <a:ext cx="11087100" cy="38100"/>
          </a:xfrm>
          <a:prstGeom prst="rect">
            <a:avLst/>
          </a:prstGeom>
          <a:solidFill>
            <a:srgbClr val="4F86C6"/>
          </a:solidFill>
          <a:ln w="0">
            <a:noFill/>
            <a:prstDash val="solid"/>
          </a:ln>
        </p:spPr>
        <p:txBody>
          <a:bodyPr/>
          <a:lstStyle/>
          <a:p>
            <a:endParaRPr lang="en-US"/>
          </a:p>
        </p:txBody>
      </p:sp>
      <p:sp>
        <p:nvSpPr>
          <p:cNvPr id="3" name="Rectangle 2">
            <a:extLst>
              <a:ext uri="{FF2B5EF4-FFF2-40B4-BE49-F238E27FC236}">
                <a16:creationId xmlns:a16="http://schemas.microsoft.com/office/drawing/2014/main" id="{80298470-6FB1-4D1E-AFC2-D9C5133ED5B1}"/>
              </a:ext>
            </a:extLst>
          </p:cNvPr>
          <p:cNvSpPr>
            <a:spLocks noGrp="1"/>
          </p:cNvSpPr>
          <p:nvPr/>
        </p:nvSpPr>
        <p:spPr>
          <a:xfrm>
            <a:off x="11315700" y="6486525"/>
            <a:ext cx="323850" cy="228600"/>
          </a:xfrm>
          <a:prstGeom prst="rect">
            <a:avLst/>
          </a:prstGeom>
          <a:noFill/>
          <a:ln w="0">
            <a:noFill/>
            <a:prstDash val="solid"/>
          </a:ln>
        </p:spPr>
        <p:txBody>
          <a:bodyPr wrap="square" lIns="38100" tIns="19050" rIns="38100" bIns="19050" anchor="b">
            <a:normAutofit/>
          </a:bodyPr>
          <a:lstStyle/>
          <a:p>
            <a:pPr algn="r">
              <a:defRPr sz="900" b="0" i="0">
                <a:solidFill>
                  <a:srgbClr val="617080"/>
                </a:solidFill>
                <a:latin typeface="Arial"/>
                <a:ea typeface="Arial"/>
                <a:cs typeface="Arial"/>
              </a:defRPr>
            </a:pPr>
            <a:r>
              <a:rPr sz="900" b="0" i="0">
                <a:solidFill>
                  <a:srgbClr val="617080"/>
                </a:solidFill>
                <a:latin typeface="Arial"/>
                <a:ea typeface="Arial"/>
                <a:cs typeface="Arial"/>
              </a:rPr>
              <a:t>2</a:t>
            </a:r>
          </a:p>
        </p:txBody>
      </p:sp>
      <p:pic>
        <p:nvPicPr>
          <p:cNvPr id="8" name="Picture 7"/>
          <p:cNvPicPr>
            <a:picLocks noChangeAspect="1"/>
          </p:cNvPicPr>
          <p:nvPr/>
        </p:nvPicPr>
        <p:blipFill>
          <a:blip r:embed="rId3"/>
          <a:stretch/>
        </p:blipFill>
        <p:spPr>
          <a:xfrm>
            <a:off x="1100667" y="857250"/>
            <a:ext cx="9990667" cy="5619750"/>
          </a:xfrm>
          <a:prstGeom prst="rect">
            <a:avLst/>
          </a:prstGeom>
        </p:spPr>
      </p:pic>
    </p:spTree>
    <p:extLst>
      <p:ext uri="{BB962C8B-B14F-4D97-AF65-F5344CB8AC3E}">
        <p14:creationId xmlns:p14="http://schemas.microsoft.com/office/powerpoint/2010/main" val="9849926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ACBB127C-53C4-469F-9C55-5A539A99E00B}"/>
              </a:ext>
            </a:extLst>
          </p:cNvPr>
          <p:cNvSpPr>
            <a:spLocks noGrp="1"/>
          </p:cNvSpPr>
          <p:nvPr/>
        </p:nvSpPr>
        <p:spPr>
          <a:xfrm>
            <a:off x="552450" y="209550"/>
            <a:ext cx="10763250" cy="523875"/>
          </a:xfrm>
          <a:prstGeom prst="rect">
            <a:avLst/>
          </a:prstGeom>
          <a:noFill/>
          <a:ln w="0">
            <a:noFill/>
            <a:prstDash val="solid"/>
          </a:ln>
        </p:spPr>
        <p:txBody>
          <a:bodyPr wrap="square" lIns="38100" tIns="19050" rIns="38100" bIns="19050" anchor="ctr">
            <a:normAutofit/>
          </a:bodyPr>
          <a:lstStyle/>
          <a:p>
            <a:pPr algn="l">
              <a:defRPr sz="2325" b="1" i="0">
                <a:solidFill>
                  <a:srgbClr val="263746"/>
                </a:solidFill>
                <a:latin typeface="Arial"/>
                <a:ea typeface="Arial"/>
                <a:cs typeface="Arial"/>
              </a:defRPr>
            </a:pPr>
            <a:r>
              <a:rPr lang="mk-MK" sz="2325" b="1" i="0" noProof="0" dirty="0">
                <a:solidFill>
                  <a:srgbClr val="263746"/>
                </a:solidFill>
                <a:latin typeface="Arial"/>
                <a:ea typeface="Arial"/>
                <a:cs typeface="Arial"/>
              </a:rPr>
              <a:t>Сродни истражувања</a:t>
            </a:r>
          </a:p>
        </p:txBody>
      </p:sp>
      <p:sp>
        <p:nvSpPr>
          <p:cNvPr id="2" name="Rectangle 1">
            <a:extLst>
              <a:ext uri="{FF2B5EF4-FFF2-40B4-BE49-F238E27FC236}">
                <a16:creationId xmlns:a16="http://schemas.microsoft.com/office/drawing/2014/main" id="{EB4D0CED-F486-41CC-A2E1-BC2C15E742D2}"/>
              </a:ext>
            </a:extLst>
          </p:cNvPr>
          <p:cNvSpPr>
            <a:spLocks noGrp="1"/>
          </p:cNvSpPr>
          <p:nvPr/>
        </p:nvSpPr>
        <p:spPr>
          <a:xfrm>
            <a:off x="552450" y="781050"/>
            <a:ext cx="11087100" cy="38100"/>
          </a:xfrm>
          <a:prstGeom prst="rect">
            <a:avLst/>
          </a:prstGeom>
          <a:solidFill>
            <a:srgbClr val="4F86C6"/>
          </a:solidFill>
          <a:ln w="0">
            <a:noFill/>
            <a:prstDash val="solid"/>
          </a:ln>
        </p:spPr>
        <p:txBody>
          <a:bodyPr/>
          <a:lstStyle/>
          <a:p>
            <a:endParaRPr lang="mk-MK" noProof="0" dirty="0"/>
          </a:p>
        </p:txBody>
      </p:sp>
      <p:sp>
        <p:nvSpPr>
          <p:cNvPr id="3" name="Rectangle 2">
            <a:extLst>
              <a:ext uri="{FF2B5EF4-FFF2-40B4-BE49-F238E27FC236}">
                <a16:creationId xmlns:a16="http://schemas.microsoft.com/office/drawing/2014/main" id="{AA20D0A1-10D3-451D-8633-F84B1703C2B3}"/>
              </a:ext>
            </a:extLst>
          </p:cNvPr>
          <p:cNvSpPr>
            <a:spLocks noGrp="1"/>
          </p:cNvSpPr>
          <p:nvPr/>
        </p:nvSpPr>
        <p:spPr>
          <a:xfrm>
            <a:off x="552450" y="6486525"/>
            <a:ext cx="9334500" cy="228600"/>
          </a:xfrm>
          <a:prstGeom prst="rect">
            <a:avLst/>
          </a:prstGeom>
          <a:noFill/>
          <a:ln w="0">
            <a:noFill/>
            <a:prstDash val="solid"/>
          </a:ln>
        </p:spPr>
        <p:txBody>
          <a:bodyPr wrap="square" lIns="38100" tIns="19050" rIns="38100" bIns="19050" anchor="b">
            <a:normAutofit/>
          </a:bodyPr>
          <a:lstStyle/>
          <a:p>
            <a:pPr algn="l">
              <a:defRPr sz="825" b="0" i="0">
                <a:solidFill>
                  <a:srgbClr val="617080"/>
                </a:solidFill>
                <a:latin typeface="Arial"/>
                <a:ea typeface="Arial"/>
                <a:cs typeface="Arial"/>
              </a:defRPr>
            </a:pPr>
            <a:r>
              <a:rPr lang="mk-MK" sz="825" b="0" i="0" noProof="0" dirty="0" err="1">
                <a:solidFill>
                  <a:srgbClr val="617080"/>
                </a:solidFill>
                <a:latin typeface="Arial"/>
                <a:ea typeface="Arial"/>
                <a:cs typeface="Arial"/>
              </a:rPr>
              <a:t>Mavromatis</a:t>
            </a:r>
            <a:r>
              <a:rPr lang="mk-MK" sz="825" b="0" i="0" noProof="0" dirty="0">
                <a:solidFill>
                  <a:srgbClr val="617080"/>
                </a:solidFill>
                <a:latin typeface="Arial"/>
                <a:ea typeface="Arial"/>
                <a:cs typeface="Arial"/>
              </a:rPr>
              <a:t> </a:t>
            </a:r>
            <a:r>
              <a:rPr lang="mk-MK" sz="825" b="0" i="0" noProof="0" dirty="0" err="1">
                <a:solidFill>
                  <a:srgbClr val="617080"/>
                </a:solidFill>
                <a:latin typeface="Arial"/>
                <a:ea typeface="Arial"/>
                <a:cs typeface="Arial"/>
              </a:rPr>
              <a:t>and</a:t>
            </a:r>
            <a:r>
              <a:rPr lang="mk-MK" sz="825" b="0" i="0" noProof="0" dirty="0">
                <a:solidFill>
                  <a:srgbClr val="617080"/>
                </a:solidFill>
                <a:latin typeface="Arial"/>
                <a:ea typeface="Arial"/>
                <a:cs typeface="Arial"/>
              </a:rPr>
              <a:t> </a:t>
            </a:r>
            <a:r>
              <a:rPr lang="mk-MK" sz="825" b="0" i="0" noProof="0" dirty="0" err="1">
                <a:solidFill>
                  <a:srgbClr val="617080"/>
                </a:solidFill>
                <a:latin typeface="Arial"/>
                <a:ea typeface="Arial"/>
                <a:cs typeface="Arial"/>
              </a:rPr>
              <a:t>Karypis</a:t>
            </a:r>
            <a:r>
              <a:rPr lang="mk-MK" sz="825" b="0" i="0" noProof="0" dirty="0">
                <a:solidFill>
                  <a:srgbClr val="617080"/>
                </a:solidFill>
                <a:latin typeface="Arial"/>
                <a:ea typeface="Arial"/>
                <a:cs typeface="Arial"/>
              </a:rPr>
              <a:t>, 2025 · </a:t>
            </a:r>
            <a:r>
              <a:rPr lang="mk-MK" sz="825" b="0" i="0" noProof="0" dirty="0" err="1">
                <a:solidFill>
                  <a:srgbClr val="617080"/>
                </a:solidFill>
                <a:latin typeface="Arial"/>
                <a:ea typeface="Arial"/>
                <a:cs typeface="Arial"/>
              </a:rPr>
              <a:t>He</a:t>
            </a:r>
            <a:r>
              <a:rPr lang="mk-MK" sz="825" b="0" i="0" noProof="0" dirty="0">
                <a:solidFill>
                  <a:srgbClr val="617080"/>
                </a:solidFill>
                <a:latin typeface="Arial"/>
                <a:ea typeface="Arial"/>
                <a:cs typeface="Arial"/>
              </a:rPr>
              <a:t> </a:t>
            </a:r>
            <a:r>
              <a:rPr lang="mk-MK" sz="825" b="0" i="0" noProof="0" dirty="0" err="1">
                <a:solidFill>
                  <a:srgbClr val="617080"/>
                </a:solidFill>
                <a:latin typeface="Arial"/>
                <a:ea typeface="Arial"/>
                <a:cs typeface="Arial"/>
              </a:rPr>
              <a:t>et</a:t>
            </a:r>
            <a:r>
              <a:rPr lang="mk-MK" sz="825" b="0" i="0" noProof="0" dirty="0">
                <a:solidFill>
                  <a:srgbClr val="617080"/>
                </a:solidFill>
                <a:latin typeface="Arial"/>
                <a:ea typeface="Arial"/>
                <a:cs typeface="Arial"/>
              </a:rPr>
              <a:t> </a:t>
            </a:r>
            <a:r>
              <a:rPr lang="mk-MK" sz="825" b="0" i="0" noProof="0" dirty="0" err="1">
                <a:solidFill>
                  <a:srgbClr val="617080"/>
                </a:solidFill>
                <a:latin typeface="Arial"/>
                <a:ea typeface="Arial"/>
                <a:cs typeface="Arial"/>
              </a:rPr>
              <a:t>al</a:t>
            </a:r>
            <a:r>
              <a:rPr lang="mk-MK" sz="825" b="0" i="0" noProof="0" dirty="0">
                <a:solidFill>
                  <a:srgbClr val="617080"/>
                </a:solidFill>
                <a:latin typeface="Arial"/>
                <a:ea typeface="Arial"/>
                <a:cs typeface="Arial"/>
              </a:rPr>
              <a:t>., 2024</a:t>
            </a:r>
          </a:p>
        </p:txBody>
      </p:sp>
      <p:sp>
        <p:nvSpPr>
          <p:cNvPr id="4" name="Rectangle 3">
            <a:extLst>
              <a:ext uri="{FF2B5EF4-FFF2-40B4-BE49-F238E27FC236}">
                <a16:creationId xmlns:a16="http://schemas.microsoft.com/office/drawing/2014/main" id="{EA267D98-DEE9-4DFF-9A0C-35D1C13779B0}"/>
              </a:ext>
            </a:extLst>
          </p:cNvPr>
          <p:cNvSpPr>
            <a:spLocks noGrp="1"/>
          </p:cNvSpPr>
          <p:nvPr/>
        </p:nvSpPr>
        <p:spPr>
          <a:xfrm>
            <a:off x="11315700" y="6486525"/>
            <a:ext cx="323850" cy="228600"/>
          </a:xfrm>
          <a:prstGeom prst="rect">
            <a:avLst/>
          </a:prstGeom>
          <a:noFill/>
          <a:ln w="0">
            <a:noFill/>
            <a:prstDash val="solid"/>
          </a:ln>
        </p:spPr>
        <p:txBody>
          <a:bodyPr wrap="square" lIns="38100" tIns="19050" rIns="38100" bIns="19050" anchor="b">
            <a:normAutofit/>
          </a:bodyPr>
          <a:lstStyle/>
          <a:p>
            <a:pPr algn="r">
              <a:defRPr sz="900" b="0" i="0">
                <a:solidFill>
                  <a:srgbClr val="617080"/>
                </a:solidFill>
                <a:latin typeface="Arial"/>
                <a:ea typeface="Arial"/>
                <a:cs typeface="Arial"/>
              </a:defRPr>
            </a:pPr>
            <a:r>
              <a:rPr lang="mk-MK" sz="900" b="0" i="0" noProof="0" dirty="0">
                <a:solidFill>
                  <a:srgbClr val="617080"/>
                </a:solidFill>
                <a:latin typeface="Arial"/>
                <a:ea typeface="Arial"/>
                <a:cs typeface="Arial"/>
              </a:rPr>
              <a:t>3</a:t>
            </a:r>
          </a:p>
        </p:txBody>
      </p:sp>
      <p:sp>
        <p:nvSpPr>
          <p:cNvPr id="5" name="Rectangle 4">
            <a:extLst>
              <a:ext uri="{FF2B5EF4-FFF2-40B4-BE49-F238E27FC236}">
                <a16:creationId xmlns:a16="http://schemas.microsoft.com/office/drawing/2014/main" id="{34FEDAF4-12AF-462A-9B57-9E487C3D9758}"/>
              </a:ext>
            </a:extLst>
          </p:cNvPr>
          <p:cNvSpPr>
            <a:spLocks noGrp="1"/>
          </p:cNvSpPr>
          <p:nvPr/>
        </p:nvSpPr>
        <p:spPr>
          <a:xfrm>
            <a:off x="742950" y="1066800"/>
            <a:ext cx="4762500" cy="285750"/>
          </a:xfrm>
          <a:prstGeom prst="rect">
            <a:avLst/>
          </a:prstGeom>
          <a:noFill/>
          <a:ln w="0">
            <a:noFill/>
            <a:prstDash val="solid"/>
          </a:ln>
        </p:spPr>
        <p:txBody>
          <a:bodyPr wrap="square" lIns="38100" tIns="19050" rIns="38100" bIns="19050" anchor="b">
            <a:normAutofit/>
          </a:bodyPr>
          <a:lstStyle/>
          <a:p>
            <a:pPr algn="l">
              <a:defRPr sz="1125" b="1" i="0">
                <a:solidFill>
                  <a:srgbClr val="4F86C6"/>
                </a:solidFill>
                <a:latin typeface="Arial"/>
                <a:ea typeface="Arial"/>
                <a:cs typeface="Arial"/>
              </a:defRPr>
            </a:pPr>
            <a:r>
              <a:rPr lang="mk-MK" sz="1125" b="1" i="0" noProof="0" dirty="0">
                <a:solidFill>
                  <a:srgbClr val="4F86C6"/>
                </a:solidFill>
                <a:latin typeface="Arial"/>
                <a:ea typeface="Arial"/>
                <a:cs typeface="Arial"/>
              </a:rPr>
              <a:t>GNN-RAG</a:t>
            </a:r>
          </a:p>
        </p:txBody>
      </p:sp>
      <p:sp>
        <p:nvSpPr>
          <p:cNvPr id="6" name="Rectangle 5">
            <a:extLst>
              <a:ext uri="{FF2B5EF4-FFF2-40B4-BE49-F238E27FC236}">
                <a16:creationId xmlns:a16="http://schemas.microsoft.com/office/drawing/2014/main" id="{D8DC981F-4AEF-44F3-9E0B-E8DA25737DAC}"/>
              </a:ext>
            </a:extLst>
          </p:cNvPr>
          <p:cNvSpPr>
            <a:spLocks noGrp="1"/>
          </p:cNvSpPr>
          <p:nvPr/>
        </p:nvSpPr>
        <p:spPr>
          <a:xfrm>
            <a:off x="742950" y="1381125"/>
            <a:ext cx="4857750" cy="400050"/>
          </a:xfrm>
          <a:prstGeom prst="rect">
            <a:avLst/>
          </a:prstGeom>
          <a:noFill/>
          <a:ln w="0">
            <a:noFill/>
            <a:prstDash val="solid"/>
          </a:ln>
        </p:spPr>
        <p:txBody>
          <a:bodyPr wrap="square" lIns="38100" tIns="19050" rIns="38100" bIns="19050" anchor="ctr">
            <a:normAutofit/>
          </a:bodyPr>
          <a:lstStyle/>
          <a:p>
            <a:pPr algn="l">
              <a:defRPr sz="1575" b="1" i="0">
                <a:solidFill>
                  <a:srgbClr val="4F86C6"/>
                </a:solidFill>
                <a:latin typeface="Arial"/>
                <a:ea typeface="Arial"/>
                <a:cs typeface="Arial"/>
              </a:defRPr>
            </a:pPr>
            <a:r>
              <a:rPr lang="mk-MK" sz="1575" b="1" i="0" noProof="0" dirty="0">
                <a:solidFill>
                  <a:srgbClr val="4F86C6"/>
                </a:solidFill>
                <a:latin typeface="Arial"/>
                <a:ea typeface="Arial"/>
                <a:cs typeface="Arial"/>
              </a:rPr>
              <a:t>GNN-пребарување  →  најкратки патеки  →  LLM</a:t>
            </a:r>
          </a:p>
        </p:txBody>
      </p:sp>
      <p:sp>
        <p:nvSpPr>
          <p:cNvPr id="7" name="Oval 6">
            <a:extLst>
              <a:ext uri="{FF2B5EF4-FFF2-40B4-BE49-F238E27FC236}">
                <a16:creationId xmlns:a16="http://schemas.microsoft.com/office/drawing/2014/main" id="{9A32267C-BE96-431C-AF0E-987954DF7CD7}"/>
              </a:ext>
            </a:extLst>
          </p:cNvPr>
          <p:cNvSpPr>
            <a:spLocks noGrp="1"/>
          </p:cNvSpPr>
          <p:nvPr/>
        </p:nvSpPr>
        <p:spPr>
          <a:xfrm>
            <a:off x="781050" y="2105025"/>
            <a:ext cx="66675" cy="66675"/>
          </a:xfrm>
          <a:prstGeom prst="ellipse">
            <a:avLst/>
          </a:prstGeom>
          <a:solidFill>
            <a:srgbClr val="263746"/>
          </a:solidFill>
          <a:ln w="0">
            <a:noFill/>
            <a:prstDash val="solid"/>
          </a:ln>
        </p:spPr>
        <p:txBody>
          <a:bodyPr/>
          <a:lstStyle/>
          <a:p>
            <a:endParaRPr lang="mk-MK" noProof="0" dirty="0"/>
          </a:p>
        </p:txBody>
      </p:sp>
      <p:sp>
        <p:nvSpPr>
          <p:cNvPr id="8" name="Rectangle 7">
            <a:extLst>
              <a:ext uri="{FF2B5EF4-FFF2-40B4-BE49-F238E27FC236}">
                <a16:creationId xmlns:a16="http://schemas.microsoft.com/office/drawing/2014/main" id="{426B7EF2-56E4-4D25-9881-358099CEAABD}"/>
              </a:ext>
            </a:extLst>
          </p:cNvPr>
          <p:cNvSpPr>
            <a:spLocks noGrp="1"/>
          </p:cNvSpPr>
          <p:nvPr/>
        </p:nvSpPr>
        <p:spPr>
          <a:xfrm>
            <a:off x="952500" y="2000250"/>
            <a:ext cx="4495800" cy="476250"/>
          </a:xfrm>
          <a:prstGeom prst="rect">
            <a:avLst/>
          </a:prstGeom>
          <a:noFill/>
          <a:ln w="0">
            <a:noFill/>
            <a:prstDash val="solid"/>
          </a:ln>
        </p:spPr>
        <p:txBody>
          <a:bodyPr wrap="square" lIns="38100" tIns="19050" rIns="38100" bIns="19050" anchor="t">
            <a:normAutofit/>
          </a:bodyPr>
          <a:lstStyle/>
          <a:p>
            <a:pPr algn="l">
              <a:defRPr sz="1425" b="0" i="0">
                <a:solidFill>
                  <a:srgbClr val="263746"/>
                </a:solidFill>
                <a:latin typeface="Arial"/>
                <a:ea typeface="Arial"/>
                <a:cs typeface="Arial"/>
              </a:defRPr>
            </a:pPr>
            <a:r>
              <a:rPr lang="mk-MK" sz="1425" b="0" i="0" noProof="0" dirty="0">
                <a:solidFill>
                  <a:srgbClr val="263746"/>
                </a:solidFill>
                <a:latin typeface="Arial"/>
                <a:ea typeface="Arial"/>
                <a:cs typeface="Arial"/>
              </a:rPr>
              <a:t>GNN ги рангира ентитетите-кандидати.</a:t>
            </a:r>
          </a:p>
        </p:txBody>
      </p:sp>
      <p:sp>
        <p:nvSpPr>
          <p:cNvPr id="9" name="Oval 8">
            <a:extLst>
              <a:ext uri="{FF2B5EF4-FFF2-40B4-BE49-F238E27FC236}">
                <a16:creationId xmlns:a16="http://schemas.microsoft.com/office/drawing/2014/main" id="{3095336C-FEC7-402F-B8F0-23E119F28836}"/>
              </a:ext>
            </a:extLst>
          </p:cNvPr>
          <p:cNvSpPr>
            <a:spLocks noGrp="1"/>
          </p:cNvSpPr>
          <p:nvPr/>
        </p:nvSpPr>
        <p:spPr>
          <a:xfrm>
            <a:off x="781050" y="2676525"/>
            <a:ext cx="66675" cy="66675"/>
          </a:xfrm>
          <a:prstGeom prst="ellipse">
            <a:avLst/>
          </a:prstGeom>
          <a:solidFill>
            <a:srgbClr val="263746"/>
          </a:solidFill>
          <a:ln w="0">
            <a:noFill/>
            <a:prstDash val="solid"/>
          </a:ln>
        </p:spPr>
        <p:txBody>
          <a:bodyPr/>
          <a:lstStyle/>
          <a:p>
            <a:endParaRPr lang="mk-MK" noProof="0" dirty="0"/>
          </a:p>
        </p:txBody>
      </p:sp>
      <p:sp>
        <p:nvSpPr>
          <p:cNvPr id="10" name="Rectangle 9">
            <a:extLst>
              <a:ext uri="{FF2B5EF4-FFF2-40B4-BE49-F238E27FC236}">
                <a16:creationId xmlns:a16="http://schemas.microsoft.com/office/drawing/2014/main" id="{30CDBB6C-0380-4C22-87DD-E0C24E39EFE8}"/>
              </a:ext>
            </a:extLst>
          </p:cNvPr>
          <p:cNvSpPr>
            <a:spLocks noGrp="1"/>
          </p:cNvSpPr>
          <p:nvPr/>
        </p:nvSpPr>
        <p:spPr>
          <a:xfrm>
            <a:off x="952500" y="2571750"/>
            <a:ext cx="4495800" cy="476250"/>
          </a:xfrm>
          <a:prstGeom prst="rect">
            <a:avLst/>
          </a:prstGeom>
          <a:noFill/>
          <a:ln w="0">
            <a:noFill/>
            <a:prstDash val="solid"/>
          </a:ln>
        </p:spPr>
        <p:txBody>
          <a:bodyPr wrap="square" lIns="38100" tIns="19050" rIns="38100" bIns="19050" anchor="t">
            <a:normAutofit/>
          </a:bodyPr>
          <a:lstStyle/>
          <a:p>
            <a:pPr algn="l">
              <a:defRPr sz="1425" b="0" i="0">
                <a:solidFill>
                  <a:srgbClr val="263746"/>
                </a:solidFill>
                <a:latin typeface="Arial"/>
                <a:ea typeface="Arial"/>
                <a:cs typeface="Arial"/>
              </a:defRPr>
            </a:pPr>
            <a:r>
              <a:rPr lang="mk-MK" sz="1425" b="0" i="0" noProof="0" dirty="0">
                <a:solidFill>
                  <a:srgbClr val="263746"/>
                </a:solidFill>
                <a:latin typeface="Arial"/>
                <a:ea typeface="Arial"/>
                <a:cs typeface="Arial"/>
              </a:rPr>
              <a:t>Најкратките патеки го формираат доказниот контекст.</a:t>
            </a:r>
          </a:p>
        </p:txBody>
      </p:sp>
      <p:sp>
        <p:nvSpPr>
          <p:cNvPr id="11" name="Rectangle 10">
            <a:extLst>
              <a:ext uri="{FF2B5EF4-FFF2-40B4-BE49-F238E27FC236}">
                <a16:creationId xmlns:a16="http://schemas.microsoft.com/office/drawing/2014/main" id="{EF251C30-0B80-4226-BAC4-FF088D6DAC92}"/>
              </a:ext>
            </a:extLst>
          </p:cNvPr>
          <p:cNvSpPr>
            <a:spLocks noGrp="1"/>
          </p:cNvSpPr>
          <p:nvPr/>
        </p:nvSpPr>
        <p:spPr>
          <a:xfrm>
            <a:off x="6048375" y="1123950"/>
            <a:ext cx="19050" cy="2143125"/>
          </a:xfrm>
          <a:prstGeom prst="rect">
            <a:avLst/>
          </a:prstGeom>
          <a:solidFill>
            <a:srgbClr val="DDE3E8"/>
          </a:solidFill>
          <a:ln w="0">
            <a:noFill/>
            <a:prstDash val="solid"/>
          </a:ln>
        </p:spPr>
        <p:txBody>
          <a:bodyPr/>
          <a:lstStyle/>
          <a:p>
            <a:endParaRPr lang="mk-MK" noProof="0" dirty="0"/>
          </a:p>
        </p:txBody>
      </p:sp>
      <p:sp>
        <p:nvSpPr>
          <p:cNvPr id="12" name="Rectangle 11">
            <a:extLst>
              <a:ext uri="{FF2B5EF4-FFF2-40B4-BE49-F238E27FC236}">
                <a16:creationId xmlns:a16="http://schemas.microsoft.com/office/drawing/2014/main" id="{6B1D1C4D-1EAD-4381-9603-F192DC016F92}"/>
              </a:ext>
            </a:extLst>
          </p:cNvPr>
          <p:cNvSpPr>
            <a:spLocks noGrp="1"/>
          </p:cNvSpPr>
          <p:nvPr/>
        </p:nvSpPr>
        <p:spPr>
          <a:xfrm>
            <a:off x="6524625" y="1066800"/>
            <a:ext cx="4762500" cy="285750"/>
          </a:xfrm>
          <a:prstGeom prst="rect">
            <a:avLst/>
          </a:prstGeom>
          <a:noFill/>
          <a:ln w="0">
            <a:noFill/>
            <a:prstDash val="solid"/>
          </a:ln>
        </p:spPr>
        <p:txBody>
          <a:bodyPr wrap="square" lIns="38100" tIns="19050" rIns="38100" bIns="19050" anchor="b">
            <a:normAutofit/>
          </a:bodyPr>
          <a:lstStyle/>
          <a:p>
            <a:pPr algn="l">
              <a:defRPr sz="1125" b="1" i="0">
                <a:solidFill>
                  <a:srgbClr val="398D84"/>
                </a:solidFill>
                <a:latin typeface="Arial"/>
                <a:ea typeface="Arial"/>
                <a:cs typeface="Arial"/>
              </a:defRPr>
            </a:pPr>
            <a:r>
              <a:rPr lang="mk-MK" sz="1125" b="1" i="0" noProof="0" dirty="0" err="1">
                <a:solidFill>
                  <a:srgbClr val="398D84"/>
                </a:solidFill>
                <a:latin typeface="Arial"/>
                <a:ea typeface="Arial"/>
                <a:cs typeface="Arial"/>
              </a:rPr>
              <a:t>G-Retriever</a:t>
            </a:r>
            <a:endParaRPr lang="mk-MK" sz="1125" b="1" i="0" noProof="0" dirty="0">
              <a:solidFill>
                <a:srgbClr val="398D84"/>
              </a:solidFill>
              <a:latin typeface="Arial"/>
              <a:ea typeface="Arial"/>
              <a:cs typeface="Arial"/>
            </a:endParaRPr>
          </a:p>
        </p:txBody>
      </p:sp>
      <p:sp>
        <p:nvSpPr>
          <p:cNvPr id="13" name="Rectangle 12">
            <a:extLst>
              <a:ext uri="{FF2B5EF4-FFF2-40B4-BE49-F238E27FC236}">
                <a16:creationId xmlns:a16="http://schemas.microsoft.com/office/drawing/2014/main" id="{C5B9C1A7-BCF5-454D-B614-ACF4B2ADE9CE}"/>
              </a:ext>
            </a:extLst>
          </p:cNvPr>
          <p:cNvSpPr>
            <a:spLocks noGrp="1"/>
          </p:cNvSpPr>
          <p:nvPr/>
        </p:nvSpPr>
        <p:spPr>
          <a:xfrm>
            <a:off x="6524625" y="1381125"/>
            <a:ext cx="4857750" cy="400050"/>
          </a:xfrm>
          <a:prstGeom prst="rect">
            <a:avLst/>
          </a:prstGeom>
          <a:noFill/>
          <a:ln w="0">
            <a:noFill/>
            <a:prstDash val="solid"/>
          </a:ln>
        </p:spPr>
        <p:txBody>
          <a:bodyPr wrap="square" lIns="38100" tIns="19050" rIns="38100" bIns="19050" anchor="ctr">
            <a:normAutofit/>
          </a:bodyPr>
          <a:lstStyle/>
          <a:p>
            <a:pPr algn="l">
              <a:defRPr sz="1575" b="1" i="0">
                <a:solidFill>
                  <a:srgbClr val="398D84"/>
                </a:solidFill>
                <a:latin typeface="Arial"/>
                <a:ea typeface="Arial"/>
                <a:cs typeface="Arial"/>
              </a:defRPr>
            </a:pPr>
            <a:r>
              <a:rPr lang="mk-MK" sz="1575" b="1" i="0" noProof="0" dirty="0" err="1">
                <a:solidFill>
                  <a:srgbClr val="398D84"/>
                </a:solidFill>
                <a:latin typeface="Arial"/>
                <a:ea typeface="Arial"/>
                <a:cs typeface="Arial"/>
              </a:rPr>
              <a:t>Енкодер</a:t>
            </a:r>
            <a:r>
              <a:rPr lang="mk-MK" sz="1575" b="1" i="0" noProof="0" dirty="0">
                <a:solidFill>
                  <a:srgbClr val="398D84"/>
                </a:solidFill>
                <a:latin typeface="Arial"/>
                <a:ea typeface="Arial"/>
                <a:cs typeface="Arial"/>
              </a:rPr>
              <a:t> на графови  →  PCST  →  LLM</a:t>
            </a:r>
          </a:p>
        </p:txBody>
      </p:sp>
      <p:sp>
        <p:nvSpPr>
          <p:cNvPr id="14" name="Oval 13">
            <a:extLst>
              <a:ext uri="{FF2B5EF4-FFF2-40B4-BE49-F238E27FC236}">
                <a16:creationId xmlns:a16="http://schemas.microsoft.com/office/drawing/2014/main" id="{073CAC9A-AE75-40B0-9183-927614F172D6}"/>
              </a:ext>
            </a:extLst>
          </p:cNvPr>
          <p:cNvSpPr>
            <a:spLocks noGrp="1"/>
          </p:cNvSpPr>
          <p:nvPr/>
        </p:nvSpPr>
        <p:spPr>
          <a:xfrm>
            <a:off x="6562725" y="2105025"/>
            <a:ext cx="66675" cy="66675"/>
          </a:xfrm>
          <a:prstGeom prst="ellipse">
            <a:avLst/>
          </a:prstGeom>
          <a:solidFill>
            <a:srgbClr val="263746"/>
          </a:solidFill>
          <a:ln w="0">
            <a:noFill/>
            <a:prstDash val="solid"/>
          </a:ln>
        </p:spPr>
        <p:txBody>
          <a:bodyPr/>
          <a:lstStyle/>
          <a:p>
            <a:endParaRPr lang="mk-MK" noProof="0" dirty="0"/>
          </a:p>
        </p:txBody>
      </p:sp>
      <p:sp>
        <p:nvSpPr>
          <p:cNvPr id="15" name="Rectangle 14">
            <a:extLst>
              <a:ext uri="{FF2B5EF4-FFF2-40B4-BE49-F238E27FC236}">
                <a16:creationId xmlns:a16="http://schemas.microsoft.com/office/drawing/2014/main" id="{0DF926F4-E196-4ADC-9A45-5957F7B37B49}"/>
              </a:ext>
            </a:extLst>
          </p:cNvPr>
          <p:cNvSpPr>
            <a:spLocks noGrp="1"/>
          </p:cNvSpPr>
          <p:nvPr/>
        </p:nvSpPr>
        <p:spPr>
          <a:xfrm>
            <a:off x="6734175" y="2000250"/>
            <a:ext cx="4448175" cy="476250"/>
          </a:xfrm>
          <a:prstGeom prst="rect">
            <a:avLst/>
          </a:prstGeom>
          <a:noFill/>
          <a:ln w="0">
            <a:noFill/>
            <a:prstDash val="solid"/>
          </a:ln>
        </p:spPr>
        <p:txBody>
          <a:bodyPr wrap="square" lIns="38100" tIns="19050" rIns="38100" bIns="19050" anchor="t">
            <a:normAutofit/>
          </a:bodyPr>
          <a:lstStyle/>
          <a:p>
            <a:pPr algn="l">
              <a:defRPr sz="1425" b="0" i="0">
                <a:solidFill>
                  <a:srgbClr val="263746"/>
                </a:solidFill>
                <a:latin typeface="Arial"/>
                <a:ea typeface="Arial"/>
                <a:cs typeface="Arial"/>
              </a:defRPr>
            </a:pPr>
            <a:r>
              <a:rPr lang="mk-MK" sz="1425" b="0" i="0" noProof="0" dirty="0" err="1">
                <a:solidFill>
                  <a:srgbClr val="263746"/>
                </a:solidFill>
                <a:latin typeface="Arial"/>
                <a:ea typeface="Arial"/>
                <a:cs typeface="Arial"/>
              </a:rPr>
              <a:t>Енкодерот</a:t>
            </a:r>
            <a:r>
              <a:rPr lang="mk-MK" sz="1425" b="0" i="0" noProof="0" dirty="0">
                <a:solidFill>
                  <a:srgbClr val="263746"/>
                </a:solidFill>
                <a:latin typeface="Arial"/>
                <a:ea typeface="Arial"/>
                <a:cs typeface="Arial"/>
              </a:rPr>
              <a:t> на графови ги оценува јазлите.</a:t>
            </a:r>
          </a:p>
        </p:txBody>
      </p:sp>
      <p:sp>
        <p:nvSpPr>
          <p:cNvPr id="16" name="Oval 15">
            <a:extLst>
              <a:ext uri="{FF2B5EF4-FFF2-40B4-BE49-F238E27FC236}">
                <a16:creationId xmlns:a16="http://schemas.microsoft.com/office/drawing/2014/main" id="{9A5F2894-68B1-407C-81CC-51A36300A3AA}"/>
              </a:ext>
            </a:extLst>
          </p:cNvPr>
          <p:cNvSpPr>
            <a:spLocks noGrp="1"/>
          </p:cNvSpPr>
          <p:nvPr/>
        </p:nvSpPr>
        <p:spPr>
          <a:xfrm>
            <a:off x="6562725" y="2676525"/>
            <a:ext cx="66675" cy="66675"/>
          </a:xfrm>
          <a:prstGeom prst="ellipse">
            <a:avLst/>
          </a:prstGeom>
          <a:solidFill>
            <a:srgbClr val="263746"/>
          </a:solidFill>
          <a:ln w="0">
            <a:noFill/>
            <a:prstDash val="solid"/>
          </a:ln>
        </p:spPr>
        <p:txBody>
          <a:bodyPr/>
          <a:lstStyle/>
          <a:p>
            <a:endParaRPr lang="mk-MK" noProof="0" dirty="0"/>
          </a:p>
        </p:txBody>
      </p:sp>
      <p:sp>
        <p:nvSpPr>
          <p:cNvPr id="17" name="Rectangle 16">
            <a:extLst>
              <a:ext uri="{FF2B5EF4-FFF2-40B4-BE49-F238E27FC236}">
                <a16:creationId xmlns:a16="http://schemas.microsoft.com/office/drawing/2014/main" id="{341A9BE1-4D42-4935-9A4D-10B3550A6DE6}"/>
              </a:ext>
            </a:extLst>
          </p:cNvPr>
          <p:cNvSpPr>
            <a:spLocks noGrp="1"/>
          </p:cNvSpPr>
          <p:nvPr/>
        </p:nvSpPr>
        <p:spPr>
          <a:xfrm>
            <a:off x="6734175" y="2571750"/>
            <a:ext cx="4448175" cy="476250"/>
          </a:xfrm>
          <a:prstGeom prst="rect">
            <a:avLst/>
          </a:prstGeom>
          <a:noFill/>
          <a:ln w="0">
            <a:noFill/>
            <a:prstDash val="solid"/>
          </a:ln>
        </p:spPr>
        <p:txBody>
          <a:bodyPr wrap="square" lIns="38100" tIns="19050" rIns="38100" bIns="19050" anchor="t">
            <a:normAutofit/>
          </a:bodyPr>
          <a:lstStyle/>
          <a:p>
            <a:pPr algn="l">
              <a:defRPr sz="1425" b="0" i="0">
                <a:solidFill>
                  <a:srgbClr val="263746"/>
                </a:solidFill>
                <a:latin typeface="Arial"/>
                <a:ea typeface="Arial"/>
                <a:cs typeface="Arial"/>
              </a:defRPr>
            </a:pPr>
            <a:r>
              <a:rPr lang="mk-MK" sz="1425" b="0" i="0" noProof="0" dirty="0">
                <a:solidFill>
                  <a:srgbClr val="263746"/>
                </a:solidFill>
                <a:latin typeface="Arial"/>
                <a:ea typeface="Arial"/>
                <a:cs typeface="Arial"/>
              </a:rPr>
              <a:t>PCST избира компактен доказен подграф.</a:t>
            </a:r>
          </a:p>
        </p:txBody>
      </p:sp>
      <p:sp>
        <p:nvSpPr>
          <p:cNvPr id="18" name="Rounded Rectangle 17">
            <a:extLst>
              <a:ext uri="{FF2B5EF4-FFF2-40B4-BE49-F238E27FC236}">
                <a16:creationId xmlns:a16="http://schemas.microsoft.com/office/drawing/2014/main" id="{4C0CA12A-71B7-4776-92A3-1C0973A58E73}"/>
              </a:ext>
            </a:extLst>
          </p:cNvPr>
          <p:cNvSpPr>
            <a:spLocks noGrp="1"/>
          </p:cNvSpPr>
          <p:nvPr/>
        </p:nvSpPr>
        <p:spPr>
          <a:xfrm>
            <a:off x="742950" y="3667125"/>
            <a:ext cx="10668000" cy="1952625"/>
          </a:xfrm>
          <a:prstGeom prst="roundRect">
            <a:avLst>
              <a:gd name="adj" fmla="val 6829"/>
            </a:avLst>
          </a:prstGeom>
          <a:solidFill>
            <a:srgbClr val="F7F9FB"/>
          </a:solidFill>
          <a:ln w="19050">
            <a:solidFill>
              <a:srgbClr val="4F86C6"/>
            </a:solidFill>
            <a:prstDash val="solid"/>
          </a:ln>
        </p:spPr>
        <p:txBody>
          <a:bodyPr/>
          <a:lstStyle/>
          <a:p>
            <a:endParaRPr lang="mk-MK" noProof="0" dirty="0"/>
          </a:p>
        </p:txBody>
      </p:sp>
      <p:sp>
        <p:nvSpPr>
          <p:cNvPr id="19" name="Rectangle 18">
            <a:extLst>
              <a:ext uri="{FF2B5EF4-FFF2-40B4-BE49-F238E27FC236}">
                <a16:creationId xmlns:a16="http://schemas.microsoft.com/office/drawing/2014/main" id="{4C1B97B6-BF67-45EF-A3ED-55105AD6538D}"/>
              </a:ext>
            </a:extLst>
          </p:cNvPr>
          <p:cNvSpPr>
            <a:spLocks noGrp="1"/>
          </p:cNvSpPr>
          <p:nvPr/>
        </p:nvSpPr>
        <p:spPr>
          <a:xfrm>
            <a:off x="1047750" y="3905250"/>
            <a:ext cx="4000500" cy="361950"/>
          </a:xfrm>
          <a:prstGeom prst="rect">
            <a:avLst/>
          </a:prstGeom>
          <a:noFill/>
          <a:ln w="0">
            <a:noFill/>
            <a:prstDash val="solid"/>
          </a:ln>
        </p:spPr>
        <p:txBody>
          <a:bodyPr wrap="square" lIns="38100" tIns="19050" rIns="38100" bIns="19050" anchor="ctr">
            <a:normAutofit/>
          </a:bodyPr>
          <a:lstStyle/>
          <a:p>
            <a:pPr algn="l">
              <a:defRPr sz="1800" b="1" i="0">
                <a:solidFill>
                  <a:srgbClr val="4F86C6"/>
                </a:solidFill>
                <a:latin typeface="Arial"/>
                <a:ea typeface="Arial"/>
                <a:cs typeface="Arial"/>
              </a:defRPr>
            </a:pPr>
            <a:r>
              <a:rPr lang="mk-MK" sz="1800" b="1" i="0" noProof="0" dirty="0">
                <a:solidFill>
                  <a:srgbClr val="4F86C6"/>
                </a:solidFill>
                <a:latin typeface="Arial"/>
                <a:ea typeface="Arial"/>
                <a:cs typeface="Arial"/>
              </a:rPr>
              <a:t>Истражувачка празнина</a:t>
            </a:r>
          </a:p>
        </p:txBody>
      </p:sp>
      <p:sp>
        <p:nvSpPr>
          <p:cNvPr id="20" name="Rectangle 19">
            <a:extLst>
              <a:ext uri="{FF2B5EF4-FFF2-40B4-BE49-F238E27FC236}">
                <a16:creationId xmlns:a16="http://schemas.microsoft.com/office/drawing/2014/main" id="{436B9E60-11E9-4B0B-80E7-1661573F7EC9}"/>
              </a:ext>
            </a:extLst>
          </p:cNvPr>
          <p:cNvSpPr>
            <a:spLocks noGrp="1"/>
          </p:cNvSpPr>
          <p:nvPr/>
        </p:nvSpPr>
        <p:spPr>
          <a:xfrm>
            <a:off x="1047750" y="4410075"/>
            <a:ext cx="9858375" cy="781050"/>
          </a:xfrm>
          <a:prstGeom prst="rect">
            <a:avLst/>
          </a:prstGeom>
          <a:noFill/>
          <a:ln w="0">
            <a:noFill/>
            <a:prstDash val="solid"/>
          </a:ln>
        </p:spPr>
        <p:txBody>
          <a:bodyPr wrap="square" lIns="38100" tIns="19050" rIns="38100" bIns="19050" anchor="ctr">
            <a:normAutofit/>
          </a:bodyPr>
          <a:lstStyle/>
          <a:p>
            <a:pPr algn="l">
              <a:defRPr sz="1800" b="1" i="0">
                <a:solidFill>
                  <a:srgbClr val="263746"/>
                </a:solidFill>
                <a:latin typeface="Arial"/>
                <a:ea typeface="Arial"/>
                <a:cs typeface="Arial"/>
              </a:defRPr>
            </a:pPr>
            <a:r>
              <a:rPr lang="mk-MK" sz="1800" b="1" i="0" noProof="0" dirty="0">
                <a:solidFill>
                  <a:srgbClr val="263746"/>
                </a:solidFill>
                <a:latin typeface="Arial"/>
                <a:ea typeface="Arial"/>
                <a:cs typeface="Arial"/>
              </a:rPr>
              <a:t>Недостига контролирана споредба на различни GNN-архитектури, стратегии за доказен подграф и јазични модели во една заедничка рамка.</a:t>
            </a:r>
          </a:p>
        </p:txBody>
      </p:sp>
    </p:spTree>
    <p:extLst>
      <p:ext uri="{BB962C8B-B14F-4D97-AF65-F5344CB8AC3E}">
        <p14:creationId xmlns:p14="http://schemas.microsoft.com/office/powerpoint/2010/main" val="16794597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59C785E-FE15-4769-9CC4-3DD959CB4BAF}"/>
              </a:ext>
            </a:extLst>
          </p:cNvPr>
          <p:cNvSpPr>
            <a:spLocks noGrp="1"/>
          </p:cNvSpPr>
          <p:nvPr/>
        </p:nvSpPr>
        <p:spPr>
          <a:xfrm>
            <a:off x="552450" y="209550"/>
            <a:ext cx="10763250" cy="523875"/>
          </a:xfrm>
          <a:prstGeom prst="rect">
            <a:avLst/>
          </a:prstGeom>
          <a:noFill/>
          <a:ln w="0">
            <a:noFill/>
            <a:prstDash val="solid"/>
          </a:ln>
        </p:spPr>
        <p:txBody>
          <a:bodyPr wrap="square" lIns="38100" tIns="19050" rIns="38100" bIns="19050" anchor="ctr">
            <a:normAutofit/>
          </a:bodyPr>
          <a:lstStyle/>
          <a:p>
            <a:pPr algn="l">
              <a:defRPr sz="2325" b="1" i="0">
                <a:solidFill>
                  <a:srgbClr val="263746"/>
                </a:solidFill>
                <a:latin typeface="Arial"/>
                <a:ea typeface="Arial"/>
                <a:cs typeface="Arial"/>
              </a:defRPr>
            </a:pPr>
            <a:r>
              <a:rPr sz="2325" b="1" i="0">
                <a:solidFill>
                  <a:srgbClr val="263746"/>
                </a:solidFill>
                <a:latin typeface="Arial"/>
                <a:ea typeface="Arial"/>
                <a:cs typeface="Arial"/>
              </a:rPr>
              <a:t>Архитектура на системот</a:t>
            </a:r>
          </a:p>
        </p:txBody>
      </p:sp>
      <p:sp>
        <p:nvSpPr>
          <p:cNvPr id="2" name="Rectangle 1">
            <a:extLst>
              <a:ext uri="{FF2B5EF4-FFF2-40B4-BE49-F238E27FC236}">
                <a16:creationId xmlns:a16="http://schemas.microsoft.com/office/drawing/2014/main" id="{9CDF2084-8F86-465C-8305-6860EB8DCC52}"/>
              </a:ext>
            </a:extLst>
          </p:cNvPr>
          <p:cNvSpPr>
            <a:spLocks noGrp="1"/>
          </p:cNvSpPr>
          <p:nvPr/>
        </p:nvSpPr>
        <p:spPr>
          <a:xfrm>
            <a:off x="552450" y="781050"/>
            <a:ext cx="11087100" cy="38100"/>
          </a:xfrm>
          <a:prstGeom prst="rect">
            <a:avLst/>
          </a:prstGeom>
          <a:solidFill>
            <a:srgbClr val="4F86C6"/>
          </a:solidFill>
          <a:ln w="0">
            <a:noFill/>
            <a:prstDash val="solid"/>
          </a:ln>
        </p:spPr>
        <p:txBody>
          <a:bodyPr/>
          <a:lstStyle/>
          <a:p>
            <a:endParaRPr lang="en-US"/>
          </a:p>
        </p:txBody>
      </p:sp>
      <p:sp>
        <p:nvSpPr>
          <p:cNvPr id="3" name="Rectangle 2">
            <a:extLst>
              <a:ext uri="{FF2B5EF4-FFF2-40B4-BE49-F238E27FC236}">
                <a16:creationId xmlns:a16="http://schemas.microsoft.com/office/drawing/2014/main" id="{EA88E5FD-9F50-4CA0-93F9-580A5DAE2307}"/>
              </a:ext>
            </a:extLst>
          </p:cNvPr>
          <p:cNvSpPr>
            <a:spLocks noGrp="1"/>
          </p:cNvSpPr>
          <p:nvPr/>
        </p:nvSpPr>
        <p:spPr>
          <a:xfrm>
            <a:off x="11315700" y="6486525"/>
            <a:ext cx="323850" cy="228600"/>
          </a:xfrm>
          <a:prstGeom prst="rect">
            <a:avLst/>
          </a:prstGeom>
          <a:noFill/>
          <a:ln w="0">
            <a:noFill/>
            <a:prstDash val="solid"/>
          </a:ln>
        </p:spPr>
        <p:txBody>
          <a:bodyPr wrap="square" lIns="38100" tIns="19050" rIns="38100" bIns="19050" anchor="b">
            <a:normAutofit/>
          </a:bodyPr>
          <a:lstStyle/>
          <a:p>
            <a:pPr algn="r">
              <a:defRPr sz="900" b="0" i="0">
                <a:solidFill>
                  <a:srgbClr val="617080"/>
                </a:solidFill>
                <a:latin typeface="Arial"/>
                <a:ea typeface="Arial"/>
                <a:cs typeface="Arial"/>
              </a:defRPr>
            </a:pPr>
            <a:r>
              <a:rPr sz="900" b="0" i="0">
                <a:solidFill>
                  <a:srgbClr val="617080"/>
                </a:solidFill>
                <a:latin typeface="Arial"/>
                <a:ea typeface="Arial"/>
                <a:cs typeface="Arial"/>
              </a:rPr>
              <a:t>4</a:t>
            </a:r>
          </a:p>
        </p:txBody>
      </p:sp>
      <p:pic>
        <p:nvPicPr>
          <p:cNvPr id="10" name="Picture 9"/>
          <p:cNvPicPr>
            <a:picLocks noChangeAspect="1"/>
          </p:cNvPicPr>
          <p:nvPr/>
        </p:nvPicPr>
        <p:blipFill>
          <a:blip r:embed="rId3"/>
          <a:stretch/>
        </p:blipFill>
        <p:spPr>
          <a:xfrm>
            <a:off x="431800" y="1000125"/>
            <a:ext cx="11328400" cy="4248150"/>
          </a:xfrm>
          <a:prstGeom prst="rect">
            <a:avLst/>
          </a:prstGeom>
        </p:spPr>
      </p:pic>
      <p:sp>
        <p:nvSpPr>
          <p:cNvPr id="5" name="Rounded Rectangle 4">
            <a:extLst>
              <a:ext uri="{FF2B5EF4-FFF2-40B4-BE49-F238E27FC236}">
                <a16:creationId xmlns:a16="http://schemas.microsoft.com/office/drawing/2014/main" id="{4704B55B-4A06-4CE6-B77B-6120FA080572}"/>
              </a:ext>
            </a:extLst>
          </p:cNvPr>
          <p:cNvSpPr>
            <a:spLocks noGrp="1"/>
          </p:cNvSpPr>
          <p:nvPr/>
        </p:nvSpPr>
        <p:spPr>
          <a:xfrm>
            <a:off x="1381125" y="5495925"/>
            <a:ext cx="9429750" cy="685800"/>
          </a:xfrm>
          <a:prstGeom prst="roundRect">
            <a:avLst>
              <a:gd name="adj" fmla="val 19444"/>
            </a:avLst>
          </a:prstGeom>
          <a:solidFill>
            <a:srgbClr val="EAF2FB"/>
          </a:solidFill>
          <a:ln w="15240">
            <a:solidFill>
              <a:srgbClr val="4F86C6"/>
            </a:solidFill>
            <a:prstDash val="solid"/>
          </a:ln>
        </p:spPr>
        <p:txBody>
          <a:bodyPr/>
          <a:lstStyle/>
          <a:p>
            <a:endParaRPr lang="en-US"/>
          </a:p>
        </p:txBody>
      </p:sp>
      <p:sp>
        <p:nvSpPr>
          <p:cNvPr id="6" name="Rectangle 5">
            <a:extLst>
              <a:ext uri="{FF2B5EF4-FFF2-40B4-BE49-F238E27FC236}">
                <a16:creationId xmlns:a16="http://schemas.microsoft.com/office/drawing/2014/main" id="{5BDE4016-E3D2-4E01-8F15-C083DFA4BF67}"/>
              </a:ext>
            </a:extLst>
          </p:cNvPr>
          <p:cNvSpPr>
            <a:spLocks noGrp="1"/>
          </p:cNvSpPr>
          <p:nvPr/>
        </p:nvSpPr>
        <p:spPr>
          <a:xfrm>
            <a:off x="1666875" y="5610225"/>
            <a:ext cx="8858250" cy="457200"/>
          </a:xfrm>
          <a:prstGeom prst="rect">
            <a:avLst/>
          </a:prstGeom>
          <a:noFill/>
          <a:ln w="0">
            <a:noFill/>
            <a:prstDash val="solid"/>
          </a:ln>
        </p:spPr>
        <p:txBody>
          <a:bodyPr wrap="square" lIns="38100" tIns="19050" rIns="38100" bIns="19050" anchor="ctr">
            <a:normAutofit fontScale="91667" lnSpcReduction="10000"/>
          </a:bodyPr>
          <a:lstStyle/>
          <a:p>
            <a:pPr algn="ctr">
              <a:defRPr sz="1500" b="1" i="0">
                <a:solidFill>
                  <a:srgbClr val="263746"/>
                </a:solidFill>
                <a:latin typeface="Arial"/>
                <a:ea typeface="Arial"/>
                <a:cs typeface="Arial"/>
              </a:defRPr>
            </a:pPr>
            <a:r>
              <a:rPr sz="1500" b="1" i="0" dirty="0" err="1">
                <a:solidFill>
                  <a:srgbClr val="263746"/>
                </a:solidFill>
                <a:latin typeface="Arial"/>
                <a:ea typeface="Arial"/>
                <a:cs typeface="Arial"/>
              </a:rPr>
              <a:t>Резултатите</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од</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секоја</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фаза</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се</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следат</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одделно</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за</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да</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се</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утврди</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каде</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се</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губи</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потребната</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информација</a:t>
            </a:r>
            <a:r>
              <a:rPr sz="1500" b="1" i="0" dirty="0">
                <a:solidFill>
                  <a:srgbClr val="263746"/>
                </a:solidFill>
                <a:latin typeface="Arial"/>
                <a:ea typeface="Arial"/>
                <a:cs typeface="Arial"/>
              </a:rPr>
              <a:t>.</a:t>
            </a:r>
          </a:p>
        </p:txBody>
      </p:sp>
    </p:spTree>
    <p:extLst>
      <p:ext uri="{BB962C8B-B14F-4D97-AF65-F5344CB8AC3E}">
        <p14:creationId xmlns:p14="http://schemas.microsoft.com/office/powerpoint/2010/main" val="21092944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83B8B409-9F74-4583-9D64-33477865012F}"/>
              </a:ext>
            </a:extLst>
          </p:cNvPr>
          <p:cNvSpPr>
            <a:spLocks noGrp="1"/>
          </p:cNvSpPr>
          <p:nvPr/>
        </p:nvSpPr>
        <p:spPr>
          <a:xfrm>
            <a:off x="552450" y="209550"/>
            <a:ext cx="10763250" cy="523875"/>
          </a:xfrm>
          <a:prstGeom prst="rect">
            <a:avLst/>
          </a:prstGeom>
          <a:noFill/>
          <a:ln w="0">
            <a:noFill/>
            <a:prstDash val="solid"/>
          </a:ln>
        </p:spPr>
        <p:txBody>
          <a:bodyPr wrap="square" lIns="38100" tIns="19050" rIns="38100" bIns="19050" anchor="ctr">
            <a:normAutofit/>
          </a:bodyPr>
          <a:lstStyle/>
          <a:p>
            <a:pPr algn="l">
              <a:defRPr sz="2325" b="1" i="0">
                <a:solidFill>
                  <a:srgbClr val="263746"/>
                </a:solidFill>
                <a:latin typeface="Arial"/>
                <a:ea typeface="Arial"/>
                <a:cs typeface="Arial"/>
              </a:defRPr>
            </a:pPr>
            <a:r>
              <a:rPr sz="2325" b="1" i="0">
                <a:solidFill>
                  <a:srgbClr val="263746"/>
                </a:solidFill>
                <a:latin typeface="Arial"/>
                <a:ea typeface="Arial"/>
                <a:cs typeface="Arial"/>
              </a:rPr>
              <a:t>Податочно множество и експериментална поставеност</a:t>
            </a:r>
          </a:p>
        </p:txBody>
      </p:sp>
      <p:sp>
        <p:nvSpPr>
          <p:cNvPr id="2" name="Rectangle 1">
            <a:extLst>
              <a:ext uri="{FF2B5EF4-FFF2-40B4-BE49-F238E27FC236}">
                <a16:creationId xmlns:a16="http://schemas.microsoft.com/office/drawing/2014/main" id="{A2C19361-C0C6-4BFD-979C-246A3C9DBB15}"/>
              </a:ext>
            </a:extLst>
          </p:cNvPr>
          <p:cNvSpPr>
            <a:spLocks noGrp="1"/>
          </p:cNvSpPr>
          <p:nvPr/>
        </p:nvSpPr>
        <p:spPr>
          <a:xfrm>
            <a:off x="552450" y="781050"/>
            <a:ext cx="11087100" cy="38100"/>
          </a:xfrm>
          <a:prstGeom prst="rect">
            <a:avLst/>
          </a:prstGeom>
          <a:solidFill>
            <a:srgbClr val="4F86C6"/>
          </a:solidFill>
          <a:ln w="0">
            <a:noFill/>
            <a:prstDash val="solid"/>
          </a:ln>
        </p:spPr>
        <p:txBody>
          <a:bodyPr/>
          <a:lstStyle/>
          <a:p>
            <a:endParaRPr lang="en-US"/>
          </a:p>
        </p:txBody>
      </p:sp>
      <p:sp>
        <p:nvSpPr>
          <p:cNvPr id="3" name="Rectangle 2">
            <a:extLst>
              <a:ext uri="{FF2B5EF4-FFF2-40B4-BE49-F238E27FC236}">
                <a16:creationId xmlns:a16="http://schemas.microsoft.com/office/drawing/2014/main" id="{6E18DB0E-475F-4B11-B97C-62CA6BE3F8F2}"/>
              </a:ext>
            </a:extLst>
          </p:cNvPr>
          <p:cNvSpPr>
            <a:spLocks noGrp="1"/>
          </p:cNvSpPr>
          <p:nvPr/>
        </p:nvSpPr>
        <p:spPr>
          <a:xfrm>
            <a:off x="552450" y="6486525"/>
            <a:ext cx="9334500" cy="228600"/>
          </a:xfrm>
          <a:prstGeom prst="rect">
            <a:avLst/>
          </a:prstGeom>
          <a:noFill/>
          <a:ln w="0">
            <a:noFill/>
            <a:prstDash val="solid"/>
          </a:ln>
        </p:spPr>
        <p:txBody>
          <a:bodyPr wrap="square" lIns="38100" tIns="19050" rIns="38100" bIns="19050" anchor="b">
            <a:normAutofit/>
          </a:bodyPr>
          <a:lstStyle/>
          <a:p>
            <a:pPr algn="l">
              <a:defRPr sz="825" b="0" i="0">
                <a:solidFill>
                  <a:srgbClr val="617080"/>
                </a:solidFill>
                <a:latin typeface="Arial"/>
                <a:ea typeface="Arial"/>
                <a:cs typeface="Arial"/>
              </a:defRPr>
            </a:pPr>
            <a:r>
              <a:rPr sz="825" b="0" i="0">
                <a:solidFill>
                  <a:srgbClr val="617080"/>
                </a:solidFill>
                <a:latin typeface="Arial"/>
                <a:ea typeface="Arial"/>
                <a:cs typeface="Arial"/>
              </a:rPr>
              <a:t>WebQSP: Yih et al., 2016</a:t>
            </a:r>
          </a:p>
        </p:txBody>
      </p:sp>
      <p:sp>
        <p:nvSpPr>
          <p:cNvPr id="4" name="Rectangle 3">
            <a:extLst>
              <a:ext uri="{FF2B5EF4-FFF2-40B4-BE49-F238E27FC236}">
                <a16:creationId xmlns:a16="http://schemas.microsoft.com/office/drawing/2014/main" id="{13201915-D21E-4A2C-B5D5-9DA95FD9C052}"/>
              </a:ext>
            </a:extLst>
          </p:cNvPr>
          <p:cNvSpPr>
            <a:spLocks noGrp="1"/>
          </p:cNvSpPr>
          <p:nvPr/>
        </p:nvSpPr>
        <p:spPr>
          <a:xfrm>
            <a:off x="11315700" y="6486525"/>
            <a:ext cx="323850" cy="228600"/>
          </a:xfrm>
          <a:prstGeom prst="rect">
            <a:avLst/>
          </a:prstGeom>
          <a:noFill/>
          <a:ln w="0">
            <a:noFill/>
            <a:prstDash val="solid"/>
          </a:ln>
        </p:spPr>
        <p:txBody>
          <a:bodyPr wrap="square" lIns="38100" tIns="19050" rIns="38100" bIns="19050" anchor="b">
            <a:normAutofit/>
          </a:bodyPr>
          <a:lstStyle/>
          <a:p>
            <a:pPr algn="r">
              <a:defRPr sz="900" b="0" i="0">
                <a:solidFill>
                  <a:srgbClr val="617080"/>
                </a:solidFill>
                <a:latin typeface="Arial"/>
                <a:ea typeface="Arial"/>
                <a:cs typeface="Arial"/>
              </a:defRPr>
            </a:pPr>
            <a:r>
              <a:rPr sz="900" b="0" i="0">
                <a:solidFill>
                  <a:srgbClr val="617080"/>
                </a:solidFill>
                <a:latin typeface="Arial"/>
                <a:ea typeface="Arial"/>
                <a:cs typeface="Arial"/>
              </a:rPr>
              <a:t>6</a:t>
            </a:r>
          </a:p>
        </p:txBody>
      </p:sp>
      <p:sp>
        <p:nvSpPr>
          <p:cNvPr id="5" name="Rounded Rectangle 4">
            <a:extLst>
              <a:ext uri="{FF2B5EF4-FFF2-40B4-BE49-F238E27FC236}">
                <a16:creationId xmlns:a16="http://schemas.microsoft.com/office/drawing/2014/main" id="{CF979789-B5F5-4152-990E-D14BAE93EAD0}"/>
              </a:ext>
            </a:extLst>
          </p:cNvPr>
          <p:cNvSpPr>
            <a:spLocks noGrp="1"/>
          </p:cNvSpPr>
          <p:nvPr/>
        </p:nvSpPr>
        <p:spPr>
          <a:xfrm>
            <a:off x="552450" y="1104900"/>
            <a:ext cx="4238625" cy="4667250"/>
          </a:xfrm>
          <a:prstGeom prst="roundRect">
            <a:avLst>
              <a:gd name="adj" fmla="val 3146"/>
            </a:avLst>
          </a:prstGeom>
          <a:solidFill>
            <a:srgbClr val="EAF2FB"/>
          </a:solidFill>
          <a:ln w="17145">
            <a:solidFill>
              <a:srgbClr val="4F86C6"/>
            </a:solidFill>
            <a:prstDash val="solid"/>
          </a:ln>
        </p:spPr>
        <p:txBody>
          <a:bodyPr/>
          <a:lstStyle/>
          <a:p>
            <a:endParaRPr lang="en-US" dirty="0"/>
          </a:p>
        </p:txBody>
      </p:sp>
      <p:sp>
        <p:nvSpPr>
          <p:cNvPr id="6" name="Rectangle 5">
            <a:extLst>
              <a:ext uri="{FF2B5EF4-FFF2-40B4-BE49-F238E27FC236}">
                <a16:creationId xmlns:a16="http://schemas.microsoft.com/office/drawing/2014/main" id="{B5E262D2-E960-4E02-ACBB-748E0EBD5881}"/>
              </a:ext>
            </a:extLst>
          </p:cNvPr>
          <p:cNvSpPr>
            <a:spLocks noGrp="1"/>
          </p:cNvSpPr>
          <p:nvPr/>
        </p:nvSpPr>
        <p:spPr>
          <a:xfrm>
            <a:off x="838200" y="1333500"/>
            <a:ext cx="3667125" cy="457200"/>
          </a:xfrm>
          <a:prstGeom prst="rect">
            <a:avLst/>
          </a:prstGeom>
          <a:noFill/>
          <a:ln w="0">
            <a:noFill/>
            <a:prstDash val="solid"/>
          </a:ln>
        </p:spPr>
        <p:txBody>
          <a:bodyPr wrap="square" lIns="38100" tIns="19050" rIns="38100" bIns="19050" anchor="ctr">
            <a:normAutofit/>
          </a:bodyPr>
          <a:lstStyle/>
          <a:p>
            <a:pPr algn="l">
              <a:defRPr sz="2025" b="1" i="0">
                <a:solidFill>
                  <a:srgbClr val="4F86C6"/>
                </a:solidFill>
                <a:latin typeface="Arial"/>
                <a:ea typeface="Arial"/>
                <a:cs typeface="Arial"/>
              </a:defRPr>
            </a:pPr>
            <a:r>
              <a:rPr sz="2025" b="1" i="0">
                <a:solidFill>
                  <a:srgbClr val="4F86C6"/>
                </a:solidFill>
                <a:latin typeface="Arial"/>
                <a:ea typeface="Arial"/>
                <a:cs typeface="Arial"/>
              </a:rPr>
              <a:t>WebQuestionsSP</a:t>
            </a:r>
          </a:p>
        </p:txBody>
      </p:sp>
      <p:sp>
        <p:nvSpPr>
          <p:cNvPr id="7" name="Oval 6">
            <a:extLst>
              <a:ext uri="{FF2B5EF4-FFF2-40B4-BE49-F238E27FC236}">
                <a16:creationId xmlns:a16="http://schemas.microsoft.com/office/drawing/2014/main" id="{36342984-F701-4369-9B93-EC40C9856DBF}"/>
              </a:ext>
            </a:extLst>
          </p:cNvPr>
          <p:cNvSpPr>
            <a:spLocks noGrp="1"/>
          </p:cNvSpPr>
          <p:nvPr/>
        </p:nvSpPr>
        <p:spPr>
          <a:xfrm>
            <a:off x="876300" y="2152650"/>
            <a:ext cx="66675" cy="66675"/>
          </a:xfrm>
          <a:prstGeom prst="ellipse">
            <a:avLst/>
          </a:prstGeom>
          <a:solidFill>
            <a:srgbClr val="263746"/>
          </a:solidFill>
          <a:ln w="0">
            <a:noFill/>
            <a:prstDash val="solid"/>
          </a:ln>
        </p:spPr>
        <p:txBody>
          <a:bodyPr/>
          <a:lstStyle/>
          <a:p>
            <a:endParaRPr lang="en-US"/>
          </a:p>
        </p:txBody>
      </p:sp>
      <p:sp>
        <p:nvSpPr>
          <p:cNvPr id="8" name="Rectangle 7">
            <a:extLst>
              <a:ext uri="{FF2B5EF4-FFF2-40B4-BE49-F238E27FC236}">
                <a16:creationId xmlns:a16="http://schemas.microsoft.com/office/drawing/2014/main" id="{71962B11-F6F8-47DE-9C6B-4E0590B7AF94}"/>
              </a:ext>
            </a:extLst>
          </p:cNvPr>
          <p:cNvSpPr>
            <a:spLocks noGrp="1"/>
          </p:cNvSpPr>
          <p:nvPr/>
        </p:nvSpPr>
        <p:spPr>
          <a:xfrm>
            <a:off x="1047750" y="2047875"/>
            <a:ext cx="3305175" cy="609600"/>
          </a:xfrm>
          <a:prstGeom prst="rect">
            <a:avLst/>
          </a:prstGeom>
          <a:noFill/>
          <a:ln w="0">
            <a:noFill/>
            <a:prstDash val="solid"/>
          </a:ln>
        </p:spPr>
        <p:txBody>
          <a:bodyPr wrap="square" lIns="38100" tIns="19050" rIns="38100" bIns="19050" anchor="t">
            <a:normAutofit/>
          </a:bodyPr>
          <a:lstStyle/>
          <a:p>
            <a:pPr algn="l">
              <a:defRPr sz="1425" b="0" i="0">
                <a:solidFill>
                  <a:srgbClr val="263746"/>
                </a:solidFill>
                <a:latin typeface="Arial"/>
                <a:ea typeface="Arial"/>
                <a:cs typeface="Arial"/>
              </a:defRPr>
            </a:pPr>
            <a:r>
              <a:rPr sz="1425" b="0" i="0">
                <a:solidFill>
                  <a:srgbClr val="263746"/>
                </a:solidFill>
                <a:latin typeface="Arial"/>
                <a:ea typeface="Arial"/>
                <a:cs typeface="Arial"/>
              </a:rPr>
              <a:t>Прашања на природен јазик поврзани со Freebase</a:t>
            </a:r>
          </a:p>
        </p:txBody>
      </p:sp>
      <p:sp>
        <p:nvSpPr>
          <p:cNvPr id="9" name="Oval 8">
            <a:extLst>
              <a:ext uri="{FF2B5EF4-FFF2-40B4-BE49-F238E27FC236}">
                <a16:creationId xmlns:a16="http://schemas.microsoft.com/office/drawing/2014/main" id="{18977199-09BF-4D42-8E9D-621EE2C90C47}"/>
              </a:ext>
            </a:extLst>
          </p:cNvPr>
          <p:cNvSpPr>
            <a:spLocks noGrp="1"/>
          </p:cNvSpPr>
          <p:nvPr/>
        </p:nvSpPr>
        <p:spPr>
          <a:xfrm>
            <a:off x="876300" y="2962275"/>
            <a:ext cx="66675" cy="66675"/>
          </a:xfrm>
          <a:prstGeom prst="ellipse">
            <a:avLst/>
          </a:prstGeom>
          <a:solidFill>
            <a:srgbClr val="263746"/>
          </a:solidFill>
          <a:ln w="0">
            <a:noFill/>
            <a:prstDash val="solid"/>
          </a:ln>
        </p:spPr>
        <p:txBody>
          <a:bodyPr/>
          <a:lstStyle/>
          <a:p>
            <a:endParaRPr lang="en-US"/>
          </a:p>
        </p:txBody>
      </p:sp>
      <p:sp>
        <p:nvSpPr>
          <p:cNvPr id="10" name="Rectangle 9">
            <a:extLst>
              <a:ext uri="{FF2B5EF4-FFF2-40B4-BE49-F238E27FC236}">
                <a16:creationId xmlns:a16="http://schemas.microsoft.com/office/drawing/2014/main" id="{93EAE5FA-532A-4951-ACA7-67B23E9B4564}"/>
              </a:ext>
            </a:extLst>
          </p:cNvPr>
          <p:cNvSpPr>
            <a:spLocks noGrp="1"/>
          </p:cNvSpPr>
          <p:nvPr/>
        </p:nvSpPr>
        <p:spPr>
          <a:xfrm>
            <a:off x="1047750" y="2857500"/>
            <a:ext cx="3305175" cy="476250"/>
          </a:xfrm>
          <a:prstGeom prst="rect">
            <a:avLst/>
          </a:prstGeom>
          <a:noFill/>
          <a:ln w="0">
            <a:noFill/>
            <a:prstDash val="solid"/>
          </a:ln>
        </p:spPr>
        <p:txBody>
          <a:bodyPr wrap="square" lIns="38100" tIns="19050" rIns="38100" bIns="19050" anchor="t">
            <a:normAutofit/>
          </a:bodyPr>
          <a:lstStyle/>
          <a:p>
            <a:pPr algn="l">
              <a:defRPr sz="1425" b="0" i="0">
                <a:solidFill>
                  <a:srgbClr val="263746"/>
                </a:solidFill>
                <a:latin typeface="Arial"/>
                <a:ea typeface="Arial"/>
                <a:cs typeface="Arial"/>
              </a:defRPr>
            </a:pPr>
            <a:r>
              <a:rPr sz="1425" b="0" i="0">
                <a:solidFill>
                  <a:srgbClr val="263746"/>
                </a:solidFill>
                <a:latin typeface="Arial"/>
                <a:ea typeface="Arial"/>
                <a:cs typeface="Arial"/>
              </a:rPr>
              <a:t>Локален граф за секое прашање</a:t>
            </a:r>
          </a:p>
        </p:txBody>
      </p:sp>
      <p:sp>
        <p:nvSpPr>
          <p:cNvPr id="11" name="Oval 10">
            <a:extLst>
              <a:ext uri="{FF2B5EF4-FFF2-40B4-BE49-F238E27FC236}">
                <a16:creationId xmlns:a16="http://schemas.microsoft.com/office/drawing/2014/main" id="{CF9720E9-BAA2-4F9F-B283-C7A16AF9A71A}"/>
              </a:ext>
            </a:extLst>
          </p:cNvPr>
          <p:cNvSpPr>
            <a:spLocks noGrp="1"/>
          </p:cNvSpPr>
          <p:nvPr/>
        </p:nvSpPr>
        <p:spPr>
          <a:xfrm>
            <a:off x="876300" y="3581400"/>
            <a:ext cx="66675" cy="66675"/>
          </a:xfrm>
          <a:prstGeom prst="ellipse">
            <a:avLst/>
          </a:prstGeom>
          <a:solidFill>
            <a:srgbClr val="263746"/>
          </a:solidFill>
          <a:ln w="0">
            <a:noFill/>
            <a:prstDash val="solid"/>
          </a:ln>
        </p:spPr>
        <p:txBody>
          <a:bodyPr/>
          <a:lstStyle/>
          <a:p>
            <a:endParaRPr lang="en-US"/>
          </a:p>
        </p:txBody>
      </p:sp>
      <p:sp>
        <p:nvSpPr>
          <p:cNvPr id="12" name="Rectangle 11">
            <a:extLst>
              <a:ext uri="{FF2B5EF4-FFF2-40B4-BE49-F238E27FC236}">
                <a16:creationId xmlns:a16="http://schemas.microsoft.com/office/drawing/2014/main" id="{F1813C66-B241-40F3-A7FA-1C0D7C4BD743}"/>
              </a:ext>
            </a:extLst>
          </p:cNvPr>
          <p:cNvSpPr>
            <a:spLocks noGrp="1"/>
          </p:cNvSpPr>
          <p:nvPr/>
        </p:nvSpPr>
        <p:spPr>
          <a:xfrm>
            <a:off x="1047750" y="3476625"/>
            <a:ext cx="3305175" cy="609600"/>
          </a:xfrm>
          <a:prstGeom prst="rect">
            <a:avLst/>
          </a:prstGeom>
          <a:noFill/>
          <a:ln w="0">
            <a:noFill/>
            <a:prstDash val="solid"/>
          </a:ln>
        </p:spPr>
        <p:txBody>
          <a:bodyPr wrap="square" lIns="38100" tIns="19050" rIns="38100" bIns="19050" anchor="t">
            <a:normAutofit/>
          </a:bodyPr>
          <a:lstStyle/>
          <a:p>
            <a:pPr algn="l">
              <a:defRPr sz="1425" b="0" i="0">
                <a:solidFill>
                  <a:srgbClr val="263746"/>
                </a:solidFill>
                <a:latin typeface="Arial"/>
                <a:ea typeface="Arial"/>
                <a:cs typeface="Arial"/>
              </a:defRPr>
            </a:pPr>
            <a:r>
              <a:rPr sz="1425" b="0" i="0">
                <a:solidFill>
                  <a:srgbClr val="263746"/>
                </a:solidFill>
                <a:latin typeface="Arial"/>
                <a:ea typeface="Arial"/>
                <a:cs typeface="Arial"/>
              </a:rPr>
              <a:t>Познати почетни ентитети и точни одговори</a:t>
            </a:r>
          </a:p>
        </p:txBody>
      </p:sp>
      <p:sp>
        <p:nvSpPr>
          <p:cNvPr id="13" name="Rectangle 12">
            <a:extLst>
              <a:ext uri="{FF2B5EF4-FFF2-40B4-BE49-F238E27FC236}">
                <a16:creationId xmlns:a16="http://schemas.microsoft.com/office/drawing/2014/main" id="{9584CA23-938F-468F-9120-7273716863E0}"/>
              </a:ext>
            </a:extLst>
          </p:cNvPr>
          <p:cNvSpPr>
            <a:spLocks noGrp="1"/>
          </p:cNvSpPr>
          <p:nvPr/>
        </p:nvSpPr>
        <p:spPr>
          <a:xfrm>
            <a:off x="838200" y="4429125"/>
            <a:ext cx="3667125" cy="342900"/>
          </a:xfrm>
          <a:prstGeom prst="rect">
            <a:avLst/>
          </a:prstGeom>
          <a:noFill/>
          <a:ln w="0">
            <a:noFill/>
            <a:prstDash val="solid"/>
          </a:ln>
        </p:spPr>
        <p:txBody>
          <a:bodyPr wrap="square" lIns="38100" tIns="19050" rIns="38100" bIns="19050" anchor="ctr">
            <a:normAutofit/>
          </a:bodyPr>
          <a:lstStyle/>
          <a:p>
            <a:pPr>
              <a:defRPr sz="1500" b="1" i="0">
                <a:solidFill>
                  <a:srgbClr val="263746"/>
                </a:solidFill>
                <a:latin typeface="Arial"/>
                <a:ea typeface="Arial"/>
                <a:cs typeface="Arial"/>
              </a:defRPr>
            </a:pPr>
            <a:r>
              <a:rPr lang="mk-MK" sz="1600" b="1" dirty="0">
                <a:solidFill>
                  <a:srgbClr val="263746"/>
                </a:solidFill>
                <a:latin typeface="Arial"/>
                <a:ea typeface="Arial"/>
                <a:cs typeface="Arial"/>
              </a:rPr>
              <a:t>Поделба на податоците</a:t>
            </a:r>
            <a:endParaRPr sz="1500" b="1" i="0" dirty="0">
              <a:solidFill>
                <a:srgbClr val="263746"/>
              </a:solidFill>
              <a:latin typeface="Arial"/>
              <a:ea typeface="Arial"/>
              <a:cs typeface="Arial"/>
            </a:endParaRPr>
          </a:p>
        </p:txBody>
      </p:sp>
      <p:sp>
        <p:nvSpPr>
          <p:cNvPr id="14" name="Rectangle 13">
            <a:extLst>
              <a:ext uri="{FF2B5EF4-FFF2-40B4-BE49-F238E27FC236}">
                <a16:creationId xmlns:a16="http://schemas.microsoft.com/office/drawing/2014/main" id="{CF40BA68-DEB3-4EC3-92CE-4A5F7B27712B}"/>
              </a:ext>
            </a:extLst>
          </p:cNvPr>
          <p:cNvSpPr>
            <a:spLocks noGrp="1"/>
          </p:cNvSpPr>
          <p:nvPr/>
        </p:nvSpPr>
        <p:spPr>
          <a:xfrm>
            <a:off x="838200" y="4810125"/>
            <a:ext cx="3667125" cy="590550"/>
          </a:xfrm>
          <a:prstGeom prst="rect">
            <a:avLst/>
          </a:prstGeom>
          <a:noFill/>
          <a:ln w="0">
            <a:noFill/>
            <a:prstDash val="solid"/>
          </a:ln>
        </p:spPr>
        <p:txBody>
          <a:bodyPr wrap="square" lIns="38100" tIns="19050" rIns="38100" bIns="19050" anchor="ctr">
            <a:normAutofit/>
          </a:bodyPr>
          <a:lstStyle/>
          <a:p>
            <a:pPr algn="l">
              <a:defRPr sz="1350" b="0" i="0">
                <a:solidFill>
                  <a:srgbClr val="617080"/>
                </a:solidFill>
                <a:latin typeface="Arial"/>
                <a:ea typeface="Arial"/>
                <a:cs typeface="Arial"/>
              </a:defRPr>
            </a:pPr>
            <a:r>
              <a:rPr lang="mk-MK" sz="1350" b="0" i="0" dirty="0">
                <a:solidFill>
                  <a:srgbClr val="617080"/>
                </a:solidFill>
                <a:latin typeface="Arial"/>
                <a:ea typeface="Arial"/>
                <a:cs typeface="Arial"/>
              </a:rPr>
              <a:t>Трени</a:t>
            </a:r>
            <a:r>
              <a:rPr lang="mk-MK" sz="1350" dirty="0">
                <a:solidFill>
                  <a:srgbClr val="617080"/>
                </a:solidFill>
                <a:latin typeface="Arial"/>
                <a:ea typeface="Arial"/>
                <a:cs typeface="Arial"/>
              </a:rPr>
              <a:t>рање: 2.848</a:t>
            </a:r>
          </a:p>
          <a:p>
            <a:pPr>
              <a:defRPr sz="1350" b="0" i="0">
                <a:solidFill>
                  <a:srgbClr val="617080"/>
                </a:solidFill>
                <a:latin typeface="Arial"/>
                <a:ea typeface="Arial"/>
                <a:cs typeface="Arial"/>
              </a:defRPr>
            </a:pPr>
            <a:r>
              <a:rPr lang="mk-MK" sz="1350" b="0" i="0" dirty="0">
                <a:solidFill>
                  <a:srgbClr val="617080"/>
                </a:solidFill>
                <a:latin typeface="Arial"/>
                <a:ea typeface="Arial"/>
                <a:cs typeface="Arial"/>
              </a:rPr>
              <a:t>Валидација: </a:t>
            </a:r>
            <a:r>
              <a:rPr lang="mk-MK" sz="1350" dirty="0">
                <a:solidFill>
                  <a:srgbClr val="617080"/>
                </a:solidFill>
                <a:latin typeface="Arial"/>
                <a:ea typeface="Arial"/>
                <a:cs typeface="Arial"/>
              </a:rPr>
              <a:t>250 · Тест: 1639</a:t>
            </a:r>
            <a:endParaRPr lang="mk-MK" sz="1350" b="0" i="0" dirty="0">
              <a:solidFill>
                <a:srgbClr val="617080"/>
              </a:solidFill>
              <a:latin typeface="Arial"/>
              <a:ea typeface="Arial"/>
              <a:cs typeface="Arial"/>
            </a:endParaRPr>
          </a:p>
        </p:txBody>
      </p:sp>
      <p:sp>
        <p:nvSpPr>
          <p:cNvPr id="15" name="Rectangle 14">
            <a:extLst>
              <a:ext uri="{FF2B5EF4-FFF2-40B4-BE49-F238E27FC236}">
                <a16:creationId xmlns:a16="http://schemas.microsoft.com/office/drawing/2014/main" id="{2825FCA7-CBAB-4E51-8753-A7F60FD36E2F}"/>
              </a:ext>
            </a:extLst>
          </p:cNvPr>
          <p:cNvSpPr>
            <a:spLocks noGrp="1"/>
          </p:cNvSpPr>
          <p:nvPr/>
        </p:nvSpPr>
        <p:spPr>
          <a:xfrm>
            <a:off x="5334000" y="1200150"/>
            <a:ext cx="6096000" cy="361950"/>
          </a:xfrm>
          <a:prstGeom prst="rect">
            <a:avLst/>
          </a:prstGeom>
          <a:noFill/>
          <a:ln w="0">
            <a:noFill/>
            <a:prstDash val="solid"/>
          </a:ln>
        </p:spPr>
        <p:txBody>
          <a:bodyPr wrap="square" lIns="38100" tIns="19050" rIns="38100" bIns="19050" anchor="ctr">
            <a:normAutofit/>
          </a:bodyPr>
          <a:lstStyle/>
          <a:p>
            <a:pPr>
              <a:defRPr sz="1725" b="1" i="0">
                <a:solidFill>
                  <a:srgbClr val="263746"/>
                </a:solidFill>
                <a:latin typeface="Arial"/>
                <a:ea typeface="Arial"/>
                <a:cs typeface="Arial"/>
              </a:defRPr>
            </a:pPr>
            <a:r>
              <a:rPr lang="mk-MK" b="1" dirty="0">
                <a:solidFill>
                  <a:srgbClr val="263746"/>
                </a:solidFill>
                <a:latin typeface="Arial"/>
                <a:ea typeface="Arial"/>
                <a:cs typeface="Arial"/>
              </a:rPr>
              <a:t>Заедничка конфигурација</a:t>
            </a:r>
            <a:endParaRPr sz="1725" b="1" i="0" dirty="0">
              <a:solidFill>
                <a:srgbClr val="263746"/>
              </a:solidFill>
              <a:latin typeface="Arial"/>
              <a:ea typeface="Arial"/>
              <a:cs typeface="Arial"/>
            </a:endParaRPr>
          </a:p>
        </p:txBody>
      </p:sp>
      <p:sp>
        <p:nvSpPr>
          <p:cNvPr id="16" name="Rounded Rectangle 15">
            <a:extLst>
              <a:ext uri="{FF2B5EF4-FFF2-40B4-BE49-F238E27FC236}">
                <a16:creationId xmlns:a16="http://schemas.microsoft.com/office/drawing/2014/main" id="{737A5762-7714-4D9F-BC39-0D409D0E4A5E}"/>
              </a:ext>
            </a:extLst>
          </p:cNvPr>
          <p:cNvSpPr>
            <a:spLocks noGrp="1"/>
          </p:cNvSpPr>
          <p:nvPr/>
        </p:nvSpPr>
        <p:spPr>
          <a:xfrm>
            <a:off x="5333999" y="1809750"/>
            <a:ext cx="1807029" cy="1285875"/>
          </a:xfrm>
          <a:prstGeom prst="roundRect">
            <a:avLst>
              <a:gd name="adj" fmla="val 10370"/>
            </a:avLst>
          </a:prstGeom>
          <a:solidFill>
            <a:srgbClr val="FFFFFF"/>
          </a:solidFill>
          <a:ln w="17145">
            <a:solidFill>
              <a:srgbClr val="D97942"/>
            </a:solidFill>
            <a:prstDash val="solid"/>
          </a:ln>
        </p:spPr>
        <p:txBody>
          <a:bodyPr/>
          <a:lstStyle/>
          <a:p>
            <a:endParaRPr lang="en-US"/>
          </a:p>
        </p:txBody>
      </p:sp>
      <p:sp>
        <p:nvSpPr>
          <p:cNvPr id="17" name="Rectangle 16">
            <a:extLst>
              <a:ext uri="{FF2B5EF4-FFF2-40B4-BE49-F238E27FC236}">
                <a16:creationId xmlns:a16="http://schemas.microsoft.com/office/drawing/2014/main" id="{B3EEBBA1-38E5-44D0-BB1B-0473C7429B37}"/>
              </a:ext>
            </a:extLst>
          </p:cNvPr>
          <p:cNvSpPr>
            <a:spLocks noGrp="1"/>
          </p:cNvSpPr>
          <p:nvPr/>
        </p:nvSpPr>
        <p:spPr>
          <a:xfrm>
            <a:off x="5370738" y="2025287"/>
            <a:ext cx="1733550" cy="514350"/>
          </a:xfrm>
          <a:prstGeom prst="rect">
            <a:avLst/>
          </a:prstGeom>
          <a:noFill/>
          <a:ln w="0">
            <a:noFill/>
            <a:prstDash val="solid"/>
          </a:ln>
        </p:spPr>
        <p:txBody>
          <a:bodyPr wrap="square" lIns="38100" tIns="19050" rIns="38100" bIns="19050" anchor="ctr">
            <a:normAutofit fontScale="85000" lnSpcReduction="10000"/>
          </a:bodyPr>
          <a:lstStyle/>
          <a:p>
            <a:pPr algn="ctr">
              <a:defRPr sz="2400" b="1" i="0">
                <a:solidFill>
                  <a:srgbClr val="D97942"/>
                </a:solidFill>
                <a:latin typeface="Arial"/>
                <a:ea typeface="Arial"/>
                <a:cs typeface="Arial"/>
              </a:defRPr>
            </a:pPr>
            <a:r>
              <a:rPr lang="mk-MK" sz="2400" b="1" dirty="0">
                <a:solidFill>
                  <a:srgbClr val="D97942"/>
                </a:solidFill>
                <a:latin typeface="Arial"/>
                <a:ea typeface="Arial"/>
                <a:cs typeface="Arial"/>
              </a:rPr>
              <a:t>Извршувања</a:t>
            </a:r>
            <a:endParaRPr sz="2400" b="1" i="0" dirty="0">
              <a:solidFill>
                <a:srgbClr val="D97942"/>
              </a:solidFill>
              <a:latin typeface="Arial"/>
              <a:ea typeface="Arial"/>
              <a:cs typeface="Arial"/>
            </a:endParaRPr>
          </a:p>
        </p:txBody>
      </p:sp>
      <p:sp>
        <p:nvSpPr>
          <p:cNvPr id="18" name="Rectangle 17">
            <a:extLst>
              <a:ext uri="{FF2B5EF4-FFF2-40B4-BE49-F238E27FC236}">
                <a16:creationId xmlns:a16="http://schemas.microsoft.com/office/drawing/2014/main" id="{012A8DDF-3CEF-4973-A4D0-0B6B8639DDF1}"/>
              </a:ext>
            </a:extLst>
          </p:cNvPr>
          <p:cNvSpPr>
            <a:spLocks noGrp="1"/>
          </p:cNvSpPr>
          <p:nvPr/>
        </p:nvSpPr>
        <p:spPr>
          <a:xfrm>
            <a:off x="5448300" y="2486025"/>
            <a:ext cx="1504950" cy="400050"/>
          </a:xfrm>
          <a:prstGeom prst="rect">
            <a:avLst/>
          </a:prstGeom>
          <a:noFill/>
          <a:ln w="0">
            <a:noFill/>
            <a:prstDash val="solid"/>
          </a:ln>
        </p:spPr>
        <p:txBody>
          <a:bodyPr wrap="square" lIns="38100" tIns="19050" rIns="38100" bIns="19050" anchor="t">
            <a:normAutofit/>
          </a:bodyPr>
          <a:lstStyle/>
          <a:p>
            <a:pPr algn="ctr">
              <a:defRPr sz="1200" b="0" i="0">
                <a:solidFill>
                  <a:srgbClr val="617080"/>
                </a:solidFill>
                <a:latin typeface="Arial"/>
                <a:ea typeface="Arial"/>
                <a:cs typeface="Arial"/>
              </a:defRPr>
            </a:pPr>
            <a:r>
              <a:rPr lang="mk-MK" sz="1200" b="0" i="0" dirty="0">
                <a:solidFill>
                  <a:srgbClr val="617080"/>
                </a:solidFill>
                <a:latin typeface="Arial"/>
                <a:ea typeface="Arial"/>
                <a:cs typeface="Arial"/>
              </a:rPr>
              <a:t>3, независни</a:t>
            </a:r>
            <a:endParaRPr sz="1200" b="0" i="0" dirty="0">
              <a:solidFill>
                <a:srgbClr val="617080"/>
              </a:solidFill>
              <a:latin typeface="Arial"/>
              <a:ea typeface="Arial"/>
              <a:cs typeface="Arial"/>
            </a:endParaRPr>
          </a:p>
        </p:txBody>
      </p:sp>
      <p:sp>
        <p:nvSpPr>
          <p:cNvPr id="19" name="Rounded Rectangle 18">
            <a:extLst>
              <a:ext uri="{FF2B5EF4-FFF2-40B4-BE49-F238E27FC236}">
                <a16:creationId xmlns:a16="http://schemas.microsoft.com/office/drawing/2014/main" id="{D3C0C236-23CD-4454-B531-66127A597C36}"/>
              </a:ext>
            </a:extLst>
          </p:cNvPr>
          <p:cNvSpPr>
            <a:spLocks noGrp="1"/>
          </p:cNvSpPr>
          <p:nvPr/>
        </p:nvSpPr>
        <p:spPr>
          <a:xfrm>
            <a:off x="7334250" y="1809750"/>
            <a:ext cx="1733550" cy="1285875"/>
          </a:xfrm>
          <a:prstGeom prst="roundRect">
            <a:avLst>
              <a:gd name="adj" fmla="val 10370"/>
            </a:avLst>
          </a:prstGeom>
          <a:solidFill>
            <a:srgbClr val="FFFFFF"/>
          </a:solidFill>
          <a:ln w="17145">
            <a:solidFill>
              <a:srgbClr val="398D84"/>
            </a:solidFill>
            <a:prstDash val="solid"/>
          </a:ln>
        </p:spPr>
        <p:txBody>
          <a:bodyPr/>
          <a:lstStyle/>
          <a:p>
            <a:endParaRPr lang="en-US"/>
          </a:p>
        </p:txBody>
      </p:sp>
      <p:sp>
        <p:nvSpPr>
          <p:cNvPr id="20" name="Rectangle 19">
            <a:extLst>
              <a:ext uri="{FF2B5EF4-FFF2-40B4-BE49-F238E27FC236}">
                <a16:creationId xmlns:a16="http://schemas.microsoft.com/office/drawing/2014/main" id="{35D20705-240E-467F-8D87-AAA591645FB9}"/>
              </a:ext>
            </a:extLst>
          </p:cNvPr>
          <p:cNvSpPr>
            <a:spLocks noGrp="1"/>
          </p:cNvSpPr>
          <p:nvPr/>
        </p:nvSpPr>
        <p:spPr>
          <a:xfrm>
            <a:off x="7448550" y="2028825"/>
            <a:ext cx="1504950" cy="514350"/>
          </a:xfrm>
          <a:prstGeom prst="rect">
            <a:avLst/>
          </a:prstGeom>
          <a:noFill/>
          <a:ln w="0">
            <a:noFill/>
            <a:prstDash val="solid"/>
          </a:ln>
        </p:spPr>
        <p:txBody>
          <a:bodyPr wrap="square" lIns="38100" tIns="19050" rIns="38100" bIns="19050" anchor="ctr">
            <a:normAutofit/>
          </a:bodyPr>
          <a:lstStyle/>
          <a:p>
            <a:pPr algn="ctr">
              <a:defRPr sz="2400" b="1" i="0">
                <a:solidFill>
                  <a:srgbClr val="398D84"/>
                </a:solidFill>
                <a:latin typeface="Arial"/>
                <a:ea typeface="Arial"/>
                <a:cs typeface="Arial"/>
              </a:defRPr>
            </a:pPr>
            <a:r>
              <a:rPr lang="mk-MK" sz="2400" b="1" i="0" dirty="0">
                <a:solidFill>
                  <a:srgbClr val="398D84"/>
                </a:solidFill>
                <a:latin typeface="Arial"/>
                <a:ea typeface="Arial"/>
                <a:cs typeface="Arial"/>
              </a:rPr>
              <a:t>Праг</a:t>
            </a:r>
            <a:endParaRPr sz="2400" b="1" i="0" dirty="0">
              <a:solidFill>
                <a:srgbClr val="398D84"/>
              </a:solidFill>
              <a:latin typeface="Arial"/>
              <a:ea typeface="Arial"/>
              <a:cs typeface="Arial"/>
            </a:endParaRPr>
          </a:p>
        </p:txBody>
      </p:sp>
      <p:sp>
        <p:nvSpPr>
          <p:cNvPr id="21" name="Rectangle 20">
            <a:extLst>
              <a:ext uri="{FF2B5EF4-FFF2-40B4-BE49-F238E27FC236}">
                <a16:creationId xmlns:a16="http://schemas.microsoft.com/office/drawing/2014/main" id="{98A7AA4E-FBAB-4E25-BF50-B0B54701D1BB}"/>
              </a:ext>
            </a:extLst>
          </p:cNvPr>
          <p:cNvSpPr>
            <a:spLocks noGrp="1"/>
          </p:cNvSpPr>
          <p:nvPr/>
        </p:nvSpPr>
        <p:spPr>
          <a:xfrm>
            <a:off x="7448550" y="2486025"/>
            <a:ext cx="1504950" cy="400050"/>
          </a:xfrm>
          <a:prstGeom prst="rect">
            <a:avLst/>
          </a:prstGeom>
          <a:noFill/>
          <a:ln w="0">
            <a:noFill/>
            <a:prstDash val="solid"/>
          </a:ln>
        </p:spPr>
        <p:txBody>
          <a:bodyPr wrap="square" lIns="38100" tIns="19050" rIns="38100" bIns="19050" anchor="t">
            <a:normAutofit/>
          </a:bodyPr>
          <a:lstStyle/>
          <a:p>
            <a:pPr algn="ctr">
              <a:defRPr sz="1200" b="0" i="0">
                <a:solidFill>
                  <a:srgbClr val="617080"/>
                </a:solidFill>
                <a:latin typeface="Arial"/>
                <a:ea typeface="Arial"/>
                <a:cs typeface="Arial"/>
              </a:defRPr>
            </a:pPr>
            <a:r>
              <a:rPr lang="mk-MK" sz="1200" b="0" i="0" dirty="0">
                <a:solidFill>
                  <a:srgbClr val="617080"/>
                </a:solidFill>
                <a:latin typeface="Arial"/>
                <a:ea typeface="Arial"/>
                <a:cs typeface="Arial"/>
              </a:rPr>
              <a:t>0.7</a:t>
            </a:r>
            <a:endParaRPr sz="1200" b="0" i="0" dirty="0">
              <a:solidFill>
                <a:srgbClr val="617080"/>
              </a:solidFill>
              <a:latin typeface="Arial"/>
              <a:ea typeface="Arial"/>
              <a:cs typeface="Arial"/>
            </a:endParaRPr>
          </a:p>
        </p:txBody>
      </p:sp>
      <p:sp>
        <p:nvSpPr>
          <p:cNvPr id="22" name="Rounded Rectangle 21">
            <a:extLst>
              <a:ext uri="{FF2B5EF4-FFF2-40B4-BE49-F238E27FC236}">
                <a16:creationId xmlns:a16="http://schemas.microsoft.com/office/drawing/2014/main" id="{1FE4B530-1D84-4439-8130-FACDB6887F71}"/>
              </a:ext>
            </a:extLst>
          </p:cNvPr>
          <p:cNvSpPr>
            <a:spLocks noGrp="1"/>
          </p:cNvSpPr>
          <p:nvPr/>
        </p:nvSpPr>
        <p:spPr>
          <a:xfrm>
            <a:off x="9334500" y="1809750"/>
            <a:ext cx="1733550" cy="1285875"/>
          </a:xfrm>
          <a:prstGeom prst="roundRect">
            <a:avLst>
              <a:gd name="adj" fmla="val 10370"/>
            </a:avLst>
          </a:prstGeom>
          <a:solidFill>
            <a:srgbClr val="FFFFFF"/>
          </a:solidFill>
          <a:ln w="17145">
            <a:solidFill>
              <a:srgbClr val="8064A2"/>
            </a:solidFill>
            <a:prstDash val="solid"/>
          </a:ln>
        </p:spPr>
        <p:txBody>
          <a:bodyPr/>
          <a:lstStyle/>
          <a:p>
            <a:endParaRPr lang="en-US"/>
          </a:p>
        </p:txBody>
      </p:sp>
      <p:sp>
        <p:nvSpPr>
          <p:cNvPr id="23" name="Rectangle 22">
            <a:extLst>
              <a:ext uri="{FF2B5EF4-FFF2-40B4-BE49-F238E27FC236}">
                <a16:creationId xmlns:a16="http://schemas.microsoft.com/office/drawing/2014/main" id="{805A3CC8-2C75-4962-94B8-D5DBDD463A49}"/>
              </a:ext>
            </a:extLst>
          </p:cNvPr>
          <p:cNvSpPr>
            <a:spLocks noGrp="1"/>
          </p:cNvSpPr>
          <p:nvPr/>
        </p:nvSpPr>
        <p:spPr>
          <a:xfrm>
            <a:off x="9448800" y="2028825"/>
            <a:ext cx="1504950" cy="514350"/>
          </a:xfrm>
          <a:prstGeom prst="rect">
            <a:avLst/>
          </a:prstGeom>
          <a:noFill/>
          <a:ln w="0">
            <a:noFill/>
            <a:prstDash val="solid"/>
          </a:ln>
        </p:spPr>
        <p:txBody>
          <a:bodyPr wrap="square" lIns="38100" tIns="19050" rIns="38100" bIns="19050" anchor="ctr">
            <a:normAutofit fontScale="85000" lnSpcReduction="10000"/>
          </a:bodyPr>
          <a:lstStyle/>
          <a:p>
            <a:pPr algn="ctr">
              <a:defRPr sz="2400" b="1" i="0">
                <a:solidFill>
                  <a:srgbClr val="8064A2"/>
                </a:solidFill>
                <a:latin typeface="Arial"/>
                <a:ea typeface="Arial"/>
                <a:cs typeface="Arial"/>
              </a:defRPr>
            </a:pPr>
            <a:r>
              <a:rPr lang="mk-MK" sz="2400" b="1" i="0" dirty="0">
                <a:solidFill>
                  <a:srgbClr val="8064A2"/>
                </a:solidFill>
                <a:latin typeface="Arial"/>
                <a:ea typeface="Arial"/>
                <a:cs typeface="Arial"/>
              </a:rPr>
              <a:t>Кандидати</a:t>
            </a:r>
            <a:endParaRPr sz="2400" b="1" i="0" dirty="0">
              <a:solidFill>
                <a:srgbClr val="8064A2"/>
              </a:solidFill>
              <a:latin typeface="Arial"/>
              <a:ea typeface="Arial"/>
              <a:cs typeface="Arial"/>
            </a:endParaRPr>
          </a:p>
        </p:txBody>
      </p:sp>
      <p:sp>
        <p:nvSpPr>
          <p:cNvPr id="24" name="Rectangle 23">
            <a:extLst>
              <a:ext uri="{FF2B5EF4-FFF2-40B4-BE49-F238E27FC236}">
                <a16:creationId xmlns:a16="http://schemas.microsoft.com/office/drawing/2014/main" id="{0E66D3D6-DF14-4961-8E5F-ACCEAE361146}"/>
              </a:ext>
            </a:extLst>
          </p:cNvPr>
          <p:cNvSpPr>
            <a:spLocks noGrp="1"/>
          </p:cNvSpPr>
          <p:nvPr/>
        </p:nvSpPr>
        <p:spPr>
          <a:xfrm>
            <a:off x="9448800" y="2486025"/>
            <a:ext cx="1504950" cy="400050"/>
          </a:xfrm>
          <a:prstGeom prst="rect">
            <a:avLst/>
          </a:prstGeom>
          <a:noFill/>
          <a:ln w="0">
            <a:noFill/>
            <a:prstDash val="solid"/>
          </a:ln>
        </p:spPr>
        <p:txBody>
          <a:bodyPr wrap="square" lIns="38100" tIns="19050" rIns="38100" bIns="19050" anchor="t">
            <a:normAutofit/>
          </a:bodyPr>
          <a:lstStyle/>
          <a:p>
            <a:pPr algn="ctr">
              <a:defRPr sz="1200" b="0" i="0">
                <a:solidFill>
                  <a:srgbClr val="617080"/>
                </a:solidFill>
                <a:latin typeface="Arial"/>
                <a:ea typeface="Arial"/>
                <a:cs typeface="Arial"/>
              </a:defRPr>
            </a:pPr>
            <a:r>
              <a:rPr lang="mk-MK" sz="1200" b="0" i="0" dirty="0">
                <a:solidFill>
                  <a:srgbClr val="617080"/>
                </a:solidFill>
                <a:latin typeface="Arial"/>
                <a:ea typeface="Arial"/>
                <a:cs typeface="Arial"/>
              </a:rPr>
              <a:t>10-15</a:t>
            </a:r>
            <a:endParaRPr sz="1200" b="0" i="0" dirty="0">
              <a:solidFill>
                <a:srgbClr val="617080"/>
              </a:solidFill>
              <a:latin typeface="Arial"/>
              <a:ea typeface="Arial"/>
              <a:cs typeface="Arial"/>
            </a:endParaRPr>
          </a:p>
        </p:txBody>
      </p:sp>
      <p:sp>
        <p:nvSpPr>
          <p:cNvPr id="25" name="Rounded Rectangle 24">
            <a:extLst>
              <a:ext uri="{FF2B5EF4-FFF2-40B4-BE49-F238E27FC236}">
                <a16:creationId xmlns:a16="http://schemas.microsoft.com/office/drawing/2014/main" id="{7D3616D8-BC9C-4A79-AB8B-89118D0E529D}"/>
              </a:ext>
            </a:extLst>
          </p:cNvPr>
          <p:cNvSpPr>
            <a:spLocks noGrp="1"/>
          </p:cNvSpPr>
          <p:nvPr/>
        </p:nvSpPr>
        <p:spPr>
          <a:xfrm>
            <a:off x="5334000" y="3524250"/>
            <a:ext cx="5734050" cy="1619250"/>
          </a:xfrm>
          <a:prstGeom prst="roundRect">
            <a:avLst>
              <a:gd name="adj" fmla="val 8235"/>
            </a:avLst>
          </a:prstGeom>
          <a:solidFill>
            <a:srgbClr val="F7F9FB"/>
          </a:solidFill>
          <a:ln w="13335">
            <a:solidFill>
              <a:srgbClr val="A9B4BE"/>
            </a:solidFill>
            <a:prstDash val="solid"/>
          </a:ln>
        </p:spPr>
        <p:txBody>
          <a:bodyPr/>
          <a:lstStyle/>
          <a:p>
            <a:endParaRPr lang="en-US"/>
          </a:p>
        </p:txBody>
      </p:sp>
      <p:sp>
        <p:nvSpPr>
          <p:cNvPr id="26" name="Rectangle 25">
            <a:extLst>
              <a:ext uri="{FF2B5EF4-FFF2-40B4-BE49-F238E27FC236}">
                <a16:creationId xmlns:a16="http://schemas.microsoft.com/office/drawing/2014/main" id="{40A33165-F378-4047-B45F-39727844804B}"/>
              </a:ext>
            </a:extLst>
          </p:cNvPr>
          <p:cNvSpPr>
            <a:spLocks noGrp="1"/>
          </p:cNvSpPr>
          <p:nvPr/>
        </p:nvSpPr>
        <p:spPr>
          <a:xfrm>
            <a:off x="5953125" y="3919401"/>
            <a:ext cx="4495800" cy="514350"/>
          </a:xfrm>
          <a:prstGeom prst="rect">
            <a:avLst/>
          </a:prstGeom>
          <a:noFill/>
          <a:ln w="0">
            <a:noFill/>
            <a:prstDash val="solid"/>
          </a:ln>
        </p:spPr>
        <p:txBody>
          <a:bodyPr wrap="square" lIns="38100" tIns="19050" rIns="38100" bIns="19050" anchor="ctr">
            <a:normAutofit/>
          </a:bodyPr>
          <a:lstStyle/>
          <a:p>
            <a:pPr algn="ctr">
              <a:defRPr sz="3000" b="1" i="0">
                <a:solidFill>
                  <a:srgbClr val="4F86C6"/>
                </a:solidFill>
                <a:latin typeface="Arial"/>
                <a:ea typeface="Arial"/>
                <a:cs typeface="Arial"/>
              </a:defRPr>
            </a:pPr>
            <a:r>
              <a:rPr lang="mk-MK" sz="3000" b="1" dirty="0">
                <a:solidFill>
                  <a:srgbClr val="617080"/>
                </a:solidFill>
                <a:latin typeface="Arial"/>
                <a:ea typeface="Arial"/>
                <a:cs typeface="Arial"/>
              </a:rPr>
              <a:t>2.848</a:t>
            </a:r>
            <a:r>
              <a:rPr lang="mk-MK" sz="3000" b="1" dirty="0">
                <a:solidFill>
                  <a:srgbClr val="4F86C6"/>
                </a:solidFill>
                <a:latin typeface="Arial"/>
                <a:ea typeface="Arial"/>
                <a:cs typeface="Arial"/>
              </a:rPr>
              <a:t> /</a:t>
            </a:r>
            <a:r>
              <a:rPr lang="en-US" sz="3000" b="1" dirty="0">
                <a:solidFill>
                  <a:srgbClr val="4F86C6"/>
                </a:solidFill>
                <a:latin typeface="Arial"/>
                <a:ea typeface="Arial"/>
                <a:cs typeface="Arial"/>
              </a:rPr>
              <a:t> </a:t>
            </a:r>
            <a:r>
              <a:rPr sz="3000" b="1" i="0" dirty="0">
                <a:solidFill>
                  <a:srgbClr val="4F86C6"/>
                </a:solidFill>
                <a:latin typeface="Arial"/>
                <a:ea typeface="Arial"/>
                <a:cs typeface="Arial"/>
              </a:rPr>
              <a:t>1.889</a:t>
            </a:r>
          </a:p>
        </p:txBody>
      </p:sp>
      <p:sp>
        <p:nvSpPr>
          <p:cNvPr id="27" name="Rectangle 26">
            <a:extLst>
              <a:ext uri="{FF2B5EF4-FFF2-40B4-BE49-F238E27FC236}">
                <a16:creationId xmlns:a16="http://schemas.microsoft.com/office/drawing/2014/main" id="{980F283B-F608-4B04-AB97-AE3E32F84D72}"/>
              </a:ext>
            </a:extLst>
          </p:cNvPr>
          <p:cNvSpPr>
            <a:spLocks noGrp="1"/>
          </p:cNvSpPr>
          <p:nvPr/>
        </p:nvSpPr>
        <p:spPr>
          <a:xfrm>
            <a:off x="5953125" y="4429125"/>
            <a:ext cx="4495800" cy="523875"/>
          </a:xfrm>
          <a:prstGeom prst="rect">
            <a:avLst/>
          </a:prstGeom>
          <a:noFill/>
          <a:ln w="0">
            <a:noFill/>
            <a:prstDash val="solid"/>
          </a:ln>
        </p:spPr>
        <p:txBody>
          <a:bodyPr wrap="square" lIns="38100" tIns="19050" rIns="38100" bIns="19050" anchor="t">
            <a:normAutofit/>
          </a:bodyPr>
          <a:lstStyle/>
          <a:p>
            <a:pPr algn="ctr">
              <a:defRPr sz="1350" b="0" i="0">
                <a:solidFill>
                  <a:srgbClr val="617080"/>
                </a:solidFill>
                <a:latin typeface="Arial"/>
                <a:ea typeface="Arial"/>
                <a:cs typeface="Arial"/>
              </a:defRPr>
            </a:pPr>
            <a:r>
              <a:rPr sz="1350" b="0" i="0" dirty="0" err="1">
                <a:solidFill>
                  <a:srgbClr val="617080"/>
                </a:solidFill>
                <a:latin typeface="Arial"/>
                <a:ea typeface="Arial"/>
                <a:cs typeface="Arial"/>
              </a:rPr>
              <a:t>примероци</a:t>
            </a:r>
            <a:r>
              <a:rPr sz="1350" b="0" i="0" dirty="0">
                <a:solidFill>
                  <a:srgbClr val="617080"/>
                </a:solidFill>
                <a:latin typeface="Arial"/>
                <a:ea typeface="Arial"/>
                <a:cs typeface="Arial"/>
              </a:rPr>
              <a:t> </a:t>
            </a:r>
            <a:r>
              <a:rPr sz="1350" b="0" i="0" dirty="0" err="1">
                <a:solidFill>
                  <a:srgbClr val="617080"/>
                </a:solidFill>
                <a:latin typeface="Arial"/>
                <a:ea typeface="Arial"/>
                <a:cs typeface="Arial"/>
              </a:rPr>
              <a:t>за</a:t>
            </a:r>
            <a:r>
              <a:rPr sz="1350" b="0" i="0" dirty="0">
                <a:solidFill>
                  <a:srgbClr val="617080"/>
                </a:solidFill>
                <a:latin typeface="Arial"/>
                <a:ea typeface="Arial"/>
                <a:cs typeface="Arial"/>
              </a:rPr>
              <a:t> </a:t>
            </a:r>
            <a:r>
              <a:rPr lang="mk-MK" sz="1350" b="0" i="0" dirty="0">
                <a:solidFill>
                  <a:srgbClr val="617080"/>
                </a:solidFill>
                <a:latin typeface="Arial"/>
                <a:ea typeface="Arial"/>
                <a:cs typeface="Arial"/>
              </a:rPr>
              <a:t>тренирање </a:t>
            </a:r>
            <a:r>
              <a:rPr lang="mk-MK" sz="1350" dirty="0">
                <a:solidFill>
                  <a:srgbClr val="617080"/>
                </a:solidFill>
                <a:latin typeface="Arial"/>
                <a:ea typeface="Arial"/>
                <a:cs typeface="Arial"/>
              </a:rPr>
              <a:t>·</a:t>
            </a:r>
            <a:r>
              <a:rPr sz="1350" b="0" i="0" dirty="0">
                <a:solidFill>
                  <a:srgbClr val="617080"/>
                </a:solidFill>
                <a:latin typeface="Arial"/>
                <a:ea typeface="Arial"/>
                <a:cs typeface="Arial"/>
              </a:rPr>
              <a:t> </a:t>
            </a:r>
            <a:r>
              <a:rPr lang="mk-MK" sz="1350" dirty="0">
                <a:solidFill>
                  <a:srgbClr val="4F86C6"/>
                </a:solidFill>
                <a:latin typeface="Arial"/>
                <a:ea typeface="Arial"/>
                <a:cs typeface="Arial"/>
              </a:rPr>
              <a:t>примероци за</a:t>
            </a:r>
            <a:r>
              <a:rPr sz="1350" b="0" i="0" dirty="0">
                <a:solidFill>
                  <a:srgbClr val="4F86C6"/>
                </a:solidFill>
                <a:latin typeface="Arial"/>
                <a:ea typeface="Arial"/>
                <a:cs typeface="Arial"/>
              </a:rPr>
              <a:t> </a:t>
            </a:r>
            <a:r>
              <a:rPr lang="mk-MK" sz="1350" b="0" i="0" dirty="0">
                <a:solidFill>
                  <a:srgbClr val="4F86C6"/>
                </a:solidFill>
                <a:latin typeface="Arial"/>
                <a:ea typeface="Arial"/>
                <a:cs typeface="Arial"/>
              </a:rPr>
              <a:t>евалуација</a:t>
            </a:r>
            <a:endParaRPr sz="1350" b="0" i="0" dirty="0">
              <a:solidFill>
                <a:srgbClr val="4F86C6"/>
              </a:solidFill>
              <a:latin typeface="Arial"/>
              <a:ea typeface="Arial"/>
              <a:cs typeface="Arial"/>
            </a:endParaRPr>
          </a:p>
        </p:txBody>
      </p:sp>
    </p:spTree>
    <p:extLst>
      <p:ext uri="{BB962C8B-B14F-4D97-AF65-F5344CB8AC3E}">
        <p14:creationId xmlns:p14="http://schemas.microsoft.com/office/powerpoint/2010/main" val="9562442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B938D00C-2FE1-4D48-94BD-09A7F7A55D23}"/>
              </a:ext>
            </a:extLst>
          </p:cNvPr>
          <p:cNvSpPr>
            <a:spLocks noGrp="1"/>
          </p:cNvSpPr>
          <p:nvPr/>
        </p:nvSpPr>
        <p:spPr>
          <a:xfrm>
            <a:off x="552450" y="209550"/>
            <a:ext cx="10763250" cy="523875"/>
          </a:xfrm>
          <a:prstGeom prst="rect">
            <a:avLst/>
          </a:prstGeom>
          <a:noFill/>
          <a:ln w="0">
            <a:noFill/>
            <a:prstDash val="solid"/>
          </a:ln>
        </p:spPr>
        <p:txBody>
          <a:bodyPr wrap="square" lIns="38100" tIns="19050" rIns="38100" bIns="19050" anchor="ctr">
            <a:normAutofit/>
          </a:bodyPr>
          <a:lstStyle/>
          <a:p>
            <a:pPr algn="l">
              <a:defRPr sz="2325" b="1" i="0">
                <a:solidFill>
                  <a:srgbClr val="263746"/>
                </a:solidFill>
                <a:latin typeface="Arial"/>
                <a:ea typeface="Arial"/>
                <a:cs typeface="Arial"/>
              </a:defRPr>
            </a:pPr>
            <a:r>
              <a:rPr sz="2325" b="1" i="0">
                <a:solidFill>
                  <a:srgbClr val="263746"/>
                </a:solidFill>
                <a:latin typeface="Arial"/>
                <a:ea typeface="Arial"/>
                <a:cs typeface="Arial"/>
              </a:rPr>
              <a:t>Истражувачки прашања</a:t>
            </a:r>
          </a:p>
        </p:txBody>
      </p:sp>
      <p:sp>
        <p:nvSpPr>
          <p:cNvPr id="2" name="Rectangle 1">
            <a:extLst>
              <a:ext uri="{FF2B5EF4-FFF2-40B4-BE49-F238E27FC236}">
                <a16:creationId xmlns:a16="http://schemas.microsoft.com/office/drawing/2014/main" id="{E18FBEA9-D2C2-4914-98E2-ED685002A092}"/>
              </a:ext>
            </a:extLst>
          </p:cNvPr>
          <p:cNvSpPr>
            <a:spLocks noGrp="1"/>
          </p:cNvSpPr>
          <p:nvPr/>
        </p:nvSpPr>
        <p:spPr>
          <a:xfrm>
            <a:off x="552450" y="781050"/>
            <a:ext cx="11087100" cy="38100"/>
          </a:xfrm>
          <a:prstGeom prst="rect">
            <a:avLst/>
          </a:prstGeom>
          <a:solidFill>
            <a:srgbClr val="4F86C6"/>
          </a:solidFill>
          <a:ln w="0">
            <a:noFill/>
            <a:prstDash val="solid"/>
          </a:ln>
        </p:spPr>
        <p:txBody>
          <a:bodyPr/>
          <a:lstStyle/>
          <a:p>
            <a:endParaRPr lang="en-US"/>
          </a:p>
        </p:txBody>
      </p:sp>
      <p:sp>
        <p:nvSpPr>
          <p:cNvPr id="3" name="Rectangle 2">
            <a:extLst>
              <a:ext uri="{FF2B5EF4-FFF2-40B4-BE49-F238E27FC236}">
                <a16:creationId xmlns:a16="http://schemas.microsoft.com/office/drawing/2014/main" id="{CE0E0FA6-42C2-49C8-84D9-64515022A6A4}"/>
              </a:ext>
            </a:extLst>
          </p:cNvPr>
          <p:cNvSpPr>
            <a:spLocks noGrp="1"/>
          </p:cNvSpPr>
          <p:nvPr/>
        </p:nvSpPr>
        <p:spPr>
          <a:xfrm>
            <a:off x="11315700" y="6486525"/>
            <a:ext cx="323850" cy="228600"/>
          </a:xfrm>
          <a:prstGeom prst="rect">
            <a:avLst/>
          </a:prstGeom>
          <a:noFill/>
          <a:ln w="0">
            <a:noFill/>
            <a:prstDash val="solid"/>
          </a:ln>
        </p:spPr>
        <p:txBody>
          <a:bodyPr wrap="square" lIns="38100" tIns="19050" rIns="38100" bIns="19050" anchor="b">
            <a:normAutofit/>
          </a:bodyPr>
          <a:lstStyle/>
          <a:p>
            <a:pPr algn="r">
              <a:defRPr sz="900" b="0" i="0">
                <a:solidFill>
                  <a:srgbClr val="617080"/>
                </a:solidFill>
                <a:latin typeface="Arial"/>
                <a:ea typeface="Arial"/>
                <a:cs typeface="Arial"/>
              </a:defRPr>
            </a:pPr>
            <a:r>
              <a:rPr sz="900" b="0" i="0">
                <a:solidFill>
                  <a:srgbClr val="617080"/>
                </a:solidFill>
                <a:latin typeface="Arial"/>
                <a:ea typeface="Arial"/>
                <a:cs typeface="Arial"/>
              </a:rPr>
              <a:t>5</a:t>
            </a:r>
          </a:p>
        </p:txBody>
      </p:sp>
      <p:sp>
        <p:nvSpPr>
          <p:cNvPr id="4" name="Rounded Rectangle 3">
            <a:extLst>
              <a:ext uri="{FF2B5EF4-FFF2-40B4-BE49-F238E27FC236}">
                <a16:creationId xmlns:a16="http://schemas.microsoft.com/office/drawing/2014/main" id="{3304219F-AD08-4DFD-BFD7-5A2C681505BD}"/>
              </a:ext>
            </a:extLst>
          </p:cNvPr>
          <p:cNvSpPr>
            <a:spLocks noGrp="1"/>
          </p:cNvSpPr>
          <p:nvPr/>
        </p:nvSpPr>
        <p:spPr>
          <a:xfrm>
            <a:off x="552450" y="1381125"/>
            <a:ext cx="3286125" cy="4095750"/>
          </a:xfrm>
          <a:prstGeom prst="roundRect">
            <a:avLst>
              <a:gd name="adj" fmla="val 5217"/>
            </a:avLst>
          </a:prstGeom>
          <a:solidFill>
            <a:srgbClr val="FBEDE5"/>
          </a:solidFill>
          <a:ln w="19050">
            <a:solidFill>
              <a:srgbClr val="D97942"/>
            </a:solidFill>
            <a:prstDash val="solid"/>
          </a:ln>
        </p:spPr>
        <p:txBody>
          <a:bodyPr/>
          <a:lstStyle/>
          <a:p>
            <a:endParaRPr lang="en-US"/>
          </a:p>
        </p:txBody>
      </p:sp>
      <p:sp>
        <p:nvSpPr>
          <p:cNvPr id="5" name="Oval 4">
            <a:extLst>
              <a:ext uri="{FF2B5EF4-FFF2-40B4-BE49-F238E27FC236}">
                <a16:creationId xmlns:a16="http://schemas.microsoft.com/office/drawing/2014/main" id="{0AD89C1E-5EF7-4B66-8254-C93C61C8652D}"/>
              </a:ext>
            </a:extLst>
          </p:cNvPr>
          <p:cNvSpPr>
            <a:spLocks noGrp="1"/>
          </p:cNvSpPr>
          <p:nvPr/>
        </p:nvSpPr>
        <p:spPr>
          <a:xfrm>
            <a:off x="1762125" y="1714500"/>
            <a:ext cx="857250" cy="857250"/>
          </a:xfrm>
          <a:prstGeom prst="ellipse">
            <a:avLst/>
          </a:prstGeom>
          <a:solidFill>
            <a:srgbClr val="FFFFFF"/>
          </a:solidFill>
          <a:ln w="28575">
            <a:solidFill>
              <a:srgbClr val="D97942"/>
            </a:solidFill>
            <a:prstDash val="solid"/>
          </a:ln>
        </p:spPr>
        <p:txBody>
          <a:bodyPr/>
          <a:lstStyle/>
          <a:p>
            <a:endParaRPr lang="en-US"/>
          </a:p>
        </p:txBody>
      </p:sp>
      <p:sp>
        <p:nvSpPr>
          <p:cNvPr id="6" name="Rectangle 5">
            <a:extLst>
              <a:ext uri="{FF2B5EF4-FFF2-40B4-BE49-F238E27FC236}">
                <a16:creationId xmlns:a16="http://schemas.microsoft.com/office/drawing/2014/main" id="{DE007DB2-6C52-4BC7-8ED6-E9E062B21624}"/>
              </a:ext>
            </a:extLst>
          </p:cNvPr>
          <p:cNvSpPr>
            <a:spLocks noGrp="1"/>
          </p:cNvSpPr>
          <p:nvPr/>
        </p:nvSpPr>
        <p:spPr>
          <a:xfrm>
            <a:off x="1762125" y="1743075"/>
            <a:ext cx="857250" cy="800100"/>
          </a:xfrm>
          <a:prstGeom prst="rect">
            <a:avLst/>
          </a:prstGeom>
          <a:noFill/>
          <a:ln w="0">
            <a:noFill/>
            <a:prstDash val="solid"/>
          </a:ln>
        </p:spPr>
        <p:txBody>
          <a:bodyPr wrap="square" lIns="38100" tIns="19050" rIns="38100" bIns="19050" anchor="ctr">
            <a:normAutofit/>
          </a:bodyPr>
          <a:lstStyle/>
          <a:p>
            <a:pPr algn="ctr">
              <a:defRPr sz="2550" b="1" i="0">
                <a:solidFill>
                  <a:srgbClr val="D97942"/>
                </a:solidFill>
                <a:latin typeface="Arial"/>
                <a:ea typeface="Arial"/>
                <a:cs typeface="Arial"/>
              </a:defRPr>
            </a:pPr>
            <a:r>
              <a:rPr sz="2550" b="1" i="0">
                <a:solidFill>
                  <a:srgbClr val="D97942"/>
                </a:solidFill>
                <a:latin typeface="Arial"/>
                <a:ea typeface="Arial"/>
                <a:cs typeface="Arial"/>
              </a:rPr>
              <a:t>1</a:t>
            </a:r>
          </a:p>
        </p:txBody>
      </p:sp>
      <p:sp>
        <p:nvSpPr>
          <p:cNvPr id="7" name="Rectangle 6">
            <a:extLst>
              <a:ext uri="{FF2B5EF4-FFF2-40B4-BE49-F238E27FC236}">
                <a16:creationId xmlns:a16="http://schemas.microsoft.com/office/drawing/2014/main" id="{0D66464F-2929-4D91-95BB-82242CDE4A62}"/>
              </a:ext>
            </a:extLst>
          </p:cNvPr>
          <p:cNvSpPr>
            <a:spLocks noGrp="1"/>
          </p:cNvSpPr>
          <p:nvPr/>
        </p:nvSpPr>
        <p:spPr>
          <a:xfrm>
            <a:off x="838200" y="2857500"/>
            <a:ext cx="2714625" cy="666750"/>
          </a:xfrm>
          <a:prstGeom prst="rect">
            <a:avLst/>
          </a:prstGeom>
          <a:noFill/>
          <a:ln w="0">
            <a:noFill/>
            <a:prstDash val="solid"/>
          </a:ln>
        </p:spPr>
        <p:txBody>
          <a:bodyPr wrap="square" lIns="38100" tIns="19050" rIns="38100" bIns="19050" anchor="ctr">
            <a:normAutofit/>
          </a:bodyPr>
          <a:lstStyle/>
          <a:p>
            <a:pPr algn="ctr">
              <a:defRPr sz="1725" b="1" i="0">
                <a:solidFill>
                  <a:srgbClr val="D97942"/>
                </a:solidFill>
                <a:latin typeface="Arial"/>
                <a:ea typeface="Arial"/>
                <a:cs typeface="Arial"/>
              </a:defRPr>
            </a:pPr>
            <a:r>
              <a:rPr sz="1725" b="1" i="0">
                <a:solidFill>
                  <a:srgbClr val="D97942"/>
                </a:solidFill>
                <a:latin typeface="Arial"/>
                <a:ea typeface="Arial"/>
                <a:cs typeface="Arial"/>
              </a:rPr>
              <a:t>Архитектура за пребарување</a:t>
            </a:r>
          </a:p>
        </p:txBody>
      </p:sp>
      <p:sp>
        <p:nvSpPr>
          <p:cNvPr id="8" name="Rectangle 7">
            <a:extLst>
              <a:ext uri="{FF2B5EF4-FFF2-40B4-BE49-F238E27FC236}">
                <a16:creationId xmlns:a16="http://schemas.microsoft.com/office/drawing/2014/main" id="{AD61D6D4-684D-4C53-BB70-C502D2393E80}"/>
              </a:ext>
            </a:extLst>
          </p:cNvPr>
          <p:cNvSpPr>
            <a:spLocks noGrp="1"/>
          </p:cNvSpPr>
          <p:nvPr/>
        </p:nvSpPr>
        <p:spPr>
          <a:xfrm>
            <a:off x="857250" y="3638550"/>
            <a:ext cx="2676525" cy="1285875"/>
          </a:xfrm>
          <a:prstGeom prst="rect">
            <a:avLst/>
          </a:prstGeom>
          <a:noFill/>
          <a:ln w="0">
            <a:noFill/>
            <a:prstDash val="solid"/>
          </a:ln>
        </p:spPr>
        <p:txBody>
          <a:bodyPr wrap="square" lIns="38100" tIns="19050" rIns="38100" bIns="19050" anchor="t">
            <a:normAutofit/>
          </a:bodyPr>
          <a:lstStyle/>
          <a:p>
            <a:pPr algn="ctr">
              <a:defRPr sz="1425" b="0" i="0">
                <a:solidFill>
                  <a:srgbClr val="263746"/>
                </a:solidFill>
                <a:latin typeface="Arial"/>
                <a:ea typeface="Arial"/>
                <a:cs typeface="Arial"/>
              </a:defRPr>
            </a:pPr>
            <a:r>
              <a:rPr sz="1425" b="0" i="0">
                <a:solidFill>
                  <a:srgbClr val="263746"/>
                </a:solidFill>
                <a:latin typeface="Arial"/>
                <a:ea typeface="Arial"/>
                <a:cs typeface="Arial"/>
              </a:rPr>
              <a:t>Како изборот на GNN-архитектура влијае врз рангирањето и опфатеноста на точните одговори?</a:t>
            </a:r>
          </a:p>
        </p:txBody>
      </p:sp>
      <p:sp>
        <p:nvSpPr>
          <p:cNvPr id="9" name="Rounded Rectangle 8">
            <a:extLst>
              <a:ext uri="{FF2B5EF4-FFF2-40B4-BE49-F238E27FC236}">
                <a16:creationId xmlns:a16="http://schemas.microsoft.com/office/drawing/2014/main" id="{ABE16631-DF2B-4B51-80DC-0027554B554F}"/>
              </a:ext>
            </a:extLst>
          </p:cNvPr>
          <p:cNvSpPr>
            <a:spLocks noGrp="1"/>
          </p:cNvSpPr>
          <p:nvPr/>
        </p:nvSpPr>
        <p:spPr>
          <a:xfrm>
            <a:off x="4276725" y="1381125"/>
            <a:ext cx="3286125" cy="4095750"/>
          </a:xfrm>
          <a:prstGeom prst="roundRect">
            <a:avLst>
              <a:gd name="adj" fmla="val 5217"/>
            </a:avLst>
          </a:prstGeom>
          <a:solidFill>
            <a:srgbClr val="E8F5F3"/>
          </a:solidFill>
          <a:ln w="19050">
            <a:solidFill>
              <a:srgbClr val="398D84"/>
            </a:solidFill>
            <a:prstDash val="solid"/>
          </a:ln>
        </p:spPr>
        <p:txBody>
          <a:bodyPr/>
          <a:lstStyle/>
          <a:p>
            <a:endParaRPr lang="en-US"/>
          </a:p>
        </p:txBody>
      </p:sp>
      <p:sp>
        <p:nvSpPr>
          <p:cNvPr id="10" name="Oval 9">
            <a:extLst>
              <a:ext uri="{FF2B5EF4-FFF2-40B4-BE49-F238E27FC236}">
                <a16:creationId xmlns:a16="http://schemas.microsoft.com/office/drawing/2014/main" id="{0EE8C8DC-611F-4CE8-9167-0F1CFF35EB6B}"/>
              </a:ext>
            </a:extLst>
          </p:cNvPr>
          <p:cNvSpPr>
            <a:spLocks noGrp="1"/>
          </p:cNvSpPr>
          <p:nvPr/>
        </p:nvSpPr>
        <p:spPr>
          <a:xfrm>
            <a:off x="5486400" y="1714500"/>
            <a:ext cx="857250" cy="857250"/>
          </a:xfrm>
          <a:prstGeom prst="ellipse">
            <a:avLst/>
          </a:prstGeom>
          <a:solidFill>
            <a:srgbClr val="FFFFFF"/>
          </a:solidFill>
          <a:ln w="28575">
            <a:solidFill>
              <a:srgbClr val="398D84"/>
            </a:solidFill>
            <a:prstDash val="solid"/>
          </a:ln>
        </p:spPr>
        <p:txBody>
          <a:bodyPr/>
          <a:lstStyle/>
          <a:p>
            <a:endParaRPr lang="en-US"/>
          </a:p>
        </p:txBody>
      </p:sp>
      <p:sp>
        <p:nvSpPr>
          <p:cNvPr id="11" name="Rectangle 10">
            <a:extLst>
              <a:ext uri="{FF2B5EF4-FFF2-40B4-BE49-F238E27FC236}">
                <a16:creationId xmlns:a16="http://schemas.microsoft.com/office/drawing/2014/main" id="{F2E23EA2-50A5-48B6-919C-88E918B63FC3}"/>
              </a:ext>
            </a:extLst>
          </p:cNvPr>
          <p:cNvSpPr>
            <a:spLocks noGrp="1"/>
          </p:cNvSpPr>
          <p:nvPr/>
        </p:nvSpPr>
        <p:spPr>
          <a:xfrm>
            <a:off x="5486400" y="1743075"/>
            <a:ext cx="857250" cy="800100"/>
          </a:xfrm>
          <a:prstGeom prst="rect">
            <a:avLst/>
          </a:prstGeom>
          <a:noFill/>
          <a:ln w="0">
            <a:noFill/>
            <a:prstDash val="solid"/>
          </a:ln>
        </p:spPr>
        <p:txBody>
          <a:bodyPr wrap="square" lIns="38100" tIns="19050" rIns="38100" bIns="19050" anchor="ctr">
            <a:normAutofit/>
          </a:bodyPr>
          <a:lstStyle/>
          <a:p>
            <a:pPr algn="ctr">
              <a:defRPr sz="2550" b="1" i="0">
                <a:solidFill>
                  <a:srgbClr val="398D84"/>
                </a:solidFill>
                <a:latin typeface="Arial"/>
                <a:ea typeface="Arial"/>
                <a:cs typeface="Arial"/>
              </a:defRPr>
            </a:pPr>
            <a:r>
              <a:rPr sz="2550" b="1" i="0">
                <a:solidFill>
                  <a:srgbClr val="398D84"/>
                </a:solidFill>
                <a:latin typeface="Arial"/>
                <a:ea typeface="Arial"/>
                <a:cs typeface="Arial"/>
              </a:rPr>
              <a:t>2</a:t>
            </a:r>
          </a:p>
        </p:txBody>
      </p:sp>
      <p:sp>
        <p:nvSpPr>
          <p:cNvPr id="12" name="Rectangle 11">
            <a:extLst>
              <a:ext uri="{FF2B5EF4-FFF2-40B4-BE49-F238E27FC236}">
                <a16:creationId xmlns:a16="http://schemas.microsoft.com/office/drawing/2014/main" id="{C6015294-0353-4F31-B6FC-6EB15FEF190C}"/>
              </a:ext>
            </a:extLst>
          </p:cNvPr>
          <p:cNvSpPr>
            <a:spLocks noGrp="1"/>
          </p:cNvSpPr>
          <p:nvPr/>
        </p:nvSpPr>
        <p:spPr>
          <a:xfrm>
            <a:off x="4562475" y="2857500"/>
            <a:ext cx="2714625" cy="666750"/>
          </a:xfrm>
          <a:prstGeom prst="rect">
            <a:avLst/>
          </a:prstGeom>
          <a:noFill/>
          <a:ln w="0">
            <a:noFill/>
            <a:prstDash val="solid"/>
          </a:ln>
        </p:spPr>
        <p:txBody>
          <a:bodyPr wrap="square" lIns="38100" tIns="19050" rIns="38100" bIns="19050" anchor="ctr">
            <a:normAutofit/>
          </a:bodyPr>
          <a:lstStyle/>
          <a:p>
            <a:pPr algn="ctr">
              <a:defRPr sz="1725" b="1" i="0">
                <a:solidFill>
                  <a:srgbClr val="398D84"/>
                </a:solidFill>
                <a:latin typeface="Arial"/>
                <a:ea typeface="Arial"/>
                <a:cs typeface="Arial"/>
              </a:defRPr>
            </a:pPr>
            <a:r>
              <a:rPr sz="1725" b="1" i="0">
                <a:solidFill>
                  <a:srgbClr val="398D84"/>
                </a:solidFill>
                <a:latin typeface="Arial"/>
                <a:ea typeface="Arial"/>
                <a:cs typeface="Arial"/>
              </a:rPr>
              <a:t>Доказен подграф</a:t>
            </a:r>
          </a:p>
        </p:txBody>
      </p:sp>
      <p:sp>
        <p:nvSpPr>
          <p:cNvPr id="13" name="Rectangle 12">
            <a:extLst>
              <a:ext uri="{FF2B5EF4-FFF2-40B4-BE49-F238E27FC236}">
                <a16:creationId xmlns:a16="http://schemas.microsoft.com/office/drawing/2014/main" id="{453DF4BA-78AC-4DCE-9F27-F96D72AD65A5}"/>
              </a:ext>
            </a:extLst>
          </p:cNvPr>
          <p:cNvSpPr>
            <a:spLocks noGrp="1"/>
          </p:cNvSpPr>
          <p:nvPr/>
        </p:nvSpPr>
        <p:spPr>
          <a:xfrm>
            <a:off x="4581525" y="3638550"/>
            <a:ext cx="2676525" cy="1285875"/>
          </a:xfrm>
          <a:prstGeom prst="rect">
            <a:avLst/>
          </a:prstGeom>
          <a:noFill/>
          <a:ln w="0">
            <a:noFill/>
            <a:prstDash val="solid"/>
          </a:ln>
        </p:spPr>
        <p:txBody>
          <a:bodyPr wrap="square" lIns="38100" tIns="19050" rIns="38100" bIns="19050" anchor="t">
            <a:normAutofit/>
          </a:bodyPr>
          <a:lstStyle/>
          <a:p>
            <a:pPr algn="ctr">
              <a:defRPr sz="1425" b="0" i="0">
                <a:solidFill>
                  <a:srgbClr val="263746"/>
                </a:solidFill>
                <a:latin typeface="Arial"/>
                <a:ea typeface="Arial"/>
                <a:cs typeface="Arial"/>
              </a:defRPr>
            </a:pPr>
            <a:r>
              <a:rPr sz="1425" b="0" i="0">
                <a:solidFill>
                  <a:srgbClr val="263746"/>
                </a:solidFill>
                <a:latin typeface="Arial"/>
                <a:ea typeface="Arial"/>
                <a:cs typeface="Arial"/>
              </a:rPr>
              <a:t>Како конструкцијата на доказниот подграф влијае врз компактноста и зачувувањето на релевантните информации?</a:t>
            </a:r>
          </a:p>
        </p:txBody>
      </p:sp>
      <p:sp>
        <p:nvSpPr>
          <p:cNvPr id="14" name="Rounded Rectangle 13">
            <a:extLst>
              <a:ext uri="{FF2B5EF4-FFF2-40B4-BE49-F238E27FC236}">
                <a16:creationId xmlns:a16="http://schemas.microsoft.com/office/drawing/2014/main" id="{57583A76-9F44-4FD8-A7C7-BA75177B8FE2}"/>
              </a:ext>
            </a:extLst>
          </p:cNvPr>
          <p:cNvSpPr>
            <a:spLocks noGrp="1"/>
          </p:cNvSpPr>
          <p:nvPr/>
        </p:nvSpPr>
        <p:spPr>
          <a:xfrm>
            <a:off x="8001000" y="1381125"/>
            <a:ext cx="3286125" cy="4095750"/>
          </a:xfrm>
          <a:prstGeom prst="roundRect">
            <a:avLst>
              <a:gd name="adj" fmla="val 5217"/>
            </a:avLst>
          </a:prstGeom>
          <a:solidFill>
            <a:srgbClr val="F1ECF7"/>
          </a:solidFill>
          <a:ln w="19050">
            <a:solidFill>
              <a:srgbClr val="8064A2"/>
            </a:solidFill>
            <a:prstDash val="solid"/>
          </a:ln>
        </p:spPr>
        <p:txBody>
          <a:bodyPr/>
          <a:lstStyle/>
          <a:p>
            <a:endParaRPr lang="en-US"/>
          </a:p>
        </p:txBody>
      </p:sp>
      <p:sp>
        <p:nvSpPr>
          <p:cNvPr id="15" name="Oval 14">
            <a:extLst>
              <a:ext uri="{FF2B5EF4-FFF2-40B4-BE49-F238E27FC236}">
                <a16:creationId xmlns:a16="http://schemas.microsoft.com/office/drawing/2014/main" id="{DAF2DCE8-8EC6-474B-9304-0F616F02ECCF}"/>
              </a:ext>
            </a:extLst>
          </p:cNvPr>
          <p:cNvSpPr>
            <a:spLocks noGrp="1"/>
          </p:cNvSpPr>
          <p:nvPr/>
        </p:nvSpPr>
        <p:spPr>
          <a:xfrm>
            <a:off x="9210675" y="1714500"/>
            <a:ext cx="857250" cy="857250"/>
          </a:xfrm>
          <a:prstGeom prst="ellipse">
            <a:avLst/>
          </a:prstGeom>
          <a:solidFill>
            <a:srgbClr val="FFFFFF"/>
          </a:solidFill>
          <a:ln w="28575">
            <a:solidFill>
              <a:srgbClr val="8064A2"/>
            </a:solidFill>
            <a:prstDash val="solid"/>
          </a:ln>
        </p:spPr>
        <p:txBody>
          <a:bodyPr/>
          <a:lstStyle/>
          <a:p>
            <a:endParaRPr lang="en-US"/>
          </a:p>
        </p:txBody>
      </p:sp>
      <p:sp>
        <p:nvSpPr>
          <p:cNvPr id="16" name="Rectangle 15">
            <a:extLst>
              <a:ext uri="{FF2B5EF4-FFF2-40B4-BE49-F238E27FC236}">
                <a16:creationId xmlns:a16="http://schemas.microsoft.com/office/drawing/2014/main" id="{B62C371C-792B-4C81-8822-E800E1B9BA11}"/>
              </a:ext>
            </a:extLst>
          </p:cNvPr>
          <p:cNvSpPr>
            <a:spLocks noGrp="1"/>
          </p:cNvSpPr>
          <p:nvPr/>
        </p:nvSpPr>
        <p:spPr>
          <a:xfrm>
            <a:off x="9210675" y="1743075"/>
            <a:ext cx="857250" cy="800100"/>
          </a:xfrm>
          <a:prstGeom prst="rect">
            <a:avLst/>
          </a:prstGeom>
          <a:noFill/>
          <a:ln w="0">
            <a:noFill/>
            <a:prstDash val="solid"/>
          </a:ln>
        </p:spPr>
        <p:txBody>
          <a:bodyPr wrap="square" lIns="38100" tIns="19050" rIns="38100" bIns="19050" anchor="ctr">
            <a:normAutofit/>
          </a:bodyPr>
          <a:lstStyle/>
          <a:p>
            <a:pPr algn="ctr">
              <a:defRPr sz="2550" b="1" i="0">
                <a:solidFill>
                  <a:srgbClr val="8064A2"/>
                </a:solidFill>
                <a:latin typeface="Arial"/>
                <a:ea typeface="Arial"/>
                <a:cs typeface="Arial"/>
              </a:defRPr>
            </a:pPr>
            <a:r>
              <a:rPr sz="2550" b="1" i="0">
                <a:solidFill>
                  <a:srgbClr val="8064A2"/>
                </a:solidFill>
                <a:latin typeface="Arial"/>
                <a:ea typeface="Arial"/>
                <a:cs typeface="Arial"/>
              </a:rPr>
              <a:t>3</a:t>
            </a:r>
          </a:p>
        </p:txBody>
      </p:sp>
      <p:sp>
        <p:nvSpPr>
          <p:cNvPr id="17" name="Rectangle 16">
            <a:extLst>
              <a:ext uri="{FF2B5EF4-FFF2-40B4-BE49-F238E27FC236}">
                <a16:creationId xmlns:a16="http://schemas.microsoft.com/office/drawing/2014/main" id="{A4AE5C0D-47AB-415B-8E69-4A533DDB7371}"/>
              </a:ext>
            </a:extLst>
          </p:cNvPr>
          <p:cNvSpPr>
            <a:spLocks noGrp="1"/>
          </p:cNvSpPr>
          <p:nvPr/>
        </p:nvSpPr>
        <p:spPr>
          <a:xfrm>
            <a:off x="8286750" y="2857500"/>
            <a:ext cx="2714625" cy="666750"/>
          </a:xfrm>
          <a:prstGeom prst="rect">
            <a:avLst/>
          </a:prstGeom>
          <a:noFill/>
          <a:ln w="0">
            <a:noFill/>
            <a:prstDash val="solid"/>
          </a:ln>
        </p:spPr>
        <p:txBody>
          <a:bodyPr wrap="square" lIns="38100" tIns="19050" rIns="38100" bIns="19050" anchor="ctr">
            <a:normAutofit/>
          </a:bodyPr>
          <a:lstStyle/>
          <a:p>
            <a:pPr algn="ctr">
              <a:defRPr sz="1725" b="1" i="0">
                <a:solidFill>
                  <a:srgbClr val="8064A2"/>
                </a:solidFill>
                <a:latin typeface="Arial"/>
                <a:ea typeface="Arial"/>
                <a:cs typeface="Arial"/>
              </a:defRPr>
            </a:pPr>
            <a:r>
              <a:rPr sz="1725" b="1" i="0">
                <a:solidFill>
                  <a:srgbClr val="8064A2"/>
                </a:solidFill>
                <a:latin typeface="Arial"/>
                <a:ea typeface="Arial"/>
                <a:cs typeface="Arial"/>
              </a:rPr>
              <a:t>Јазичен модел</a:t>
            </a:r>
          </a:p>
        </p:txBody>
      </p:sp>
      <p:sp>
        <p:nvSpPr>
          <p:cNvPr id="18" name="Rectangle 17">
            <a:extLst>
              <a:ext uri="{FF2B5EF4-FFF2-40B4-BE49-F238E27FC236}">
                <a16:creationId xmlns:a16="http://schemas.microsoft.com/office/drawing/2014/main" id="{E379C12B-7F1B-45E3-9D31-7418E8DFC9C2}"/>
              </a:ext>
            </a:extLst>
          </p:cNvPr>
          <p:cNvSpPr>
            <a:spLocks noGrp="1"/>
          </p:cNvSpPr>
          <p:nvPr/>
        </p:nvSpPr>
        <p:spPr>
          <a:xfrm>
            <a:off x="8305800" y="3638550"/>
            <a:ext cx="2676525" cy="1285875"/>
          </a:xfrm>
          <a:prstGeom prst="rect">
            <a:avLst/>
          </a:prstGeom>
          <a:noFill/>
          <a:ln w="0">
            <a:noFill/>
            <a:prstDash val="solid"/>
          </a:ln>
        </p:spPr>
        <p:txBody>
          <a:bodyPr wrap="square" lIns="38100" tIns="19050" rIns="38100" bIns="19050" anchor="t">
            <a:normAutofit/>
          </a:bodyPr>
          <a:lstStyle/>
          <a:p>
            <a:pPr algn="ctr">
              <a:defRPr sz="1425" b="0" i="0">
                <a:solidFill>
                  <a:srgbClr val="263746"/>
                </a:solidFill>
                <a:latin typeface="Arial"/>
                <a:ea typeface="Arial"/>
                <a:cs typeface="Arial"/>
              </a:defRPr>
            </a:pPr>
            <a:r>
              <a:rPr sz="1425" b="0" i="0">
                <a:solidFill>
                  <a:srgbClr val="263746"/>
                </a:solidFill>
                <a:latin typeface="Arial"/>
                <a:ea typeface="Arial"/>
                <a:cs typeface="Arial"/>
              </a:rPr>
              <a:t>Како изборот на LLM влијае врз конечната точност и искористувањето на достапниот доказен контекст?</a:t>
            </a:r>
          </a:p>
        </p:txBody>
      </p:sp>
    </p:spTree>
    <p:extLst>
      <p:ext uri="{BB962C8B-B14F-4D97-AF65-F5344CB8AC3E}">
        <p14:creationId xmlns:p14="http://schemas.microsoft.com/office/powerpoint/2010/main" val="11039041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6F59FAA-75F4-4A83-A953-45A208FE96D2}"/>
              </a:ext>
            </a:extLst>
          </p:cNvPr>
          <p:cNvSpPr>
            <a:spLocks noGrp="1"/>
          </p:cNvSpPr>
          <p:nvPr/>
        </p:nvSpPr>
        <p:spPr>
          <a:xfrm>
            <a:off x="552450" y="209550"/>
            <a:ext cx="10763250" cy="523875"/>
          </a:xfrm>
          <a:prstGeom prst="rect">
            <a:avLst/>
          </a:prstGeom>
          <a:noFill/>
          <a:ln w="0">
            <a:noFill/>
            <a:prstDash val="solid"/>
          </a:ln>
        </p:spPr>
        <p:txBody>
          <a:bodyPr wrap="square" lIns="38100" tIns="19050" rIns="38100" bIns="19050" anchor="ctr">
            <a:normAutofit/>
          </a:bodyPr>
          <a:lstStyle/>
          <a:p>
            <a:pPr algn="l">
              <a:defRPr sz="2325" b="1" i="0">
                <a:solidFill>
                  <a:srgbClr val="263746"/>
                </a:solidFill>
                <a:latin typeface="Arial"/>
                <a:ea typeface="Arial"/>
                <a:cs typeface="Arial"/>
              </a:defRPr>
            </a:pPr>
            <a:r>
              <a:rPr sz="2325" b="1" i="0">
                <a:solidFill>
                  <a:srgbClr val="263746"/>
                </a:solidFill>
                <a:latin typeface="Arial"/>
                <a:ea typeface="Arial"/>
                <a:cs typeface="Arial"/>
              </a:rPr>
              <a:t>Архитектури за пребарување</a:t>
            </a:r>
          </a:p>
        </p:txBody>
      </p:sp>
      <p:sp>
        <p:nvSpPr>
          <p:cNvPr id="2" name="Rectangle 1">
            <a:extLst>
              <a:ext uri="{FF2B5EF4-FFF2-40B4-BE49-F238E27FC236}">
                <a16:creationId xmlns:a16="http://schemas.microsoft.com/office/drawing/2014/main" id="{51F12EA6-4384-442C-917D-6C40E4BA1A0D}"/>
              </a:ext>
            </a:extLst>
          </p:cNvPr>
          <p:cNvSpPr>
            <a:spLocks noGrp="1"/>
          </p:cNvSpPr>
          <p:nvPr/>
        </p:nvSpPr>
        <p:spPr>
          <a:xfrm>
            <a:off x="552450" y="781050"/>
            <a:ext cx="11087100" cy="38100"/>
          </a:xfrm>
          <a:prstGeom prst="rect">
            <a:avLst/>
          </a:prstGeom>
          <a:solidFill>
            <a:srgbClr val="D97942"/>
          </a:solidFill>
          <a:ln w="0">
            <a:noFill/>
            <a:prstDash val="solid"/>
          </a:ln>
        </p:spPr>
        <p:txBody>
          <a:bodyPr/>
          <a:lstStyle/>
          <a:p>
            <a:endParaRPr lang="en-US"/>
          </a:p>
        </p:txBody>
      </p:sp>
      <p:sp>
        <p:nvSpPr>
          <p:cNvPr id="3" name="Rectangle 2">
            <a:extLst>
              <a:ext uri="{FF2B5EF4-FFF2-40B4-BE49-F238E27FC236}">
                <a16:creationId xmlns:a16="http://schemas.microsoft.com/office/drawing/2014/main" id="{F661FE3F-3664-4DFD-A7E1-85414CD78BEA}"/>
              </a:ext>
            </a:extLst>
          </p:cNvPr>
          <p:cNvSpPr>
            <a:spLocks noGrp="1"/>
          </p:cNvSpPr>
          <p:nvPr/>
        </p:nvSpPr>
        <p:spPr>
          <a:xfrm>
            <a:off x="11315700" y="6486525"/>
            <a:ext cx="323850" cy="228600"/>
          </a:xfrm>
          <a:prstGeom prst="rect">
            <a:avLst/>
          </a:prstGeom>
          <a:noFill/>
          <a:ln w="0">
            <a:noFill/>
            <a:prstDash val="solid"/>
          </a:ln>
        </p:spPr>
        <p:txBody>
          <a:bodyPr wrap="square" lIns="38100" tIns="19050" rIns="38100" bIns="19050" anchor="b">
            <a:normAutofit/>
          </a:bodyPr>
          <a:lstStyle/>
          <a:p>
            <a:pPr algn="r">
              <a:defRPr sz="900" b="0" i="0">
                <a:solidFill>
                  <a:srgbClr val="617080"/>
                </a:solidFill>
                <a:latin typeface="Arial"/>
                <a:ea typeface="Arial"/>
                <a:cs typeface="Arial"/>
              </a:defRPr>
            </a:pPr>
            <a:r>
              <a:rPr sz="900" b="0" i="0">
                <a:solidFill>
                  <a:srgbClr val="617080"/>
                </a:solidFill>
                <a:latin typeface="Arial"/>
                <a:ea typeface="Arial"/>
                <a:cs typeface="Arial"/>
              </a:rPr>
              <a:t>7</a:t>
            </a:r>
          </a:p>
        </p:txBody>
      </p:sp>
      <p:pic>
        <p:nvPicPr>
          <p:cNvPr id="8" name="Picture 7"/>
          <p:cNvPicPr>
            <a:picLocks noChangeAspect="1"/>
          </p:cNvPicPr>
          <p:nvPr/>
        </p:nvPicPr>
        <p:blipFill>
          <a:blip r:embed="rId3"/>
          <a:stretch/>
        </p:blipFill>
        <p:spPr>
          <a:xfrm>
            <a:off x="1100667" y="869776"/>
            <a:ext cx="9990667" cy="5619750"/>
          </a:xfrm>
          <a:prstGeom prst="rect">
            <a:avLst/>
          </a:prstGeom>
        </p:spPr>
      </p:pic>
    </p:spTree>
    <p:extLst>
      <p:ext uri="{BB962C8B-B14F-4D97-AF65-F5344CB8AC3E}">
        <p14:creationId xmlns:p14="http://schemas.microsoft.com/office/powerpoint/2010/main" val="2132771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 name="GNN title">
            <a:extLst>
              <a:ext uri="{FF2B5EF4-FFF2-40B4-BE49-F238E27FC236}">
                <a16:creationId xmlns:a16="http://schemas.microsoft.com/office/drawing/2014/main" id="{98454820-1712-4057-9131-98D451072A37}"/>
              </a:ext>
            </a:extLst>
          </p:cNvPr>
          <p:cNvSpPr>
            <a:spLocks noGrp="1"/>
          </p:cNvSpPr>
          <p:nvPr/>
        </p:nvSpPr>
        <p:spPr>
          <a:xfrm>
            <a:off x="552450" y="209550"/>
            <a:ext cx="10763250" cy="523875"/>
          </a:xfrm>
          <a:prstGeom prst="rect">
            <a:avLst/>
          </a:prstGeom>
          <a:noFill/>
          <a:ln w="0">
            <a:noFill/>
          </a:ln>
        </p:spPr>
        <p:txBody>
          <a:bodyPr wrap="square" lIns="38100" tIns="19050" rIns="38100" bIns="19050" anchor="ctr">
            <a:noAutofit/>
          </a:bodyPr>
          <a:lstStyle/>
          <a:p>
            <a:pPr algn="l">
              <a:defRPr sz="2325" b="1">
                <a:solidFill>
                  <a:srgbClr val="263746"/>
                </a:solidFill>
                <a:latin typeface="Arial"/>
                <a:ea typeface="Arial"/>
                <a:cs typeface="Arial"/>
              </a:defRPr>
            </a:pPr>
            <a:r>
              <a:rPr sz="2325" b="1">
                <a:solidFill>
                  <a:srgbClr val="263746"/>
                </a:solidFill>
                <a:latin typeface="Arial"/>
                <a:ea typeface="Arial"/>
                <a:cs typeface="Arial"/>
              </a:rPr>
              <a:t>Основна идеја на граф невронските мрежи</a:t>
            </a:r>
          </a:p>
        </p:txBody>
      </p:sp>
      <p:sp>
        <p:nvSpPr>
          <p:cNvPr id="2" name="Rectangle 1">
            <a:extLst>
              <a:ext uri="{FF2B5EF4-FFF2-40B4-BE49-F238E27FC236}">
                <a16:creationId xmlns:a16="http://schemas.microsoft.com/office/drawing/2014/main" id="{A5C59576-7B50-472B-AD7D-E31E44E70A81}"/>
              </a:ext>
            </a:extLst>
          </p:cNvPr>
          <p:cNvSpPr>
            <a:spLocks noGrp="1"/>
          </p:cNvSpPr>
          <p:nvPr/>
        </p:nvSpPr>
        <p:spPr>
          <a:xfrm>
            <a:off x="552450" y="781050"/>
            <a:ext cx="11087100" cy="38100"/>
          </a:xfrm>
          <a:prstGeom prst="rect">
            <a:avLst/>
          </a:prstGeom>
          <a:solidFill>
            <a:srgbClr val="D97942"/>
          </a:solidFill>
          <a:ln w="0">
            <a:noFill/>
          </a:ln>
        </p:spPr>
        <p:txBody>
          <a:bodyPr/>
          <a:lstStyle/>
          <a:p>
            <a:endParaRPr lang="en-US"/>
          </a:p>
        </p:txBody>
      </p:sp>
      <p:sp>
        <p:nvSpPr>
          <p:cNvPr id="5" name="1. Иницијализација">
            <a:extLst>
              <a:ext uri="{FF2B5EF4-FFF2-40B4-BE49-F238E27FC236}">
                <a16:creationId xmlns:a16="http://schemas.microsoft.com/office/drawing/2014/main" id="{AF97B6FE-B4A9-4FCC-B0B8-5A8596CDB8F1}"/>
              </a:ext>
            </a:extLst>
          </p:cNvPr>
          <p:cNvSpPr>
            <a:spLocks noGrp="1"/>
          </p:cNvSpPr>
          <p:nvPr/>
        </p:nvSpPr>
        <p:spPr>
          <a:xfrm>
            <a:off x="552450" y="1304925"/>
            <a:ext cx="3429000" cy="266700"/>
          </a:xfrm>
          <a:prstGeom prst="rect">
            <a:avLst/>
          </a:prstGeom>
          <a:noFill/>
          <a:ln w="0">
            <a:noFill/>
          </a:ln>
        </p:spPr>
        <p:txBody>
          <a:bodyPr wrap="square" lIns="38100" tIns="19050" rIns="38100" bIns="19050" anchor="ctr">
            <a:noAutofit/>
          </a:bodyPr>
          <a:lstStyle/>
          <a:p>
            <a:pPr algn="l">
              <a:defRPr sz="1650" b="1">
                <a:solidFill>
                  <a:srgbClr val="D97942"/>
                </a:solidFill>
                <a:latin typeface="Arial"/>
                <a:ea typeface="Arial"/>
                <a:cs typeface="Arial"/>
              </a:defRPr>
            </a:pPr>
            <a:r>
              <a:rPr sz="1650" b="1">
                <a:solidFill>
                  <a:srgbClr val="D97942"/>
                </a:solidFill>
                <a:latin typeface="Arial"/>
                <a:ea typeface="Arial"/>
                <a:cs typeface="Arial"/>
              </a:rPr>
              <a:t>1. Иницијализација</a:t>
            </a:r>
          </a:p>
        </p:txBody>
      </p:sp>
      <p:sp>
        <p:nvSpPr>
          <p:cNvPr id="6" name="1. Иницијализација explanation">
            <a:extLst>
              <a:ext uri="{FF2B5EF4-FFF2-40B4-BE49-F238E27FC236}">
                <a16:creationId xmlns:a16="http://schemas.microsoft.com/office/drawing/2014/main" id="{8CCA16F2-4B67-44A0-BC93-A3F8D85C808B}"/>
              </a:ext>
            </a:extLst>
          </p:cNvPr>
          <p:cNvSpPr>
            <a:spLocks noGrp="1"/>
          </p:cNvSpPr>
          <p:nvPr/>
        </p:nvSpPr>
        <p:spPr>
          <a:xfrm>
            <a:off x="552450" y="1590675"/>
            <a:ext cx="3467100" cy="476250"/>
          </a:xfrm>
          <a:prstGeom prst="rect">
            <a:avLst/>
          </a:prstGeom>
          <a:noFill/>
          <a:ln w="0">
            <a:noFill/>
          </a:ln>
        </p:spPr>
        <p:txBody>
          <a:bodyPr wrap="square" lIns="38100" tIns="19050" rIns="38100" bIns="19050" anchor="ctr">
            <a:noAutofit/>
          </a:bodyPr>
          <a:lstStyle/>
          <a:p>
            <a:pPr algn="l">
              <a:defRPr sz="1313" b="0">
                <a:solidFill>
                  <a:srgbClr val="263746"/>
                </a:solidFill>
                <a:latin typeface="Arial"/>
                <a:ea typeface="Arial"/>
                <a:cs typeface="Arial"/>
              </a:defRPr>
            </a:pPr>
            <a:r>
              <a:rPr sz="1313" b="0">
                <a:solidFill>
                  <a:srgbClr val="263746"/>
                </a:solidFill>
                <a:latin typeface="Arial"/>
                <a:ea typeface="Arial"/>
                <a:cs typeface="Arial"/>
              </a:rPr>
              <a:t>Почетните својства се претвораат</a:t>
            </a:r>
          </a:p>
          <a:p>
            <a:pPr algn="l">
              <a:defRPr sz="1313" b="0">
                <a:solidFill>
                  <a:srgbClr val="263746"/>
                </a:solidFill>
                <a:latin typeface="Arial"/>
                <a:ea typeface="Arial"/>
                <a:cs typeface="Arial"/>
              </a:defRPr>
            </a:pPr>
            <a:r>
              <a:rPr sz="1313" b="0">
                <a:solidFill>
                  <a:srgbClr val="263746"/>
                </a:solidFill>
                <a:latin typeface="Arial"/>
                <a:ea typeface="Arial"/>
                <a:cs typeface="Arial"/>
              </a:rPr>
              <a:t>во вектор за секој јазол.</a:t>
            </a:r>
          </a:p>
        </p:txBody>
      </p:sp>
      <mc:AlternateContent xmlns:mc="http://schemas.openxmlformats.org/markup-compatibility/2006" xmlns:a14="http://schemas.microsoft.com/office/drawing/2010/main">
        <mc:Choice Requires="a14">
          <p:sp>
            <p:nvSpPr>
              <p:cNvPr id="7" name="EQ_INIT">
                <a:extLst>
                  <a:ext uri="{FF2B5EF4-FFF2-40B4-BE49-F238E27FC236}">
                    <a16:creationId xmlns:a16="http://schemas.microsoft.com/office/drawing/2014/main" id="{E4C0ED12-E8BD-49F6-8680-2BADB421E7EA}"/>
                  </a:ext>
                </a:extLst>
              </p:cNvPr>
              <p:cNvSpPr>
                <a:spLocks noGrp="1"/>
              </p:cNvSpPr>
              <p:nvPr/>
            </p:nvSpPr>
            <p:spPr>
              <a:xfrm>
                <a:off x="4086225" y="1295400"/>
                <a:ext cx="7553325" cy="800100"/>
              </a:xfrm>
              <a:prstGeom prst="rect">
                <a:avLst/>
              </a:prstGeom>
              <a:noFill/>
              <a:ln w="0">
                <a:noFill/>
              </a:ln>
            </p:spPr>
            <p:txBody>
              <a:bodyPr wrap="square" lIns="38100" tIns="19050" rIns="38100" bIns="19050" anchor="ctr">
                <a:noAutofit/>
              </a:bodyPr>
              <a:lstStyle/>
              <a:p>
                <a:pPr algn="ctr">
                  <a:defRPr sz="2100"/>
                </a:pPr>
                <a14:m>
                  <m:oMathPara xmlns:m="http://schemas.openxmlformats.org/officeDocument/2006/math">
                    <m:oMathParaPr>
                      <m:jc m:val="centerGroup"/>
                    </m:oMathParaPr>
                    <m:oMath xmlns:m="http://schemas.openxmlformats.org/officeDocument/2006/math">
                      <m:sSubSup>
                        <m:sSubSupPr>
                          <m:ctrlPr>
                            <a:rPr lang="en-US" sz="2100" b="0" i="1" smtClean="0">
                              <a:solidFill>
                                <a:srgbClr val="263746"/>
                              </a:solidFill>
                              <a:latin typeface="Cambria Math" panose="02040503050406030204" pitchFamily="18" charset="0"/>
                              <a:ea typeface="Cambria Math"/>
                              <a:cs typeface="Cambria Math"/>
                            </a:rPr>
                          </m:ctrlPr>
                        </m:sSubSupPr>
                        <m:e>
                          <m:r>
                            <a:rPr lang="en-US" sz="2100" b="1" i="1" smtClean="0">
                              <a:solidFill>
                                <a:srgbClr val="263746"/>
                              </a:solidFill>
                              <a:latin typeface="Cambria Math"/>
                              <a:ea typeface="Cambria Math"/>
                              <a:cs typeface="Cambria Math"/>
                            </a:rPr>
                            <m:t>h</m:t>
                          </m:r>
                        </m:e>
                        <m:sub>
                          <m:r>
                            <a:rPr lang="en-US" sz="2100" b="0" i="1" smtClean="0">
                              <a:solidFill>
                                <a:srgbClr val="263746"/>
                              </a:solidFill>
                              <a:latin typeface="Cambria Math"/>
                              <a:ea typeface="Cambria Math"/>
                              <a:cs typeface="Cambria Math"/>
                            </a:rPr>
                            <m:t>𝑣</m:t>
                          </m:r>
                        </m:sub>
                        <m:sup>
                          <m:d>
                            <m:dPr>
                              <m:ctrlPr>
                                <a:rPr lang="en-US" sz="2100" b="0" i="1" smtClean="0">
                                  <a:solidFill>
                                    <a:srgbClr val="263746"/>
                                  </a:solidFill>
                                  <a:latin typeface="Cambria Math" panose="02040503050406030204" pitchFamily="18" charset="0"/>
                                  <a:ea typeface="Cambria Math"/>
                                  <a:cs typeface="Cambria Math"/>
                                </a:rPr>
                              </m:ctrlPr>
                            </m:dPr>
                            <m:e>
                              <m:r>
                                <m:rPr>
                                  <m:nor/>
                                </m:rPr>
                                <a:rPr lang="en-US" sz="2100" b="0" i="0" smtClean="0">
                                  <a:solidFill>
                                    <a:srgbClr val="263746"/>
                                  </a:solidFill>
                                  <a:latin typeface="Cambria Math"/>
                                  <a:ea typeface="Cambria Math"/>
                                  <a:cs typeface="Cambria Math"/>
                                </a:rPr>
                                <m:t>0</m:t>
                              </m:r>
                            </m:e>
                          </m:d>
                        </m:sup>
                      </m:sSubSup>
                      <m:r>
                        <m:rPr>
                          <m:nor/>
                        </m:rPr>
                        <a:rPr lang="en-US" sz="2100" b="0" i="0" smtClean="0">
                          <a:solidFill>
                            <a:srgbClr val="263746"/>
                          </a:solidFill>
                          <a:latin typeface="Cambria Math"/>
                          <a:ea typeface="Cambria Math"/>
                          <a:cs typeface="Cambria Math"/>
                        </a:rPr>
                        <m:t> = </m:t>
                      </m:r>
                      <m:sSub>
                        <m:sSubPr>
                          <m:ctrlPr>
                            <a:rPr lang="en-US" sz="2100" b="0" i="1" smtClean="0">
                              <a:solidFill>
                                <a:srgbClr val="263746"/>
                              </a:solidFill>
                              <a:latin typeface="Cambria Math" panose="02040503050406030204" pitchFamily="18" charset="0"/>
                              <a:ea typeface="Cambria Math"/>
                              <a:cs typeface="Cambria Math"/>
                            </a:rPr>
                          </m:ctrlPr>
                        </m:sSubPr>
                        <m:e>
                          <m:r>
                            <a:rPr lang="en-US" sz="2100" b="0" i="1" smtClean="0">
                              <a:solidFill>
                                <a:srgbClr val="263746"/>
                              </a:solidFill>
                              <a:latin typeface="Cambria Math"/>
                              <a:ea typeface="Cambria Math"/>
                              <a:cs typeface="Cambria Math"/>
                            </a:rPr>
                            <m:t>𝑊</m:t>
                          </m:r>
                        </m:e>
                        <m:sub>
                          <m:r>
                            <m:rPr>
                              <m:nor/>
                            </m:rPr>
                            <a:rPr lang="en-US" sz="2100" b="0" i="0" smtClean="0">
                              <a:solidFill>
                                <a:srgbClr val="263746"/>
                              </a:solidFill>
                              <a:latin typeface="Cambria Math"/>
                              <a:ea typeface="Cambria Math"/>
                              <a:cs typeface="Cambria Math"/>
                            </a:rPr>
                            <m:t>in</m:t>
                          </m:r>
                        </m:sub>
                      </m:sSub>
                      <m:sSub>
                        <m:sSubPr>
                          <m:ctrlPr>
                            <a:rPr lang="en-US" sz="2100" b="0" i="1" smtClean="0">
                              <a:solidFill>
                                <a:srgbClr val="263746"/>
                              </a:solidFill>
                              <a:latin typeface="Cambria Math" panose="02040503050406030204" pitchFamily="18" charset="0"/>
                              <a:ea typeface="Cambria Math"/>
                              <a:cs typeface="Cambria Math"/>
                            </a:rPr>
                          </m:ctrlPr>
                        </m:sSubPr>
                        <m:e>
                          <m:r>
                            <a:rPr lang="en-US" sz="2100" b="1" i="1" smtClean="0">
                              <a:solidFill>
                                <a:srgbClr val="263746"/>
                              </a:solidFill>
                              <a:latin typeface="Cambria Math"/>
                              <a:ea typeface="Cambria Math"/>
                              <a:cs typeface="Cambria Math"/>
                            </a:rPr>
                            <m:t>𝑥</m:t>
                          </m:r>
                        </m:e>
                        <m:sub>
                          <m:r>
                            <a:rPr lang="en-US" sz="2100" b="0" i="1" smtClean="0">
                              <a:solidFill>
                                <a:srgbClr val="263746"/>
                              </a:solidFill>
                              <a:latin typeface="Cambria Math"/>
                              <a:ea typeface="Cambria Math"/>
                              <a:cs typeface="Cambria Math"/>
                            </a:rPr>
                            <m:t>𝑣</m:t>
                          </m:r>
                        </m:sub>
                      </m:sSub>
                      <m:r>
                        <m:rPr>
                          <m:nor/>
                        </m:rPr>
                        <a:rPr lang="en-US" sz="2100" b="0" i="0" smtClean="0">
                          <a:solidFill>
                            <a:srgbClr val="263746"/>
                          </a:solidFill>
                          <a:latin typeface="Cambria Math"/>
                          <a:ea typeface="Cambria Math"/>
                          <a:cs typeface="Cambria Math"/>
                        </a:rPr>
                        <m:t> + </m:t>
                      </m:r>
                      <m:sSub>
                        <m:sSubPr>
                          <m:ctrlPr>
                            <a:rPr lang="en-US" sz="2100" b="0" i="1" smtClean="0">
                              <a:solidFill>
                                <a:srgbClr val="263746"/>
                              </a:solidFill>
                              <a:latin typeface="Cambria Math" panose="02040503050406030204" pitchFamily="18" charset="0"/>
                              <a:ea typeface="Cambria Math"/>
                              <a:cs typeface="Cambria Math"/>
                            </a:rPr>
                          </m:ctrlPr>
                        </m:sSubPr>
                        <m:e>
                          <m:r>
                            <a:rPr lang="en-US" sz="2100" b="1" i="1" smtClean="0">
                              <a:solidFill>
                                <a:srgbClr val="263746"/>
                              </a:solidFill>
                              <a:latin typeface="Cambria Math"/>
                              <a:ea typeface="Cambria Math"/>
                              <a:cs typeface="Cambria Math"/>
                            </a:rPr>
                            <m:t>𝑏</m:t>
                          </m:r>
                        </m:e>
                        <m:sub>
                          <m:r>
                            <m:rPr>
                              <m:nor/>
                            </m:rPr>
                            <a:rPr lang="en-US" sz="2100" b="0" i="0" smtClean="0">
                              <a:solidFill>
                                <a:srgbClr val="263746"/>
                              </a:solidFill>
                              <a:latin typeface="Cambria Math"/>
                              <a:ea typeface="Cambria Math"/>
                              <a:cs typeface="Cambria Math"/>
                            </a:rPr>
                            <m:t>in</m:t>
                          </m:r>
                        </m:sub>
                      </m:sSub>
                    </m:oMath>
                  </m:oMathPara>
                </a14:m>
                <a:endParaRPr sz="2100" dirty="0"/>
              </a:p>
            </p:txBody>
          </p:sp>
        </mc:Choice>
        <mc:Fallback xmlns="">
          <p:sp>
            <p:nvSpPr>
              <p:cNvPr id="7" name="EQ_INIT">
                <a:extLst>
                  <a:ext uri="{FF2B5EF4-FFF2-40B4-BE49-F238E27FC236}">
                    <a16:creationId xmlns:a16="http://schemas.microsoft.com/office/drawing/2014/main" id="{E4C0ED12-E8BD-49F6-8680-2BADB421E7EA}"/>
                  </a:ext>
                </a:extLst>
              </p:cNvPr>
              <p:cNvSpPr>
                <a:spLocks noGrp="1" noRot="1" noChangeAspect="1" noMove="1" noResize="1" noEditPoints="1" noAdjustHandles="1" noChangeArrowheads="1" noChangeShapeType="1" noTextEdit="1"/>
              </p:cNvSpPr>
              <p:nvPr/>
            </p:nvSpPr>
            <p:spPr>
              <a:xfrm>
                <a:off x="4086225" y="1295400"/>
                <a:ext cx="7553325" cy="800100"/>
              </a:xfrm>
              <a:prstGeom prst="rect">
                <a:avLst/>
              </a:prstGeom>
              <a:blipFill>
                <a:blip r:embed="rId3"/>
                <a:stretch>
                  <a:fillRect/>
                </a:stretch>
              </a:blipFill>
              <a:ln w="0">
                <a:noFill/>
              </a:ln>
            </p:spPr>
            <p:txBody>
              <a:bodyPr/>
              <a:lstStyle/>
              <a:p>
                <a:r>
                  <a:rPr lang="en-US">
                    <a:noFill/>
                  </a:rPr>
                  <a:t> </a:t>
                </a:r>
              </a:p>
            </p:txBody>
          </p:sp>
        </mc:Fallback>
      </mc:AlternateContent>
      <p:sp>
        <p:nvSpPr>
          <p:cNvPr id="8" name="Rectangle 7">
            <a:extLst>
              <a:ext uri="{FF2B5EF4-FFF2-40B4-BE49-F238E27FC236}">
                <a16:creationId xmlns:a16="http://schemas.microsoft.com/office/drawing/2014/main" id="{B97BFAC3-E262-47EE-8C3C-2853EBE49EAC}"/>
              </a:ext>
            </a:extLst>
          </p:cNvPr>
          <p:cNvSpPr>
            <a:spLocks noGrp="1"/>
          </p:cNvSpPr>
          <p:nvPr/>
        </p:nvSpPr>
        <p:spPr>
          <a:xfrm>
            <a:off x="552450" y="2124075"/>
            <a:ext cx="11087100" cy="9525"/>
          </a:xfrm>
          <a:prstGeom prst="rect">
            <a:avLst/>
          </a:prstGeom>
          <a:solidFill>
            <a:srgbClr val="DDE3E8"/>
          </a:solidFill>
          <a:ln w="0">
            <a:noFill/>
          </a:ln>
        </p:spPr>
        <p:txBody>
          <a:bodyPr/>
          <a:lstStyle/>
          <a:p>
            <a:endParaRPr lang="en-US"/>
          </a:p>
        </p:txBody>
      </p:sp>
      <p:sp>
        <p:nvSpPr>
          <p:cNvPr id="9" name="2. Пренос на пораки">
            <a:extLst>
              <a:ext uri="{FF2B5EF4-FFF2-40B4-BE49-F238E27FC236}">
                <a16:creationId xmlns:a16="http://schemas.microsoft.com/office/drawing/2014/main" id="{362D1FFE-0EB2-40F9-9668-AFDC7FB9F1F2}"/>
              </a:ext>
            </a:extLst>
          </p:cNvPr>
          <p:cNvSpPr>
            <a:spLocks noGrp="1"/>
          </p:cNvSpPr>
          <p:nvPr/>
        </p:nvSpPr>
        <p:spPr>
          <a:xfrm>
            <a:off x="552450" y="2181225"/>
            <a:ext cx="3429000" cy="266700"/>
          </a:xfrm>
          <a:prstGeom prst="rect">
            <a:avLst/>
          </a:prstGeom>
          <a:noFill/>
          <a:ln w="0">
            <a:noFill/>
          </a:ln>
        </p:spPr>
        <p:txBody>
          <a:bodyPr wrap="square" lIns="38100" tIns="19050" rIns="38100" bIns="19050" anchor="ctr">
            <a:noAutofit/>
          </a:bodyPr>
          <a:lstStyle/>
          <a:p>
            <a:pPr algn="l">
              <a:defRPr sz="1650" b="1">
                <a:solidFill>
                  <a:srgbClr val="D97942"/>
                </a:solidFill>
                <a:latin typeface="Arial"/>
                <a:ea typeface="Arial"/>
                <a:cs typeface="Arial"/>
              </a:defRPr>
            </a:pPr>
            <a:r>
              <a:rPr sz="1650" b="1">
                <a:solidFill>
                  <a:srgbClr val="D97942"/>
                </a:solidFill>
                <a:latin typeface="Arial"/>
                <a:ea typeface="Arial"/>
                <a:cs typeface="Arial"/>
              </a:rPr>
              <a:t>2. Пренос на пораки</a:t>
            </a:r>
          </a:p>
        </p:txBody>
      </p:sp>
      <p:sp>
        <p:nvSpPr>
          <p:cNvPr id="10" name="2. Пренос на пораки explanation">
            <a:extLst>
              <a:ext uri="{FF2B5EF4-FFF2-40B4-BE49-F238E27FC236}">
                <a16:creationId xmlns:a16="http://schemas.microsoft.com/office/drawing/2014/main" id="{43ADC357-0D22-4B4C-9E04-47CE57664B88}"/>
              </a:ext>
            </a:extLst>
          </p:cNvPr>
          <p:cNvSpPr>
            <a:spLocks noGrp="1"/>
          </p:cNvSpPr>
          <p:nvPr/>
        </p:nvSpPr>
        <p:spPr>
          <a:xfrm>
            <a:off x="552450" y="2466975"/>
            <a:ext cx="3467100" cy="476250"/>
          </a:xfrm>
          <a:prstGeom prst="rect">
            <a:avLst/>
          </a:prstGeom>
          <a:noFill/>
          <a:ln w="0">
            <a:noFill/>
          </a:ln>
        </p:spPr>
        <p:txBody>
          <a:bodyPr wrap="square" lIns="38100" tIns="19050" rIns="38100" bIns="19050" anchor="ctr">
            <a:noAutofit/>
          </a:bodyPr>
          <a:lstStyle/>
          <a:p>
            <a:pPr algn="l">
              <a:defRPr sz="1313" b="0">
                <a:solidFill>
                  <a:srgbClr val="263746"/>
                </a:solidFill>
                <a:latin typeface="Arial"/>
                <a:ea typeface="Arial"/>
                <a:cs typeface="Arial"/>
              </a:defRPr>
            </a:pPr>
            <a:r>
              <a:rPr sz="1313" b="0" dirty="0" err="1">
                <a:solidFill>
                  <a:srgbClr val="263746"/>
                </a:solidFill>
                <a:latin typeface="Arial"/>
                <a:ea typeface="Arial"/>
                <a:cs typeface="Arial"/>
              </a:rPr>
              <a:t>Соседот</a:t>
            </a:r>
            <a:r>
              <a:rPr sz="1313" b="0" dirty="0">
                <a:solidFill>
                  <a:srgbClr val="263746"/>
                </a:solidFill>
                <a:latin typeface="Arial"/>
                <a:ea typeface="Arial"/>
                <a:cs typeface="Arial"/>
              </a:rPr>
              <a:t> </a:t>
            </a:r>
            <a:r>
              <a:rPr sz="1313" b="0" dirty="0" err="1">
                <a:solidFill>
                  <a:srgbClr val="263746"/>
                </a:solidFill>
                <a:latin typeface="Arial"/>
                <a:ea typeface="Arial"/>
                <a:cs typeface="Arial"/>
              </a:rPr>
              <a:t>испраќа</a:t>
            </a:r>
            <a:r>
              <a:rPr sz="1313" b="0" dirty="0">
                <a:solidFill>
                  <a:srgbClr val="263746"/>
                </a:solidFill>
                <a:latin typeface="Arial"/>
                <a:ea typeface="Arial"/>
                <a:cs typeface="Arial"/>
              </a:rPr>
              <a:t> </a:t>
            </a:r>
            <a:r>
              <a:rPr lang="mk-MK" sz="1313" dirty="0">
                <a:solidFill>
                  <a:srgbClr val="263746"/>
                </a:solidFill>
                <a:latin typeface="Arial"/>
                <a:ea typeface="Arial"/>
                <a:cs typeface="Arial"/>
              </a:rPr>
              <a:t>информација (порака)</a:t>
            </a:r>
            <a:endParaRPr sz="1313" b="0" dirty="0">
              <a:solidFill>
                <a:srgbClr val="263746"/>
              </a:solidFill>
              <a:latin typeface="Arial"/>
              <a:ea typeface="Arial"/>
              <a:cs typeface="Arial"/>
            </a:endParaRPr>
          </a:p>
        </p:txBody>
      </p:sp>
      <mc:AlternateContent xmlns:mc="http://schemas.openxmlformats.org/markup-compatibility/2006" xmlns:a14="http://schemas.microsoft.com/office/drawing/2010/main">
        <mc:Choice Requires="a14">
          <p:sp>
            <p:nvSpPr>
              <p:cNvPr id="11" name="EQ_MESSAGE">
                <a:extLst>
                  <a:ext uri="{FF2B5EF4-FFF2-40B4-BE49-F238E27FC236}">
                    <a16:creationId xmlns:a16="http://schemas.microsoft.com/office/drawing/2014/main" id="{3D9BA11D-41A0-4066-BC25-711E32BB116D}"/>
                  </a:ext>
                </a:extLst>
              </p:cNvPr>
              <p:cNvSpPr>
                <a:spLocks noGrp="1"/>
              </p:cNvSpPr>
              <p:nvPr/>
            </p:nvSpPr>
            <p:spPr>
              <a:xfrm>
                <a:off x="4086225" y="2171700"/>
                <a:ext cx="7553325" cy="800100"/>
              </a:xfrm>
              <a:prstGeom prst="rect">
                <a:avLst/>
              </a:prstGeom>
              <a:noFill/>
              <a:ln w="0">
                <a:noFill/>
              </a:ln>
            </p:spPr>
            <p:txBody>
              <a:bodyPr wrap="square" lIns="38100" tIns="19050" rIns="38100" bIns="19050" anchor="ctr">
                <a:noAutofit/>
              </a:bodyPr>
              <a:lstStyle/>
              <a:p>
                <a:pPr algn="ctr">
                  <a:defRPr sz="2100"/>
                </a:pPr>
                <a14:m>
                  <m:oMathPara xmlns:m="http://schemas.openxmlformats.org/officeDocument/2006/math">
                    <m:oMathParaPr>
                      <m:jc m:val="centerGroup"/>
                    </m:oMathParaPr>
                    <m:oMath xmlns:m="http://schemas.openxmlformats.org/officeDocument/2006/math">
                      <m:sSubSup>
                        <m:sSubSupPr>
                          <m:ctrlPr>
                            <a:rPr lang="en-US" sz="2100" b="0" i="1" smtClean="0">
                              <a:solidFill>
                                <a:srgbClr val="263746"/>
                              </a:solidFill>
                              <a:latin typeface="Cambria Math" panose="02040503050406030204" pitchFamily="18" charset="0"/>
                              <a:ea typeface="Cambria Math"/>
                              <a:cs typeface="Cambria Math"/>
                            </a:rPr>
                          </m:ctrlPr>
                        </m:sSubSupPr>
                        <m:e>
                          <m:r>
                            <a:rPr lang="en-US" sz="2100" b="1" i="1" smtClean="0">
                              <a:solidFill>
                                <a:srgbClr val="263746"/>
                              </a:solidFill>
                              <a:latin typeface="Cambria Math"/>
                              <a:ea typeface="Cambria Math"/>
                              <a:cs typeface="Cambria Math"/>
                            </a:rPr>
                            <m:t>𝑚</m:t>
                          </m:r>
                        </m:e>
                        <m:sub>
                          <m:r>
                            <a:rPr lang="en-US" sz="2100" b="0" i="1" smtClean="0">
                              <a:solidFill>
                                <a:srgbClr val="263746"/>
                              </a:solidFill>
                              <a:latin typeface="Cambria Math"/>
                              <a:ea typeface="Cambria Math"/>
                              <a:cs typeface="Cambria Math"/>
                            </a:rPr>
                            <m:t>𝑢</m:t>
                          </m:r>
                          <m:r>
                            <m:rPr>
                              <m:nor/>
                            </m:rPr>
                            <a:rPr lang="en-US" sz="2100" b="0" i="0" smtClean="0">
                              <a:solidFill>
                                <a:srgbClr val="263746"/>
                              </a:solidFill>
                              <a:latin typeface="Cambria Math"/>
                              <a:ea typeface="Cambria Math"/>
                              <a:cs typeface="Cambria Math"/>
                            </a:rPr>
                            <m:t>→</m:t>
                          </m:r>
                          <m:r>
                            <a:rPr lang="en-US" sz="2100" b="0" i="1" smtClean="0">
                              <a:solidFill>
                                <a:srgbClr val="263746"/>
                              </a:solidFill>
                              <a:latin typeface="Cambria Math"/>
                              <a:ea typeface="Cambria Math"/>
                              <a:cs typeface="Cambria Math"/>
                            </a:rPr>
                            <m:t>𝑣</m:t>
                          </m:r>
                        </m:sub>
                        <m:sup>
                          <m:d>
                            <m:dPr>
                              <m:ctrlPr>
                                <a:rPr lang="en-US" sz="2100" b="0" i="1" smtClean="0">
                                  <a:solidFill>
                                    <a:srgbClr val="263746"/>
                                  </a:solidFill>
                                  <a:latin typeface="Cambria Math" panose="02040503050406030204" pitchFamily="18" charset="0"/>
                                  <a:ea typeface="Cambria Math"/>
                                  <a:cs typeface="Cambria Math"/>
                                </a:rPr>
                              </m:ctrlPr>
                            </m:dPr>
                            <m:e>
                              <m:r>
                                <a:rPr lang="en-US" sz="2100" b="0" i="1" smtClean="0">
                                  <a:solidFill>
                                    <a:srgbClr val="263746"/>
                                  </a:solidFill>
                                  <a:latin typeface="Cambria Math"/>
                                  <a:ea typeface="Cambria Math"/>
                                  <a:cs typeface="Cambria Math"/>
                                </a:rPr>
                                <m:t>ℓ</m:t>
                              </m:r>
                            </m:e>
                          </m:d>
                        </m:sup>
                      </m:sSubSup>
                      <m:r>
                        <m:rPr>
                          <m:nor/>
                        </m:rPr>
                        <a:rPr lang="en-US" sz="2100" b="0" i="0" smtClean="0">
                          <a:solidFill>
                            <a:srgbClr val="263746"/>
                          </a:solidFill>
                          <a:latin typeface="Cambria Math"/>
                          <a:ea typeface="Cambria Math"/>
                          <a:cs typeface="Cambria Math"/>
                        </a:rPr>
                        <m:t> =</m:t>
                      </m:r>
                      <m:sSubSup>
                        <m:sSubSupPr>
                          <m:ctrlPr>
                            <a:rPr lang="en-US" sz="2100" i="1">
                              <a:solidFill>
                                <a:srgbClr val="263746"/>
                              </a:solidFill>
                              <a:latin typeface="Cambria Math" panose="02040503050406030204" pitchFamily="18" charset="0"/>
                              <a:ea typeface="Cambria Math"/>
                              <a:cs typeface="Cambria Math"/>
                            </a:rPr>
                          </m:ctrlPr>
                        </m:sSubSupPr>
                        <m:e>
                          <m:r>
                            <a:rPr lang="en-US" sz="2100" i="1">
                              <a:solidFill>
                                <a:srgbClr val="263746"/>
                              </a:solidFill>
                              <a:latin typeface="Cambria Math"/>
                              <a:ea typeface="Cambria Math"/>
                              <a:cs typeface="Cambria Math"/>
                            </a:rPr>
                            <m:t>𝑊</m:t>
                          </m:r>
                        </m:e>
                        <m:sub>
                          <m:r>
                            <m:rPr>
                              <m:nor/>
                            </m:rPr>
                            <a:rPr lang="en-US" sz="2100">
                              <a:solidFill>
                                <a:srgbClr val="263746"/>
                              </a:solidFill>
                              <a:latin typeface="Cambria Math"/>
                              <a:ea typeface="Cambria Math"/>
                              <a:cs typeface="Cambria Math"/>
                            </a:rPr>
                            <m:t>msg</m:t>
                          </m:r>
                        </m:sub>
                        <m:sup>
                          <m:d>
                            <m:dPr>
                              <m:ctrlPr>
                                <a:rPr lang="en-US" sz="2100" i="1">
                                  <a:solidFill>
                                    <a:srgbClr val="263746"/>
                                  </a:solidFill>
                                  <a:latin typeface="Cambria Math" panose="02040503050406030204" pitchFamily="18" charset="0"/>
                                  <a:ea typeface="Cambria Math"/>
                                  <a:cs typeface="Cambria Math"/>
                                </a:rPr>
                              </m:ctrlPr>
                            </m:dPr>
                            <m:e>
                              <m:r>
                                <a:rPr lang="en-US" sz="2100" i="1">
                                  <a:solidFill>
                                    <a:srgbClr val="263746"/>
                                  </a:solidFill>
                                  <a:latin typeface="Cambria Math"/>
                                  <a:ea typeface="Cambria Math"/>
                                  <a:cs typeface="Cambria Math"/>
                                </a:rPr>
                                <m:t>ℓ</m:t>
                              </m:r>
                            </m:e>
                          </m:d>
                        </m:sup>
                      </m:sSubSup>
                      <m:sSubSup>
                        <m:sSubSupPr>
                          <m:ctrlPr>
                            <a:rPr lang="en-US" sz="2100" i="1">
                              <a:solidFill>
                                <a:srgbClr val="263746"/>
                              </a:solidFill>
                              <a:latin typeface="Cambria Math" panose="02040503050406030204" pitchFamily="18" charset="0"/>
                              <a:ea typeface="Cambria Math"/>
                              <a:cs typeface="Cambria Math"/>
                            </a:rPr>
                          </m:ctrlPr>
                        </m:sSubSupPr>
                        <m:e>
                          <m:r>
                            <a:rPr lang="en-US" sz="2100" b="1" i="1">
                              <a:solidFill>
                                <a:srgbClr val="263746"/>
                              </a:solidFill>
                              <a:latin typeface="Cambria Math"/>
                              <a:ea typeface="Cambria Math"/>
                              <a:cs typeface="Cambria Math"/>
                            </a:rPr>
                            <m:t>h</m:t>
                          </m:r>
                        </m:e>
                        <m:sub>
                          <m:r>
                            <a:rPr lang="en-US" sz="2100" i="1">
                              <a:solidFill>
                                <a:srgbClr val="263746"/>
                              </a:solidFill>
                              <a:latin typeface="Cambria Math"/>
                              <a:ea typeface="Cambria Math"/>
                              <a:cs typeface="Cambria Math"/>
                            </a:rPr>
                            <m:t>𝑢</m:t>
                          </m:r>
                        </m:sub>
                        <m:sup>
                          <m:d>
                            <m:dPr>
                              <m:ctrlPr>
                                <a:rPr lang="en-US" sz="2100" i="1">
                                  <a:solidFill>
                                    <a:srgbClr val="263746"/>
                                  </a:solidFill>
                                  <a:latin typeface="Cambria Math" panose="02040503050406030204" pitchFamily="18" charset="0"/>
                                  <a:ea typeface="Cambria Math"/>
                                  <a:cs typeface="Cambria Math"/>
                                </a:rPr>
                              </m:ctrlPr>
                            </m:dPr>
                            <m:e>
                              <m:r>
                                <a:rPr lang="en-US" sz="2100" i="1">
                                  <a:solidFill>
                                    <a:srgbClr val="263746"/>
                                  </a:solidFill>
                                  <a:latin typeface="Cambria Math"/>
                                  <a:ea typeface="Cambria Math"/>
                                  <a:cs typeface="Cambria Math"/>
                                </a:rPr>
                                <m:t>ℓ</m:t>
                              </m:r>
                            </m:e>
                          </m:d>
                        </m:sup>
                      </m:sSubSup>
                      <m:r>
                        <m:rPr>
                          <m:nor/>
                        </m:rPr>
                        <a:rPr lang="en-US" sz="2100">
                          <a:solidFill>
                            <a:srgbClr val="263746"/>
                          </a:solidFill>
                          <a:latin typeface="Cambria Math"/>
                          <a:ea typeface="Cambria Math"/>
                          <a:cs typeface="Cambria Math"/>
                        </a:rPr>
                        <m:t> + </m:t>
                      </m:r>
                      <m:sSubSup>
                        <m:sSubSupPr>
                          <m:ctrlPr>
                            <a:rPr lang="en-US" sz="2100" i="1">
                              <a:solidFill>
                                <a:srgbClr val="263746"/>
                              </a:solidFill>
                              <a:latin typeface="Cambria Math" panose="02040503050406030204" pitchFamily="18" charset="0"/>
                              <a:ea typeface="Cambria Math"/>
                              <a:cs typeface="Cambria Math"/>
                            </a:rPr>
                          </m:ctrlPr>
                        </m:sSubSupPr>
                        <m:e>
                          <m:r>
                            <a:rPr lang="en-US" sz="2100" b="1" i="1">
                              <a:solidFill>
                                <a:srgbClr val="263746"/>
                              </a:solidFill>
                              <a:latin typeface="Cambria Math"/>
                              <a:ea typeface="Cambria Math"/>
                              <a:cs typeface="Cambria Math"/>
                            </a:rPr>
                            <m:t>𝑏</m:t>
                          </m:r>
                        </m:e>
                        <m:sub>
                          <m:r>
                            <m:rPr>
                              <m:nor/>
                            </m:rPr>
                            <a:rPr lang="en-US" sz="2100">
                              <a:solidFill>
                                <a:srgbClr val="263746"/>
                              </a:solidFill>
                              <a:latin typeface="Cambria Math"/>
                              <a:ea typeface="Cambria Math"/>
                              <a:cs typeface="Cambria Math"/>
                            </a:rPr>
                            <m:t>msg</m:t>
                          </m:r>
                        </m:sub>
                        <m:sup>
                          <m:d>
                            <m:dPr>
                              <m:ctrlPr>
                                <a:rPr lang="en-US" sz="2100" i="1">
                                  <a:solidFill>
                                    <a:srgbClr val="263746"/>
                                  </a:solidFill>
                                  <a:latin typeface="Cambria Math" panose="02040503050406030204" pitchFamily="18" charset="0"/>
                                  <a:ea typeface="Cambria Math"/>
                                  <a:cs typeface="Cambria Math"/>
                                </a:rPr>
                              </m:ctrlPr>
                            </m:dPr>
                            <m:e>
                              <m:r>
                                <a:rPr lang="en-US" sz="2100" i="1">
                                  <a:solidFill>
                                    <a:srgbClr val="263746"/>
                                  </a:solidFill>
                                  <a:latin typeface="Cambria Math"/>
                                  <a:ea typeface="Cambria Math"/>
                                  <a:cs typeface="Cambria Math"/>
                                </a:rPr>
                                <m:t>ℓ</m:t>
                              </m:r>
                            </m:e>
                          </m:d>
                        </m:sup>
                      </m:sSubSup>
                    </m:oMath>
                  </m:oMathPara>
                </a14:m>
                <a:endParaRPr lang="mk-MK" sz="2100" b="0" dirty="0">
                  <a:solidFill>
                    <a:srgbClr val="263746"/>
                  </a:solidFill>
                  <a:ea typeface="Cambria Math"/>
                  <a:cs typeface="Cambria Math"/>
                </a:endParaRPr>
              </a:p>
            </p:txBody>
          </p:sp>
        </mc:Choice>
        <mc:Fallback xmlns="">
          <p:sp>
            <p:nvSpPr>
              <p:cNvPr id="11" name="EQ_MESSAGE">
                <a:extLst>
                  <a:ext uri="{FF2B5EF4-FFF2-40B4-BE49-F238E27FC236}">
                    <a16:creationId xmlns:a16="http://schemas.microsoft.com/office/drawing/2014/main" id="{3D9BA11D-41A0-4066-BC25-711E32BB116D}"/>
                  </a:ext>
                </a:extLst>
              </p:cNvPr>
              <p:cNvSpPr>
                <a:spLocks noGrp="1" noRot="1" noChangeAspect="1" noMove="1" noResize="1" noEditPoints="1" noAdjustHandles="1" noChangeArrowheads="1" noChangeShapeType="1" noTextEdit="1"/>
              </p:cNvSpPr>
              <p:nvPr/>
            </p:nvSpPr>
            <p:spPr>
              <a:xfrm>
                <a:off x="4086225" y="2171700"/>
                <a:ext cx="7553325" cy="800100"/>
              </a:xfrm>
              <a:prstGeom prst="rect">
                <a:avLst/>
              </a:prstGeom>
              <a:blipFill>
                <a:blip r:embed="rId4"/>
                <a:stretch>
                  <a:fillRect/>
                </a:stretch>
              </a:blipFill>
              <a:ln w="0">
                <a:noFill/>
              </a:ln>
            </p:spPr>
            <p:txBody>
              <a:bodyPr/>
              <a:lstStyle/>
              <a:p>
                <a:r>
                  <a:rPr lang="en-US">
                    <a:noFill/>
                  </a:rPr>
                  <a:t> </a:t>
                </a:r>
              </a:p>
            </p:txBody>
          </p:sp>
        </mc:Fallback>
      </mc:AlternateContent>
      <p:sp>
        <p:nvSpPr>
          <p:cNvPr id="12" name="Rectangle 11">
            <a:extLst>
              <a:ext uri="{FF2B5EF4-FFF2-40B4-BE49-F238E27FC236}">
                <a16:creationId xmlns:a16="http://schemas.microsoft.com/office/drawing/2014/main" id="{80E4A5E1-53C1-4198-B60C-AA84885DC3A9}"/>
              </a:ext>
            </a:extLst>
          </p:cNvPr>
          <p:cNvSpPr>
            <a:spLocks noGrp="1"/>
          </p:cNvSpPr>
          <p:nvPr/>
        </p:nvSpPr>
        <p:spPr>
          <a:xfrm>
            <a:off x="552450" y="3000375"/>
            <a:ext cx="11087100" cy="9525"/>
          </a:xfrm>
          <a:prstGeom prst="rect">
            <a:avLst/>
          </a:prstGeom>
          <a:solidFill>
            <a:srgbClr val="DDE3E8"/>
          </a:solidFill>
          <a:ln w="0">
            <a:noFill/>
          </a:ln>
        </p:spPr>
        <p:txBody>
          <a:bodyPr/>
          <a:lstStyle/>
          <a:p>
            <a:endParaRPr lang="en-US"/>
          </a:p>
        </p:txBody>
      </p:sp>
      <p:sp>
        <p:nvSpPr>
          <p:cNvPr id="13" name="3. Агрегација">
            <a:extLst>
              <a:ext uri="{FF2B5EF4-FFF2-40B4-BE49-F238E27FC236}">
                <a16:creationId xmlns:a16="http://schemas.microsoft.com/office/drawing/2014/main" id="{26F82EF3-B3DE-406B-8B12-64DCFE034504}"/>
              </a:ext>
            </a:extLst>
          </p:cNvPr>
          <p:cNvSpPr>
            <a:spLocks noGrp="1"/>
          </p:cNvSpPr>
          <p:nvPr/>
        </p:nvSpPr>
        <p:spPr>
          <a:xfrm>
            <a:off x="552450" y="3057525"/>
            <a:ext cx="3429000" cy="266700"/>
          </a:xfrm>
          <a:prstGeom prst="rect">
            <a:avLst/>
          </a:prstGeom>
          <a:noFill/>
          <a:ln w="0">
            <a:noFill/>
          </a:ln>
        </p:spPr>
        <p:txBody>
          <a:bodyPr wrap="square" lIns="38100" tIns="19050" rIns="38100" bIns="19050" anchor="ctr">
            <a:noAutofit/>
          </a:bodyPr>
          <a:lstStyle/>
          <a:p>
            <a:pPr algn="l">
              <a:defRPr sz="1650" b="1">
                <a:solidFill>
                  <a:srgbClr val="D97942"/>
                </a:solidFill>
                <a:latin typeface="Arial"/>
                <a:ea typeface="Arial"/>
                <a:cs typeface="Arial"/>
              </a:defRPr>
            </a:pPr>
            <a:r>
              <a:rPr sz="1650" b="1">
                <a:solidFill>
                  <a:srgbClr val="D97942"/>
                </a:solidFill>
                <a:latin typeface="Arial"/>
                <a:ea typeface="Arial"/>
                <a:cs typeface="Arial"/>
              </a:rPr>
              <a:t>3. Агрегација</a:t>
            </a:r>
          </a:p>
        </p:txBody>
      </p:sp>
      <p:sp>
        <p:nvSpPr>
          <p:cNvPr id="14" name="3. Агрегација explanation">
            <a:extLst>
              <a:ext uri="{FF2B5EF4-FFF2-40B4-BE49-F238E27FC236}">
                <a16:creationId xmlns:a16="http://schemas.microsoft.com/office/drawing/2014/main" id="{42CF5BCE-613A-4BE2-BEB0-066C1597A57E}"/>
              </a:ext>
            </a:extLst>
          </p:cNvPr>
          <p:cNvSpPr>
            <a:spLocks noGrp="1"/>
          </p:cNvSpPr>
          <p:nvPr/>
        </p:nvSpPr>
        <p:spPr>
          <a:xfrm>
            <a:off x="552450" y="3343275"/>
            <a:ext cx="3467100" cy="476250"/>
          </a:xfrm>
          <a:prstGeom prst="rect">
            <a:avLst/>
          </a:prstGeom>
          <a:noFill/>
          <a:ln w="0">
            <a:noFill/>
          </a:ln>
        </p:spPr>
        <p:txBody>
          <a:bodyPr wrap="square" lIns="38100" tIns="19050" rIns="38100" bIns="19050" anchor="ctr">
            <a:noAutofit/>
          </a:bodyPr>
          <a:lstStyle/>
          <a:p>
            <a:pPr algn="l">
              <a:defRPr sz="1313" b="0">
                <a:solidFill>
                  <a:srgbClr val="263746"/>
                </a:solidFill>
                <a:latin typeface="Arial"/>
                <a:ea typeface="Arial"/>
                <a:cs typeface="Arial"/>
              </a:defRPr>
            </a:pPr>
            <a:r>
              <a:rPr sz="1313" b="0" dirty="0" err="1">
                <a:solidFill>
                  <a:srgbClr val="263746"/>
                </a:solidFill>
                <a:latin typeface="Arial"/>
                <a:ea typeface="Arial"/>
                <a:cs typeface="Arial"/>
              </a:rPr>
              <a:t>Јазолот</a:t>
            </a:r>
            <a:r>
              <a:rPr sz="1313" b="0" dirty="0">
                <a:solidFill>
                  <a:srgbClr val="263746"/>
                </a:solidFill>
                <a:latin typeface="Arial"/>
                <a:ea typeface="Arial"/>
                <a:cs typeface="Arial"/>
              </a:rPr>
              <a:t> </a:t>
            </a:r>
            <a:r>
              <a:rPr sz="1313" b="0" dirty="0" err="1">
                <a:solidFill>
                  <a:srgbClr val="263746"/>
                </a:solidFill>
                <a:latin typeface="Arial"/>
                <a:ea typeface="Arial"/>
                <a:cs typeface="Arial"/>
              </a:rPr>
              <a:t>ги</a:t>
            </a:r>
            <a:r>
              <a:rPr sz="1313" b="0" dirty="0">
                <a:solidFill>
                  <a:srgbClr val="263746"/>
                </a:solidFill>
                <a:latin typeface="Arial"/>
                <a:ea typeface="Arial"/>
                <a:cs typeface="Arial"/>
              </a:rPr>
              <a:t> </a:t>
            </a:r>
            <a:r>
              <a:rPr sz="1313" b="0" dirty="0" err="1">
                <a:solidFill>
                  <a:srgbClr val="263746"/>
                </a:solidFill>
                <a:latin typeface="Arial"/>
                <a:ea typeface="Arial"/>
                <a:cs typeface="Arial"/>
              </a:rPr>
              <a:t>сумира</a:t>
            </a:r>
            <a:r>
              <a:rPr sz="1313" b="0" dirty="0">
                <a:solidFill>
                  <a:srgbClr val="263746"/>
                </a:solidFill>
                <a:latin typeface="Arial"/>
                <a:ea typeface="Arial"/>
                <a:cs typeface="Arial"/>
              </a:rPr>
              <a:t> </a:t>
            </a:r>
            <a:r>
              <a:rPr sz="1313" b="0" dirty="0" err="1">
                <a:solidFill>
                  <a:srgbClr val="263746"/>
                </a:solidFill>
                <a:latin typeface="Arial"/>
                <a:ea typeface="Arial"/>
                <a:cs typeface="Arial"/>
              </a:rPr>
              <a:t>пораките</a:t>
            </a:r>
            <a:endParaRPr sz="1313" b="0" dirty="0">
              <a:solidFill>
                <a:srgbClr val="263746"/>
              </a:solidFill>
              <a:latin typeface="Arial"/>
              <a:ea typeface="Arial"/>
              <a:cs typeface="Arial"/>
            </a:endParaRPr>
          </a:p>
          <a:p>
            <a:pPr algn="l">
              <a:defRPr sz="1313" b="0">
                <a:solidFill>
                  <a:srgbClr val="263746"/>
                </a:solidFill>
                <a:latin typeface="Arial"/>
                <a:ea typeface="Arial"/>
                <a:cs typeface="Arial"/>
              </a:defRPr>
            </a:pPr>
            <a:r>
              <a:rPr sz="1313" b="0" dirty="0" err="1">
                <a:solidFill>
                  <a:srgbClr val="263746"/>
                </a:solidFill>
                <a:latin typeface="Arial"/>
                <a:ea typeface="Arial"/>
                <a:cs typeface="Arial"/>
              </a:rPr>
              <a:t>од</a:t>
            </a:r>
            <a:r>
              <a:rPr sz="1313" b="0" dirty="0">
                <a:solidFill>
                  <a:srgbClr val="263746"/>
                </a:solidFill>
                <a:latin typeface="Arial"/>
                <a:ea typeface="Arial"/>
                <a:cs typeface="Arial"/>
              </a:rPr>
              <a:t> </a:t>
            </a:r>
            <a:r>
              <a:rPr sz="1313" b="0" dirty="0" err="1">
                <a:solidFill>
                  <a:srgbClr val="263746"/>
                </a:solidFill>
                <a:latin typeface="Arial"/>
                <a:ea typeface="Arial"/>
                <a:cs typeface="Arial"/>
              </a:rPr>
              <a:t>своите</a:t>
            </a:r>
            <a:r>
              <a:rPr sz="1313" b="0" dirty="0">
                <a:solidFill>
                  <a:srgbClr val="263746"/>
                </a:solidFill>
                <a:latin typeface="Arial"/>
                <a:ea typeface="Arial"/>
                <a:cs typeface="Arial"/>
              </a:rPr>
              <a:t> </a:t>
            </a:r>
            <a:r>
              <a:rPr lang="mk-MK" sz="1313" b="0" dirty="0">
                <a:solidFill>
                  <a:srgbClr val="263746"/>
                </a:solidFill>
                <a:latin typeface="Arial"/>
                <a:ea typeface="Arial"/>
                <a:cs typeface="Arial"/>
              </a:rPr>
              <a:t>соседи</a:t>
            </a:r>
            <a:endParaRPr sz="1313" b="0" dirty="0">
              <a:solidFill>
                <a:srgbClr val="263746"/>
              </a:solidFill>
              <a:latin typeface="Arial"/>
              <a:ea typeface="Arial"/>
              <a:cs typeface="Arial"/>
            </a:endParaRPr>
          </a:p>
        </p:txBody>
      </p:sp>
      <mc:AlternateContent xmlns:mc="http://schemas.openxmlformats.org/markup-compatibility/2006" xmlns:a14="http://schemas.microsoft.com/office/drawing/2010/main">
        <mc:Choice Requires="a14">
          <p:sp>
            <p:nvSpPr>
              <p:cNvPr id="15" name="EQ_AGGREGATE">
                <a:extLst>
                  <a:ext uri="{FF2B5EF4-FFF2-40B4-BE49-F238E27FC236}">
                    <a16:creationId xmlns:a16="http://schemas.microsoft.com/office/drawing/2014/main" id="{E9C107EE-1C50-4E58-82EF-ED8E9B46A0BA}"/>
                  </a:ext>
                </a:extLst>
              </p:cNvPr>
              <p:cNvSpPr>
                <a:spLocks noGrp="1"/>
              </p:cNvSpPr>
              <p:nvPr/>
            </p:nvSpPr>
            <p:spPr>
              <a:xfrm>
                <a:off x="4086225" y="3048000"/>
                <a:ext cx="7553325" cy="800100"/>
              </a:xfrm>
              <a:prstGeom prst="rect">
                <a:avLst/>
              </a:prstGeom>
              <a:noFill/>
              <a:ln w="0">
                <a:noFill/>
              </a:ln>
            </p:spPr>
            <p:txBody>
              <a:bodyPr wrap="square" lIns="38100" tIns="19050" rIns="38100" bIns="19050" anchor="ctr">
                <a:noAutofit/>
              </a:bodyPr>
              <a:lstStyle/>
              <a:p>
                <a:pPr algn="ctr">
                  <a:defRPr sz="2100"/>
                </a:pPr>
                <a14:m>
                  <m:oMathPara xmlns:m="http://schemas.openxmlformats.org/officeDocument/2006/math">
                    <m:oMathParaPr>
                      <m:jc m:val="centerGroup"/>
                    </m:oMathParaPr>
                    <m:oMath xmlns:m="http://schemas.openxmlformats.org/officeDocument/2006/math">
                      <m:sSubSup>
                        <m:sSubSupPr>
                          <m:ctrlPr>
                            <a:rPr lang="en-US" sz="2100" b="0" i="1" smtClean="0">
                              <a:solidFill>
                                <a:srgbClr val="263746"/>
                              </a:solidFill>
                              <a:latin typeface="Cambria Math" panose="02040503050406030204" pitchFamily="18" charset="0"/>
                              <a:ea typeface="Cambria Math"/>
                              <a:cs typeface="Cambria Math"/>
                            </a:rPr>
                          </m:ctrlPr>
                        </m:sSubSupPr>
                        <m:e>
                          <m:r>
                            <a:rPr lang="en-US" sz="2100" b="1" i="1" smtClean="0">
                              <a:solidFill>
                                <a:srgbClr val="263746"/>
                              </a:solidFill>
                              <a:latin typeface="Cambria Math"/>
                              <a:ea typeface="Cambria Math"/>
                              <a:cs typeface="Cambria Math"/>
                            </a:rPr>
                            <m:t>𝑎</m:t>
                          </m:r>
                        </m:e>
                        <m:sub>
                          <m:r>
                            <a:rPr lang="en-US" sz="2100" b="0" i="1" smtClean="0">
                              <a:solidFill>
                                <a:srgbClr val="263746"/>
                              </a:solidFill>
                              <a:latin typeface="Cambria Math"/>
                              <a:ea typeface="Cambria Math"/>
                              <a:cs typeface="Cambria Math"/>
                            </a:rPr>
                            <m:t>𝑣</m:t>
                          </m:r>
                        </m:sub>
                        <m:sup>
                          <m:d>
                            <m:dPr>
                              <m:ctrlPr>
                                <a:rPr lang="en-US" sz="2100" b="0" i="1" smtClean="0">
                                  <a:solidFill>
                                    <a:srgbClr val="263746"/>
                                  </a:solidFill>
                                  <a:latin typeface="Cambria Math" panose="02040503050406030204" pitchFamily="18" charset="0"/>
                                  <a:ea typeface="Cambria Math"/>
                                  <a:cs typeface="Cambria Math"/>
                                </a:rPr>
                              </m:ctrlPr>
                            </m:dPr>
                            <m:e>
                              <m:r>
                                <a:rPr lang="en-US" sz="2100" b="0" i="1" smtClean="0">
                                  <a:solidFill>
                                    <a:srgbClr val="263746"/>
                                  </a:solidFill>
                                  <a:latin typeface="Cambria Math"/>
                                  <a:ea typeface="Cambria Math"/>
                                  <a:cs typeface="Cambria Math"/>
                                </a:rPr>
                                <m:t>ℓ</m:t>
                              </m:r>
                            </m:e>
                          </m:d>
                        </m:sup>
                      </m:sSubSup>
                      <m:r>
                        <m:rPr>
                          <m:nor/>
                        </m:rPr>
                        <a:rPr lang="en-US" sz="2100" b="0" i="0" smtClean="0">
                          <a:solidFill>
                            <a:srgbClr val="263746"/>
                          </a:solidFill>
                          <a:latin typeface="Cambria Math"/>
                          <a:ea typeface="Cambria Math"/>
                          <a:cs typeface="Cambria Math"/>
                        </a:rPr>
                        <m:t> = </m:t>
                      </m:r>
                      <m:nary>
                        <m:naryPr>
                          <m:chr m:val="∑"/>
                          <m:limLoc m:val="undOvr"/>
                          <m:supHide m:val="on"/>
                          <m:ctrlPr>
                            <a:rPr lang="en-US" sz="2100" b="0" i="1" smtClean="0">
                              <a:solidFill>
                                <a:srgbClr val="263746"/>
                              </a:solidFill>
                              <a:latin typeface="Cambria Math" panose="02040503050406030204" pitchFamily="18" charset="0"/>
                              <a:ea typeface="Cambria Math"/>
                              <a:cs typeface="Cambria Math"/>
                            </a:rPr>
                          </m:ctrlPr>
                        </m:naryPr>
                        <m:sub>
                          <m:d>
                            <m:dPr>
                              <m:ctrlPr>
                                <a:rPr lang="en-US" sz="2100" b="0" i="1" smtClean="0">
                                  <a:solidFill>
                                    <a:srgbClr val="263746"/>
                                  </a:solidFill>
                                  <a:latin typeface="Cambria Math" panose="02040503050406030204" pitchFamily="18" charset="0"/>
                                  <a:ea typeface="Cambria Math"/>
                                  <a:cs typeface="Cambria Math"/>
                                </a:rPr>
                              </m:ctrlPr>
                            </m:dPr>
                            <m:e>
                              <m:r>
                                <a:rPr lang="en-US" sz="2100" b="0" i="1" smtClean="0">
                                  <a:solidFill>
                                    <a:srgbClr val="263746"/>
                                  </a:solidFill>
                                  <a:latin typeface="Cambria Math"/>
                                  <a:ea typeface="Cambria Math"/>
                                  <a:cs typeface="Cambria Math"/>
                                </a:rPr>
                                <m:t>𝑢</m:t>
                              </m:r>
                              <m:r>
                                <m:rPr>
                                  <m:nor/>
                                </m:rPr>
                                <a:rPr lang="en-US" sz="2100" b="0" i="0" smtClean="0">
                                  <a:solidFill>
                                    <a:srgbClr val="263746"/>
                                  </a:solidFill>
                                  <a:latin typeface="Cambria Math"/>
                                  <a:ea typeface="Cambria Math"/>
                                  <a:cs typeface="Cambria Math"/>
                                </a:rPr>
                                <m:t>,</m:t>
                              </m:r>
                              <m:r>
                                <a:rPr lang="en-US" sz="2100" b="0" i="1" smtClean="0">
                                  <a:solidFill>
                                    <a:srgbClr val="263746"/>
                                  </a:solidFill>
                                  <a:latin typeface="Cambria Math"/>
                                  <a:ea typeface="Cambria Math"/>
                                  <a:cs typeface="Cambria Math"/>
                                </a:rPr>
                                <m:t>𝑟</m:t>
                              </m:r>
                              <m:r>
                                <m:rPr>
                                  <m:nor/>
                                </m:rPr>
                                <a:rPr lang="en-US" sz="2100" b="0" i="0" smtClean="0">
                                  <a:solidFill>
                                    <a:srgbClr val="263746"/>
                                  </a:solidFill>
                                  <a:latin typeface="Cambria Math"/>
                                  <a:ea typeface="Cambria Math"/>
                                  <a:cs typeface="Cambria Math"/>
                                </a:rPr>
                                <m:t>,</m:t>
                              </m:r>
                              <m:r>
                                <a:rPr lang="en-US" sz="2100" b="0" i="1" smtClean="0">
                                  <a:solidFill>
                                    <a:srgbClr val="263746"/>
                                  </a:solidFill>
                                  <a:latin typeface="Cambria Math"/>
                                  <a:ea typeface="Cambria Math"/>
                                  <a:cs typeface="Cambria Math"/>
                                </a:rPr>
                                <m:t>𝑣</m:t>
                              </m:r>
                            </m:e>
                          </m:d>
                          <m:r>
                            <m:rPr>
                              <m:nor/>
                            </m:rPr>
                            <a:rPr lang="en-US" sz="2100" b="0" i="0" smtClean="0">
                              <a:solidFill>
                                <a:srgbClr val="263746"/>
                              </a:solidFill>
                              <a:latin typeface="Cambria Math"/>
                              <a:ea typeface="Cambria Math"/>
                              <a:cs typeface="Cambria Math"/>
                            </a:rPr>
                            <m:t>∈</m:t>
                          </m:r>
                          <m:sSub>
                            <m:sSubPr>
                              <m:ctrlPr>
                                <a:rPr lang="en-US" sz="2100" b="0" i="1" smtClean="0">
                                  <a:solidFill>
                                    <a:srgbClr val="263746"/>
                                  </a:solidFill>
                                  <a:latin typeface="Cambria Math" panose="02040503050406030204" pitchFamily="18" charset="0"/>
                                  <a:ea typeface="Cambria Math"/>
                                  <a:cs typeface="Cambria Math"/>
                                </a:rPr>
                              </m:ctrlPr>
                            </m:sSubPr>
                            <m:e>
                              <m:r>
                                <a:rPr lang="en-US" sz="2100" b="0" i="1" smtClean="0">
                                  <a:solidFill>
                                    <a:srgbClr val="263746"/>
                                  </a:solidFill>
                                  <a:latin typeface="Cambria Math"/>
                                  <a:ea typeface="Cambria Math"/>
                                  <a:cs typeface="Cambria Math"/>
                                </a:rPr>
                                <m:t>𝐸</m:t>
                              </m:r>
                            </m:e>
                            <m:sub>
                              <m:r>
                                <a:rPr lang="en-US" sz="2100" b="0" i="1" smtClean="0">
                                  <a:solidFill>
                                    <a:srgbClr val="263746"/>
                                  </a:solidFill>
                                  <a:latin typeface="Cambria Math"/>
                                  <a:ea typeface="Cambria Math"/>
                                  <a:cs typeface="Cambria Math"/>
                                </a:rPr>
                                <m:t>𝑞</m:t>
                              </m:r>
                            </m:sub>
                          </m:sSub>
                        </m:sub>
                        <m:sup/>
                        <m:e>
                          <m:sSubSup>
                            <m:sSubSupPr>
                              <m:ctrlPr>
                                <a:rPr lang="en-US" sz="2100" b="0" i="1" smtClean="0">
                                  <a:solidFill>
                                    <a:srgbClr val="263746"/>
                                  </a:solidFill>
                                  <a:latin typeface="Cambria Math" panose="02040503050406030204" pitchFamily="18" charset="0"/>
                                  <a:ea typeface="Cambria Math"/>
                                  <a:cs typeface="Cambria Math"/>
                                </a:rPr>
                              </m:ctrlPr>
                            </m:sSubSupPr>
                            <m:e>
                              <m:r>
                                <a:rPr lang="en-US" sz="2100" b="1" i="1" smtClean="0">
                                  <a:solidFill>
                                    <a:srgbClr val="263746"/>
                                  </a:solidFill>
                                  <a:latin typeface="Cambria Math"/>
                                  <a:ea typeface="Cambria Math"/>
                                  <a:cs typeface="Cambria Math"/>
                                </a:rPr>
                                <m:t>𝑚</m:t>
                              </m:r>
                            </m:e>
                            <m:sub>
                              <m:r>
                                <a:rPr lang="en-US" sz="2100" b="0" i="1" smtClean="0">
                                  <a:solidFill>
                                    <a:srgbClr val="263746"/>
                                  </a:solidFill>
                                  <a:latin typeface="Cambria Math"/>
                                  <a:ea typeface="Cambria Math"/>
                                  <a:cs typeface="Cambria Math"/>
                                </a:rPr>
                                <m:t>𝑢</m:t>
                              </m:r>
                              <m:r>
                                <m:rPr>
                                  <m:nor/>
                                </m:rPr>
                                <a:rPr lang="en-US" sz="2100" b="0" i="0" smtClean="0">
                                  <a:solidFill>
                                    <a:srgbClr val="263746"/>
                                  </a:solidFill>
                                  <a:latin typeface="Cambria Math"/>
                                  <a:ea typeface="Cambria Math"/>
                                  <a:cs typeface="Cambria Math"/>
                                </a:rPr>
                                <m:t>→</m:t>
                              </m:r>
                              <m:r>
                                <a:rPr lang="en-US" sz="2100" b="0" i="1" smtClean="0">
                                  <a:solidFill>
                                    <a:srgbClr val="263746"/>
                                  </a:solidFill>
                                  <a:latin typeface="Cambria Math"/>
                                  <a:ea typeface="Cambria Math"/>
                                  <a:cs typeface="Cambria Math"/>
                                </a:rPr>
                                <m:t>𝑣</m:t>
                              </m:r>
                            </m:sub>
                            <m:sup>
                              <m:d>
                                <m:dPr>
                                  <m:ctrlPr>
                                    <a:rPr lang="en-US" sz="2100" b="0" i="1" smtClean="0">
                                      <a:solidFill>
                                        <a:srgbClr val="263746"/>
                                      </a:solidFill>
                                      <a:latin typeface="Cambria Math" panose="02040503050406030204" pitchFamily="18" charset="0"/>
                                      <a:ea typeface="Cambria Math"/>
                                      <a:cs typeface="Cambria Math"/>
                                    </a:rPr>
                                  </m:ctrlPr>
                                </m:dPr>
                                <m:e>
                                  <m:r>
                                    <a:rPr lang="en-US" sz="2100" b="0" i="1" smtClean="0">
                                      <a:solidFill>
                                        <a:srgbClr val="263746"/>
                                      </a:solidFill>
                                      <a:latin typeface="Cambria Math"/>
                                      <a:ea typeface="Cambria Math"/>
                                      <a:cs typeface="Cambria Math"/>
                                    </a:rPr>
                                    <m:t>ℓ</m:t>
                                  </m:r>
                                </m:e>
                              </m:d>
                            </m:sup>
                          </m:sSubSup>
                        </m:e>
                      </m:nary>
                    </m:oMath>
                  </m:oMathPara>
                </a14:m>
                <a:endParaRPr sz="2100" dirty="0"/>
              </a:p>
            </p:txBody>
          </p:sp>
        </mc:Choice>
        <mc:Fallback xmlns="">
          <p:sp>
            <p:nvSpPr>
              <p:cNvPr id="15" name="EQ_AGGREGATE">
                <a:extLst>
                  <a:ext uri="{FF2B5EF4-FFF2-40B4-BE49-F238E27FC236}">
                    <a16:creationId xmlns:a16="http://schemas.microsoft.com/office/drawing/2014/main" id="{E9C107EE-1C50-4E58-82EF-ED8E9B46A0BA}"/>
                  </a:ext>
                </a:extLst>
              </p:cNvPr>
              <p:cNvSpPr>
                <a:spLocks noGrp="1" noRot="1" noChangeAspect="1" noMove="1" noResize="1" noEditPoints="1" noAdjustHandles="1" noChangeArrowheads="1" noChangeShapeType="1" noTextEdit="1"/>
              </p:cNvSpPr>
              <p:nvPr/>
            </p:nvSpPr>
            <p:spPr>
              <a:xfrm>
                <a:off x="4086225" y="3048000"/>
                <a:ext cx="7553325" cy="800100"/>
              </a:xfrm>
              <a:prstGeom prst="rect">
                <a:avLst/>
              </a:prstGeom>
              <a:blipFill>
                <a:blip r:embed="rId5"/>
                <a:stretch>
                  <a:fillRect t="-150794" b="-195238"/>
                </a:stretch>
              </a:blipFill>
              <a:ln w="0">
                <a:noFill/>
              </a:ln>
            </p:spPr>
            <p:txBody>
              <a:bodyPr/>
              <a:lstStyle/>
              <a:p>
                <a:r>
                  <a:rPr lang="en-US">
                    <a:noFill/>
                  </a:rPr>
                  <a:t> </a:t>
                </a:r>
              </a:p>
            </p:txBody>
          </p:sp>
        </mc:Fallback>
      </mc:AlternateContent>
      <p:sp>
        <p:nvSpPr>
          <p:cNvPr id="16" name="Rectangle 15">
            <a:extLst>
              <a:ext uri="{FF2B5EF4-FFF2-40B4-BE49-F238E27FC236}">
                <a16:creationId xmlns:a16="http://schemas.microsoft.com/office/drawing/2014/main" id="{EEAB4881-3287-435F-984A-F28E80FC7187}"/>
              </a:ext>
            </a:extLst>
          </p:cNvPr>
          <p:cNvSpPr>
            <a:spLocks noGrp="1"/>
          </p:cNvSpPr>
          <p:nvPr/>
        </p:nvSpPr>
        <p:spPr>
          <a:xfrm>
            <a:off x="552450" y="3876675"/>
            <a:ext cx="11087100" cy="9525"/>
          </a:xfrm>
          <a:prstGeom prst="rect">
            <a:avLst/>
          </a:prstGeom>
          <a:solidFill>
            <a:srgbClr val="DDE3E8"/>
          </a:solidFill>
          <a:ln w="0">
            <a:noFill/>
          </a:ln>
        </p:spPr>
        <p:txBody>
          <a:bodyPr/>
          <a:lstStyle/>
          <a:p>
            <a:endParaRPr lang="en-US"/>
          </a:p>
        </p:txBody>
      </p:sp>
      <p:sp>
        <p:nvSpPr>
          <p:cNvPr id="17" name="4. Ажурирање">
            <a:extLst>
              <a:ext uri="{FF2B5EF4-FFF2-40B4-BE49-F238E27FC236}">
                <a16:creationId xmlns:a16="http://schemas.microsoft.com/office/drawing/2014/main" id="{90ED818E-47D3-419C-92B0-4BC471A2AAB2}"/>
              </a:ext>
            </a:extLst>
          </p:cNvPr>
          <p:cNvSpPr>
            <a:spLocks noGrp="1"/>
          </p:cNvSpPr>
          <p:nvPr/>
        </p:nvSpPr>
        <p:spPr>
          <a:xfrm>
            <a:off x="552450" y="3933825"/>
            <a:ext cx="3429000" cy="266700"/>
          </a:xfrm>
          <a:prstGeom prst="rect">
            <a:avLst/>
          </a:prstGeom>
          <a:noFill/>
          <a:ln w="0">
            <a:noFill/>
          </a:ln>
        </p:spPr>
        <p:txBody>
          <a:bodyPr wrap="square" lIns="38100" tIns="19050" rIns="38100" bIns="19050" anchor="ctr">
            <a:noAutofit/>
          </a:bodyPr>
          <a:lstStyle/>
          <a:p>
            <a:pPr algn="l">
              <a:defRPr sz="1650" b="1">
                <a:solidFill>
                  <a:srgbClr val="D97942"/>
                </a:solidFill>
                <a:latin typeface="Arial"/>
                <a:ea typeface="Arial"/>
                <a:cs typeface="Arial"/>
              </a:defRPr>
            </a:pPr>
            <a:r>
              <a:rPr sz="1650" b="1">
                <a:solidFill>
                  <a:srgbClr val="D97942"/>
                </a:solidFill>
                <a:latin typeface="Arial"/>
                <a:ea typeface="Arial"/>
                <a:cs typeface="Arial"/>
              </a:rPr>
              <a:t>4. Ажурирање</a:t>
            </a:r>
          </a:p>
        </p:txBody>
      </p:sp>
      <p:sp>
        <p:nvSpPr>
          <p:cNvPr id="18" name="4. Ажурирање explanation">
            <a:extLst>
              <a:ext uri="{FF2B5EF4-FFF2-40B4-BE49-F238E27FC236}">
                <a16:creationId xmlns:a16="http://schemas.microsoft.com/office/drawing/2014/main" id="{69F5BEAE-6423-41E5-8CDC-036FAF2E84B4}"/>
              </a:ext>
            </a:extLst>
          </p:cNvPr>
          <p:cNvSpPr>
            <a:spLocks noGrp="1"/>
          </p:cNvSpPr>
          <p:nvPr/>
        </p:nvSpPr>
        <p:spPr>
          <a:xfrm>
            <a:off x="552450" y="4219575"/>
            <a:ext cx="3467100" cy="476250"/>
          </a:xfrm>
          <a:prstGeom prst="rect">
            <a:avLst/>
          </a:prstGeom>
          <a:noFill/>
          <a:ln w="0">
            <a:noFill/>
          </a:ln>
        </p:spPr>
        <p:txBody>
          <a:bodyPr wrap="square" lIns="38100" tIns="19050" rIns="38100" bIns="19050" anchor="ctr">
            <a:noAutofit/>
          </a:bodyPr>
          <a:lstStyle/>
          <a:p>
            <a:pPr algn="l">
              <a:defRPr sz="1313" b="0">
                <a:solidFill>
                  <a:srgbClr val="263746"/>
                </a:solidFill>
                <a:latin typeface="Arial"/>
                <a:ea typeface="Arial"/>
                <a:cs typeface="Arial"/>
              </a:defRPr>
            </a:pPr>
            <a:r>
              <a:rPr lang="mk-MK" sz="1313" b="0" dirty="0">
                <a:solidFill>
                  <a:srgbClr val="263746"/>
                </a:solidFill>
                <a:latin typeface="Arial"/>
                <a:ea typeface="Arial"/>
                <a:cs typeface="Arial"/>
              </a:rPr>
              <a:t>Резултатот </a:t>
            </a:r>
            <a:r>
              <a:rPr sz="1313" b="0" dirty="0" err="1">
                <a:solidFill>
                  <a:srgbClr val="263746"/>
                </a:solidFill>
                <a:latin typeface="Arial"/>
                <a:ea typeface="Arial"/>
                <a:cs typeface="Arial"/>
              </a:rPr>
              <a:t>се</a:t>
            </a:r>
            <a:r>
              <a:rPr sz="1313" b="0" dirty="0">
                <a:solidFill>
                  <a:srgbClr val="263746"/>
                </a:solidFill>
                <a:latin typeface="Arial"/>
                <a:ea typeface="Arial"/>
                <a:cs typeface="Arial"/>
              </a:rPr>
              <a:t> </a:t>
            </a:r>
            <a:r>
              <a:rPr sz="1313" b="0" dirty="0" err="1">
                <a:solidFill>
                  <a:srgbClr val="263746"/>
                </a:solidFill>
                <a:latin typeface="Arial"/>
                <a:ea typeface="Arial"/>
                <a:cs typeface="Arial"/>
              </a:rPr>
              <a:t>спојува</a:t>
            </a:r>
            <a:r>
              <a:rPr sz="1313" b="0" dirty="0">
                <a:solidFill>
                  <a:srgbClr val="263746"/>
                </a:solidFill>
                <a:latin typeface="Arial"/>
                <a:ea typeface="Arial"/>
                <a:cs typeface="Arial"/>
              </a:rPr>
              <a:t> </a:t>
            </a:r>
            <a:r>
              <a:rPr sz="1313" b="0" dirty="0" err="1">
                <a:solidFill>
                  <a:srgbClr val="263746"/>
                </a:solidFill>
                <a:latin typeface="Arial"/>
                <a:ea typeface="Arial"/>
                <a:cs typeface="Arial"/>
              </a:rPr>
              <a:t>со</a:t>
            </a:r>
            <a:r>
              <a:rPr sz="1313" b="0" dirty="0">
                <a:solidFill>
                  <a:srgbClr val="263746"/>
                </a:solidFill>
                <a:latin typeface="Arial"/>
                <a:ea typeface="Arial"/>
                <a:cs typeface="Arial"/>
              </a:rPr>
              <a:t> </a:t>
            </a:r>
            <a:r>
              <a:rPr sz="1313" b="0" dirty="0" err="1">
                <a:solidFill>
                  <a:srgbClr val="263746"/>
                </a:solidFill>
                <a:latin typeface="Arial"/>
                <a:ea typeface="Arial"/>
                <a:cs typeface="Arial"/>
              </a:rPr>
              <a:t>сопствениот</a:t>
            </a:r>
            <a:endParaRPr sz="1313" b="0" dirty="0">
              <a:solidFill>
                <a:srgbClr val="263746"/>
              </a:solidFill>
              <a:latin typeface="Arial"/>
              <a:ea typeface="Arial"/>
              <a:cs typeface="Arial"/>
            </a:endParaRPr>
          </a:p>
          <a:p>
            <a:pPr algn="l">
              <a:defRPr sz="1313" b="0">
                <a:solidFill>
                  <a:srgbClr val="263746"/>
                </a:solidFill>
                <a:latin typeface="Arial"/>
                <a:ea typeface="Arial"/>
                <a:cs typeface="Arial"/>
              </a:defRPr>
            </a:pPr>
            <a:r>
              <a:rPr sz="1313" b="0" dirty="0" err="1">
                <a:solidFill>
                  <a:srgbClr val="263746"/>
                </a:solidFill>
                <a:latin typeface="Arial"/>
                <a:ea typeface="Arial"/>
                <a:cs typeface="Arial"/>
              </a:rPr>
              <a:t>вектор</a:t>
            </a:r>
            <a:r>
              <a:rPr sz="1313" b="0" dirty="0">
                <a:solidFill>
                  <a:srgbClr val="263746"/>
                </a:solidFill>
                <a:latin typeface="Arial"/>
                <a:ea typeface="Arial"/>
                <a:cs typeface="Arial"/>
              </a:rPr>
              <a:t> </a:t>
            </a:r>
            <a:r>
              <a:rPr sz="1313" b="0" dirty="0" err="1">
                <a:solidFill>
                  <a:srgbClr val="263746"/>
                </a:solidFill>
                <a:latin typeface="Arial"/>
                <a:ea typeface="Arial"/>
                <a:cs typeface="Arial"/>
              </a:rPr>
              <a:t>за</a:t>
            </a:r>
            <a:r>
              <a:rPr sz="1313" b="0" dirty="0">
                <a:solidFill>
                  <a:srgbClr val="263746"/>
                </a:solidFill>
                <a:latin typeface="Arial"/>
                <a:ea typeface="Arial"/>
                <a:cs typeface="Arial"/>
              </a:rPr>
              <a:t> </a:t>
            </a:r>
            <a:r>
              <a:rPr sz="1313" b="0" dirty="0" err="1">
                <a:solidFill>
                  <a:srgbClr val="263746"/>
                </a:solidFill>
                <a:latin typeface="Arial"/>
                <a:ea typeface="Arial"/>
                <a:cs typeface="Arial"/>
              </a:rPr>
              <a:t>следниот</a:t>
            </a:r>
            <a:r>
              <a:rPr sz="1313" b="0" dirty="0">
                <a:solidFill>
                  <a:srgbClr val="263746"/>
                </a:solidFill>
                <a:latin typeface="Arial"/>
                <a:ea typeface="Arial"/>
                <a:cs typeface="Arial"/>
              </a:rPr>
              <a:t> </a:t>
            </a:r>
            <a:r>
              <a:rPr sz="1313" b="0" dirty="0" err="1">
                <a:solidFill>
                  <a:srgbClr val="263746"/>
                </a:solidFill>
                <a:latin typeface="Arial"/>
                <a:ea typeface="Arial"/>
                <a:cs typeface="Arial"/>
              </a:rPr>
              <a:t>слој</a:t>
            </a:r>
            <a:r>
              <a:rPr sz="1313" b="0" dirty="0">
                <a:solidFill>
                  <a:srgbClr val="263746"/>
                </a:solidFill>
                <a:latin typeface="Arial"/>
                <a:ea typeface="Arial"/>
                <a:cs typeface="Arial"/>
              </a:rPr>
              <a:t>.</a:t>
            </a:r>
          </a:p>
        </p:txBody>
      </p:sp>
      <mc:AlternateContent xmlns:mc="http://schemas.openxmlformats.org/markup-compatibility/2006" xmlns:a14="http://schemas.microsoft.com/office/drawing/2010/main">
        <mc:Choice Requires="a14">
          <p:sp>
            <p:nvSpPr>
              <p:cNvPr id="19" name="EQ_UPDATE">
                <a:extLst>
                  <a:ext uri="{FF2B5EF4-FFF2-40B4-BE49-F238E27FC236}">
                    <a16:creationId xmlns:a16="http://schemas.microsoft.com/office/drawing/2014/main" id="{DE07AA06-B839-4476-B903-4F162E228A42}"/>
                  </a:ext>
                </a:extLst>
              </p:cNvPr>
              <p:cNvSpPr>
                <a:spLocks noGrp="1"/>
              </p:cNvSpPr>
              <p:nvPr/>
            </p:nvSpPr>
            <p:spPr>
              <a:xfrm>
                <a:off x="4086225" y="3924300"/>
                <a:ext cx="7553325" cy="800100"/>
              </a:xfrm>
              <a:prstGeom prst="rect">
                <a:avLst/>
              </a:prstGeom>
              <a:noFill/>
              <a:ln w="0">
                <a:noFill/>
              </a:ln>
            </p:spPr>
            <p:txBody>
              <a:bodyPr wrap="square" lIns="38100" tIns="19050" rIns="38100" bIns="19050" anchor="ctr">
                <a:noAutofit/>
              </a:bodyPr>
              <a:lstStyle/>
              <a:p>
                <a:pPr algn="ctr">
                  <a:defRPr sz="2025"/>
                </a:pPr>
                <a14:m>
                  <m:oMathPara xmlns:m="http://schemas.openxmlformats.org/officeDocument/2006/math">
                    <m:oMathParaPr>
                      <m:jc m:val="centerGroup"/>
                    </m:oMathParaPr>
                    <m:oMath xmlns:m="http://schemas.openxmlformats.org/officeDocument/2006/math">
                      <m:sSubSup>
                        <m:sSubSupPr>
                          <m:ctrlPr>
                            <a:rPr lang="en-US" sz="2025" b="0" i="1" smtClean="0">
                              <a:solidFill>
                                <a:srgbClr val="263746"/>
                              </a:solidFill>
                              <a:latin typeface="Cambria Math" panose="02040503050406030204" pitchFamily="18" charset="0"/>
                              <a:ea typeface="Cambria Math"/>
                              <a:cs typeface="Cambria Math"/>
                            </a:rPr>
                          </m:ctrlPr>
                        </m:sSubSupPr>
                        <m:e>
                          <m:r>
                            <a:rPr lang="en-US" sz="2025" b="1" i="1" smtClean="0">
                              <a:solidFill>
                                <a:srgbClr val="263746"/>
                              </a:solidFill>
                              <a:latin typeface="Cambria Math"/>
                              <a:ea typeface="Cambria Math"/>
                              <a:cs typeface="Cambria Math"/>
                            </a:rPr>
                            <m:t>h</m:t>
                          </m:r>
                        </m:e>
                        <m:sub>
                          <m:r>
                            <a:rPr lang="en-US" sz="2025" b="0" i="1" smtClean="0">
                              <a:solidFill>
                                <a:srgbClr val="263746"/>
                              </a:solidFill>
                              <a:latin typeface="Cambria Math"/>
                              <a:ea typeface="Cambria Math"/>
                              <a:cs typeface="Cambria Math"/>
                            </a:rPr>
                            <m:t>𝑣</m:t>
                          </m:r>
                        </m:sub>
                        <m:sup>
                          <m:d>
                            <m:dPr>
                              <m:ctrlPr>
                                <a:rPr lang="en-US" sz="2025" b="0" i="1" smtClean="0">
                                  <a:solidFill>
                                    <a:srgbClr val="263746"/>
                                  </a:solidFill>
                                  <a:latin typeface="Cambria Math" panose="02040503050406030204" pitchFamily="18" charset="0"/>
                                  <a:ea typeface="Cambria Math"/>
                                  <a:cs typeface="Cambria Math"/>
                                </a:rPr>
                              </m:ctrlPr>
                            </m:dPr>
                            <m:e>
                              <m:r>
                                <a:rPr lang="en-US" sz="2025" b="0" i="1" smtClean="0">
                                  <a:solidFill>
                                    <a:srgbClr val="263746"/>
                                  </a:solidFill>
                                  <a:latin typeface="Cambria Math"/>
                                  <a:ea typeface="Cambria Math"/>
                                  <a:cs typeface="Cambria Math"/>
                                </a:rPr>
                                <m:t>ℓ</m:t>
                              </m:r>
                              <m:r>
                                <m:rPr>
                                  <m:nor/>
                                </m:rPr>
                                <a:rPr lang="en-US" sz="2025" b="0" i="0" smtClean="0">
                                  <a:solidFill>
                                    <a:srgbClr val="263746"/>
                                  </a:solidFill>
                                  <a:latin typeface="Cambria Math"/>
                                  <a:ea typeface="Cambria Math"/>
                                  <a:cs typeface="Cambria Math"/>
                                </a:rPr>
                                <m:t>+1</m:t>
                              </m:r>
                            </m:e>
                          </m:d>
                        </m:sup>
                      </m:sSubSup>
                      <m:r>
                        <m:rPr>
                          <m:nor/>
                        </m:rPr>
                        <a:rPr lang="en-US" sz="2025" b="0" i="0" smtClean="0">
                          <a:solidFill>
                            <a:srgbClr val="263746"/>
                          </a:solidFill>
                          <a:latin typeface="Cambria Math"/>
                          <a:ea typeface="Cambria Math"/>
                          <a:cs typeface="Cambria Math"/>
                        </a:rPr>
                        <m:t> = </m:t>
                      </m:r>
                      <m:r>
                        <m:rPr>
                          <m:nor/>
                        </m:rPr>
                        <a:rPr lang="en-US" sz="2025" b="0" i="0" smtClean="0">
                          <a:solidFill>
                            <a:srgbClr val="263746"/>
                          </a:solidFill>
                          <a:latin typeface="Cambria Math"/>
                          <a:ea typeface="Cambria Math"/>
                          <a:cs typeface="Cambria Math"/>
                        </a:rPr>
                        <m:t>Dropout</m:t>
                      </m:r>
                      <m:d>
                        <m:dPr>
                          <m:ctrlPr>
                            <a:rPr lang="en-US" sz="2025" b="0" i="1" smtClean="0">
                              <a:solidFill>
                                <a:srgbClr val="263746"/>
                              </a:solidFill>
                              <a:latin typeface="Cambria Math" panose="02040503050406030204" pitchFamily="18" charset="0"/>
                              <a:ea typeface="Cambria Math"/>
                            </a:rPr>
                          </m:ctrlPr>
                        </m:dPr>
                        <m:e>
                          <m:r>
                            <m:rPr>
                              <m:nor/>
                            </m:rPr>
                            <a:rPr lang="en-US" sz="2025">
                              <a:solidFill>
                                <a:srgbClr val="263746"/>
                              </a:solidFill>
                              <a:latin typeface="Cambria Math"/>
                              <a:ea typeface="Cambria Math"/>
                              <a:cs typeface="Cambria Math"/>
                            </a:rPr>
                            <m:t>ReLU</m:t>
                          </m:r>
                          <m:d>
                            <m:dPr>
                              <m:ctrlPr>
                                <a:rPr lang="en-US" sz="2025" i="1">
                                  <a:solidFill>
                                    <a:srgbClr val="263746"/>
                                  </a:solidFill>
                                  <a:latin typeface="Cambria Math" panose="02040503050406030204" pitchFamily="18" charset="0"/>
                                  <a:ea typeface="Cambria Math"/>
                                  <a:cs typeface="Cambria Math"/>
                                </a:rPr>
                              </m:ctrlPr>
                            </m:dPr>
                            <m:e>
                              <m:sSubSup>
                                <m:sSubSupPr>
                                  <m:ctrlPr>
                                    <a:rPr lang="en-US" sz="2025" i="1">
                                      <a:solidFill>
                                        <a:srgbClr val="263746"/>
                                      </a:solidFill>
                                      <a:latin typeface="Cambria Math" panose="02040503050406030204" pitchFamily="18" charset="0"/>
                                      <a:ea typeface="Cambria Math"/>
                                      <a:cs typeface="Cambria Math"/>
                                    </a:rPr>
                                  </m:ctrlPr>
                                </m:sSubSupPr>
                                <m:e>
                                  <m:r>
                                    <a:rPr lang="en-US" sz="2025" i="1">
                                      <a:solidFill>
                                        <a:srgbClr val="263746"/>
                                      </a:solidFill>
                                      <a:latin typeface="Cambria Math"/>
                                      <a:ea typeface="Cambria Math"/>
                                      <a:cs typeface="Cambria Math"/>
                                    </a:rPr>
                                    <m:t>𝑊</m:t>
                                  </m:r>
                                </m:e>
                                <m:sub>
                                  <m:r>
                                    <m:rPr>
                                      <m:nor/>
                                    </m:rPr>
                                    <a:rPr lang="en-US" sz="2025">
                                      <a:solidFill>
                                        <a:srgbClr val="263746"/>
                                      </a:solidFill>
                                      <a:latin typeface="Cambria Math"/>
                                      <a:ea typeface="Cambria Math"/>
                                      <a:cs typeface="Cambria Math"/>
                                    </a:rPr>
                                    <m:t>upd</m:t>
                                  </m:r>
                                </m:sub>
                                <m:sup>
                                  <m:d>
                                    <m:dPr>
                                      <m:ctrlPr>
                                        <a:rPr lang="en-US" sz="2025" i="1">
                                          <a:solidFill>
                                            <a:srgbClr val="263746"/>
                                          </a:solidFill>
                                          <a:latin typeface="Cambria Math" panose="02040503050406030204" pitchFamily="18" charset="0"/>
                                          <a:ea typeface="Cambria Math"/>
                                          <a:cs typeface="Cambria Math"/>
                                        </a:rPr>
                                      </m:ctrlPr>
                                    </m:dPr>
                                    <m:e>
                                      <m:r>
                                        <a:rPr lang="en-US" sz="2025" i="1">
                                          <a:solidFill>
                                            <a:srgbClr val="263746"/>
                                          </a:solidFill>
                                          <a:latin typeface="Cambria Math"/>
                                          <a:ea typeface="Cambria Math"/>
                                          <a:cs typeface="Cambria Math"/>
                                        </a:rPr>
                                        <m:t>ℓ</m:t>
                                      </m:r>
                                    </m:e>
                                  </m:d>
                                </m:sup>
                              </m:sSubSup>
                              <m:d>
                                <m:dPr>
                                  <m:begChr m:val="["/>
                                  <m:endChr m:val="]"/>
                                  <m:ctrlPr>
                                    <a:rPr lang="en-US" sz="2025" i="1">
                                      <a:solidFill>
                                        <a:srgbClr val="263746"/>
                                      </a:solidFill>
                                      <a:latin typeface="Cambria Math" panose="02040503050406030204" pitchFamily="18" charset="0"/>
                                      <a:ea typeface="Cambria Math"/>
                                      <a:cs typeface="Cambria Math"/>
                                    </a:rPr>
                                  </m:ctrlPr>
                                </m:dPr>
                                <m:e>
                                  <m:sSubSup>
                                    <m:sSubSupPr>
                                      <m:ctrlPr>
                                        <a:rPr lang="en-US" sz="2025" i="1">
                                          <a:solidFill>
                                            <a:srgbClr val="263746"/>
                                          </a:solidFill>
                                          <a:latin typeface="Cambria Math" panose="02040503050406030204" pitchFamily="18" charset="0"/>
                                          <a:ea typeface="Cambria Math"/>
                                          <a:cs typeface="Cambria Math"/>
                                        </a:rPr>
                                      </m:ctrlPr>
                                    </m:sSubSupPr>
                                    <m:e>
                                      <m:r>
                                        <a:rPr lang="en-US" sz="2025" b="1" i="1">
                                          <a:solidFill>
                                            <a:srgbClr val="263746"/>
                                          </a:solidFill>
                                          <a:latin typeface="Cambria Math"/>
                                          <a:ea typeface="Cambria Math"/>
                                          <a:cs typeface="Cambria Math"/>
                                        </a:rPr>
                                        <m:t>h</m:t>
                                      </m:r>
                                    </m:e>
                                    <m:sub>
                                      <m:r>
                                        <a:rPr lang="en-US" sz="2025" i="1">
                                          <a:solidFill>
                                            <a:srgbClr val="263746"/>
                                          </a:solidFill>
                                          <a:latin typeface="Cambria Math"/>
                                          <a:ea typeface="Cambria Math"/>
                                          <a:cs typeface="Cambria Math"/>
                                        </a:rPr>
                                        <m:t>𝑣</m:t>
                                      </m:r>
                                    </m:sub>
                                    <m:sup>
                                      <m:d>
                                        <m:dPr>
                                          <m:ctrlPr>
                                            <a:rPr lang="en-US" sz="2025" i="1">
                                              <a:solidFill>
                                                <a:srgbClr val="263746"/>
                                              </a:solidFill>
                                              <a:latin typeface="Cambria Math" panose="02040503050406030204" pitchFamily="18" charset="0"/>
                                              <a:ea typeface="Cambria Math"/>
                                              <a:cs typeface="Cambria Math"/>
                                            </a:rPr>
                                          </m:ctrlPr>
                                        </m:dPr>
                                        <m:e>
                                          <m:r>
                                            <a:rPr lang="en-US" sz="2025" i="1">
                                              <a:solidFill>
                                                <a:srgbClr val="263746"/>
                                              </a:solidFill>
                                              <a:latin typeface="Cambria Math"/>
                                              <a:ea typeface="Cambria Math"/>
                                              <a:cs typeface="Cambria Math"/>
                                            </a:rPr>
                                            <m:t>ℓ</m:t>
                                          </m:r>
                                        </m:e>
                                      </m:d>
                                    </m:sup>
                                  </m:sSubSup>
                                  <m:r>
                                    <m:rPr>
                                      <m:nor/>
                                    </m:rPr>
                                    <a:rPr lang="en-US" sz="2025">
                                      <a:solidFill>
                                        <a:srgbClr val="263746"/>
                                      </a:solidFill>
                                      <a:latin typeface="Cambria Math"/>
                                      <a:ea typeface="Cambria Math"/>
                                      <a:cs typeface="Cambria Math"/>
                                    </a:rPr>
                                    <m:t>∥</m:t>
                                  </m:r>
                                  <m:sSubSup>
                                    <m:sSubSupPr>
                                      <m:ctrlPr>
                                        <a:rPr lang="en-US" sz="2025" i="1">
                                          <a:solidFill>
                                            <a:srgbClr val="263746"/>
                                          </a:solidFill>
                                          <a:latin typeface="Cambria Math" panose="02040503050406030204" pitchFamily="18" charset="0"/>
                                          <a:ea typeface="Cambria Math"/>
                                          <a:cs typeface="Cambria Math"/>
                                        </a:rPr>
                                      </m:ctrlPr>
                                    </m:sSubSupPr>
                                    <m:e>
                                      <m:r>
                                        <a:rPr lang="en-US" sz="2025" b="1" i="1">
                                          <a:solidFill>
                                            <a:srgbClr val="263746"/>
                                          </a:solidFill>
                                          <a:latin typeface="Cambria Math"/>
                                          <a:ea typeface="Cambria Math"/>
                                          <a:cs typeface="Cambria Math"/>
                                        </a:rPr>
                                        <m:t>𝑎</m:t>
                                      </m:r>
                                    </m:e>
                                    <m:sub>
                                      <m:r>
                                        <a:rPr lang="en-US" sz="2025" i="1">
                                          <a:solidFill>
                                            <a:srgbClr val="263746"/>
                                          </a:solidFill>
                                          <a:latin typeface="Cambria Math"/>
                                          <a:ea typeface="Cambria Math"/>
                                          <a:cs typeface="Cambria Math"/>
                                        </a:rPr>
                                        <m:t>𝑣</m:t>
                                      </m:r>
                                    </m:sub>
                                    <m:sup>
                                      <m:d>
                                        <m:dPr>
                                          <m:ctrlPr>
                                            <a:rPr lang="en-US" sz="2025" i="1">
                                              <a:solidFill>
                                                <a:srgbClr val="263746"/>
                                              </a:solidFill>
                                              <a:latin typeface="Cambria Math" panose="02040503050406030204" pitchFamily="18" charset="0"/>
                                              <a:ea typeface="Cambria Math"/>
                                              <a:cs typeface="Cambria Math"/>
                                            </a:rPr>
                                          </m:ctrlPr>
                                        </m:dPr>
                                        <m:e>
                                          <m:r>
                                            <a:rPr lang="en-US" sz="2025" i="1">
                                              <a:solidFill>
                                                <a:srgbClr val="263746"/>
                                              </a:solidFill>
                                              <a:latin typeface="Cambria Math"/>
                                              <a:ea typeface="Cambria Math"/>
                                              <a:cs typeface="Cambria Math"/>
                                            </a:rPr>
                                            <m:t>ℓ</m:t>
                                          </m:r>
                                        </m:e>
                                      </m:d>
                                    </m:sup>
                                  </m:sSubSup>
                                </m:e>
                              </m:d>
                              <m:r>
                                <m:rPr>
                                  <m:nor/>
                                </m:rPr>
                                <a:rPr lang="en-US" sz="2025">
                                  <a:solidFill>
                                    <a:srgbClr val="263746"/>
                                  </a:solidFill>
                                  <a:latin typeface="Cambria Math"/>
                                  <a:ea typeface="Cambria Math"/>
                                  <a:cs typeface="Cambria Math"/>
                                </a:rPr>
                                <m:t> + </m:t>
                              </m:r>
                              <m:sSubSup>
                                <m:sSubSupPr>
                                  <m:ctrlPr>
                                    <a:rPr lang="en-US" sz="2025" i="1">
                                      <a:solidFill>
                                        <a:srgbClr val="263746"/>
                                      </a:solidFill>
                                      <a:latin typeface="Cambria Math" panose="02040503050406030204" pitchFamily="18" charset="0"/>
                                      <a:ea typeface="Cambria Math"/>
                                      <a:cs typeface="Cambria Math"/>
                                    </a:rPr>
                                  </m:ctrlPr>
                                </m:sSubSupPr>
                                <m:e>
                                  <m:r>
                                    <a:rPr lang="en-US" sz="2025" b="1" i="1">
                                      <a:solidFill>
                                        <a:srgbClr val="263746"/>
                                      </a:solidFill>
                                      <a:latin typeface="Cambria Math"/>
                                      <a:ea typeface="Cambria Math"/>
                                      <a:cs typeface="Cambria Math"/>
                                    </a:rPr>
                                    <m:t>𝑏</m:t>
                                  </m:r>
                                </m:e>
                                <m:sub>
                                  <m:r>
                                    <m:rPr>
                                      <m:nor/>
                                    </m:rPr>
                                    <a:rPr lang="en-US" sz="2025">
                                      <a:solidFill>
                                        <a:srgbClr val="263746"/>
                                      </a:solidFill>
                                      <a:latin typeface="Cambria Math"/>
                                      <a:ea typeface="Cambria Math"/>
                                      <a:cs typeface="Cambria Math"/>
                                    </a:rPr>
                                    <m:t>upd</m:t>
                                  </m:r>
                                </m:sub>
                                <m:sup>
                                  <m:d>
                                    <m:dPr>
                                      <m:ctrlPr>
                                        <a:rPr lang="en-US" sz="2025" i="1">
                                          <a:solidFill>
                                            <a:srgbClr val="263746"/>
                                          </a:solidFill>
                                          <a:latin typeface="Cambria Math" panose="02040503050406030204" pitchFamily="18" charset="0"/>
                                          <a:ea typeface="Cambria Math"/>
                                          <a:cs typeface="Cambria Math"/>
                                        </a:rPr>
                                      </m:ctrlPr>
                                    </m:dPr>
                                    <m:e>
                                      <m:r>
                                        <a:rPr lang="en-US" sz="2025" i="1">
                                          <a:solidFill>
                                            <a:srgbClr val="263746"/>
                                          </a:solidFill>
                                          <a:latin typeface="Cambria Math"/>
                                          <a:ea typeface="Cambria Math"/>
                                          <a:cs typeface="Cambria Math"/>
                                        </a:rPr>
                                        <m:t>ℓ</m:t>
                                      </m:r>
                                    </m:e>
                                  </m:d>
                                </m:sup>
                              </m:sSubSup>
                            </m:e>
                          </m:d>
                        </m:e>
                      </m:d>
                    </m:oMath>
                  </m:oMathPara>
                </a14:m>
                <a:endParaRPr sz="2025" dirty="0"/>
              </a:p>
            </p:txBody>
          </p:sp>
        </mc:Choice>
        <mc:Fallback xmlns="">
          <p:sp>
            <p:nvSpPr>
              <p:cNvPr id="19" name="EQ_UPDATE">
                <a:extLst>
                  <a:ext uri="{FF2B5EF4-FFF2-40B4-BE49-F238E27FC236}">
                    <a16:creationId xmlns:a16="http://schemas.microsoft.com/office/drawing/2014/main" id="{DE07AA06-B839-4476-B903-4F162E228A42}"/>
                  </a:ext>
                </a:extLst>
              </p:cNvPr>
              <p:cNvSpPr>
                <a:spLocks noGrp="1" noRot="1" noChangeAspect="1" noMove="1" noResize="1" noEditPoints="1" noAdjustHandles="1" noChangeArrowheads="1" noChangeShapeType="1" noTextEdit="1"/>
              </p:cNvSpPr>
              <p:nvPr/>
            </p:nvSpPr>
            <p:spPr>
              <a:xfrm>
                <a:off x="4086225" y="3924300"/>
                <a:ext cx="7553325" cy="800100"/>
              </a:xfrm>
              <a:prstGeom prst="rect">
                <a:avLst/>
              </a:prstGeom>
              <a:blipFill>
                <a:blip r:embed="rId6"/>
                <a:stretch>
                  <a:fillRect/>
                </a:stretch>
              </a:blipFill>
              <a:ln w="0">
                <a:noFill/>
              </a:ln>
            </p:spPr>
            <p:txBody>
              <a:bodyPr/>
              <a:lstStyle/>
              <a:p>
                <a:r>
                  <a:rPr lang="en-US">
                    <a:noFill/>
                  </a:rPr>
                  <a:t> </a:t>
                </a:r>
              </a:p>
            </p:txBody>
          </p:sp>
        </mc:Fallback>
      </mc:AlternateContent>
      <p:sp>
        <p:nvSpPr>
          <p:cNvPr id="20" name="Notation">
            <a:extLst>
              <a:ext uri="{FF2B5EF4-FFF2-40B4-BE49-F238E27FC236}">
                <a16:creationId xmlns:a16="http://schemas.microsoft.com/office/drawing/2014/main" id="{CAEE1D36-282E-417A-9568-44A047C415EF}"/>
              </a:ext>
            </a:extLst>
          </p:cNvPr>
          <p:cNvSpPr>
            <a:spLocks noGrp="1"/>
          </p:cNvSpPr>
          <p:nvPr/>
        </p:nvSpPr>
        <p:spPr>
          <a:xfrm>
            <a:off x="552450" y="4876800"/>
            <a:ext cx="11087100" cy="304800"/>
          </a:xfrm>
          <a:prstGeom prst="rect">
            <a:avLst/>
          </a:prstGeom>
          <a:noFill/>
          <a:ln w="0">
            <a:noFill/>
          </a:ln>
        </p:spPr>
        <p:txBody>
          <a:bodyPr wrap="square" lIns="38100" tIns="19050" rIns="38100" bIns="19050" anchor="ctr">
            <a:noAutofit/>
          </a:bodyPr>
          <a:lstStyle/>
          <a:p>
            <a:pPr algn="l">
              <a:defRPr sz="1238" b="0">
                <a:solidFill>
                  <a:srgbClr val="617080"/>
                </a:solidFill>
                <a:latin typeface="Arial"/>
                <a:ea typeface="Arial"/>
                <a:cs typeface="Arial"/>
              </a:defRPr>
            </a:pPr>
            <a:r>
              <a:rPr sz="1238" b="0" dirty="0">
                <a:solidFill>
                  <a:srgbClr val="617080"/>
                </a:solidFill>
                <a:latin typeface="Arial"/>
                <a:ea typeface="Arial"/>
                <a:cs typeface="Arial"/>
              </a:rPr>
              <a:t>ℓ: </a:t>
            </a:r>
            <a:r>
              <a:rPr sz="1238" b="0" dirty="0" err="1">
                <a:solidFill>
                  <a:srgbClr val="617080"/>
                </a:solidFill>
                <a:latin typeface="Arial"/>
                <a:ea typeface="Arial"/>
                <a:cs typeface="Arial"/>
              </a:rPr>
              <a:t>слој</a:t>
            </a:r>
            <a:r>
              <a:rPr sz="1238" b="0" dirty="0">
                <a:solidFill>
                  <a:srgbClr val="617080"/>
                </a:solidFill>
                <a:latin typeface="Arial"/>
                <a:ea typeface="Arial"/>
                <a:cs typeface="Arial"/>
              </a:rPr>
              <a:t>     ∥: </a:t>
            </a:r>
            <a:r>
              <a:rPr sz="1238" b="0" dirty="0" err="1">
                <a:solidFill>
                  <a:srgbClr val="617080"/>
                </a:solidFill>
                <a:latin typeface="Arial"/>
                <a:ea typeface="Arial"/>
                <a:cs typeface="Arial"/>
              </a:rPr>
              <a:t>спојување</a:t>
            </a:r>
            <a:r>
              <a:rPr sz="1238" b="0" dirty="0">
                <a:solidFill>
                  <a:srgbClr val="617080"/>
                </a:solidFill>
                <a:latin typeface="Arial"/>
                <a:ea typeface="Arial"/>
                <a:cs typeface="Arial"/>
              </a:rPr>
              <a:t>     W, b: </a:t>
            </a:r>
            <a:r>
              <a:rPr sz="1238" b="0" dirty="0" err="1">
                <a:solidFill>
                  <a:srgbClr val="617080"/>
                </a:solidFill>
                <a:latin typeface="Arial"/>
                <a:ea typeface="Arial"/>
                <a:cs typeface="Arial"/>
              </a:rPr>
              <a:t>научени</a:t>
            </a:r>
            <a:r>
              <a:rPr sz="1238" b="0" dirty="0">
                <a:solidFill>
                  <a:srgbClr val="617080"/>
                </a:solidFill>
                <a:latin typeface="Arial"/>
                <a:ea typeface="Arial"/>
                <a:cs typeface="Arial"/>
              </a:rPr>
              <a:t> </a:t>
            </a:r>
            <a:r>
              <a:rPr sz="1238" b="0" dirty="0" err="1">
                <a:solidFill>
                  <a:srgbClr val="617080"/>
                </a:solidFill>
                <a:latin typeface="Arial"/>
                <a:ea typeface="Arial"/>
                <a:cs typeface="Arial"/>
              </a:rPr>
              <a:t>параметри</a:t>
            </a:r>
            <a:endParaRPr sz="1238" b="0" dirty="0">
              <a:solidFill>
                <a:srgbClr val="617080"/>
              </a:solidFill>
              <a:latin typeface="Arial"/>
              <a:ea typeface="Arial"/>
              <a:cs typeface="Arial"/>
            </a:endParaRPr>
          </a:p>
        </p:txBody>
      </p:sp>
      <p:sp>
        <p:nvSpPr>
          <p:cNvPr id="21" name="GNN takeaway">
            <a:extLst>
              <a:ext uri="{FF2B5EF4-FFF2-40B4-BE49-F238E27FC236}">
                <a16:creationId xmlns:a16="http://schemas.microsoft.com/office/drawing/2014/main" id="{EBA07D02-3BDD-4468-9534-A1DF77C2B2B4}"/>
              </a:ext>
            </a:extLst>
          </p:cNvPr>
          <p:cNvSpPr>
            <a:spLocks noGrp="1"/>
          </p:cNvSpPr>
          <p:nvPr/>
        </p:nvSpPr>
        <p:spPr>
          <a:xfrm>
            <a:off x="685800" y="5457825"/>
            <a:ext cx="10820400" cy="542925"/>
          </a:xfrm>
          <a:prstGeom prst="rect">
            <a:avLst/>
          </a:prstGeom>
          <a:noFill/>
          <a:ln w="0">
            <a:noFill/>
          </a:ln>
        </p:spPr>
        <p:txBody>
          <a:bodyPr wrap="square" lIns="38100" tIns="19050" rIns="38100" bIns="19050" anchor="ctr">
            <a:noAutofit/>
          </a:bodyPr>
          <a:lstStyle/>
          <a:p>
            <a:pPr algn="ctr">
              <a:defRPr sz="1538" b="1">
                <a:solidFill>
                  <a:srgbClr val="263746"/>
                </a:solidFill>
                <a:latin typeface="Arial"/>
                <a:ea typeface="Arial"/>
                <a:cs typeface="Arial"/>
              </a:defRPr>
            </a:pPr>
            <a:r>
              <a:rPr sz="1538" b="1" dirty="0" err="1">
                <a:solidFill>
                  <a:srgbClr val="263746"/>
                </a:solidFill>
                <a:latin typeface="Arial"/>
                <a:ea typeface="Arial"/>
                <a:cs typeface="Arial"/>
              </a:rPr>
              <a:t>Со</a:t>
            </a:r>
            <a:r>
              <a:rPr sz="1538" b="1" dirty="0">
                <a:solidFill>
                  <a:srgbClr val="263746"/>
                </a:solidFill>
                <a:latin typeface="Arial"/>
                <a:ea typeface="Arial"/>
                <a:cs typeface="Arial"/>
              </a:rPr>
              <a:t> </a:t>
            </a:r>
            <a:r>
              <a:rPr sz="1538" b="1" dirty="0" err="1">
                <a:solidFill>
                  <a:srgbClr val="263746"/>
                </a:solidFill>
                <a:latin typeface="Arial"/>
                <a:ea typeface="Arial"/>
                <a:cs typeface="Arial"/>
              </a:rPr>
              <a:t>повеќе</a:t>
            </a:r>
            <a:r>
              <a:rPr sz="1538" b="1" dirty="0">
                <a:solidFill>
                  <a:srgbClr val="263746"/>
                </a:solidFill>
                <a:latin typeface="Arial"/>
                <a:ea typeface="Arial"/>
                <a:cs typeface="Arial"/>
              </a:rPr>
              <a:t> </a:t>
            </a:r>
            <a:r>
              <a:rPr sz="1538" b="1" dirty="0" err="1">
                <a:solidFill>
                  <a:srgbClr val="263746"/>
                </a:solidFill>
                <a:latin typeface="Arial"/>
                <a:ea typeface="Arial"/>
                <a:cs typeface="Arial"/>
              </a:rPr>
              <a:t>слоеви</a:t>
            </a:r>
            <a:r>
              <a:rPr sz="1538" b="1" dirty="0">
                <a:solidFill>
                  <a:srgbClr val="263746"/>
                </a:solidFill>
                <a:latin typeface="Arial"/>
                <a:ea typeface="Arial"/>
                <a:cs typeface="Arial"/>
              </a:rPr>
              <a:t>, </a:t>
            </a:r>
            <a:r>
              <a:rPr sz="1538" b="1" dirty="0" err="1">
                <a:solidFill>
                  <a:srgbClr val="263746"/>
                </a:solidFill>
                <a:latin typeface="Arial"/>
                <a:ea typeface="Arial"/>
                <a:cs typeface="Arial"/>
              </a:rPr>
              <a:t>јазолот</a:t>
            </a:r>
            <a:r>
              <a:rPr sz="1538" b="1" dirty="0">
                <a:solidFill>
                  <a:srgbClr val="263746"/>
                </a:solidFill>
                <a:latin typeface="Arial"/>
                <a:ea typeface="Arial"/>
                <a:cs typeface="Arial"/>
              </a:rPr>
              <a:t> </a:t>
            </a:r>
            <a:r>
              <a:rPr sz="1538" b="1" dirty="0" err="1">
                <a:solidFill>
                  <a:srgbClr val="263746"/>
                </a:solidFill>
                <a:latin typeface="Arial"/>
                <a:ea typeface="Arial"/>
                <a:cs typeface="Arial"/>
              </a:rPr>
              <a:t>добива</a:t>
            </a:r>
            <a:r>
              <a:rPr sz="1538" b="1" dirty="0">
                <a:solidFill>
                  <a:srgbClr val="263746"/>
                </a:solidFill>
                <a:latin typeface="Arial"/>
                <a:ea typeface="Arial"/>
                <a:cs typeface="Arial"/>
              </a:rPr>
              <a:t> </a:t>
            </a:r>
            <a:r>
              <a:rPr sz="1538" b="1" dirty="0" err="1">
                <a:solidFill>
                  <a:srgbClr val="263746"/>
                </a:solidFill>
                <a:latin typeface="Arial"/>
                <a:ea typeface="Arial"/>
                <a:cs typeface="Arial"/>
              </a:rPr>
              <a:t>информации</a:t>
            </a:r>
            <a:r>
              <a:rPr sz="1538" b="1" dirty="0">
                <a:solidFill>
                  <a:srgbClr val="263746"/>
                </a:solidFill>
                <a:latin typeface="Arial"/>
                <a:ea typeface="Arial"/>
                <a:cs typeface="Arial"/>
              </a:rPr>
              <a:t> </a:t>
            </a:r>
            <a:r>
              <a:rPr sz="1538" b="1" dirty="0" err="1">
                <a:solidFill>
                  <a:srgbClr val="263746"/>
                </a:solidFill>
                <a:latin typeface="Arial"/>
                <a:ea typeface="Arial"/>
                <a:cs typeface="Arial"/>
              </a:rPr>
              <a:t>од</a:t>
            </a:r>
            <a:r>
              <a:rPr sz="1538" b="1" dirty="0">
                <a:solidFill>
                  <a:srgbClr val="263746"/>
                </a:solidFill>
                <a:latin typeface="Arial"/>
                <a:ea typeface="Arial"/>
                <a:cs typeface="Arial"/>
              </a:rPr>
              <a:t> </a:t>
            </a:r>
            <a:r>
              <a:rPr sz="1538" b="1" dirty="0" err="1">
                <a:solidFill>
                  <a:srgbClr val="263746"/>
                </a:solidFill>
                <a:latin typeface="Arial"/>
                <a:ea typeface="Arial"/>
                <a:cs typeface="Arial"/>
              </a:rPr>
              <a:t>подалечни</a:t>
            </a:r>
            <a:r>
              <a:rPr sz="1538" b="1" dirty="0">
                <a:solidFill>
                  <a:srgbClr val="263746"/>
                </a:solidFill>
                <a:latin typeface="Arial"/>
                <a:ea typeface="Arial"/>
                <a:cs typeface="Arial"/>
              </a:rPr>
              <a:t> </a:t>
            </a:r>
            <a:r>
              <a:rPr sz="1538" b="1" dirty="0" err="1">
                <a:solidFill>
                  <a:srgbClr val="263746"/>
                </a:solidFill>
                <a:latin typeface="Arial"/>
                <a:ea typeface="Arial"/>
                <a:cs typeface="Arial"/>
              </a:rPr>
              <a:t>соседи</a:t>
            </a:r>
            <a:r>
              <a:rPr sz="1538" b="1" dirty="0">
                <a:solidFill>
                  <a:srgbClr val="263746"/>
                </a:solidFill>
                <a:latin typeface="Arial"/>
                <a:ea typeface="Arial"/>
                <a:cs typeface="Arial"/>
              </a:rPr>
              <a:t>.</a:t>
            </a:r>
          </a:p>
          <a:p>
            <a:pPr algn="ctr">
              <a:defRPr sz="1538" b="1">
                <a:solidFill>
                  <a:srgbClr val="263746"/>
                </a:solidFill>
                <a:latin typeface="Arial"/>
                <a:ea typeface="Arial"/>
                <a:cs typeface="Arial"/>
              </a:defRPr>
            </a:pPr>
            <a:r>
              <a:rPr sz="1538" b="1" dirty="0" err="1">
                <a:solidFill>
                  <a:srgbClr val="263746"/>
                </a:solidFill>
                <a:latin typeface="Arial"/>
                <a:ea typeface="Arial"/>
                <a:cs typeface="Arial"/>
              </a:rPr>
              <a:t>Архитектурите</a:t>
            </a:r>
            <a:r>
              <a:rPr sz="1538" b="1" dirty="0">
                <a:solidFill>
                  <a:srgbClr val="263746"/>
                </a:solidFill>
                <a:latin typeface="Arial"/>
                <a:ea typeface="Arial"/>
                <a:cs typeface="Arial"/>
              </a:rPr>
              <a:t> </a:t>
            </a:r>
            <a:r>
              <a:rPr sz="1538" b="1" dirty="0" err="1">
                <a:solidFill>
                  <a:srgbClr val="263746"/>
                </a:solidFill>
                <a:latin typeface="Arial"/>
                <a:ea typeface="Arial"/>
                <a:cs typeface="Arial"/>
              </a:rPr>
              <a:t>се</a:t>
            </a:r>
            <a:r>
              <a:rPr sz="1538" b="1" dirty="0">
                <a:solidFill>
                  <a:srgbClr val="263746"/>
                </a:solidFill>
                <a:latin typeface="Arial"/>
                <a:ea typeface="Arial"/>
                <a:cs typeface="Arial"/>
              </a:rPr>
              <a:t> </a:t>
            </a:r>
            <a:r>
              <a:rPr sz="1538" b="1" dirty="0" err="1">
                <a:solidFill>
                  <a:srgbClr val="263746"/>
                </a:solidFill>
                <a:latin typeface="Arial"/>
                <a:ea typeface="Arial"/>
                <a:cs typeface="Arial"/>
              </a:rPr>
              <a:t>разликуваат</a:t>
            </a:r>
            <a:r>
              <a:rPr sz="1538" b="1" dirty="0">
                <a:solidFill>
                  <a:srgbClr val="263746"/>
                </a:solidFill>
                <a:latin typeface="Arial"/>
                <a:ea typeface="Arial"/>
                <a:cs typeface="Arial"/>
              </a:rPr>
              <a:t> </a:t>
            </a:r>
            <a:r>
              <a:rPr sz="1538" b="1" dirty="0" err="1">
                <a:solidFill>
                  <a:srgbClr val="263746"/>
                </a:solidFill>
                <a:latin typeface="Arial"/>
                <a:ea typeface="Arial"/>
                <a:cs typeface="Arial"/>
              </a:rPr>
              <a:t>во</a:t>
            </a:r>
            <a:r>
              <a:rPr sz="1538" b="1" dirty="0">
                <a:solidFill>
                  <a:srgbClr val="263746"/>
                </a:solidFill>
                <a:latin typeface="Arial"/>
                <a:ea typeface="Arial"/>
                <a:cs typeface="Arial"/>
              </a:rPr>
              <a:t> </a:t>
            </a:r>
            <a:r>
              <a:rPr lang="mk-MK" sz="1538" b="1" dirty="0">
                <a:solidFill>
                  <a:srgbClr val="263746"/>
                </a:solidFill>
                <a:latin typeface="Arial"/>
                <a:ea typeface="Arial"/>
                <a:cs typeface="Arial"/>
              </a:rPr>
              <a:t>иницијализацијата</a:t>
            </a:r>
            <a:r>
              <a:rPr sz="1538" b="1" dirty="0">
                <a:solidFill>
                  <a:srgbClr val="263746"/>
                </a:solidFill>
                <a:latin typeface="Arial"/>
                <a:ea typeface="Arial"/>
                <a:cs typeface="Arial"/>
              </a:rPr>
              <a:t>, </a:t>
            </a:r>
            <a:r>
              <a:rPr lang="mk-MK" sz="1538" b="1" dirty="0">
                <a:solidFill>
                  <a:srgbClr val="263746"/>
                </a:solidFill>
                <a:latin typeface="Arial"/>
                <a:ea typeface="Arial"/>
                <a:cs typeface="Arial"/>
              </a:rPr>
              <a:t>преносот на пораки, </a:t>
            </a:r>
            <a:r>
              <a:rPr sz="1538" b="1" dirty="0" err="1">
                <a:solidFill>
                  <a:srgbClr val="263746"/>
                </a:solidFill>
                <a:latin typeface="Arial"/>
                <a:ea typeface="Arial"/>
                <a:cs typeface="Arial"/>
              </a:rPr>
              <a:t>агрегацијата</a:t>
            </a:r>
            <a:r>
              <a:rPr sz="1538" b="1" dirty="0">
                <a:solidFill>
                  <a:srgbClr val="263746"/>
                </a:solidFill>
                <a:latin typeface="Arial"/>
                <a:ea typeface="Arial"/>
                <a:cs typeface="Arial"/>
              </a:rPr>
              <a:t> </a:t>
            </a:r>
            <a:r>
              <a:rPr sz="1538" b="1" dirty="0" err="1">
                <a:solidFill>
                  <a:srgbClr val="263746"/>
                </a:solidFill>
                <a:latin typeface="Arial"/>
                <a:ea typeface="Arial"/>
                <a:cs typeface="Arial"/>
              </a:rPr>
              <a:t>и</a:t>
            </a:r>
            <a:r>
              <a:rPr sz="1538" b="1" dirty="0">
                <a:solidFill>
                  <a:srgbClr val="263746"/>
                </a:solidFill>
                <a:latin typeface="Arial"/>
                <a:ea typeface="Arial"/>
                <a:cs typeface="Arial"/>
              </a:rPr>
              <a:t> </a:t>
            </a:r>
            <a:r>
              <a:rPr sz="1538" b="1" dirty="0" err="1">
                <a:solidFill>
                  <a:srgbClr val="263746"/>
                </a:solidFill>
                <a:latin typeface="Arial"/>
                <a:ea typeface="Arial"/>
                <a:cs typeface="Arial"/>
              </a:rPr>
              <a:t>ажурирањето</a:t>
            </a:r>
            <a:r>
              <a:rPr sz="1538" b="1" dirty="0">
                <a:solidFill>
                  <a:srgbClr val="263746"/>
                </a:solidFill>
                <a:latin typeface="Arial"/>
                <a:ea typeface="Arial"/>
                <a:cs typeface="Arial"/>
              </a:rPr>
              <a:t>.</a:t>
            </a:r>
          </a:p>
        </p:txBody>
      </p:sp>
      <p:sp>
        <p:nvSpPr>
          <p:cNvPr id="23" name="Slide number">
            <a:extLst>
              <a:ext uri="{FF2B5EF4-FFF2-40B4-BE49-F238E27FC236}">
                <a16:creationId xmlns:a16="http://schemas.microsoft.com/office/drawing/2014/main" id="{E6149557-CE53-4064-BAE4-DFABE88F3E58}"/>
              </a:ext>
            </a:extLst>
          </p:cNvPr>
          <p:cNvSpPr>
            <a:spLocks noGrp="1"/>
          </p:cNvSpPr>
          <p:nvPr/>
        </p:nvSpPr>
        <p:spPr>
          <a:xfrm>
            <a:off x="11315700" y="6486525"/>
            <a:ext cx="323850" cy="228600"/>
          </a:xfrm>
          <a:prstGeom prst="rect">
            <a:avLst/>
          </a:prstGeom>
          <a:noFill/>
          <a:ln w="0">
            <a:noFill/>
          </a:ln>
        </p:spPr>
        <p:txBody>
          <a:bodyPr wrap="square" lIns="38100" tIns="19050" rIns="38100" bIns="19050" anchor="b">
            <a:noAutofit/>
          </a:bodyPr>
          <a:lstStyle/>
          <a:p>
            <a:pPr algn="r">
              <a:defRPr sz="900" b="0">
                <a:solidFill>
                  <a:srgbClr val="617080"/>
                </a:solidFill>
                <a:latin typeface="Arial"/>
                <a:ea typeface="Arial"/>
                <a:cs typeface="Arial"/>
              </a:defRPr>
            </a:pPr>
            <a:r>
              <a:rPr sz="900" b="0">
                <a:solidFill>
                  <a:srgbClr val="617080"/>
                </a:solidFill>
                <a:latin typeface="Arial"/>
                <a:ea typeface="Arial"/>
                <a:cs typeface="Arial"/>
              </a:rPr>
              <a:t>8</a:t>
            </a:r>
          </a:p>
        </p:txBody>
      </p:sp>
    </p:spTree>
    <p:extLst>
      <p:ext uri="{BB962C8B-B14F-4D97-AF65-F5344CB8AC3E}">
        <p14:creationId xmlns:p14="http://schemas.microsoft.com/office/powerpoint/2010/main" val="14832551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C1A15A17-40D3-4EDB-B249-7E5849DBE829}"/>
              </a:ext>
            </a:extLst>
          </p:cNvPr>
          <p:cNvSpPr>
            <a:spLocks noGrp="1"/>
          </p:cNvSpPr>
          <p:nvPr/>
        </p:nvSpPr>
        <p:spPr>
          <a:xfrm>
            <a:off x="552450" y="209550"/>
            <a:ext cx="10763250" cy="523875"/>
          </a:xfrm>
          <a:prstGeom prst="rect">
            <a:avLst/>
          </a:prstGeom>
          <a:noFill/>
          <a:ln w="0">
            <a:noFill/>
            <a:prstDash val="solid"/>
          </a:ln>
        </p:spPr>
        <p:txBody>
          <a:bodyPr wrap="square" lIns="38100" tIns="19050" rIns="38100" bIns="19050" anchor="ctr">
            <a:normAutofit/>
          </a:bodyPr>
          <a:lstStyle/>
          <a:p>
            <a:pPr algn="l">
              <a:defRPr sz="2325" b="1" i="0">
                <a:solidFill>
                  <a:srgbClr val="263746"/>
                </a:solidFill>
                <a:latin typeface="Arial"/>
                <a:ea typeface="Arial"/>
                <a:cs typeface="Arial"/>
              </a:defRPr>
            </a:pPr>
            <a:r>
              <a:rPr sz="2325" b="1" i="0">
                <a:solidFill>
                  <a:srgbClr val="263746"/>
                </a:solidFill>
                <a:latin typeface="Arial"/>
                <a:ea typeface="Arial"/>
                <a:cs typeface="Arial"/>
              </a:rPr>
              <a:t>GraphSAGE и Advance GraphSAGE</a:t>
            </a:r>
          </a:p>
        </p:txBody>
      </p:sp>
      <p:sp>
        <p:nvSpPr>
          <p:cNvPr id="2" name="Rectangle 1">
            <a:extLst>
              <a:ext uri="{FF2B5EF4-FFF2-40B4-BE49-F238E27FC236}">
                <a16:creationId xmlns:a16="http://schemas.microsoft.com/office/drawing/2014/main" id="{89B9DEF3-18C8-492C-9CAB-CFC105022596}"/>
              </a:ext>
            </a:extLst>
          </p:cNvPr>
          <p:cNvSpPr>
            <a:spLocks noGrp="1"/>
          </p:cNvSpPr>
          <p:nvPr/>
        </p:nvSpPr>
        <p:spPr>
          <a:xfrm>
            <a:off x="552450" y="781050"/>
            <a:ext cx="11087100" cy="38100"/>
          </a:xfrm>
          <a:prstGeom prst="rect">
            <a:avLst/>
          </a:prstGeom>
          <a:solidFill>
            <a:srgbClr val="D97942"/>
          </a:solidFill>
          <a:ln w="0">
            <a:noFill/>
            <a:prstDash val="solid"/>
          </a:ln>
        </p:spPr>
        <p:txBody>
          <a:bodyPr/>
          <a:lstStyle/>
          <a:p>
            <a:endParaRPr lang="en-US"/>
          </a:p>
        </p:txBody>
      </p:sp>
      <p:sp>
        <p:nvSpPr>
          <p:cNvPr id="3" name="Rectangle 2">
            <a:extLst>
              <a:ext uri="{FF2B5EF4-FFF2-40B4-BE49-F238E27FC236}">
                <a16:creationId xmlns:a16="http://schemas.microsoft.com/office/drawing/2014/main" id="{ED3329D6-120A-4743-B040-C174063AAF8A}"/>
              </a:ext>
            </a:extLst>
          </p:cNvPr>
          <p:cNvSpPr>
            <a:spLocks noGrp="1"/>
          </p:cNvSpPr>
          <p:nvPr/>
        </p:nvSpPr>
        <p:spPr>
          <a:xfrm>
            <a:off x="552450" y="6486525"/>
            <a:ext cx="9334500" cy="228600"/>
          </a:xfrm>
          <a:prstGeom prst="rect">
            <a:avLst/>
          </a:prstGeom>
          <a:noFill/>
          <a:ln w="0">
            <a:noFill/>
            <a:prstDash val="solid"/>
          </a:ln>
        </p:spPr>
        <p:txBody>
          <a:bodyPr wrap="square" lIns="38100" tIns="19050" rIns="38100" bIns="19050" anchor="b">
            <a:normAutofit/>
          </a:bodyPr>
          <a:lstStyle/>
          <a:p>
            <a:pPr algn="l">
              <a:defRPr sz="825" b="0" i="0">
                <a:solidFill>
                  <a:srgbClr val="617080"/>
                </a:solidFill>
                <a:latin typeface="Arial"/>
                <a:ea typeface="Arial"/>
                <a:cs typeface="Arial"/>
              </a:defRPr>
            </a:pPr>
            <a:r>
              <a:rPr sz="825" b="0" i="0">
                <a:solidFill>
                  <a:srgbClr val="617080"/>
                </a:solidFill>
                <a:latin typeface="Arial"/>
                <a:ea typeface="Arial"/>
                <a:cs typeface="Arial"/>
              </a:rPr>
              <a:t>Hamilton et al., 2017</a:t>
            </a:r>
          </a:p>
        </p:txBody>
      </p:sp>
      <p:sp>
        <p:nvSpPr>
          <p:cNvPr id="4" name="Rectangle 3">
            <a:extLst>
              <a:ext uri="{FF2B5EF4-FFF2-40B4-BE49-F238E27FC236}">
                <a16:creationId xmlns:a16="http://schemas.microsoft.com/office/drawing/2014/main" id="{3AD6641D-2EE3-4635-ADFF-9B667AA4624C}"/>
              </a:ext>
            </a:extLst>
          </p:cNvPr>
          <p:cNvSpPr>
            <a:spLocks noGrp="1"/>
          </p:cNvSpPr>
          <p:nvPr/>
        </p:nvSpPr>
        <p:spPr>
          <a:xfrm>
            <a:off x="11315700" y="6486525"/>
            <a:ext cx="323850" cy="228600"/>
          </a:xfrm>
          <a:prstGeom prst="rect">
            <a:avLst/>
          </a:prstGeom>
          <a:noFill/>
          <a:ln w="0">
            <a:noFill/>
            <a:prstDash val="solid"/>
          </a:ln>
        </p:spPr>
        <p:txBody>
          <a:bodyPr wrap="square" lIns="38100" tIns="19050" rIns="38100" bIns="19050" anchor="b">
            <a:normAutofit/>
          </a:bodyPr>
          <a:lstStyle/>
          <a:p>
            <a:pPr algn="r">
              <a:defRPr sz="900" b="0" i="0">
                <a:solidFill>
                  <a:srgbClr val="617080"/>
                </a:solidFill>
                <a:latin typeface="Arial"/>
                <a:ea typeface="Arial"/>
                <a:cs typeface="Arial"/>
              </a:defRPr>
            </a:pPr>
            <a:r>
              <a:rPr sz="900" b="0" i="0">
                <a:solidFill>
                  <a:srgbClr val="617080"/>
                </a:solidFill>
                <a:latin typeface="Arial"/>
                <a:ea typeface="Arial"/>
                <a:cs typeface="Arial"/>
              </a:rPr>
              <a:t>9</a:t>
            </a:r>
          </a:p>
        </p:txBody>
      </p:sp>
      <p:pic>
        <p:nvPicPr>
          <p:cNvPr id="20" name="Picture 19"/>
          <p:cNvPicPr>
            <a:picLocks noChangeAspect="1"/>
          </p:cNvPicPr>
          <p:nvPr/>
        </p:nvPicPr>
        <p:blipFill>
          <a:blip r:embed="rId3"/>
          <a:stretch/>
        </p:blipFill>
        <p:spPr>
          <a:xfrm>
            <a:off x="270404" y="1028700"/>
            <a:ext cx="7755467" cy="4362450"/>
          </a:xfrm>
          <a:prstGeom prst="rect">
            <a:avLst/>
          </a:prstGeom>
        </p:spPr>
      </p:pic>
      <p:sp>
        <p:nvSpPr>
          <p:cNvPr id="6" name="Rectangle 5">
            <a:extLst>
              <a:ext uri="{FF2B5EF4-FFF2-40B4-BE49-F238E27FC236}">
                <a16:creationId xmlns:a16="http://schemas.microsoft.com/office/drawing/2014/main" id="{63E95825-7586-455F-B853-33B812989303}"/>
              </a:ext>
            </a:extLst>
          </p:cNvPr>
          <p:cNvSpPr>
            <a:spLocks noGrp="1"/>
          </p:cNvSpPr>
          <p:nvPr/>
        </p:nvSpPr>
        <p:spPr>
          <a:xfrm>
            <a:off x="9060897" y="1133475"/>
            <a:ext cx="1652106" cy="323850"/>
          </a:xfrm>
          <a:prstGeom prst="rect">
            <a:avLst/>
          </a:prstGeom>
          <a:noFill/>
          <a:ln w="0">
            <a:noFill/>
            <a:prstDash val="solid"/>
          </a:ln>
        </p:spPr>
        <p:txBody>
          <a:bodyPr wrap="square" lIns="38100" tIns="19050" rIns="38100" bIns="19050" anchor="ctr">
            <a:normAutofit/>
          </a:bodyPr>
          <a:lstStyle/>
          <a:p>
            <a:pPr algn="l">
              <a:defRPr sz="1575" b="1" i="0">
                <a:solidFill>
                  <a:srgbClr val="D97942"/>
                </a:solidFill>
                <a:latin typeface="Arial"/>
                <a:ea typeface="Arial"/>
                <a:cs typeface="Arial"/>
              </a:defRPr>
            </a:pPr>
            <a:r>
              <a:rPr sz="1575" b="1" i="0" dirty="0" err="1">
                <a:solidFill>
                  <a:srgbClr val="D97942"/>
                </a:solidFill>
                <a:latin typeface="Arial"/>
                <a:ea typeface="Arial"/>
                <a:cs typeface="Arial"/>
              </a:rPr>
              <a:t>Клучна</a:t>
            </a:r>
            <a:r>
              <a:rPr sz="1575" b="1" i="0" dirty="0">
                <a:solidFill>
                  <a:srgbClr val="D97942"/>
                </a:solidFill>
                <a:latin typeface="Arial"/>
                <a:ea typeface="Arial"/>
                <a:cs typeface="Arial"/>
              </a:rPr>
              <a:t> </a:t>
            </a:r>
            <a:r>
              <a:rPr sz="1575" b="1" i="0" dirty="0" err="1">
                <a:solidFill>
                  <a:srgbClr val="D97942"/>
                </a:solidFill>
                <a:latin typeface="Arial"/>
                <a:ea typeface="Arial"/>
                <a:cs typeface="Arial"/>
              </a:rPr>
              <a:t>разлика</a:t>
            </a:r>
            <a:endParaRPr sz="1575" b="1" i="0" dirty="0">
              <a:solidFill>
                <a:srgbClr val="D97942"/>
              </a:solidFill>
              <a:latin typeface="Arial"/>
              <a:ea typeface="Arial"/>
              <a:cs typeface="Arial"/>
            </a:endParaRPr>
          </a:p>
        </p:txBody>
      </p:sp>
      <p:sp>
        <p:nvSpPr>
          <p:cNvPr id="7" name="Rounded Rectangle 6">
            <a:extLst>
              <a:ext uri="{FF2B5EF4-FFF2-40B4-BE49-F238E27FC236}">
                <a16:creationId xmlns:a16="http://schemas.microsoft.com/office/drawing/2014/main" id="{2738F8F7-83CA-4123-B33C-C3C3EB91F2FD}"/>
              </a:ext>
            </a:extLst>
          </p:cNvPr>
          <p:cNvSpPr>
            <a:spLocks noGrp="1"/>
          </p:cNvSpPr>
          <p:nvPr/>
        </p:nvSpPr>
        <p:spPr>
          <a:xfrm>
            <a:off x="7845196" y="1571625"/>
            <a:ext cx="3908354" cy="685800"/>
          </a:xfrm>
          <a:prstGeom prst="roundRect">
            <a:avLst>
              <a:gd name="adj" fmla="val 13889"/>
            </a:avLst>
          </a:prstGeom>
          <a:solidFill>
            <a:srgbClr val="EAF2FB"/>
          </a:solidFill>
          <a:ln w="11430">
            <a:solidFill>
              <a:srgbClr val="4F86C6"/>
            </a:solidFill>
            <a:prstDash val="solid"/>
          </a:ln>
        </p:spPr>
        <p:txBody>
          <a:bodyPr/>
          <a:lstStyle/>
          <a:p>
            <a:endParaRPr lang="en-US"/>
          </a:p>
        </p:txBody>
      </p:sp>
      <p:sp>
        <p:nvSpPr>
          <p:cNvPr id="9" name="Rounded Rectangle 8">
            <a:extLst>
              <a:ext uri="{FF2B5EF4-FFF2-40B4-BE49-F238E27FC236}">
                <a16:creationId xmlns:a16="http://schemas.microsoft.com/office/drawing/2014/main" id="{33CC135A-69B4-4EBC-9FBA-DCD38D618F22}"/>
              </a:ext>
            </a:extLst>
          </p:cNvPr>
          <p:cNvSpPr>
            <a:spLocks noGrp="1"/>
          </p:cNvSpPr>
          <p:nvPr/>
        </p:nvSpPr>
        <p:spPr>
          <a:xfrm>
            <a:off x="7878533" y="2466975"/>
            <a:ext cx="3875017" cy="971550"/>
          </a:xfrm>
          <a:prstGeom prst="roundRect">
            <a:avLst>
              <a:gd name="adj" fmla="val 9804"/>
            </a:avLst>
          </a:prstGeom>
          <a:solidFill>
            <a:srgbClr val="FBEDE5"/>
          </a:solidFill>
          <a:ln w="11430">
            <a:solidFill>
              <a:srgbClr val="D97942"/>
            </a:solidFill>
            <a:prstDash val="solid"/>
          </a:ln>
        </p:spPr>
        <p:txBody>
          <a:bodyPr/>
          <a:lstStyle/>
          <a:p>
            <a:endParaRPr lang="en-US"/>
          </a:p>
        </p:txBody>
      </p:sp>
      <p:sp>
        <p:nvSpPr>
          <p:cNvPr id="11" name="Oval 10">
            <a:extLst>
              <a:ext uri="{FF2B5EF4-FFF2-40B4-BE49-F238E27FC236}">
                <a16:creationId xmlns:a16="http://schemas.microsoft.com/office/drawing/2014/main" id="{B34D01FB-5572-4B2F-A467-FBE0FD7040A6}"/>
              </a:ext>
            </a:extLst>
          </p:cNvPr>
          <p:cNvSpPr>
            <a:spLocks noGrp="1"/>
          </p:cNvSpPr>
          <p:nvPr/>
        </p:nvSpPr>
        <p:spPr>
          <a:xfrm>
            <a:off x="8334375" y="3895725"/>
            <a:ext cx="66675" cy="66675"/>
          </a:xfrm>
          <a:prstGeom prst="ellipse">
            <a:avLst/>
          </a:prstGeom>
          <a:solidFill>
            <a:srgbClr val="D97942"/>
          </a:solidFill>
          <a:ln w="0">
            <a:noFill/>
            <a:prstDash val="solid"/>
          </a:ln>
        </p:spPr>
        <p:txBody>
          <a:bodyPr/>
          <a:lstStyle/>
          <a:p>
            <a:endParaRPr lang="en-US"/>
          </a:p>
        </p:txBody>
      </p:sp>
      <p:sp>
        <p:nvSpPr>
          <p:cNvPr id="12" name="Rectangle 11">
            <a:extLst>
              <a:ext uri="{FF2B5EF4-FFF2-40B4-BE49-F238E27FC236}">
                <a16:creationId xmlns:a16="http://schemas.microsoft.com/office/drawing/2014/main" id="{837FAB3A-822B-4A38-A556-30BB8DE8FDA3}"/>
              </a:ext>
            </a:extLst>
          </p:cNvPr>
          <p:cNvSpPr>
            <a:spLocks noGrp="1"/>
          </p:cNvSpPr>
          <p:nvPr/>
        </p:nvSpPr>
        <p:spPr>
          <a:xfrm>
            <a:off x="8505825" y="3790950"/>
            <a:ext cx="2924175" cy="457200"/>
          </a:xfrm>
          <a:prstGeom prst="rect">
            <a:avLst/>
          </a:prstGeom>
          <a:noFill/>
          <a:ln w="0">
            <a:noFill/>
            <a:prstDash val="solid"/>
          </a:ln>
        </p:spPr>
        <p:txBody>
          <a:bodyPr wrap="square" lIns="38100" tIns="19050" rIns="38100" bIns="19050" anchor="t">
            <a:normAutofit/>
          </a:bodyPr>
          <a:lstStyle/>
          <a:p>
            <a:pPr algn="l">
              <a:defRPr sz="1275" b="0" i="0">
                <a:solidFill>
                  <a:srgbClr val="263746"/>
                </a:solidFill>
                <a:latin typeface="Arial"/>
                <a:ea typeface="Arial"/>
                <a:cs typeface="Arial"/>
              </a:defRPr>
            </a:pPr>
            <a:r>
              <a:rPr sz="1275" b="0" i="0">
                <a:solidFill>
                  <a:srgbClr val="263746"/>
                </a:solidFill>
                <a:latin typeface="Arial"/>
                <a:ea typeface="Arial"/>
                <a:cs typeface="Arial"/>
              </a:rPr>
              <a:t>Обратни рабови и резидуални врски</a:t>
            </a:r>
          </a:p>
        </p:txBody>
      </p:sp>
      <p:sp>
        <p:nvSpPr>
          <p:cNvPr id="13" name="Oval 12">
            <a:extLst>
              <a:ext uri="{FF2B5EF4-FFF2-40B4-BE49-F238E27FC236}">
                <a16:creationId xmlns:a16="http://schemas.microsoft.com/office/drawing/2014/main" id="{892B892A-5CB5-4B59-8F0E-1DBD52125D9B}"/>
              </a:ext>
            </a:extLst>
          </p:cNvPr>
          <p:cNvSpPr>
            <a:spLocks noGrp="1"/>
          </p:cNvSpPr>
          <p:nvPr/>
        </p:nvSpPr>
        <p:spPr>
          <a:xfrm>
            <a:off x="8334375" y="4467225"/>
            <a:ext cx="66675" cy="66675"/>
          </a:xfrm>
          <a:prstGeom prst="ellipse">
            <a:avLst/>
          </a:prstGeom>
          <a:solidFill>
            <a:srgbClr val="D97942"/>
          </a:solidFill>
          <a:ln w="0">
            <a:noFill/>
            <a:prstDash val="solid"/>
          </a:ln>
        </p:spPr>
        <p:txBody>
          <a:bodyPr/>
          <a:lstStyle/>
          <a:p>
            <a:endParaRPr lang="en-US"/>
          </a:p>
        </p:txBody>
      </p:sp>
      <p:sp>
        <p:nvSpPr>
          <p:cNvPr id="14" name="Rectangle 13">
            <a:extLst>
              <a:ext uri="{FF2B5EF4-FFF2-40B4-BE49-F238E27FC236}">
                <a16:creationId xmlns:a16="http://schemas.microsoft.com/office/drawing/2014/main" id="{8DF7D290-BFCC-4CCD-9A0D-C1DB2D6DB978}"/>
              </a:ext>
            </a:extLst>
          </p:cNvPr>
          <p:cNvSpPr>
            <a:spLocks noGrp="1"/>
          </p:cNvSpPr>
          <p:nvPr/>
        </p:nvSpPr>
        <p:spPr>
          <a:xfrm>
            <a:off x="8505825" y="4362450"/>
            <a:ext cx="2924175" cy="628650"/>
          </a:xfrm>
          <a:prstGeom prst="rect">
            <a:avLst/>
          </a:prstGeom>
          <a:noFill/>
          <a:ln w="0">
            <a:noFill/>
            <a:prstDash val="solid"/>
          </a:ln>
        </p:spPr>
        <p:txBody>
          <a:bodyPr wrap="square" lIns="38100" tIns="19050" rIns="38100" bIns="19050" anchor="t">
            <a:normAutofit/>
          </a:bodyPr>
          <a:lstStyle/>
          <a:p>
            <a:pPr algn="l">
              <a:defRPr sz="1275" b="0" i="0">
                <a:solidFill>
                  <a:srgbClr val="263746"/>
                </a:solidFill>
                <a:latin typeface="Arial"/>
                <a:ea typeface="Arial"/>
                <a:cs typeface="Arial"/>
              </a:defRPr>
            </a:pPr>
            <a:r>
              <a:rPr sz="1275" b="0" i="0">
                <a:solidFill>
                  <a:srgbClr val="263746"/>
                </a:solidFill>
                <a:latin typeface="Arial"/>
                <a:ea typeface="Arial"/>
                <a:cs typeface="Arial"/>
              </a:rPr>
              <a:t>Нормализација и оценка условена од прашањето</a:t>
            </a:r>
          </a:p>
        </p:txBody>
      </p:sp>
      <p:sp>
        <p:nvSpPr>
          <p:cNvPr id="15" name="Rectangle 14">
            <a:extLst>
              <a:ext uri="{FF2B5EF4-FFF2-40B4-BE49-F238E27FC236}">
                <a16:creationId xmlns:a16="http://schemas.microsoft.com/office/drawing/2014/main" id="{FCD8A6B6-BCCA-4F15-AC3E-08160849F274}"/>
              </a:ext>
            </a:extLst>
          </p:cNvPr>
          <p:cNvSpPr>
            <a:spLocks noGrp="1"/>
          </p:cNvSpPr>
          <p:nvPr/>
        </p:nvSpPr>
        <p:spPr>
          <a:xfrm>
            <a:off x="838200" y="5676900"/>
            <a:ext cx="10429875" cy="523875"/>
          </a:xfrm>
          <a:prstGeom prst="rect">
            <a:avLst/>
          </a:prstGeom>
          <a:noFill/>
          <a:ln w="0">
            <a:noFill/>
            <a:prstDash val="solid"/>
          </a:ln>
        </p:spPr>
        <p:txBody>
          <a:bodyPr wrap="square" lIns="38100" tIns="19050" rIns="38100" bIns="19050" anchor="ctr">
            <a:normAutofit/>
          </a:bodyPr>
          <a:lstStyle/>
          <a:p>
            <a:pPr algn="ctr">
              <a:defRPr sz="1575" b="1" i="0">
                <a:solidFill>
                  <a:srgbClr val="263746"/>
                </a:solidFill>
                <a:latin typeface="Arial"/>
                <a:ea typeface="Arial"/>
                <a:cs typeface="Arial"/>
              </a:defRPr>
            </a:pPr>
            <a:r>
              <a:rPr sz="1575" b="1" i="0" dirty="0" err="1">
                <a:solidFill>
                  <a:srgbClr val="263746"/>
                </a:solidFill>
                <a:latin typeface="Arial"/>
                <a:ea typeface="Arial"/>
                <a:cs typeface="Arial"/>
              </a:rPr>
              <a:t>Од</a:t>
            </a:r>
            <a:r>
              <a:rPr sz="1575" b="1" i="0" dirty="0">
                <a:solidFill>
                  <a:srgbClr val="263746"/>
                </a:solidFill>
                <a:latin typeface="Arial"/>
                <a:ea typeface="Arial"/>
                <a:cs typeface="Arial"/>
              </a:rPr>
              <a:t> </a:t>
            </a:r>
            <a:r>
              <a:rPr sz="1575" b="1" i="0" dirty="0" err="1">
                <a:solidFill>
                  <a:srgbClr val="263746"/>
                </a:solidFill>
                <a:latin typeface="Arial"/>
                <a:ea typeface="Arial"/>
                <a:cs typeface="Arial"/>
              </a:rPr>
              <a:t>фиксно</a:t>
            </a:r>
            <a:r>
              <a:rPr sz="1575" b="1" i="0" dirty="0">
                <a:solidFill>
                  <a:srgbClr val="263746"/>
                </a:solidFill>
                <a:latin typeface="Arial"/>
                <a:ea typeface="Arial"/>
                <a:cs typeface="Arial"/>
              </a:rPr>
              <a:t> </a:t>
            </a:r>
            <a:r>
              <a:rPr sz="1575" b="1" i="0" dirty="0" err="1">
                <a:solidFill>
                  <a:srgbClr val="263746"/>
                </a:solidFill>
                <a:latin typeface="Arial"/>
                <a:ea typeface="Arial"/>
                <a:cs typeface="Arial"/>
              </a:rPr>
              <a:t>семантичко</a:t>
            </a:r>
            <a:r>
              <a:rPr sz="1575" b="1" i="0" dirty="0">
                <a:solidFill>
                  <a:srgbClr val="263746"/>
                </a:solidFill>
                <a:latin typeface="Arial"/>
                <a:ea typeface="Arial"/>
                <a:cs typeface="Arial"/>
              </a:rPr>
              <a:t> </a:t>
            </a:r>
            <a:r>
              <a:rPr sz="1575" b="1" i="0" dirty="0" err="1">
                <a:solidFill>
                  <a:srgbClr val="263746"/>
                </a:solidFill>
                <a:latin typeface="Arial"/>
                <a:ea typeface="Arial"/>
                <a:cs typeface="Arial"/>
              </a:rPr>
              <a:t>пондерирање</a:t>
            </a:r>
            <a:r>
              <a:rPr sz="1575" b="1" i="0" dirty="0">
                <a:solidFill>
                  <a:srgbClr val="263746"/>
                </a:solidFill>
                <a:latin typeface="Arial"/>
                <a:ea typeface="Arial"/>
                <a:cs typeface="Arial"/>
              </a:rPr>
              <a:t> </a:t>
            </a:r>
            <a:r>
              <a:rPr sz="1575" b="1" i="0" dirty="0" err="1">
                <a:solidFill>
                  <a:srgbClr val="263746"/>
                </a:solidFill>
                <a:latin typeface="Arial"/>
                <a:ea typeface="Arial"/>
                <a:cs typeface="Arial"/>
              </a:rPr>
              <a:t>кон</a:t>
            </a:r>
            <a:r>
              <a:rPr sz="1575" b="1" i="0" dirty="0">
                <a:solidFill>
                  <a:srgbClr val="263746"/>
                </a:solidFill>
                <a:latin typeface="Arial"/>
                <a:ea typeface="Arial"/>
                <a:cs typeface="Arial"/>
              </a:rPr>
              <a:t> </a:t>
            </a:r>
            <a:r>
              <a:rPr sz="1575" b="1" i="0" dirty="0" err="1">
                <a:solidFill>
                  <a:srgbClr val="263746"/>
                </a:solidFill>
                <a:latin typeface="Arial"/>
                <a:ea typeface="Arial"/>
                <a:cs typeface="Arial"/>
              </a:rPr>
              <a:t>научен</a:t>
            </a:r>
            <a:r>
              <a:rPr sz="1575" b="1" i="0" dirty="0">
                <a:solidFill>
                  <a:srgbClr val="263746"/>
                </a:solidFill>
                <a:latin typeface="Arial"/>
                <a:ea typeface="Arial"/>
                <a:cs typeface="Arial"/>
              </a:rPr>
              <a:t> gate </a:t>
            </a:r>
            <a:r>
              <a:rPr sz="1575" b="1" i="0" dirty="0" err="1">
                <a:solidFill>
                  <a:srgbClr val="263746"/>
                </a:solidFill>
                <a:latin typeface="Arial"/>
                <a:ea typeface="Arial"/>
                <a:cs typeface="Arial"/>
              </a:rPr>
              <a:t>за</a:t>
            </a:r>
            <a:r>
              <a:rPr sz="1575" b="1" i="0" dirty="0">
                <a:solidFill>
                  <a:srgbClr val="263746"/>
                </a:solidFill>
                <a:latin typeface="Arial"/>
                <a:ea typeface="Arial"/>
                <a:cs typeface="Arial"/>
              </a:rPr>
              <a:t> </a:t>
            </a:r>
            <a:r>
              <a:rPr sz="1575" b="1" i="0" dirty="0" err="1">
                <a:solidFill>
                  <a:srgbClr val="263746"/>
                </a:solidFill>
                <a:latin typeface="Arial"/>
                <a:ea typeface="Arial"/>
                <a:cs typeface="Arial"/>
              </a:rPr>
              <a:t>конкретното</a:t>
            </a:r>
            <a:r>
              <a:rPr sz="1575" b="1" i="0" dirty="0">
                <a:solidFill>
                  <a:srgbClr val="263746"/>
                </a:solidFill>
                <a:latin typeface="Arial"/>
                <a:ea typeface="Arial"/>
                <a:cs typeface="Arial"/>
              </a:rPr>
              <a:t> </a:t>
            </a:r>
            <a:r>
              <a:rPr sz="1575" b="1" i="0" dirty="0" err="1">
                <a:solidFill>
                  <a:srgbClr val="263746"/>
                </a:solidFill>
                <a:latin typeface="Arial"/>
                <a:ea typeface="Arial"/>
                <a:cs typeface="Arial"/>
              </a:rPr>
              <a:t>прашање</a:t>
            </a:r>
            <a:r>
              <a:rPr sz="1575" b="1" i="0" dirty="0">
                <a:solidFill>
                  <a:srgbClr val="263746"/>
                </a:solidFill>
                <a:latin typeface="Arial"/>
                <a:ea typeface="Arial"/>
                <a:cs typeface="Arial"/>
              </a:rPr>
              <a:t>.</a:t>
            </a:r>
          </a:p>
        </p:txBody>
      </p:sp>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09C15665-E0C7-7E9A-639A-0843ECD68B4C}"/>
                  </a:ext>
                </a:extLst>
              </p:cNvPr>
              <p:cNvSpPr>
                <a:spLocks noGrp="1"/>
              </p:cNvSpPr>
              <p:nvPr/>
            </p:nvSpPr>
            <p:spPr>
              <a:xfrm>
                <a:off x="8263466" y="1638300"/>
                <a:ext cx="3105150" cy="552450"/>
              </a:xfrm>
              <a:prstGeom prst="rect">
                <a:avLst/>
              </a:prstGeom>
              <a:noFill/>
              <a:ln w="0">
                <a:noFill/>
                <a:prstDash val="solid"/>
              </a:ln>
            </p:spPr>
            <p:txBody>
              <a:bodyPr wrap="square" lIns="38100" tIns="19050" rIns="38100" bIns="19050" anchor="ctr">
                <a:normAutofit/>
              </a:bodyPr>
              <a:lstStyle/>
              <a:p>
                <a:pPr algn="ctr"/>
                <a14:m>
                  <m:oMathPara xmlns:m="http://schemas.openxmlformats.org/officeDocument/2006/math">
                    <m:oMathParaPr>
                      <m:jc m:val="centerGroup"/>
                    </m:oMathParaPr>
                    <m:oMath xmlns:m="http://schemas.openxmlformats.org/officeDocument/2006/math">
                      <m:r>
                        <a:rPr smtClean="0">
                          <a:latin typeface="Cambria Math" panose="02040503050406030204" pitchFamily="18" charset="0"/>
                        </a:rPr>
                        <m:t>𝛼</m:t>
                      </m:r>
                      <m:r>
                        <a:rPr smtClean="0">
                          <a:latin typeface="Cambria Math" panose="02040503050406030204" pitchFamily="18" charset="0"/>
                        </a:rPr>
                        <m:t>(</m:t>
                      </m:r>
                      <m:r>
                        <a:rPr smtClean="0">
                          <a:latin typeface="Cambria Math" panose="02040503050406030204" pitchFamily="18" charset="0"/>
                        </a:rPr>
                        <m:t>𝑞</m:t>
                      </m:r>
                      <m:r>
                        <a:rPr smtClean="0">
                          <a:latin typeface="Cambria Math" panose="02040503050406030204" pitchFamily="18" charset="0"/>
                        </a:rPr>
                        <m:t>,</m:t>
                      </m:r>
                      <m:r>
                        <a:rPr smtClean="0">
                          <a:latin typeface="Cambria Math" panose="02040503050406030204" pitchFamily="18" charset="0"/>
                        </a:rPr>
                        <m:t>𝑟</m:t>
                      </m:r>
                      <m:r>
                        <a:rPr smtClean="0">
                          <a:latin typeface="Cambria Math" panose="02040503050406030204" pitchFamily="18" charset="0"/>
                        </a:rPr>
                        <m:t>)=</m:t>
                      </m:r>
                      <m:r>
                        <a:rPr smtClean="0">
                          <a:latin typeface="Cambria Math" panose="02040503050406030204" pitchFamily="18" charset="0"/>
                        </a:rPr>
                        <m:t>𝑐𝑜𝑠</m:t>
                      </m:r>
                      <m:r>
                        <a:rPr>
                          <a:latin typeface="Cambria Math" panose="02040503050406030204" pitchFamily="18" charset="0"/>
                        </a:rPr>
                        <m:t>(</m:t>
                      </m:r>
                      <m:r>
                        <a:rPr>
                          <a:latin typeface="Cambria Math" panose="02040503050406030204" pitchFamily="18" charset="0"/>
                        </a:rPr>
                        <m:t>𝑞</m:t>
                      </m:r>
                      <m:r>
                        <a:rPr>
                          <a:latin typeface="Cambria Math" panose="02040503050406030204" pitchFamily="18" charset="0"/>
                        </a:rPr>
                        <m:t>,</m:t>
                      </m:r>
                      <m:r>
                        <a:rPr>
                          <a:latin typeface="Cambria Math" panose="02040503050406030204" pitchFamily="18" charset="0"/>
                        </a:rPr>
                        <m:t>𝑟</m:t>
                      </m:r>
                      <m:r>
                        <a:rPr>
                          <a:latin typeface="Cambria Math" panose="02040503050406030204" pitchFamily="18" charset="0"/>
                        </a:rPr>
                        <m:t>)</m:t>
                      </m:r>
                    </m:oMath>
                  </m:oMathPara>
                </a14:m>
                <a:endParaRPr dirty="0"/>
              </a:p>
            </p:txBody>
          </p:sp>
        </mc:Choice>
        <mc:Fallback xmlns="">
          <p:sp>
            <p:nvSpPr>
              <p:cNvPr id="5" name="Rectangle 4">
                <a:extLst>
                  <a:ext uri="{FF2B5EF4-FFF2-40B4-BE49-F238E27FC236}">
                    <a16:creationId xmlns:a16="http://schemas.microsoft.com/office/drawing/2014/main" id="{09C15665-E0C7-7E9A-639A-0843ECD68B4C}"/>
                  </a:ext>
                </a:extLst>
              </p:cNvPr>
              <p:cNvSpPr>
                <a:spLocks noGrp="1" noRot="1" noChangeAspect="1" noMove="1" noResize="1" noEditPoints="1" noAdjustHandles="1" noChangeArrowheads="1" noChangeShapeType="1" noTextEdit="1"/>
              </p:cNvSpPr>
              <p:nvPr/>
            </p:nvSpPr>
            <p:spPr>
              <a:xfrm>
                <a:off x="8263466" y="1638300"/>
                <a:ext cx="3105150" cy="552450"/>
              </a:xfrm>
              <a:prstGeom prst="rect">
                <a:avLst/>
              </a:prstGeom>
              <a:blipFill>
                <a:blip r:embed="rId4"/>
                <a:stretch>
                  <a:fillRect/>
                </a:stretch>
              </a:blipFill>
              <a:ln w="0">
                <a:noFill/>
                <a:prstDash val="soli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id="{0A0AD12A-1B70-7865-E534-396E1629C403}"/>
                  </a:ext>
                </a:extLst>
              </p:cNvPr>
              <p:cNvSpPr>
                <a:spLocks noGrp="1"/>
              </p:cNvSpPr>
              <p:nvPr/>
            </p:nvSpPr>
            <p:spPr>
              <a:xfrm>
                <a:off x="7992684" y="2533650"/>
                <a:ext cx="3794054" cy="838200"/>
              </a:xfrm>
              <a:prstGeom prst="rect">
                <a:avLst/>
              </a:prstGeom>
              <a:noFill/>
              <a:ln w="0">
                <a:noFill/>
                <a:prstDash val="solid"/>
              </a:ln>
            </p:spPr>
            <p:txBody>
              <a:bodyPr wrap="square" lIns="38100" tIns="19050" rIns="38100" bIns="19050" anchor="ctr">
                <a:normAutofit/>
              </a:bodyPr>
              <a:lstStyle/>
              <a:p>
                <a:pPr algn="ctr"/>
                <a14:m>
                  <m:oMathPara xmlns:m="http://schemas.openxmlformats.org/officeDocument/2006/math">
                    <m:oMathParaPr>
                      <m:jc m:val="centerGroup"/>
                    </m:oMathParaPr>
                    <m:oMath xmlns:m="http://schemas.openxmlformats.org/officeDocument/2006/math">
                      <m:r>
                        <a:rPr>
                          <a:latin typeface="Cambria Math" panose="02040503050406030204" pitchFamily="18" charset="0"/>
                        </a:rPr>
                        <m:t>𝛼</m:t>
                      </m:r>
                      <m:r>
                        <a:rPr>
                          <a:latin typeface="Cambria Math" panose="02040503050406030204" pitchFamily="18" charset="0"/>
                        </a:rPr>
                        <m:t>(</m:t>
                      </m:r>
                      <m:r>
                        <a:rPr>
                          <a:latin typeface="Cambria Math" panose="02040503050406030204" pitchFamily="18" charset="0"/>
                        </a:rPr>
                        <m:t>𝑞</m:t>
                      </m:r>
                      <m:r>
                        <a:rPr>
                          <a:latin typeface="Cambria Math" panose="02040503050406030204" pitchFamily="18" charset="0"/>
                        </a:rPr>
                        <m:t>,</m:t>
                      </m:r>
                      <m:r>
                        <a:rPr>
                          <a:latin typeface="Cambria Math" panose="02040503050406030204" pitchFamily="18" charset="0"/>
                        </a:rPr>
                        <m:t>𝑟</m:t>
                      </m:r>
                      <m:r>
                        <a:rPr>
                          <a:latin typeface="Cambria Math" panose="02040503050406030204" pitchFamily="18" charset="0"/>
                        </a:rPr>
                        <m:t>)=</m:t>
                      </m:r>
                      <m:r>
                        <m:rPr>
                          <m:nor/>
                        </m:rPr>
                        <a:rPr/>
                        <m:t>sigmoid</m:t>
                      </m:r>
                      <m:r>
                        <a:rPr>
                          <a:latin typeface="Cambria Math" panose="02040503050406030204" pitchFamily="18" charset="0"/>
                        </a:rPr>
                        <m:t>(</m:t>
                      </m:r>
                      <m:r>
                        <m:rPr>
                          <m:nor/>
                        </m:rPr>
                        <a:rPr/>
                        <m:t>MLP</m:t>
                      </m:r>
                      <m:r>
                        <a:rPr>
                          <a:latin typeface="Cambria Math" panose="02040503050406030204" pitchFamily="18" charset="0"/>
                        </a:rPr>
                        <m:t>[</m:t>
                      </m:r>
                      <m:r>
                        <a:rPr>
                          <a:latin typeface="Cambria Math" panose="02040503050406030204" pitchFamily="18" charset="0"/>
                        </a:rPr>
                        <m:t>𝑞</m:t>
                      </m:r>
                      <m:r>
                        <a:rPr>
                          <a:latin typeface="Cambria Math" panose="02040503050406030204" pitchFamily="18" charset="0"/>
                        </a:rPr>
                        <m:t>̃∥</m:t>
                      </m:r>
                      <m:r>
                        <a:rPr>
                          <a:latin typeface="Cambria Math" panose="02040503050406030204" pitchFamily="18" charset="0"/>
                        </a:rPr>
                        <m:t>𝑟</m:t>
                      </m:r>
                      <m:r>
                        <a:rPr>
                          <a:latin typeface="Cambria Math" panose="02040503050406030204" pitchFamily="18" charset="0"/>
                        </a:rPr>
                        <m:t>̃∥</m:t>
                      </m:r>
                      <m:r>
                        <a:rPr>
                          <a:latin typeface="Cambria Math" panose="02040503050406030204" pitchFamily="18" charset="0"/>
                        </a:rPr>
                        <m:t>𝑞</m:t>
                      </m:r>
                      <m:r>
                        <a:rPr>
                          <a:latin typeface="Cambria Math" panose="02040503050406030204" pitchFamily="18" charset="0"/>
                        </a:rPr>
                        <m:t>̃⊙</m:t>
                      </m:r>
                      <m:r>
                        <a:rPr>
                          <a:latin typeface="Cambria Math" panose="02040503050406030204" pitchFamily="18" charset="0"/>
                        </a:rPr>
                        <m:t>𝑟</m:t>
                      </m:r>
                      <m:r>
                        <a:rPr>
                          <a:latin typeface="Cambria Math" panose="02040503050406030204" pitchFamily="18" charset="0"/>
                        </a:rPr>
                        <m:t>̃])</m:t>
                      </m:r>
                    </m:oMath>
                  </m:oMathPara>
                </a14:m>
                <a:endParaRPr dirty="0"/>
              </a:p>
            </p:txBody>
          </p:sp>
        </mc:Choice>
        <mc:Fallback xmlns="">
          <p:sp>
            <p:nvSpPr>
              <p:cNvPr id="17" name="Rectangle 16">
                <a:extLst>
                  <a:ext uri="{FF2B5EF4-FFF2-40B4-BE49-F238E27FC236}">
                    <a16:creationId xmlns:a16="http://schemas.microsoft.com/office/drawing/2014/main" id="{0A0AD12A-1B70-7865-E534-396E1629C403}"/>
                  </a:ext>
                </a:extLst>
              </p:cNvPr>
              <p:cNvSpPr>
                <a:spLocks noGrp="1" noRot="1" noChangeAspect="1" noMove="1" noResize="1" noEditPoints="1" noAdjustHandles="1" noChangeArrowheads="1" noChangeShapeType="1" noTextEdit="1"/>
              </p:cNvSpPr>
              <p:nvPr/>
            </p:nvSpPr>
            <p:spPr>
              <a:xfrm>
                <a:off x="7992684" y="2533650"/>
                <a:ext cx="3794054" cy="838200"/>
              </a:xfrm>
              <a:prstGeom prst="rect">
                <a:avLst/>
              </a:prstGeom>
              <a:blipFill>
                <a:blip r:embed="rId5"/>
                <a:stretch>
                  <a:fillRect l="-1333" r="-1000"/>
                </a:stretch>
              </a:blipFill>
              <a:ln w="0">
                <a:noFill/>
                <a:prstDash val="solid"/>
              </a:ln>
            </p:spPr>
            <p:txBody>
              <a:bodyPr/>
              <a:lstStyle/>
              <a:p>
                <a:r>
                  <a:rPr lang="en-US">
                    <a:noFill/>
                  </a:rPr>
                  <a:t> </a:t>
                </a:r>
              </a:p>
            </p:txBody>
          </p:sp>
        </mc:Fallback>
      </mc:AlternateContent>
    </p:spTree>
    <p:extLst>
      <p:ext uri="{BB962C8B-B14F-4D97-AF65-F5344CB8AC3E}">
        <p14:creationId xmlns:p14="http://schemas.microsoft.com/office/powerpoint/2010/main" val="18840956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C1214F9F-97BC-4A9B-A227-F5B1F867E501}"/>
              </a:ext>
            </a:extLst>
          </p:cNvPr>
          <p:cNvSpPr>
            <a:spLocks noGrp="1"/>
          </p:cNvSpPr>
          <p:nvPr/>
        </p:nvSpPr>
        <p:spPr>
          <a:xfrm>
            <a:off x="552450" y="209550"/>
            <a:ext cx="10763250" cy="523875"/>
          </a:xfrm>
          <a:prstGeom prst="rect">
            <a:avLst/>
          </a:prstGeom>
          <a:noFill/>
          <a:ln w="0">
            <a:noFill/>
            <a:prstDash val="solid"/>
          </a:ln>
        </p:spPr>
        <p:txBody>
          <a:bodyPr wrap="square" lIns="38100" tIns="19050" rIns="38100" bIns="19050" anchor="ctr">
            <a:normAutofit/>
          </a:bodyPr>
          <a:lstStyle/>
          <a:p>
            <a:pPr algn="l">
              <a:defRPr sz="2325" b="1" i="0">
                <a:solidFill>
                  <a:srgbClr val="263746"/>
                </a:solidFill>
                <a:latin typeface="Arial"/>
                <a:ea typeface="Arial"/>
                <a:cs typeface="Arial"/>
              </a:defRPr>
            </a:pPr>
            <a:r>
              <a:rPr sz="2325" b="1" i="0">
                <a:solidFill>
                  <a:srgbClr val="263746"/>
                </a:solidFill>
                <a:latin typeface="Arial"/>
                <a:ea typeface="Arial"/>
                <a:cs typeface="Arial"/>
              </a:rPr>
              <a:t>R-GCN и HGT</a:t>
            </a:r>
          </a:p>
        </p:txBody>
      </p:sp>
      <p:sp>
        <p:nvSpPr>
          <p:cNvPr id="2" name="Rectangle 1">
            <a:extLst>
              <a:ext uri="{FF2B5EF4-FFF2-40B4-BE49-F238E27FC236}">
                <a16:creationId xmlns:a16="http://schemas.microsoft.com/office/drawing/2014/main" id="{1A8F9FD8-B586-458C-B74E-D248C7C2488C}"/>
              </a:ext>
            </a:extLst>
          </p:cNvPr>
          <p:cNvSpPr>
            <a:spLocks noGrp="1"/>
          </p:cNvSpPr>
          <p:nvPr/>
        </p:nvSpPr>
        <p:spPr>
          <a:xfrm>
            <a:off x="552450" y="781050"/>
            <a:ext cx="11087100" cy="38100"/>
          </a:xfrm>
          <a:prstGeom prst="rect">
            <a:avLst/>
          </a:prstGeom>
          <a:solidFill>
            <a:srgbClr val="D97942"/>
          </a:solidFill>
          <a:ln w="0">
            <a:noFill/>
            <a:prstDash val="solid"/>
          </a:ln>
        </p:spPr>
        <p:txBody>
          <a:bodyPr/>
          <a:lstStyle/>
          <a:p>
            <a:endParaRPr lang="en-US"/>
          </a:p>
        </p:txBody>
      </p:sp>
      <p:sp>
        <p:nvSpPr>
          <p:cNvPr id="3" name="Rectangle 2">
            <a:extLst>
              <a:ext uri="{FF2B5EF4-FFF2-40B4-BE49-F238E27FC236}">
                <a16:creationId xmlns:a16="http://schemas.microsoft.com/office/drawing/2014/main" id="{21849C3F-4E4C-48CD-89A4-51D811D5715C}"/>
              </a:ext>
            </a:extLst>
          </p:cNvPr>
          <p:cNvSpPr>
            <a:spLocks noGrp="1"/>
          </p:cNvSpPr>
          <p:nvPr/>
        </p:nvSpPr>
        <p:spPr>
          <a:xfrm>
            <a:off x="552450" y="6486525"/>
            <a:ext cx="9334500" cy="228600"/>
          </a:xfrm>
          <a:prstGeom prst="rect">
            <a:avLst/>
          </a:prstGeom>
          <a:noFill/>
          <a:ln w="0">
            <a:noFill/>
            <a:prstDash val="solid"/>
          </a:ln>
        </p:spPr>
        <p:txBody>
          <a:bodyPr wrap="square" lIns="38100" tIns="19050" rIns="38100" bIns="19050" anchor="b">
            <a:normAutofit/>
          </a:bodyPr>
          <a:lstStyle/>
          <a:p>
            <a:pPr algn="l">
              <a:defRPr sz="825" b="0" i="0">
                <a:solidFill>
                  <a:srgbClr val="617080"/>
                </a:solidFill>
                <a:latin typeface="Arial"/>
                <a:ea typeface="Arial"/>
                <a:cs typeface="Arial"/>
              </a:defRPr>
            </a:pPr>
            <a:r>
              <a:rPr sz="825" b="0" i="0">
                <a:solidFill>
                  <a:srgbClr val="617080"/>
                </a:solidFill>
                <a:latin typeface="Arial"/>
                <a:ea typeface="Arial"/>
                <a:cs typeface="Arial"/>
              </a:rPr>
              <a:t>Schlichtkrull et al., 2018 · Hu et al., 2020</a:t>
            </a:r>
          </a:p>
        </p:txBody>
      </p:sp>
      <p:sp>
        <p:nvSpPr>
          <p:cNvPr id="4" name="Rectangle 3">
            <a:extLst>
              <a:ext uri="{FF2B5EF4-FFF2-40B4-BE49-F238E27FC236}">
                <a16:creationId xmlns:a16="http://schemas.microsoft.com/office/drawing/2014/main" id="{76EAC1E0-3E54-432C-BAA2-6432C98D35C5}"/>
              </a:ext>
            </a:extLst>
          </p:cNvPr>
          <p:cNvSpPr>
            <a:spLocks noGrp="1"/>
          </p:cNvSpPr>
          <p:nvPr/>
        </p:nvSpPr>
        <p:spPr>
          <a:xfrm>
            <a:off x="11315700" y="6486525"/>
            <a:ext cx="323850" cy="228600"/>
          </a:xfrm>
          <a:prstGeom prst="rect">
            <a:avLst/>
          </a:prstGeom>
          <a:noFill/>
          <a:ln w="0">
            <a:noFill/>
            <a:prstDash val="solid"/>
          </a:ln>
        </p:spPr>
        <p:txBody>
          <a:bodyPr wrap="square" lIns="38100" tIns="19050" rIns="38100" bIns="19050" anchor="b">
            <a:normAutofit/>
          </a:bodyPr>
          <a:lstStyle/>
          <a:p>
            <a:pPr algn="r">
              <a:defRPr sz="900" b="0" i="0">
                <a:solidFill>
                  <a:srgbClr val="617080"/>
                </a:solidFill>
                <a:latin typeface="Arial"/>
                <a:ea typeface="Arial"/>
                <a:cs typeface="Arial"/>
              </a:defRPr>
            </a:pPr>
            <a:r>
              <a:rPr sz="900" b="0" i="0">
                <a:solidFill>
                  <a:srgbClr val="617080"/>
                </a:solidFill>
                <a:latin typeface="Arial"/>
                <a:ea typeface="Arial"/>
                <a:cs typeface="Arial"/>
              </a:rPr>
              <a:t>10</a:t>
            </a:r>
          </a:p>
        </p:txBody>
      </p:sp>
      <p:pic>
        <p:nvPicPr>
          <p:cNvPr id="21" name="Picture 20"/>
          <p:cNvPicPr>
            <a:picLocks noChangeAspect="1"/>
          </p:cNvPicPr>
          <p:nvPr/>
        </p:nvPicPr>
        <p:blipFill>
          <a:blip r:embed="rId3"/>
          <a:stretch/>
        </p:blipFill>
        <p:spPr>
          <a:xfrm>
            <a:off x="238125" y="1069777"/>
            <a:ext cx="7524750" cy="4232672"/>
          </a:xfrm>
          <a:prstGeom prst="rect">
            <a:avLst/>
          </a:prstGeom>
        </p:spPr>
      </p:pic>
      <p:sp>
        <p:nvSpPr>
          <p:cNvPr id="6" name="Rectangle 5">
            <a:extLst>
              <a:ext uri="{FF2B5EF4-FFF2-40B4-BE49-F238E27FC236}">
                <a16:creationId xmlns:a16="http://schemas.microsoft.com/office/drawing/2014/main" id="{5A72816F-11A2-4CDC-87D6-991CC1CB845A}"/>
              </a:ext>
            </a:extLst>
          </p:cNvPr>
          <p:cNvSpPr>
            <a:spLocks noGrp="1"/>
          </p:cNvSpPr>
          <p:nvPr/>
        </p:nvSpPr>
        <p:spPr>
          <a:xfrm>
            <a:off x="9213220" y="1147762"/>
            <a:ext cx="800594" cy="323850"/>
          </a:xfrm>
          <a:prstGeom prst="rect">
            <a:avLst/>
          </a:prstGeom>
          <a:noFill/>
          <a:ln w="0">
            <a:noFill/>
            <a:prstDash val="solid"/>
          </a:ln>
        </p:spPr>
        <p:txBody>
          <a:bodyPr wrap="square" lIns="38100" tIns="19050" rIns="38100" bIns="19050" anchor="ctr">
            <a:normAutofit/>
          </a:bodyPr>
          <a:lstStyle/>
          <a:p>
            <a:pPr algn="l">
              <a:defRPr sz="1650" b="1" i="0">
                <a:solidFill>
                  <a:srgbClr val="D97942"/>
                </a:solidFill>
                <a:latin typeface="Arial"/>
                <a:ea typeface="Arial"/>
                <a:cs typeface="Arial"/>
              </a:defRPr>
            </a:pPr>
            <a:r>
              <a:rPr sz="1650" b="1" i="0" dirty="0">
                <a:solidFill>
                  <a:srgbClr val="D97942"/>
                </a:solidFill>
                <a:latin typeface="Arial"/>
                <a:ea typeface="Arial"/>
                <a:cs typeface="Arial"/>
              </a:rPr>
              <a:t>R-GCN</a:t>
            </a:r>
          </a:p>
        </p:txBody>
      </p:sp>
      <mc:AlternateContent xmlns:mc="http://schemas.openxmlformats.org/markup-compatibility/2006" xmlns:a14="http://schemas.microsoft.com/office/drawing/2010/main">
        <mc:Choice Requires="a14">
          <p:sp>
            <p:nvSpPr>
              <p:cNvPr id="7" name="Rounded Rectangle 6">
                <a:extLst>
                  <a:ext uri="{FF2B5EF4-FFF2-40B4-BE49-F238E27FC236}">
                    <a16:creationId xmlns:a16="http://schemas.microsoft.com/office/drawing/2014/main" id="{EC64CE06-C239-475C-95C7-ADBE0B0CD913}"/>
                  </a:ext>
                </a:extLst>
              </p:cNvPr>
              <p:cNvSpPr>
                <a:spLocks noGrp="1"/>
              </p:cNvSpPr>
              <p:nvPr/>
            </p:nvSpPr>
            <p:spPr>
              <a:xfrm>
                <a:off x="6791034" y="1514475"/>
                <a:ext cx="5162842" cy="1019175"/>
              </a:xfrm>
              <a:prstGeom prst="roundRect">
                <a:avLst>
                  <a:gd name="adj" fmla="val 10000"/>
                </a:avLst>
              </a:prstGeom>
              <a:solidFill>
                <a:srgbClr val="FBEDE5"/>
              </a:solidFill>
              <a:ln w="11430">
                <a:solidFill>
                  <a:srgbClr val="D97942"/>
                </a:solidFill>
                <a:prstDash val="solid"/>
              </a:ln>
            </p:spPr>
            <p:txBody>
              <a:bodyPr anchor="ctr"/>
              <a:lstStyle/>
              <a:p>
                <a:pPr/>
                <a14:m>
                  <m:oMathPara xmlns:m="http://schemas.openxmlformats.org/officeDocument/2006/math">
                    <m:oMathParaPr>
                      <m:jc m:val="centerGroup"/>
                    </m:oMathParaPr>
                    <m:oMath xmlns:m="http://schemas.openxmlformats.org/officeDocument/2006/math">
                      <m:sSubSup>
                        <m:sSubSupPr>
                          <m:ctrlPr>
                            <a:rPr lang="en-US" i="1" smtClean="0">
                              <a:latin typeface="Cambria Math" panose="02040503050406030204" pitchFamily="18" charset="0"/>
                            </a:rPr>
                          </m:ctrlPr>
                        </m:sSubSupPr>
                        <m:e>
                          <m:r>
                            <a:rPr lang="en-US" i="1">
                              <a:latin typeface="Cambria Math" panose="02040503050406030204" pitchFamily="18" charset="0"/>
                            </a:rPr>
                            <m:t>h</m:t>
                          </m:r>
                        </m:e>
                        <m:sub>
                          <m:r>
                            <a:rPr lang="en-US" i="1">
                              <a:latin typeface="Cambria Math" panose="02040503050406030204" pitchFamily="18" charset="0"/>
                            </a:rPr>
                            <m:t>𝑣</m:t>
                          </m:r>
                        </m:sub>
                        <m:sup>
                          <m:d>
                            <m:dPr>
                              <m:ctrlPr>
                                <a:rPr lang="en-US" i="1">
                                  <a:latin typeface="Cambria Math" panose="02040503050406030204" pitchFamily="18" charset="0"/>
                                </a:rPr>
                              </m:ctrlPr>
                            </m:dPr>
                            <m:e>
                              <m:r>
                                <a:rPr lang="en-US" i="1">
                                  <a:latin typeface="Cambria Math" panose="02040503050406030204" pitchFamily="18" charset="0"/>
                                </a:rPr>
                                <m:t>𝑙</m:t>
                              </m:r>
                              <m:r>
                                <a:rPr lang="en-US" i="1">
                                  <a:latin typeface="Cambria Math" panose="02040503050406030204" pitchFamily="18" charset="0"/>
                                </a:rPr>
                                <m:t>+1</m:t>
                              </m:r>
                            </m:e>
                          </m:d>
                        </m:sup>
                      </m:sSubSup>
                      <m:r>
                        <a:rPr lang="en-US" i="1">
                          <a:latin typeface="Cambria Math" panose="02040503050406030204" pitchFamily="18" charset="0"/>
                        </a:rPr>
                        <m:t>=</m:t>
                      </m:r>
                      <m:r>
                        <a:rPr lang="en-US" b="0" i="1" smtClean="0">
                          <a:latin typeface="Cambria Math" panose="02040503050406030204" pitchFamily="18" charset="0"/>
                        </a:rPr>
                        <m:t>𝑅𝑒𝐿𝑈</m:t>
                      </m:r>
                      <m:d>
                        <m:dPr>
                          <m:ctrlPr>
                            <a:rPr lang="en-US" i="1">
                              <a:latin typeface="Cambria Math" panose="02040503050406030204" pitchFamily="18" charset="0"/>
                            </a:rPr>
                          </m:ctrlPr>
                        </m:dPr>
                        <m:e>
                          <m:sSubSup>
                            <m:sSubSupPr>
                              <m:ctrlPr>
                                <a:rPr lang="en-US" i="1">
                                  <a:latin typeface="Cambria Math" panose="02040503050406030204" pitchFamily="18" charset="0"/>
                                </a:rPr>
                              </m:ctrlPr>
                            </m:sSubSupPr>
                            <m:e>
                              <m:r>
                                <a:rPr lang="en-US" i="1">
                                  <a:latin typeface="Cambria Math" panose="02040503050406030204" pitchFamily="18" charset="0"/>
                                </a:rPr>
                                <m:t>𝑊</m:t>
                              </m:r>
                            </m:e>
                            <m:sub>
                              <m:r>
                                <a:rPr lang="en-US" i="1">
                                  <a:latin typeface="Cambria Math" panose="02040503050406030204" pitchFamily="18" charset="0"/>
                                </a:rPr>
                                <m:t>0</m:t>
                              </m:r>
                            </m:sub>
                            <m:sup>
                              <m:d>
                                <m:dPr>
                                  <m:ctrlPr>
                                    <a:rPr lang="en-US" i="1">
                                      <a:latin typeface="Cambria Math" panose="02040503050406030204" pitchFamily="18" charset="0"/>
                                    </a:rPr>
                                  </m:ctrlPr>
                                </m:dPr>
                                <m:e>
                                  <m:r>
                                    <a:rPr lang="en-US" i="1">
                                      <a:latin typeface="Cambria Math" panose="02040503050406030204" pitchFamily="18" charset="0"/>
                                    </a:rPr>
                                    <m:t>𝑙</m:t>
                                  </m:r>
                                </m:e>
                              </m:d>
                            </m:sup>
                          </m:sSubSup>
                          <m:sSubSup>
                            <m:sSubSupPr>
                              <m:ctrlPr>
                                <a:rPr lang="en-US" i="1">
                                  <a:latin typeface="Cambria Math" panose="02040503050406030204" pitchFamily="18" charset="0"/>
                                </a:rPr>
                              </m:ctrlPr>
                            </m:sSubSupPr>
                            <m:e>
                              <m:r>
                                <a:rPr lang="en-US" i="1">
                                  <a:latin typeface="Cambria Math" panose="02040503050406030204" pitchFamily="18" charset="0"/>
                                </a:rPr>
                                <m:t>h</m:t>
                              </m:r>
                            </m:e>
                            <m:sub>
                              <m:r>
                                <a:rPr lang="en-US" i="1">
                                  <a:latin typeface="Cambria Math" panose="02040503050406030204" pitchFamily="18" charset="0"/>
                                </a:rPr>
                                <m:t>𝑣</m:t>
                              </m:r>
                            </m:sub>
                            <m:sup>
                              <m:d>
                                <m:dPr>
                                  <m:ctrlPr>
                                    <a:rPr lang="en-US" i="1">
                                      <a:latin typeface="Cambria Math" panose="02040503050406030204" pitchFamily="18" charset="0"/>
                                    </a:rPr>
                                  </m:ctrlPr>
                                </m:dPr>
                                <m:e>
                                  <m:r>
                                    <a:rPr lang="en-US" i="1">
                                      <a:latin typeface="Cambria Math" panose="02040503050406030204" pitchFamily="18" charset="0"/>
                                    </a:rPr>
                                    <m:t>𝑙</m:t>
                                  </m:r>
                                </m:e>
                              </m:d>
                            </m:sup>
                          </m:sSubSup>
                          <m:r>
                            <a:rPr lang="en-US" i="1">
                              <a:latin typeface="Cambria Math" panose="02040503050406030204" pitchFamily="18" charset="0"/>
                            </a:rPr>
                            <m:t>+</m:t>
                          </m:r>
                          <m:nary>
                            <m:naryPr>
                              <m:chr m:val="∑"/>
                              <m:supHide m:val="on"/>
                              <m:ctrlPr>
                                <a:rPr lang="en-US" i="1">
                                  <a:latin typeface="Cambria Math" panose="02040503050406030204" pitchFamily="18" charset="0"/>
                                </a:rPr>
                              </m:ctrlPr>
                            </m:naryPr>
                            <m:sub>
                              <m:r>
                                <a:rPr lang="en-US" i="1">
                                  <a:latin typeface="Cambria Math" panose="02040503050406030204" pitchFamily="18" charset="0"/>
                                </a:rPr>
                                <m:t>𝑟</m:t>
                              </m:r>
                              <m:r>
                                <a:rPr lang="en-US" i="1">
                                  <a:latin typeface="Cambria Math" panose="02040503050406030204" pitchFamily="18" charset="0"/>
                                </a:rPr>
                                <m:t>∈</m:t>
                              </m:r>
                              <m:r>
                                <a:rPr lang="en-US" i="1">
                                  <a:latin typeface="Cambria Math" panose="02040503050406030204" pitchFamily="18" charset="0"/>
                                </a:rPr>
                                <m:t>ℛ</m:t>
                              </m:r>
                            </m:sub>
                            <m:sup/>
                            <m:e>
                              <m:f>
                                <m:fPr>
                                  <m:ctrlPr>
                                    <a:rPr lang="en-US" i="1">
                                      <a:latin typeface="Cambria Math" panose="02040503050406030204" pitchFamily="18" charset="0"/>
                                    </a:rPr>
                                  </m:ctrlPr>
                                </m:fPr>
                                <m:num>
                                  <m:r>
                                    <a:rPr lang="en-US" i="1">
                                      <a:latin typeface="Cambria Math" panose="02040503050406030204" pitchFamily="18" charset="0"/>
                                    </a:rPr>
                                    <m:t>1</m:t>
                                  </m:r>
                                </m:num>
                                <m:den>
                                  <m:sSubSup>
                                    <m:sSubSupPr>
                                      <m:ctrlPr>
                                        <a:rPr lang="en-US" i="1">
                                          <a:latin typeface="Cambria Math" panose="02040503050406030204" pitchFamily="18" charset="0"/>
                                        </a:rPr>
                                      </m:ctrlPr>
                                    </m:sSubSupPr>
                                    <m:e>
                                      <m:r>
                                        <a:rPr lang="en-US" b="0" i="1" smtClean="0">
                                          <a:latin typeface="Cambria Math" panose="02040503050406030204" pitchFamily="18" charset="0"/>
                                        </a:rPr>
                                        <m:t>|</m:t>
                                      </m:r>
                                      <m:r>
                                        <a:rPr lang="en-US" i="1">
                                          <a:latin typeface="Cambria Math" panose="02040503050406030204" pitchFamily="18" charset="0"/>
                                        </a:rPr>
                                        <m:t>𝑁</m:t>
                                      </m:r>
                                    </m:e>
                                    <m:sub>
                                      <m:r>
                                        <a:rPr lang="en-US" i="1">
                                          <a:latin typeface="Cambria Math" panose="02040503050406030204" pitchFamily="18" charset="0"/>
                                        </a:rPr>
                                        <m:t>𝑣</m:t>
                                      </m:r>
                                    </m:sub>
                                    <m:sup>
                                      <m:r>
                                        <a:rPr lang="en-US" i="1">
                                          <a:latin typeface="Cambria Math" panose="02040503050406030204" pitchFamily="18" charset="0"/>
                                        </a:rPr>
                                        <m:t>𝑟</m:t>
                                      </m:r>
                                    </m:sup>
                                  </m:sSubSup>
                                  <m:r>
                                    <a:rPr lang="en-US" b="0" i="1" smtClean="0">
                                      <a:latin typeface="Cambria Math" panose="02040503050406030204" pitchFamily="18" charset="0"/>
                                    </a:rPr>
                                    <m:t>|</m:t>
                                  </m:r>
                                </m:den>
                              </m:f>
                              <m:nary>
                                <m:naryPr>
                                  <m:chr m:val="∑"/>
                                  <m:supHide m:val="on"/>
                                  <m:ctrlPr>
                                    <a:rPr lang="en-US" i="1">
                                      <a:latin typeface="Cambria Math" panose="02040503050406030204" pitchFamily="18" charset="0"/>
                                    </a:rPr>
                                  </m:ctrlPr>
                                </m:naryPr>
                                <m:sub>
                                  <m:r>
                                    <a:rPr lang="en-US" i="1">
                                      <a:latin typeface="Cambria Math" panose="02040503050406030204" pitchFamily="18" charset="0"/>
                                    </a:rPr>
                                    <m:t>𝑢</m:t>
                                  </m:r>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𝑁</m:t>
                                      </m:r>
                                    </m:e>
                                    <m:sub>
                                      <m:r>
                                        <a:rPr lang="en-US" i="1">
                                          <a:latin typeface="Cambria Math" panose="02040503050406030204" pitchFamily="18" charset="0"/>
                                        </a:rPr>
                                        <m:t>𝑣</m:t>
                                      </m:r>
                                    </m:sub>
                                    <m:sup>
                                      <m:r>
                                        <a:rPr lang="en-US" i="1">
                                          <a:latin typeface="Cambria Math" panose="02040503050406030204" pitchFamily="18" charset="0"/>
                                        </a:rPr>
                                        <m:t>𝑟</m:t>
                                      </m:r>
                                    </m:sup>
                                  </m:sSubSup>
                                </m:sub>
                                <m:sup/>
                                <m:e>
                                  <m:sSubSup>
                                    <m:sSubSupPr>
                                      <m:ctrlPr>
                                        <a:rPr lang="en-US" i="1">
                                          <a:latin typeface="Cambria Math" panose="02040503050406030204" pitchFamily="18" charset="0"/>
                                        </a:rPr>
                                      </m:ctrlPr>
                                    </m:sSubSupPr>
                                    <m:e>
                                      <m:r>
                                        <a:rPr lang="en-US" i="1">
                                          <a:latin typeface="Cambria Math" panose="02040503050406030204" pitchFamily="18" charset="0"/>
                                        </a:rPr>
                                        <m:t>𝑊</m:t>
                                      </m:r>
                                    </m:e>
                                    <m:sub>
                                      <m:r>
                                        <a:rPr lang="en-US" i="1">
                                          <a:latin typeface="Cambria Math" panose="02040503050406030204" pitchFamily="18" charset="0"/>
                                        </a:rPr>
                                        <m:t>𝑟</m:t>
                                      </m:r>
                                    </m:sub>
                                    <m:sup>
                                      <m:d>
                                        <m:dPr>
                                          <m:ctrlPr>
                                            <a:rPr lang="en-US" i="1">
                                              <a:latin typeface="Cambria Math" panose="02040503050406030204" pitchFamily="18" charset="0"/>
                                            </a:rPr>
                                          </m:ctrlPr>
                                        </m:dPr>
                                        <m:e>
                                          <m:r>
                                            <a:rPr lang="en-US" i="1">
                                              <a:latin typeface="Cambria Math" panose="02040503050406030204" pitchFamily="18" charset="0"/>
                                            </a:rPr>
                                            <m:t>𝑙</m:t>
                                          </m:r>
                                        </m:e>
                                      </m:d>
                                    </m:sup>
                                  </m:sSubSup>
                                </m:e>
                              </m:nary>
                            </m:e>
                          </m:nary>
                          <m:sSubSup>
                            <m:sSubSupPr>
                              <m:ctrlPr>
                                <a:rPr lang="en-US" i="1">
                                  <a:latin typeface="Cambria Math" panose="02040503050406030204" pitchFamily="18" charset="0"/>
                                </a:rPr>
                              </m:ctrlPr>
                            </m:sSubSupPr>
                            <m:e>
                              <m:r>
                                <a:rPr lang="en-US" i="1">
                                  <a:latin typeface="Cambria Math" panose="02040503050406030204" pitchFamily="18" charset="0"/>
                                </a:rPr>
                                <m:t>h</m:t>
                              </m:r>
                            </m:e>
                            <m:sub>
                              <m:r>
                                <a:rPr lang="en-US" i="1">
                                  <a:latin typeface="Cambria Math" panose="02040503050406030204" pitchFamily="18" charset="0"/>
                                </a:rPr>
                                <m:t>𝑢</m:t>
                              </m:r>
                            </m:sub>
                            <m:sup>
                              <m:d>
                                <m:dPr>
                                  <m:ctrlPr>
                                    <a:rPr lang="en-US" i="1">
                                      <a:latin typeface="Cambria Math" panose="02040503050406030204" pitchFamily="18" charset="0"/>
                                    </a:rPr>
                                  </m:ctrlPr>
                                </m:dPr>
                                <m:e>
                                  <m:r>
                                    <a:rPr lang="en-US" i="1">
                                      <a:latin typeface="Cambria Math" panose="02040503050406030204" pitchFamily="18" charset="0"/>
                                    </a:rPr>
                                    <m:t>𝑙</m:t>
                                  </m:r>
                                </m:e>
                              </m:d>
                            </m:sup>
                          </m:sSubSup>
                        </m:e>
                      </m:d>
                    </m:oMath>
                  </m:oMathPara>
                </a14:m>
                <a:endParaRPr lang="en-US" dirty="0"/>
              </a:p>
            </p:txBody>
          </p:sp>
        </mc:Choice>
        <mc:Fallback xmlns="">
          <p:sp>
            <p:nvSpPr>
              <p:cNvPr id="7" name="Rounded Rectangle 6">
                <a:extLst>
                  <a:ext uri="{FF2B5EF4-FFF2-40B4-BE49-F238E27FC236}">
                    <a16:creationId xmlns:a16="http://schemas.microsoft.com/office/drawing/2014/main" id="{EC64CE06-C239-475C-95C7-ADBE0B0CD913}"/>
                  </a:ext>
                </a:extLst>
              </p:cNvPr>
              <p:cNvSpPr>
                <a:spLocks noGrp="1" noRot="1" noChangeAspect="1" noMove="1" noResize="1" noEditPoints="1" noAdjustHandles="1" noChangeArrowheads="1" noChangeShapeType="1" noTextEdit="1"/>
              </p:cNvSpPr>
              <p:nvPr/>
            </p:nvSpPr>
            <p:spPr>
              <a:xfrm>
                <a:off x="6791034" y="1514475"/>
                <a:ext cx="5162842" cy="1019175"/>
              </a:xfrm>
              <a:prstGeom prst="roundRect">
                <a:avLst>
                  <a:gd name="adj" fmla="val 10000"/>
                </a:avLst>
              </a:prstGeom>
              <a:blipFill>
                <a:blip r:embed="rId4"/>
                <a:stretch>
                  <a:fillRect t="-79518" b="-109639"/>
                </a:stretch>
              </a:blipFill>
              <a:ln w="11430">
                <a:solidFill>
                  <a:srgbClr val="D97942"/>
                </a:solidFill>
                <a:prstDash val="solid"/>
              </a:ln>
            </p:spPr>
            <p:txBody>
              <a:bodyPr/>
              <a:lstStyle/>
              <a:p>
                <a:r>
                  <a:rPr lang="en-US">
                    <a:noFill/>
                  </a:rPr>
                  <a:t> </a:t>
                </a:r>
              </a:p>
            </p:txBody>
          </p:sp>
        </mc:Fallback>
      </mc:AlternateContent>
      <p:sp>
        <p:nvSpPr>
          <p:cNvPr id="9" name="Oval 8">
            <a:extLst>
              <a:ext uri="{FF2B5EF4-FFF2-40B4-BE49-F238E27FC236}">
                <a16:creationId xmlns:a16="http://schemas.microsoft.com/office/drawing/2014/main" id="{1FF46108-00A0-4226-9060-CBE3B9CB7688}"/>
              </a:ext>
            </a:extLst>
          </p:cNvPr>
          <p:cNvSpPr>
            <a:spLocks noGrp="1"/>
          </p:cNvSpPr>
          <p:nvPr/>
        </p:nvSpPr>
        <p:spPr>
          <a:xfrm>
            <a:off x="8096250" y="2781300"/>
            <a:ext cx="66675" cy="66675"/>
          </a:xfrm>
          <a:prstGeom prst="ellipse">
            <a:avLst/>
          </a:prstGeom>
          <a:solidFill>
            <a:srgbClr val="D97942"/>
          </a:solidFill>
          <a:ln w="0">
            <a:noFill/>
            <a:prstDash val="solid"/>
          </a:ln>
        </p:spPr>
        <p:txBody>
          <a:bodyPr/>
          <a:lstStyle/>
          <a:p>
            <a:endParaRPr lang="en-US"/>
          </a:p>
        </p:txBody>
      </p:sp>
      <p:sp>
        <p:nvSpPr>
          <p:cNvPr id="10" name="Rectangle 9">
            <a:extLst>
              <a:ext uri="{FF2B5EF4-FFF2-40B4-BE49-F238E27FC236}">
                <a16:creationId xmlns:a16="http://schemas.microsoft.com/office/drawing/2014/main" id="{801FD1E2-11CE-4DAE-9452-1376646FC5FB}"/>
              </a:ext>
            </a:extLst>
          </p:cNvPr>
          <p:cNvSpPr>
            <a:spLocks noGrp="1"/>
          </p:cNvSpPr>
          <p:nvPr/>
        </p:nvSpPr>
        <p:spPr>
          <a:xfrm>
            <a:off x="8267700" y="2676525"/>
            <a:ext cx="3209925" cy="571500"/>
          </a:xfrm>
          <a:prstGeom prst="rect">
            <a:avLst/>
          </a:prstGeom>
          <a:noFill/>
          <a:ln w="0">
            <a:noFill/>
            <a:prstDash val="solid"/>
          </a:ln>
        </p:spPr>
        <p:txBody>
          <a:bodyPr wrap="square" lIns="38100" tIns="19050" rIns="38100" bIns="19050" anchor="t">
            <a:normAutofit/>
          </a:bodyPr>
          <a:lstStyle/>
          <a:p>
            <a:pPr algn="l">
              <a:defRPr sz="1275" b="0" i="0">
                <a:solidFill>
                  <a:srgbClr val="263746"/>
                </a:solidFill>
                <a:latin typeface="Arial"/>
                <a:ea typeface="Arial"/>
                <a:cs typeface="Arial"/>
              </a:defRPr>
            </a:pPr>
            <a:r>
              <a:rPr sz="1275" b="0" i="0" dirty="0" err="1">
                <a:solidFill>
                  <a:srgbClr val="263746"/>
                </a:solidFill>
                <a:latin typeface="Arial"/>
                <a:ea typeface="Arial"/>
                <a:cs typeface="Arial"/>
              </a:rPr>
              <a:t>Различна</a:t>
            </a:r>
            <a:r>
              <a:rPr sz="1275" b="0" i="0" dirty="0">
                <a:solidFill>
                  <a:srgbClr val="263746"/>
                </a:solidFill>
                <a:latin typeface="Arial"/>
                <a:ea typeface="Arial"/>
                <a:cs typeface="Arial"/>
              </a:rPr>
              <a:t> </a:t>
            </a:r>
            <a:r>
              <a:rPr sz="1275" b="0" i="0" dirty="0" err="1">
                <a:solidFill>
                  <a:srgbClr val="263746"/>
                </a:solidFill>
                <a:latin typeface="Arial"/>
                <a:ea typeface="Arial"/>
                <a:cs typeface="Arial"/>
              </a:rPr>
              <a:t>трансформација</a:t>
            </a:r>
            <a:r>
              <a:rPr sz="1275" b="0" i="0" dirty="0">
                <a:solidFill>
                  <a:srgbClr val="263746"/>
                </a:solidFill>
                <a:latin typeface="Arial"/>
                <a:ea typeface="Arial"/>
                <a:cs typeface="Arial"/>
              </a:rPr>
              <a:t> </a:t>
            </a:r>
            <a:r>
              <a:rPr sz="1275" b="0" i="0" dirty="0" err="1">
                <a:solidFill>
                  <a:srgbClr val="263746"/>
                </a:solidFill>
                <a:latin typeface="Arial"/>
                <a:ea typeface="Arial"/>
                <a:cs typeface="Arial"/>
              </a:rPr>
              <a:t>за</a:t>
            </a:r>
            <a:r>
              <a:rPr sz="1275" b="0" i="0" dirty="0">
                <a:solidFill>
                  <a:srgbClr val="263746"/>
                </a:solidFill>
                <a:latin typeface="Arial"/>
                <a:ea typeface="Arial"/>
                <a:cs typeface="Arial"/>
              </a:rPr>
              <a:t> </a:t>
            </a:r>
            <a:r>
              <a:rPr sz="1275" b="0" i="0" dirty="0" err="1">
                <a:solidFill>
                  <a:srgbClr val="263746"/>
                </a:solidFill>
                <a:latin typeface="Arial"/>
                <a:ea typeface="Arial"/>
                <a:cs typeface="Arial"/>
              </a:rPr>
              <a:t>секој</a:t>
            </a:r>
            <a:r>
              <a:rPr sz="1275" b="0" i="0" dirty="0">
                <a:solidFill>
                  <a:srgbClr val="263746"/>
                </a:solidFill>
                <a:latin typeface="Arial"/>
                <a:ea typeface="Arial"/>
                <a:cs typeface="Arial"/>
              </a:rPr>
              <a:t> </a:t>
            </a:r>
            <a:r>
              <a:rPr sz="1275" b="0" i="0" dirty="0" err="1">
                <a:solidFill>
                  <a:srgbClr val="263746"/>
                </a:solidFill>
                <a:latin typeface="Arial"/>
                <a:ea typeface="Arial"/>
                <a:cs typeface="Arial"/>
              </a:rPr>
              <a:t>тип</a:t>
            </a:r>
            <a:r>
              <a:rPr sz="1275" b="0" i="0" dirty="0">
                <a:solidFill>
                  <a:srgbClr val="263746"/>
                </a:solidFill>
                <a:latin typeface="Arial"/>
                <a:ea typeface="Arial"/>
                <a:cs typeface="Arial"/>
              </a:rPr>
              <a:t> </a:t>
            </a:r>
            <a:r>
              <a:rPr sz="1275" b="0" i="0" dirty="0" err="1">
                <a:solidFill>
                  <a:srgbClr val="263746"/>
                </a:solidFill>
                <a:latin typeface="Arial"/>
                <a:ea typeface="Arial"/>
                <a:cs typeface="Arial"/>
              </a:rPr>
              <a:t>релација</a:t>
            </a:r>
            <a:endParaRPr sz="1275" b="0" i="0" dirty="0">
              <a:solidFill>
                <a:srgbClr val="263746"/>
              </a:solidFill>
              <a:latin typeface="Arial"/>
              <a:ea typeface="Arial"/>
              <a:cs typeface="Arial"/>
            </a:endParaRPr>
          </a:p>
        </p:txBody>
      </p:sp>
      <p:sp>
        <p:nvSpPr>
          <p:cNvPr id="11" name="Rectangle 10">
            <a:extLst>
              <a:ext uri="{FF2B5EF4-FFF2-40B4-BE49-F238E27FC236}">
                <a16:creationId xmlns:a16="http://schemas.microsoft.com/office/drawing/2014/main" id="{E5D3B59A-C912-4E6C-83E3-51D0116A9EC9}"/>
              </a:ext>
            </a:extLst>
          </p:cNvPr>
          <p:cNvSpPr>
            <a:spLocks noGrp="1"/>
          </p:cNvSpPr>
          <p:nvPr/>
        </p:nvSpPr>
        <p:spPr>
          <a:xfrm>
            <a:off x="9327931" y="3419475"/>
            <a:ext cx="571172" cy="323850"/>
          </a:xfrm>
          <a:prstGeom prst="rect">
            <a:avLst/>
          </a:prstGeom>
          <a:noFill/>
          <a:ln w="0">
            <a:noFill/>
            <a:prstDash val="solid"/>
          </a:ln>
        </p:spPr>
        <p:txBody>
          <a:bodyPr wrap="square" lIns="38100" tIns="19050" rIns="38100" bIns="19050" anchor="ctr">
            <a:normAutofit/>
          </a:bodyPr>
          <a:lstStyle/>
          <a:p>
            <a:pPr algn="l">
              <a:defRPr sz="1650" b="1" i="0">
                <a:solidFill>
                  <a:srgbClr val="8064A2"/>
                </a:solidFill>
                <a:latin typeface="Arial"/>
                <a:ea typeface="Arial"/>
                <a:cs typeface="Arial"/>
              </a:defRPr>
            </a:pPr>
            <a:r>
              <a:rPr sz="1650" b="1" i="0" dirty="0">
                <a:solidFill>
                  <a:srgbClr val="8064A2"/>
                </a:solidFill>
                <a:latin typeface="Arial"/>
                <a:ea typeface="Arial"/>
                <a:cs typeface="Arial"/>
              </a:rPr>
              <a:t>HGT</a:t>
            </a:r>
          </a:p>
        </p:txBody>
      </p:sp>
      <mc:AlternateContent xmlns:mc="http://schemas.openxmlformats.org/markup-compatibility/2006" xmlns:a14="http://schemas.microsoft.com/office/drawing/2010/main">
        <mc:Choice Requires="a14">
          <p:sp>
            <p:nvSpPr>
              <p:cNvPr id="12" name="Rounded Rectangle 11">
                <a:extLst>
                  <a:ext uri="{FF2B5EF4-FFF2-40B4-BE49-F238E27FC236}">
                    <a16:creationId xmlns:a16="http://schemas.microsoft.com/office/drawing/2014/main" id="{52331E24-8995-4DC4-ADE2-BEA978F86537}"/>
                  </a:ext>
                </a:extLst>
              </p:cNvPr>
              <p:cNvSpPr>
                <a:spLocks noGrp="1"/>
              </p:cNvSpPr>
              <p:nvPr/>
            </p:nvSpPr>
            <p:spPr>
              <a:xfrm>
                <a:off x="6836898" y="3781425"/>
                <a:ext cx="5116977" cy="933450"/>
              </a:xfrm>
              <a:prstGeom prst="roundRect">
                <a:avLst>
                  <a:gd name="adj" fmla="val 13158"/>
                </a:avLst>
              </a:prstGeom>
              <a:solidFill>
                <a:srgbClr val="F1ECF7"/>
              </a:solidFill>
              <a:ln w="11430">
                <a:solidFill>
                  <a:srgbClr val="8064A2"/>
                </a:solidFill>
                <a:prstDash val="solid"/>
              </a:ln>
            </p:spPr>
            <p:txBody>
              <a:bodyPr anchor="ctr"/>
              <a:lstStyle/>
              <a:p>
                <a:pPr/>
                <a14:m>
                  <m:oMathPara xmlns:m="http://schemas.openxmlformats.org/officeDocument/2006/math">
                    <m:oMathParaPr>
                      <m:jc m:val="centerGroup"/>
                    </m:oMathParaPr>
                    <m:oMath xmlns:m="http://schemas.openxmlformats.org/officeDocument/2006/math">
                      <m:sSubSup>
                        <m:sSubSupPr>
                          <m:ctrlPr>
                            <a:rPr lang="el-GR" i="1" smtClean="0">
                              <a:latin typeface="Cambria Math" panose="02040503050406030204" pitchFamily="18" charset="0"/>
                            </a:rPr>
                          </m:ctrlPr>
                        </m:sSubSupPr>
                        <m:e>
                          <m:r>
                            <a:rPr lang="el-GR" i="1" smtClean="0">
                              <a:latin typeface="Cambria Math" panose="02040503050406030204" pitchFamily="18" charset="0"/>
                            </a:rPr>
                            <m:t>𝛼</m:t>
                          </m:r>
                        </m:e>
                        <m:sub>
                          <m:r>
                            <a:rPr lang="en-US" i="1">
                              <a:latin typeface="Cambria Math" panose="02040503050406030204" pitchFamily="18" charset="0"/>
                            </a:rPr>
                            <m:t>𝑢𝑣</m:t>
                          </m:r>
                        </m:sub>
                        <m:sup>
                          <m:r>
                            <a:rPr lang="en-US" i="1">
                              <a:latin typeface="Cambria Math" panose="02040503050406030204" pitchFamily="18" charset="0"/>
                            </a:rPr>
                            <m:t>𝑟</m:t>
                          </m:r>
                          <m:r>
                            <a:rPr lang="en-US" i="1">
                              <a:latin typeface="Cambria Math" panose="02040503050406030204" pitchFamily="18" charset="0"/>
                            </a:rPr>
                            <m:t>,</m:t>
                          </m:r>
                          <m:r>
                            <a:rPr lang="en-US" i="1">
                              <a:latin typeface="Cambria Math" panose="02040503050406030204" pitchFamily="18" charset="0"/>
                            </a:rPr>
                            <m:t>𝑗</m:t>
                          </m:r>
                        </m:sup>
                      </m:sSubSup>
                      <m:r>
                        <a:rPr lang="en-US" i="1">
                          <a:latin typeface="Cambria Math" panose="02040503050406030204" pitchFamily="18" charset="0"/>
                        </a:rPr>
                        <m:t>=</m:t>
                      </m:r>
                      <m:r>
                        <m:rPr>
                          <m:nor/>
                        </m:rPr>
                        <a:rPr lang="en-US" i="0">
                          <a:latin typeface="Cambria Math" panose="02040503050406030204" pitchFamily="18" charset="0"/>
                        </a:rPr>
                        <m:t>softmax</m:t>
                      </m:r>
                      <m:d>
                        <m:dPr>
                          <m:ctrlPr>
                            <a:rPr lang="en-US" i="1">
                              <a:latin typeface="Cambria Math" panose="02040503050406030204" pitchFamily="18" charset="0"/>
                            </a:rPr>
                          </m:ctrlPr>
                        </m:dPr>
                        <m:e>
                          <m:sSubSup>
                            <m:sSubSupPr>
                              <m:ctrlPr>
                                <a:rPr lang="en-US" i="1">
                                  <a:latin typeface="Cambria Math" panose="02040503050406030204" pitchFamily="18" charset="0"/>
                                </a:rPr>
                              </m:ctrlPr>
                            </m:sSubSupPr>
                            <m:e>
                              <m:r>
                                <a:rPr lang="en-US" i="1">
                                  <a:latin typeface="Cambria Math" panose="02040503050406030204" pitchFamily="18" charset="0"/>
                                </a:rPr>
                                <m:t>𝑒</m:t>
                              </m:r>
                            </m:e>
                            <m:sub>
                              <m:r>
                                <a:rPr lang="en-US" i="1">
                                  <a:latin typeface="Cambria Math" panose="02040503050406030204" pitchFamily="18" charset="0"/>
                                </a:rPr>
                                <m:t>𝑢𝑣</m:t>
                              </m:r>
                            </m:sub>
                            <m:sup>
                              <m:r>
                                <a:rPr lang="en-US" i="1">
                                  <a:latin typeface="Cambria Math" panose="02040503050406030204" pitchFamily="18" charset="0"/>
                                </a:rPr>
                                <m:t>𝑟</m:t>
                              </m:r>
                              <m:r>
                                <a:rPr lang="en-US" i="1">
                                  <a:latin typeface="Cambria Math" panose="02040503050406030204" pitchFamily="18" charset="0"/>
                                </a:rPr>
                                <m:t>,</m:t>
                              </m:r>
                              <m:r>
                                <a:rPr lang="en-US" i="1">
                                  <a:latin typeface="Cambria Math" panose="02040503050406030204" pitchFamily="18" charset="0"/>
                                </a:rPr>
                                <m:t>𝑗</m:t>
                              </m:r>
                            </m:sup>
                          </m:sSubSup>
                        </m:e>
                      </m:d>
                    </m:oMath>
                  </m:oMathPara>
                </a14:m>
                <a:endParaRPr lang="en-US" dirty="0"/>
              </a:p>
            </p:txBody>
          </p:sp>
        </mc:Choice>
        <mc:Fallback xmlns="">
          <p:sp>
            <p:nvSpPr>
              <p:cNvPr id="12" name="Rounded Rectangle 11">
                <a:extLst>
                  <a:ext uri="{FF2B5EF4-FFF2-40B4-BE49-F238E27FC236}">
                    <a16:creationId xmlns:a16="http://schemas.microsoft.com/office/drawing/2014/main" id="{52331E24-8995-4DC4-ADE2-BEA978F86537}"/>
                  </a:ext>
                </a:extLst>
              </p:cNvPr>
              <p:cNvSpPr>
                <a:spLocks noGrp="1" noRot="1" noChangeAspect="1" noMove="1" noResize="1" noEditPoints="1" noAdjustHandles="1" noChangeArrowheads="1" noChangeShapeType="1" noTextEdit="1"/>
              </p:cNvSpPr>
              <p:nvPr/>
            </p:nvSpPr>
            <p:spPr>
              <a:xfrm>
                <a:off x="6836898" y="3781425"/>
                <a:ext cx="5116977" cy="933450"/>
              </a:xfrm>
              <a:prstGeom prst="roundRect">
                <a:avLst>
                  <a:gd name="adj" fmla="val 13158"/>
                </a:avLst>
              </a:prstGeom>
              <a:blipFill>
                <a:blip r:embed="rId5"/>
                <a:stretch>
                  <a:fillRect/>
                </a:stretch>
              </a:blipFill>
              <a:ln w="11430">
                <a:solidFill>
                  <a:srgbClr val="8064A2"/>
                </a:solidFill>
                <a:prstDash val="solid"/>
              </a:ln>
            </p:spPr>
            <p:txBody>
              <a:bodyPr/>
              <a:lstStyle/>
              <a:p>
                <a:r>
                  <a:rPr lang="en-US">
                    <a:noFill/>
                  </a:rPr>
                  <a:t> </a:t>
                </a:r>
              </a:p>
            </p:txBody>
          </p:sp>
        </mc:Fallback>
      </mc:AlternateContent>
      <p:sp>
        <p:nvSpPr>
          <p:cNvPr id="14" name="Oval 13">
            <a:extLst>
              <a:ext uri="{FF2B5EF4-FFF2-40B4-BE49-F238E27FC236}">
                <a16:creationId xmlns:a16="http://schemas.microsoft.com/office/drawing/2014/main" id="{97815CA0-7362-4887-9332-C3B8BD75789C}"/>
              </a:ext>
            </a:extLst>
          </p:cNvPr>
          <p:cNvSpPr>
            <a:spLocks noGrp="1"/>
          </p:cNvSpPr>
          <p:nvPr/>
        </p:nvSpPr>
        <p:spPr>
          <a:xfrm>
            <a:off x="8096250" y="4962525"/>
            <a:ext cx="66675" cy="66675"/>
          </a:xfrm>
          <a:prstGeom prst="ellipse">
            <a:avLst/>
          </a:prstGeom>
          <a:solidFill>
            <a:srgbClr val="8064A2"/>
          </a:solidFill>
          <a:ln w="0">
            <a:noFill/>
            <a:prstDash val="solid"/>
          </a:ln>
        </p:spPr>
        <p:txBody>
          <a:bodyPr/>
          <a:lstStyle/>
          <a:p>
            <a:endParaRPr lang="en-US"/>
          </a:p>
        </p:txBody>
      </p:sp>
      <p:sp>
        <p:nvSpPr>
          <p:cNvPr id="15" name="Rectangle 14">
            <a:extLst>
              <a:ext uri="{FF2B5EF4-FFF2-40B4-BE49-F238E27FC236}">
                <a16:creationId xmlns:a16="http://schemas.microsoft.com/office/drawing/2014/main" id="{F949DDA8-9B01-463F-B7A4-AFB33009ADB3}"/>
              </a:ext>
            </a:extLst>
          </p:cNvPr>
          <p:cNvSpPr>
            <a:spLocks noGrp="1"/>
          </p:cNvSpPr>
          <p:nvPr/>
        </p:nvSpPr>
        <p:spPr>
          <a:xfrm>
            <a:off x="8267700" y="4857750"/>
            <a:ext cx="3209925" cy="552450"/>
          </a:xfrm>
          <a:prstGeom prst="rect">
            <a:avLst/>
          </a:prstGeom>
          <a:noFill/>
          <a:ln w="0">
            <a:noFill/>
            <a:prstDash val="solid"/>
          </a:ln>
        </p:spPr>
        <p:txBody>
          <a:bodyPr wrap="square" lIns="38100" tIns="19050" rIns="38100" bIns="19050" anchor="t">
            <a:normAutofit/>
          </a:bodyPr>
          <a:lstStyle/>
          <a:p>
            <a:pPr algn="l">
              <a:defRPr sz="1275" b="0" i="0">
                <a:solidFill>
                  <a:srgbClr val="263746"/>
                </a:solidFill>
                <a:latin typeface="Arial"/>
                <a:ea typeface="Arial"/>
                <a:cs typeface="Arial"/>
              </a:defRPr>
            </a:pPr>
            <a:r>
              <a:rPr sz="1275" b="0" i="0">
                <a:solidFill>
                  <a:srgbClr val="263746"/>
                </a:solidFill>
                <a:latin typeface="Arial"/>
                <a:ea typeface="Arial"/>
                <a:cs typeface="Arial"/>
              </a:rPr>
              <a:t>Релациски зависен attention за соседите</a:t>
            </a:r>
          </a:p>
        </p:txBody>
      </p:sp>
      <p:sp>
        <p:nvSpPr>
          <p:cNvPr id="16" name="Rectangle 15">
            <a:extLst>
              <a:ext uri="{FF2B5EF4-FFF2-40B4-BE49-F238E27FC236}">
                <a16:creationId xmlns:a16="http://schemas.microsoft.com/office/drawing/2014/main" id="{0536A29F-2883-4018-AF16-3B246E59CF05}"/>
              </a:ext>
            </a:extLst>
          </p:cNvPr>
          <p:cNvSpPr>
            <a:spLocks noGrp="1"/>
          </p:cNvSpPr>
          <p:nvPr/>
        </p:nvSpPr>
        <p:spPr>
          <a:xfrm>
            <a:off x="809625" y="5743575"/>
            <a:ext cx="10572750" cy="457200"/>
          </a:xfrm>
          <a:prstGeom prst="rect">
            <a:avLst/>
          </a:prstGeom>
          <a:noFill/>
          <a:ln w="0">
            <a:noFill/>
            <a:prstDash val="solid"/>
          </a:ln>
        </p:spPr>
        <p:txBody>
          <a:bodyPr wrap="square" lIns="38100" tIns="19050" rIns="38100" bIns="19050" anchor="ctr">
            <a:normAutofit/>
          </a:bodyPr>
          <a:lstStyle/>
          <a:p>
            <a:pPr algn="ctr">
              <a:defRPr sz="1500" b="1" i="0">
                <a:solidFill>
                  <a:srgbClr val="263746"/>
                </a:solidFill>
                <a:latin typeface="Arial"/>
                <a:ea typeface="Arial"/>
                <a:cs typeface="Arial"/>
              </a:defRPr>
            </a:pPr>
            <a:r>
              <a:rPr sz="1500" b="1" i="0">
                <a:solidFill>
                  <a:srgbClr val="263746"/>
                </a:solidFill>
                <a:latin typeface="Arial"/>
                <a:ea typeface="Arial"/>
                <a:cs typeface="Arial"/>
              </a:rPr>
              <a:t>И двете архитектури ја задржуваат релациската структура, но ја моделираат на различен начин.</a:t>
            </a:r>
          </a:p>
        </p:txBody>
      </p:sp>
    </p:spTree>
    <p:extLst>
      <p:ext uri="{BB962C8B-B14F-4D97-AF65-F5344CB8AC3E}">
        <p14:creationId xmlns:p14="http://schemas.microsoft.com/office/powerpoint/2010/main" val="6253764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E4DC3116-E27C-4D62-A2F2-91A0C7C3856A}"/>
              </a:ext>
            </a:extLst>
          </p:cNvPr>
          <p:cNvSpPr>
            <a:spLocks noGrp="1"/>
          </p:cNvSpPr>
          <p:nvPr/>
        </p:nvSpPr>
        <p:spPr>
          <a:xfrm>
            <a:off x="552450" y="209550"/>
            <a:ext cx="10763250" cy="523875"/>
          </a:xfrm>
          <a:prstGeom prst="rect">
            <a:avLst/>
          </a:prstGeom>
          <a:noFill/>
          <a:ln w="0">
            <a:noFill/>
            <a:prstDash val="solid"/>
          </a:ln>
        </p:spPr>
        <p:txBody>
          <a:bodyPr wrap="square" lIns="38100" tIns="19050" rIns="38100" bIns="19050" anchor="ctr">
            <a:normAutofit/>
          </a:bodyPr>
          <a:lstStyle/>
          <a:p>
            <a:pPr algn="l">
              <a:defRPr sz="2325" b="1" i="0">
                <a:solidFill>
                  <a:srgbClr val="263746"/>
                </a:solidFill>
                <a:latin typeface="Arial"/>
                <a:ea typeface="Arial"/>
                <a:cs typeface="Arial"/>
              </a:defRPr>
            </a:pPr>
            <a:r>
              <a:rPr sz="2325" b="1" i="0">
                <a:solidFill>
                  <a:srgbClr val="263746"/>
                </a:solidFill>
                <a:latin typeface="Arial"/>
                <a:ea typeface="Arial"/>
                <a:cs typeface="Arial"/>
              </a:rPr>
              <a:t>ReaRev</a:t>
            </a:r>
          </a:p>
        </p:txBody>
      </p:sp>
      <p:sp>
        <p:nvSpPr>
          <p:cNvPr id="2" name="Rectangle 1">
            <a:extLst>
              <a:ext uri="{FF2B5EF4-FFF2-40B4-BE49-F238E27FC236}">
                <a16:creationId xmlns:a16="http://schemas.microsoft.com/office/drawing/2014/main" id="{F97E67DC-197D-4D52-A9AA-1ECB77F2A3E6}"/>
              </a:ext>
            </a:extLst>
          </p:cNvPr>
          <p:cNvSpPr>
            <a:spLocks noGrp="1"/>
          </p:cNvSpPr>
          <p:nvPr/>
        </p:nvSpPr>
        <p:spPr>
          <a:xfrm>
            <a:off x="552450" y="781050"/>
            <a:ext cx="11087100" cy="38100"/>
          </a:xfrm>
          <a:prstGeom prst="rect">
            <a:avLst/>
          </a:prstGeom>
          <a:solidFill>
            <a:srgbClr val="D97942"/>
          </a:solidFill>
          <a:ln w="0">
            <a:noFill/>
            <a:prstDash val="solid"/>
          </a:ln>
        </p:spPr>
        <p:txBody>
          <a:bodyPr/>
          <a:lstStyle/>
          <a:p>
            <a:endParaRPr lang="en-US"/>
          </a:p>
        </p:txBody>
      </p:sp>
      <p:sp>
        <p:nvSpPr>
          <p:cNvPr id="3" name="Rectangle 2">
            <a:extLst>
              <a:ext uri="{FF2B5EF4-FFF2-40B4-BE49-F238E27FC236}">
                <a16:creationId xmlns:a16="http://schemas.microsoft.com/office/drawing/2014/main" id="{ECD886A8-476D-42AF-AADA-867D703D26F1}"/>
              </a:ext>
            </a:extLst>
          </p:cNvPr>
          <p:cNvSpPr>
            <a:spLocks noGrp="1"/>
          </p:cNvSpPr>
          <p:nvPr/>
        </p:nvSpPr>
        <p:spPr>
          <a:xfrm>
            <a:off x="552450" y="6486525"/>
            <a:ext cx="9334500" cy="228600"/>
          </a:xfrm>
          <a:prstGeom prst="rect">
            <a:avLst/>
          </a:prstGeom>
          <a:noFill/>
          <a:ln w="0">
            <a:noFill/>
            <a:prstDash val="solid"/>
          </a:ln>
        </p:spPr>
        <p:txBody>
          <a:bodyPr wrap="square" lIns="38100" tIns="19050" rIns="38100" bIns="19050" anchor="b">
            <a:normAutofit/>
          </a:bodyPr>
          <a:lstStyle/>
          <a:p>
            <a:pPr algn="l">
              <a:defRPr sz="825" b="0" i="0">
                <a:solidFill>
                  <a:srgbClr val="617080"/>
                </a:solidFill>
                <a:latin typeface="Arial"/>
                <a:ea typeface="Arial"/>
                <a:cs typeface="Arial"/>
              </a:defRPr>
            </a:pPr>
            <a:r>
              <a:rPr sz="825" b="0" i="0">
                <a:solidFill>
                  <a:srgbClr val="617080"/>
                </a:solidFill>
                <a:latin typeface="Arial"/>
                <a:ea typeface="Arial"/>
                <a:cs typeface="Arial"/>
              </a:rPr>
              <a:t>Mavromatis and Karypis, 2022</a:t>
            </a:r>
          </a:p>
        </p:txBody>
      </p:sp>
      <p:sp>
        <p:nvSpPr>
          <p:cNvPr id="4" name="Rectangle 3">
            <a:extLst>
              <a:ext uri="{FF2B5EF4-FFF2-40B4-BE49-F238E27FC236}">
                <a16:creationId xmlns:a16="http://schemas.microsoft.com/office/drawing/2014/main" id="{AA4257D3-EE98-48F7-8C32-EF9812E753AE}"/>
              </a:ext>
            </a:extLst>
          </p:cNvPr>
          <p:cNvSpPr>
            <a:spLocks noGrp="1"/>
          </p:cNvSpPr>
          <p:nvPr/>
        </p:nvSpPr>
        <p:spPr>
          <a:xfrm>
            <a:off x="11315700" y="6486525"/>
            <a:ext cx="323850" cy="228600"/>
          </a:xfrm>
          <a:prstGeom prst="rect">
            <a:avLst/>
          </a:prstGeom>
          <a:noFill/>
          <a:ln w="0">
            <a:noFill/>
            <a:prstDash val="solid"/>
          </a:ln>
        </p:spPr>
        <p:txBody>
          <a:bodyPr wrap="square" lIns="38100" tIns="19050" rIns="38100" bIns="19050" anchor="b">
            <a:normAutofit/>
          </a:bodyPr>
          <a:lstStyle/>
          <a:p>
            <a:pPr algn="r">
              <a:defRPr sz="900" b="0" i="0">
                <a:solidFill>
                  <a:srgbClr val="617080"/>
                </a:solidFill>
                <a:latin typeface="Arial"/>
                <a:ea typeface="Arial"/>
                <a:cs typeface="Arial"/>
              </a:defRPr>
            </a:pPr>
            <a:r>
              <a:rPr sz="900" b="0" i="0">
                <a:solidFill>
                  <a:srgbClr val="617080"/>
                </a:solidFill>
                <a:latin typeface="Arial"/>
                <a:ea typeface="Arial"/>
                <a:cs typeface="Arial"/>
              </a:rPr>
              <a:t>11</a:t>
            </a:r>
          </a:p>
        </p:txBody>
      </p:sp>
      <p:pic>
        <p:nvPicPr>
          <p:cNvPr id="20" name="Picture 19"/>
          <p:cNvPicPr>
            <a:picLocks noChangeAspect="1"/>
          </p:cNvPicPr>
          <p:nvPr/>
        </p:nvPicPr>
        <p:blipFill>
          <a:blip r:embed="rId3"/>
          <a:stretch/>
        </p:blipFill>
        <p:spPr>
          <a:xfrm>
            <a:off x="241829" y="1028700"/>
            <a:ext cx="7755467" cy="4362450"/>
          </a:xfrm>
          <a:prstGeom prst="rect">
            <a:avLst/>
          </a:prstGeom>
        </p:spPr>
      </p:pic>
      <p:sp>
        <p:nvSpPr>
          <p:cNvPr id="6" name="Rectangle 5">
            <a:extLst>
              <a:ext uri="{FF2B5EF4-FFF2-40B4-BE49-F238E27FC236}">
                <a16:creationId xmlns:a16="http://schemas.microsoft.com/office/drawing/2014/main" id="{1A6C4C42-9E4D-4990-A66B-F245FCC3B2D2}"/>
              </a:ext>
            </a:extLst>
          </p:cNvPr>
          <p:cNvSpPr>
            <a:spLocks noGrp="1"/>
          </p:cNvSpPr>
          <p:nvPr/>
        </p:nvSpPr>
        <p:spPr>
          <a:xfrm>
            <a:off x="8286750" y="1104900"/>
            <a:ext cx="3238500" cy="400050"/>
          </a:xfrm>
          <a:prstGeom prst="rect">
            <a:avLst/>
          </a:prstGeom>
          <a:noFill/>
          <a:ln w="0">
            <a:noFill/>
            <a:prstDash val="solid"/>
          </a:ln>
        </p:spPr>
        <p:txBody>
          <a:bodyPr wrap="square" lIns="38100" tIns="19050" rIns="38100" bIns="19050" anchor="ctr">
            <a:normAutofit/>
          </a:bodyPr>
          <a:lstStyle/>
          <a:p>
            <a:pPr algn="l">
              <a:defRPr sz="1650" b="1" i="0">
                <a:solidFill>
                  <a:srgbClr val="8064A2"/>
                </a:solidFill>
                <a:latin typeface="Arial"/>
                <a:ea typeface="Arial"/>
                <a:cs typeface="Arial"/>
              </a:defRPr>
            </a:pPr>
            <a:r>
              <a:rPr sz="1650" b="1" i="0">
                <a:solidFill>
                  <a:srgbClr val="8064A2"/>
                </a:solidFill>
                <a:latin typeface="Arial"/>
                <a:ea typeface="Arial"/>
                <a:cs typeface="Arial"/>
              </a:rPr>
              <a:t>Приспособливо расудување</a:t>
            </a:r>
          </a:p>
        </p:txBody>
      </p:sp>
      <p:sp>
        <p:nvSpPr>
          <p:cNvPr id="7" name="Oval 6">
            <a:extLst>
              <a:ext uri="{FF2B5EF4-FFF2-40B4-BE49-F238E27FC236}">
                <a16:creationId xmlns:a16="http://schemas.microsoft.com/office/drawing/2014/main" id="{DF5D94DF-9B7E-4D12-B245-F35CA9150F4A}"/>
              </a:ext>
            </a:extLst>
          </p:cNvPr>
          <p:cNvSpPr>
            <a:spLocks noGrp="1"/>
          </p:cNvSpPr>
          <p:nvPr/>
        </p:nvSpPr>
        <p:spPr>
          <a:xfrm>
            <a:off x="8334375" y="1800225"/>
            <a:ext cx="66675" cy="66675"/>
          </a:xfrm>
          <a:prstGeom prst="ellipse">
            <a:avLst/>
          </a:prstGeom>
          <a:solidFill>
            <a:srgbClr val="8064A2"/>
          </a:solidFill>
          <a:ln w="0">
            <a:noFill/>
            <a:prstDash val="solid"/>
          </a:ln>
        </p:spPr>
        <p:txBody>
          <a:bodyPr/>
          <a:lstStyle/>
          <a:p>
            <a:endParaRPr lang="en-US"/>
          </a:p>
        </p:txBody>
      </p:sp>
      <p:sp>
        <p:nvSpPr>
          <p:cNvPr id="8" name="Rectangle 7">
            <a:extLst>
              <a:ext uri="{FF2B5EF4-FFF2-40B4-BE49-F238E27FC236}">
                <a16:creationId xmlns:a16="http://schemas.microsoft.com/office/drawing/2014/main" id="{CBF9AB62-D673-4419-AC43-4B305875D248}"/>
              </a:ext>
            </a:extLst>
          </p:cNvPr>
          <p:cNvSpPr>
            <a:spLocks noGrp="1"/>
          </p:cNvSpPr>
          <p:nvPr/>
        </p:nvSpPr>
        <p:spPr>
          <a:xfrm>
            <a:off x="8505825" y="1695450"/>
            <a:ext cx="2924175" cy="590550"/>
          </a:xfrm>
          <a:prstGeom prst="rect">
            <a:avLst/>
          </a:prstGeom>
          <a:noFill/>
          <a:ln w="0">
            <a:noFill/>
            <a:prstDash val="solid"/>
          </a:ln>
        </p:spPr>
        <p:txBody>
          <a:bodyPr wrap="square" lIns="38100" tIns="19050" rIns="38100" bIns="19050" anchor="t">
            <a:normAutofit/>
          </a:bodyPr>
          <a:lstStyle/>
          <a:p>
            <a:pPr algn="l">
              <a:defRPr sz="1275" b="0" i="0">
                <a:solidFill>
                  <a:srgbClr val="263746"/>
                </a:solidFill>
                <a:latin typeface="Arial"/>
                <a:ea typeface="Arial"/>
                <a:cs typeface="Arial"/>
              </a:defRPr>
            </a:pPr>
            <a:r>
              <a:rPr lang="mk-MK" sz="1275" b="0" i="0" dirty="0">
                <a:solidFill>
                  <a:srgbClr val="263746"/>
                </a:solidFill>
                <a:latin typeface="Arial"/>
                <a:ea typeface="Arial"/>
                <a:cs typeface="Arial"/>
              </a:rPr>
              <a:t>Од прашањето се извлекуваат повеќе инструкции</a:t>
            </a:r>
            <a:endParaRPr sz="1275" b="0" i="0" dirty="0">
              <a:solidFill>
                <a:srgbClr val="263746"/>
              </a:solidFill>
              <a:latin typeface="Arial"/>
              <a:ea typeface="Arial"/>
              <a:cs typeface="Arial"/>
            </a:endParaRPr>
          </a:p>
        </p:txBody>
      </p:sp>
      <p:sp>
        <p:nvSpPr>
          <p:cNvPr id="9" name="Oval 8">
            <a:extLst>
              <a:ext uri="{FF2B5EF4-FFF2-40B4-BE49-F238E27FC236}">
                <a16:creationId xmlns:a16="http://schemas.microsoft.com/office/drawing/2014/main" id="{FDC87FAE-1EEB-4E20-9835-C603E3EC3731}"/>
              </a:ext>
            </a:extLst>
          </p:cNvPr>
          <p:cNvSpPr>
            <a:spLocks noGrp="1"/>
          </p:cNvSpPr>
          <p:nvPr/>
        </p:nvSpPr>
        <p:spPr>
          <a:xfrm>
            <a:off x="8334375" y="2533650"/>
            <a:ext cx="66675" cy="66675"/>
          </a:xfrm>
          <a:prstGeom prst="ellipse">
            <a:avLst/>
          </a:prstGeom>
          <a:solidFill>
            <a:srgbClr val="8064A2"/>
          </a:solidFill>
          <a:ln w="0">
            <a:noFill/>
            <a:prstDash val="solid"/>
          </a:ln>
        </p:spPr>
        <p:txBody>
          <a:bodyPr/>
          <a:lstStyle/>
          <a:p>
            <a:endParaRPr lang="en-US"/>
          </a:p>
        </p:txBody>
      </p:sp>
      <p:sp>
        <p:nvSpPr>
          <p:cNvPr id="10" name="Rectangle 9">
            <a:extLst>
              <a:ext uri="{FF2B5EF4-FFF2-40B4-BE49-F238E27FC236}">
                <a16:creationId xmlns:a16="http://schemas.microsoft.com/office/drawing/2014/main" id="{52C69956-54DE-4C5C-82E5-CE3C27FCCF16}"/>
              </a:ext>
            </a:extLst>
          </p:cNvPr>
          <p:cNvSpPr>
            <a:spLocks noGrp="1"/>
          </p:cNvSpPr>
          <p:nvPr/>
        </p:nvSpPr>
        <p:spPr>
          <a:xfrm>
            <a:off x="8505825" y="2428875"/>
            <a:ext cx="2924175" cy="590550"/>
          </a:xfrm>
          <a:prstGeom prst="rect">
            <a:avLst/>
          </a:prstGeom>
          <a:noFill/>
          <a:ln w="0">
            <a:noFill/>
            <a:prstDash val="solid"/>
          </a:ln>
        </p:spPr>
        <p:txBody>
          <a:bodyPr wrap="square" lIns="38100" tIns="19050" rIns="38100" bIns="19050" anchor="t">
            <a:normAutofit/>
          </a:bodyPr>
          <a:lstStyle/>
          <a:p>
            <a:pPr algn="l">
              <a:defRPr sz="1275" b="0" i="0">
                <a:solidFill>
                  <a:srgbClr val="263746"/>
                </a:solidFill>
                <a:latin typeface="Arial"/>
                <a:ea typeface="Arial"/>
                <a:cs typeface="Arial"/>
              </a:defRPr>
            </a:pPr>
            <a:r>
              <a:rPr sz="1275" b="0" i="0">
                <a:solidFill>
                  <a:srgbClr val="263746"/>
                </a:solidFill>
                <a:latin typeface="Arial"/>
                <a:ea typeface="Arial"/>
                <a:cs typeface="Arial"/>
              </a:rPr>
              <a:t>Инструкциите го насочуваат преносот на пораки.</a:t>
            </a:r>
          </a:p>
        </p:txBody>
      </p:sp>
      <p:sp>
        <p:nvSpPr>
          <p:cNvPr id="11" name="Oval 10">
            <a:extLst>
              <a:ext uri="{FF2B5EF4-FFF2-40B4-BE49-F238E27FC236}">
                <a16:creationId xmlns:a16="http://schemas.microsoft.com/office/drawing/2014/main" id="{4624EDB0-9C5C-42B4-B6B9-9A572DCAC60E}"/>
              </a:ext>
            </a:extLst>
          </p:cNvPr>
          <p:cNvSpPr>
            <a:spLocks noGrp="1"/>
          </p:cNvSpPr>
          <p:nvPr/>
        </p:nvSpPr>
        <p:spPr>
          <a:xfrm>
            <a:off x="8334375" y="3267075"/>
            <a:ext cx="66675" cy="66675"/>
          </a:xfrm>
          <a:prstGeom prst="ellipse">
            <a:avLst/>
          </a:prstGeom>
          <a:solidFill>
            <a:srgbClr val="8064A2"/>
          </a:solidFill>
          <a:ln w="0">
            <a:noFill/>
            <a:prstDash val="solid"/>
          </a:ln>
        </p:spPr>
        <p:txBody>
          <a:bodyPr/>
          <a:lstStyle/>
          <a:p>
            <a:endParaRPr lang="en-US"/>
          </a:p>
        </p:txBody>
      </p:sp>
      <p:sp>
        <p:nvSpPr>
          <p:cNvPr id="12" name="Rectangle 11">
            <a:extLst>
              <a:ext uri="{FF2B5EF4-FFF2-40B4-BE49-F238E27FC236}">
                <a16:creationId xmlns:a16="http://schemas.microsoft.com/office/drawing/2014/main" id="{18916FE0-107B-4CB6-A81C-9235B2EC3ADB}"/>
              </a:ext>
            </a:extLst>
          </p:cNvPr>
          <p:cNvSpPr>
            <a:spLocks noGrp="1"/>
          </p:cNvSpPr>
          <p:nvPr/>
        </p:nvSpPr>
        <p:spPr>
          <a:xfrm>
            <a:off x="8505825" y="3162300"/>
            <a:ext cx="2924175" cy="590550"/>
          </a:xfrm>
          <a:prstGeom prst="rect">
            <a:avLst/>
          </a:prstGeom>
          <a:noFill/>
          <a:ln w="0">
            <a:noFill/>
            <a:prstDash val="solid"/>
          </a:ln>
        </p:spPr>
        <p:txBody>
          <a:bodyPr wrap="square" lIns="38100" tIns="19050" rIns="38100" bIns="19050" anchor="t">
            <a:normAutofit/>
          </a:bodyPr>
          <a:lstStyle/>
          <a:p>
            <a:pPr algn="l">
              <a:defRPr sz="1275" b="0" i="0">
                <a:solidFill>
                  <a:srgbClr val="263746"/>
                </a:solidFill>
                <a:latin typeface="Arial"/>
                <a:ea typeface="Arial"/>
                <a:cs typeface="Arial"/>
              </a:defRPr>
            </a:pPr>
            <a:r>
              <a:rPr sz="1275" b="0" i="0">
                <a:solidFill>
                  <a:srgbClr val="263746"/>
                </a:solidFill>
                <a:latin typeface="Arial"/>
                <a:ea typeface="Arial"/>
                <a:cs typeface="Arial"/>
              </a:rPr>
              <a:t>Собраната информација ги ревидира инструкциите.</a:t>
            </a:r>
          </a:p>
        </p:txBody>
      </p:sp>
      <mc:AlternateContent xmlns:mc="http://schemas.openxmlformats.org/markup-compatibility/2006" xmlns:a14="http://schemas.microsoft.com/office/drawing/2010/main">
        <mc:Choice Requires="a14">
          <p:sp>
            <p:nvSpPr>
              <p:cNvPr id="13" name="Rounded Rectangle 12">
                <a:extLst>
                  <a:ext uri="{FF2B5EF4-FFF2-40B4-BE49-F238E27FC236}">
                    <a16:creationId xmlns:a16="http://schemas.microsoft.com/office/drawing/2014/main" id="{85A7417E-1267-4331-AACF-8FEA57E9B641}"/>
                  </a:ext>
                </a:extLst>
              </p:cNvPr>
              <p:cNvSpPr>
                <a:spLocks noGrp="1"/>
              </p:cNvSpPr>
              <p:nvPr/>
            </p:nvSpPr>
            <p:spPr>
              <a:xfrm>
                <a:off x="8096250" y="4191000"/>
                <a:ext cx="3524250" cy="819150"/>
              </a:xfrm>
              <a:prstGeom prst="roundRect">
                <a:avLst>
                  <a:gd name="adj" fmla="val 11628"/>
                </a:avLst>
              </a:prstGeom>
              <a:solidFill>
                <a:srgbClr val="F1ECF7"/>
              </a:solidFill>
              <a:ln w="11430">
                <a:solidFill>
                  <a:srgbClr val="8064A2"/>
                </a:solidFill>
                <a:prstDash val="solid"/>
              </a:ln>
            </p:spPr>
            <p:txBody>
              <a:bodyPr anchor="ctr"/>
              <a:lstStyle/>
              <a:p>
                <a:pPr/>
                <a14:m>
                  <m:oMathPara xmlns:m="http://schemas.openxmlformats.org/officeDocument/2006/math">
                    <m:oMathParaPr>
                      <m:jc m:val="centerGroup"/>
                    </m:oMathParaPr>
                    <m:oMath xmlns:m="http://schemas.openxmlformats.org/officeDocument/2006/math">
                      <m:sSubSup>
                        <m:sSubSupPr>
                          <m:ctrlPr>
                            <a:rPr lang="en-US" i="1" smtClean="0">
                              <a:latin typeface="Cambria Math" panose="02040503050406030204" pitchFamily="18" charset="0"/>
                            </a:rPr>
                          </m:ctrlPr>
                        </m:sSubSupPr>
                        <m:e>
                          <m:r>
                            <a:rPr lang="en-US" i="1">
                              <a:latin typeface="Cambria Math" panose="02040503050406030204" pitchFamily="18" charset="0"/>
                            </a:rPr>
                            <m:t>𝑚</m:t>
                          </m:r>
                        </m:e>
                        <m:sub>
                          <m:r>
                            <a:rPr lang="en-US" i="1">
                              <a:latin typeface="Cambria Math" panose="02040503050406030204" pitchFamily="18" charset="0"/>
                            </a:rPr>
                            <m:t>𝑢</m:t>
                          </m:r>
                          <m:r>
                            <a:rPr lang="en-US" i="1">
                              <a:latin typeface="Cambria Math" panose="02040503050406030204" pitchFamily="18" charset="0"/>
                            </a:rPr>
                            <m:t>,</m:t>
                          </m:r>
                          <m:r>
                            <a:rPr lang="en-US" i="1">
                              <a:latin typeface="Cambria Math" panose="02040503050406030204" pitchFamily="18" charset="0"/>
                            </a:rPr>
                            <m:t>𝑟</m:t>
                          </m:r>
                        </m:sub>
                        <m:sup>
                          <m:r>
                            <a:rPr lang="en-US" i="1">
                              <a:latin typeface="Cambria Math" panose="02040503050406030204" pitchFamily="18" charset="0"/>
                            </a:rPr>
                            <m:t>𝑘</m:t>
                          </m:r>
                          <m:r>
                            <a:rPr lang="en-US" i="1">
                              <a:latin typeface="Cambria Math" panose="02040503050406030204" pitchFamily="18" charset="0"/>
                            </a:rPr>
                            <m:t>,</m:t>
                          </m:r>
                          <m:r>
                            <a:rPr lang="en-US" i="1">
                              <a:latin typeface="Cambria Math" panose="02040503050406030204" pitchFamily="18" charset="0"/>
                            </a:rPr>
                            <m:t>𝑡</m:t>
                          </m:r>
                        </m:sup>
                      </m:sSubSup>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𝑝</m:t>
                          </m:r>
                        </m:e>
                        <m:sub>
                          <m:r>
                            <a:rPr lang="en-US" i="1">
                              <a:latin typeface="Cambria Math" panose="02040503050406030204" pitchFamily="18" charset="0"/>
                            </a:rPr>
                            <m:t>𝑢</m:t>
                          </m:r>
                        </m:sub>
                        <m:sup>
                          <m:r>
                            <a:rPr lang="en-US" i="1">
                              <a:latin typeface="Cambria Math" panose="02040503050406030204" pitchFamily="18" charset="0"/>
                            </a:rPr>
                            <m:t>𝑡</m:t>
                          </m:r>
                        </m:sup>
                      </m:sSubSup>
                      <m:r>
                        <m:rPr>
                          <m:nor/>
                        </m:rPr>
                        <a:rPr lang="en-US" i="0">
                          <a:latin typeface="Cambria Math" panose="02040503050406030204" pitchFamily="18" charset="0"/>
                        </a:rPr>
                        <m:t>ReLU</m:t>
                      </m:r>
                      <m:d>
                        <m:dPr>
                          <m:ctrlPr>
                            <a:rPr lang="en-US" i="1">
                              <a:latin typeface="Cambria Math" panose="02040503050406030204" pitchFamily="18" charset="0"/>
                            </a:rPr>
                          </m:ctrlPr>
                        </m:dPr>
                        <m:e>
                          <m:sSubSup>
                            <m:sSubSupPr>
                              <m:ctrlPr>
                                <a:rPr lang="en-US" i="1">
                                  <a:latin typeface="Cambria Math" panose="02040503050406030204" pitchFamily="18" charset="0"/>
                                </a:rPr>
                              </m:ctrlPr>
                            </m:sSubSupPr>
                            <m:e>
                              <m:r>
                                <a:rPr lang="en-US" i="1">
                                  <a:latin typeface="Cambria Math" panose="02040503050406030204" pitchFamily="18" charset="0"/>
                                </a:rPr>
                                <m:t>𝑊</m:t>
                              </m:r>
                            </m:e>
                            <m:sub>
                              <m:r>
                                <a:rPr lang="en-US" i="1">
                                  <a:latin typeface="Cambria Math" panose="02040503050406030204" pitchFamily="18" charset="0"/>
                                </a:rPr>
                                <m:t>𝑟</m:t>
                              </m:r>
                            </m:sub>
                            <m:sup>
                              <m:r>
                                <a:rPr lang="en-US" i="1">
                                  <a:latin typeface="Cambria Math" panose="02040503050406030204" pitchFamily="18" charset="0"/>
                                </a:rPr>
                                <m:t>𝑡</m:t>
                              </m:r>
                            </m:sup>
                          </m:sSubSup>
                          <m:r>
                            <a:rPr lang="en-US" i="1">
                              <a:latin typeface="Cambria Math" panose="02040503050406030204" pitchFamily="18" charset="0"/>
                            </a:rPr>
                            <m:t>𝑟</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𝑖</m:t>
                              </m:r>
                            </m:e>
                            <m:sup>
                              <m:r>
                                <a:rPr lang="en-US" i="1">
                                  <a:latin typeface="Cambria Math" panose="02040503050406030204" pitchFamily="18" charset="0"/>
                                </a:rPr>
                                <m:t>𝑘</m:t>
                              </m:r>
                            </m:sup>
                          </m:sSup>
                        </m:e>
                      </m:d>
                    </m:oMath>
                  </m:oMathPara>
                </a14:m>
                <a:endParaRPr lang="en-US" dirty="0"/>
              </a:p>
            </p:txBody>
          </p:sp>
        </mc:Choice>
        <mc:Fallback xmlns="">
          <p:sp>
            <p:nvSpPr>
              <p:cNvPr id="13" name="Rounded Rectangle 12">
                <a:extLst>
                  <a:ext uri="{FF2B5EF4-FFF2-40B4-BE49-F238E27FC236}">
                    <a16:creationId xmlns:a16="http://schemas.microsoft.com/office/drawing/2014/main" id="{85A7417E-1267-4331-AACF-8FEA57E9B641}"/>
                  </a:ext>
                </a:extLst>
              </p:cNvPr>
              <p:cNvSpPr>
                <a:spLocks noGrp="1" noRot="1" noChangeAspect="1" noMove="1" noResize="1" noEditPoints="1" noAdjustHandles="1" noChangeArrowheads="1" noChangeShapeType="1" noTextEdit="1"/>
              </p:cNvSpPr>
              <p:nvPr/>
            </p:nvSpPr>
            <p:spPr>
              <a:xfrm>
                <a:off x="8096250" y="4191000"/>
                <a:ext cx="3524250" cy="819150"/>
              </a:xfrm>
              <a:prstGeom prst="roundRect">
                <a:avLst>
                  <a:gd name="adj" fmla="val 11628"/>
                </a:avLst>
              </a:prstGeom>
              <a:blipFill>
                <a:blip r:embed="rId4"/>
                <a:stretch>
                  <a:fillRect/>
                </a:stretch>
              </a:blipFill>
              <a:ln w="11430">
                <a:solidFill>
                  <a:srgbClr val="8064A2"/>
                </a:solidFill>
                <a:prstDash val="solid"/>
              </a:ln>
            </p:spPr>
            <p:txBody>
              <a:bodyPr/>
              <a:lstStyle/>
              <a:p>
                <a:r>
                  <a:rPr lang="en-US">
                    <a:noFill/>
                  </a:rPr>
                  <a:t> </a:t>
                </a:r>
              </a:p>
            </p:txBody>
          </p:sp>
        </mc:Fallback>
      </mc:AlternateContent>
      <p:sp>
        <p:nvSpPr>
          <p:cNvPr id="15" name="Rectangle 14">
            <a:extLst>
              <a:ext uri="{FF2B5EF4-FFF2-40B4-BE49-F238E27FC236}">
                <a16:creationId xmlns:a16="http://schemas.microsoft.com/office/drawing/2014/main" id="{0381212B-808D-48CD-B39A-BE31CD787283}"/>
              </a:ext>
            </a:extLst>
          </p:cNvPr>
          <p:cNvSpPr>
            <a:spLocks noGrp="1"/>
          </p:cNvSpPr>
          <p:nvPr/>
        </p:nvSpPr>
        <p:spPr>
          <a:xfrm>
            <a:off x="857250" y="5724525"/>
            <a:ext cx="10477500" cy="476250"/>
          </a:xfrm>
          <a:prstGeom prst="rect">
            <a:avLst/>
          </a:prstGeom>
          <a:noFill/>
          <a:ln w="0">
            <a:noFill/>
            <a:prstDash val="solid"/>
          </a:ln>
        </p:spPr>
        <p:txBody>
          <a:bodyPr wrap="square" lIns="38100" tIns="19050" rIns="38100" bIns="19050" anchor="ctr">
            <a:normAutofit/>
          </a:bodyPr>
          <a:lstStyle/>
          <a:p>
            <a:pPr algn="ctr">
              <a:defRPr sz="1500" b="1" i="0">
                <a:solidFill>
                  <a:srgbClr val="263746"/>
                </a:solidFill>
                <a:latin typeface="Arial"/>
                <a:ea typeface="Arial"/>
                <a:cs typeface="Arial"/>
              </a:defRPr>
            </a:pPr>
            <a:r>
              <a:rPr sz="1500" b="1" i="0">
                <a:solidFill>
                  <a:srgbClr val="263746"/>
                </a:solidFill>
                <a:latin typeface="Arial"/>
                <a:ea typeface="Arial"/>
                <a:cs typeface="Arial"/>
              </a:rPr>
              <a:t>ReaRev го менува толкувањето на прашањето според информацијата откриена во графот.</a:t>
            </a:r>
          </a:p>
        </p:txBody>
      </p:sp>
      <p:sp>
        <p:nvSpPr>
          <p:cNvPr id="5" name="Rectangle 4">
            <a:extLst>
              <a:ext uri="{FF2B5EF4-FFF2-40B4-BE49-F238E27FC236}">
                <a16:creationId xmlns:a16="http://schemas.microsoft.com/office/drawing/2014/main" id="{38EA2F7D-04C6-C46E-5C8A-CEC7C3B2B0DC}"/>
              </a:ext>
            </a:extLst>
          </p:cNvPr>
          <p:cNvSpPr/>
          <p:nvPr/>
        </p:nvSpPr>
        <p:spPr>
          <a:xfrm>
            <a:off x="857250" y="4859383"/>
            <a:ext cx="6309904" cy="53176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514286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722C8946-042D-4A4F-ACAE-FBBACE52AE00}"/>
              </a:ext>
            </a:extLst>
          </p:cNvPr>
          <p:cNvSpPr>
            <a:spLocks noGrp="1"/>
          </p:cNvSpPr>
          <p:nvPr/>
        </p:nvSpPr>
        <p:spPr>
          <a:xfrm>
            <a:off x="552450" y="209550"/>
            <a:ext cx="10763250" cy="523875"/>
          </a:xfrm>
          <a:prstGeom prst="rect">
            <a:avLst/>
          </a:prstGeom>
          <a:noFill/>
          <a:ln w="0">
            <a:noFill/>
            <a:prstDash val="solid"/>
          </a:ln>
        </p:spPr>
        <p:txBody>
          <a:bodyPr wrap="square" lIns="38100" tIns="19050" rIns="38100" bIns="19050" anchor="ctr">
            <a:normAutofit/>
          </a:bodyPr>
          <a:lstStyle/>
          <a:p>
            <a:pPr algn="l">
              <a:defRPr sz="2325" b="1" i="0">
                <a:solidFill>
                  <a:srgbClr val="263746"/>
                </a:solidFill>
                <a:latin typeface="Arial"/>
                <a:ea typeface="Arial"/>
                <a:cs typeface="Arial"/>
              </a:defRPr>
            </a:pPr>
            <a:r>
              <a:rPr sz="2325" b="1" i="0">
                <a:solidFill>
                  <a:srgbClr val="263746"/>
                </a:solidFill>
                <a:latin typeface="Arial"/>
                <a:ea typeface="Arial"/>
                <a:cs typeface="Arial"/>
              </a:rPr>
              <a:t>NBFNet</a:t>
            </a:r>
          </a:p>
        </p:txBody>
      </p:sp>
      <p:sp>
        <p:nvSpPr>
          <p:cNvPr id="2" name="Rectangle 1">
            <a:extLst>
              <a:ext uri="{FF2B5EF4-FFF2-40B4-BE49-F238E27FC236}">
                <a16:creationId xmlns:a16="http://schemas.microsoft.com/office/drawing/2014/main" id="{4DA2FDC4-CC3E-4A51-984F-796A6EFB8E63}"/>
              </a:ext>
            </a:extLst>
          </p:cNvPr>
          <p:cNvSpPr>
            <a:spLocks noGrp="1"/>
          </p:cNvSpPr>
          <p:nvPr/>
        </p:nvSpPr>
        <p:spPr>
          <a:xfrm>
            <a:off x="552450" y="781050"/>
            <a:ext cx="11087100" cy="38100"/>
          </a:xfrm>
          <a:prstGeom prst="rect">
            <a:avLst/>
          </a:prstGeom>
          <a:solidFill>
            <a:srgbClr val="D97942"/>
          </a:solidFill>
          <a:ln w="0">
            <a:noFill/>
            <a:prstDash val="solid"/>
          </a:ln>
        </p:spPr>
        <p:txBody>
          <a:bodyPr/>
          <a:lstStyle/>
          <a:p>
            <a:endParaRPr lang="en-US"/>
          </a:p>
        </p:txBody>
      </p:sp>
      <p:sp>
        <p:nvSpPr>
          <p:cNvPr id="3" name="Rectangle 2">
            <a:extLst>
              <a:ext uri="{FF2B5EF4-FFF2-40B4-BE49-F238E27FC236}">
                <a16:creationId xmlns:a16="http://schemas.microsoft.com/office/drawing/2014/main" id="{C474FAA5-5405-4F8A-9715-562B36E6CCEB}"/>
              </a:ext>
            </a:extLst>
          </p:cNvPr>
          <p:cNvSpPr>
            <a:spLocks noGrp="1"/>
          </p:cNvSpPr>
          <p:nvPr/>
        </p:nvSpPr>
        <p:spPr>
          <a:xfrm>
            <a:off x="552450" y="6486525"/>
            <a:ext cx="9334500" cy="228600"/>
          </a:xfrm>
          <a:prstGeom prst="rect">
            <a:avLst/>
          </a:prstGeom>
          <a:noFill/>
          <a:ln w="0">
            <a:noFill/>
            <a:prstDash val="solid"/>
          </a:ln>
        </p:spPr>
        <p:txBody>
          <a:bodyPr wrap="square" lIns="38100" tIns="19050" rIns="38100" bIns="19050" anchor="b">
            <a:normAutofit/>
          </a:bodyPr>
          <a:lstStyle/>
          <a:p>
            <a:pPr algn="l">
              <a:defRPr sz="825" b="0" i="0">
                <a:solidFill>
                  <a:srgbClr val="617080"/>
                </a:solidFill>
                <a:latin typeface="Arial"/>
                <a:ea typeface="Arial"/>
                <a:cs typeface="Arial"/>
              </a:defRPr>
            </a:pPr>
            <a:r>
              <a:rPr sz="825" b="0" i="0">
                <a:solidFill>
                  <a:srgbClr val="617080"/>
                </a:solidFill>
                <a:latin typeface="Arial"/>
                <a:ea typeface="Arial"/>
                <a:cs typeface="Arial"/>
              </a:rPr>
              <a:t>Zhu et al., 2021</a:t>
            </a:r>
          </a:p>
        </p:txBody>
      </p:sp>
      <p:sp>
        <p:nvSpPr>
          <p:cNvPr id="4" name="Rectangle 3">
            <a:extLst>
              <a:ext uri="{FF2B5EF4-FFF2-40B4-BE49-F238E27FC236}">
                <a16:creationId xmlns:a16="http://schemas.microsoft.com/office/drawing/2014/main" id="{6A0FB13E-F2F0-40B4-A5A1-AAEFFD7B2BEE}"/>
              </a:ext>
            </a:extLst>
          </p:cNvPr>
          <p:cNvSpPr>
            <a:spLocks noGrp="1"/>
          </p:cNvSpPr>
          <p:nvPr/>
        </p:nvSpPr>
        <p:spPr>
          <a:xfrm>
            <a:off x="11315700" y="6486525"/>
            <a:ext cx="323850" cy="228600"/>
          </a:xfrm>
          <a:prstGeom prst="rect">
            <a:avLst/>
          </a:prstGeom>
          <a:noFill/>
          <a:ln w="0">
            <a:noFill/>
            <a:prstDash val="solid"/>
          </a:ln>
        </p:spPr>
        <p:txBody>
          <a:bodyPr wrap="square" lIns="38100" tIns="19050" rIns="38100" bIns="19050" anchor="b">
            <a:normAutofit/>
          </a:bodyPr>
          <a:lstStyle/>
          <a:p>
            <a:pPr algn="r">
              <a:defRPr sz="900" b="0" i="0">
                <a:solidFill>
                  <a:srgbClr val="617080"/>
                </a:solidFill>
                <a:latin typeface="Arial"/>
                <a:ea typeface="Arial"/>
                <a:cs typeface="Arial"/>
              </a:defRPr>
            </a:pPr>
            <a:r>
              <a:rPr sz="900" b="0" i="0">
                <a:solidFill>
                  <a:srgbClr val="617080"/>
                </a:solidFill>
                <a:latin typeface="Arial"/>
                <a:ea typeface="Arial"/>
                <a:cs typeface="Arial"/>
              </a:rPr>
              <a:t>12</a:t>
            </a:r>
          </a:p>
        </p:txBody>
      </p:sp>
      <p:pic>
        <p:nvPicPr>
          <p:cNvPr id="20" name="Picture 19"/>
          <p:cNvPicPr>
            <a:picLocks noChangeAspect="1"/>
          </p:cNvPicPr>
          <p:nvPr/>
        </p:nvPicPr>
        <p:blipFill>
          <a:blip r:embed="rId3"/>
          <a:stretch/>
        </p:blipFill>
        <p:spPr>
          <a:xfrm>
            <a:off x="241829" y="1028700"/>
            <a:ext cx="7755467" cy="4362450"/>
          </a:xfrm>
          <a:prstGeom prst="rect">
            <a:avLst/>
          </a:prstGeom>
        </p:spPr>
      </p:pic>
      <p:sp>
        <p:nvSpPr>
          <p:cNvPr id="6" name="Rectangle 5">
            <a:extLst>
              <a:ext uri="{FF2B5EF4-FFF2-40B4-BE49-F238E27FC236}">
                <a16:creationId xmlns:a16="http://schemas.microsoft.com/office/drawing/2014/main" id="{847B439F-734E-4F88-BCBD-78BFA31A83B1}"/>
              </a:ext>
            </a:extLst>
          </p:cNvPr>
          <p:cNvSpPr>
            <a:spLocks noGrp="1"/>
          </p:cNvSpPr>
          <p:nvPr/>
        </p:nvSpPr>
        <p:spPr>
          <a:xfrm>
            <a:off x="8191500" y="1104900"/>
            <a:ext cx="3429000" cy="428625"/>
          </a:xfrm>
          <a:prstGeom prst="rect">
            <a:avLst/>
          </a:prstGeom>
          <a:noFill/>
          <a:ln w="0">
            <a:noFill/>
            <a:prstDash val="solid"/>
          </a:ln>
        </p:spPr>
        <p:txBody>
          <a:bodyPr wrap="square" lIns="38100" tIns="19050" rIns="38100" bIns="19050" anchor="ctr">
            <a:normAutofit/>
          </a:bodyPr>
          <a:lstStyle/>
          <a:p>
            <a:pPr algn="l">
              <a:defRPr sz="1575" b="1" i="0">
                <a:solidFill>
                  <a:srgbClr val="398D84"/>
                </a:solidFill>
                <a:latin typeface="Arial"/>
                <a:ea typeface="Arial"/>
                <a:cs typeface="Arial"/>
              </a:defRPr>
            </a:pPr>
            <a:r>
              <a:rPr sz="1575" b="1" i="0">
                <a:solidFill>
                  <a:srgbClr val="398D84"/>
                </a:solidFill>
                <a:latin typeface="Arial"/>
                <a:ea typeface="Arial"/>
                <a:cs typeface="Arial"/>
              </a:rPr>
              <a:t>Научена Bellman–Ford постапка</a:t>
            </a:r>
          </a:p>
        </p:txBody>
      </p:sp>
      <mc:AlternateContent xmlns:mc="http://schemas.openxmlformats.org/markup-compatibility/2006" xmlns:a14="http://schemas.microsoft.com/office/drawing/2010/main">
        <mc:Choice Requires="a14">
          <p:sp>
            <p:nvSpPr>
              <p:cNvPr id="7" name="Rounded Rectangle 6">
                <a:extLst>
                  <a:ext uri="{FF2B5EF4-FFF2-40B4-BE49-F238E27FC236}">
                    <a16:creationId xmlns:a16="http://schemas.microsoft.com/office/drawing/2014/main" id="{227E239C-5787-45B3-9579-0F0DF075E764}"/>
                  </a:ext>
                </a:extLst>
              </p:cNvPr>
              <p:cNvSpPr>
                <a:spLocks noGrp="1"/>
              </p:cNvSpPr>
              <p:nvPr/>
            </p:nvSpPr>
            <p:spPr>
              <a:xfrm>
                <a:off x="8096250" y="1676400"/>
                <a:ext cx="3524250" cy="742950"/>
              </a:xfrm>
              <a:prstGeom prst="roundRect">
                <a:avLst>
                  <a:gd name="adj" fmla="val 12821"/>
                </a:avLst>
              </a:prstGeom>
              <a:solidFill>
                <a:srgbClr val="E8F5F3"/>
              </a:solidFill>
              <a:ln w="11430">
                <a:solidFill>
                  <a:srgbClr val="398D84"/>
                </a:solidFill>
                <a:prstDash val="solid"/>
              </a:ln>
            </p:spPr>
            <p:txBody>
              <a:bodyPr anchor="ctr"/>
              <a:lstStyle/>
              <a:p>
                <a:pPr/>
                <a14:m>
                  <m:oMathPara xmlns:m="http://schemas.openxmlformats.org/officeDocument/2006/math">
                    <m:oMathParaPr>
                      <m:jc m:val="centerGroup"/>
                    </m:oMathParaPr>
                    <m:oMath xmlns:m="http://schemas.openxmlformats.org/officeDocument/2006/math">
                      <m:sSubSup>
                        <m:sSubSupPr>
                          <m:ctrlPr>
                            <a:rPr lang="en-US" i="1" smtClean="0">
                              <a:latin typeface="Cambria Math" panose="02040503050406030204" pitchFamily="18" charset="0"/>
                            </a:rPr>
                          </m:ctrlPr>
                        </m:sSubSupPr>
                        <m:e>
                          <m:r>
                            <a:rPr lang="en-US" i="1">
                              <a:latin typeface="Cambria Math" panose="02040503050406030204" pitchFamily="18" charset="0"/>
                            </a:rPr>
                            <m:t>h</m:t>
                          </m:r>
                        </m:e>
                        <m:sub>
                          <m:r>
                            <a:rPr lang="en-US" i="1">
                              <a:latin typeface="Cambria Math" panose="02040503050406030204" pitchFamily="18" charset="0"/>
                            </a:rPr>
                            <m:t>𝑣</m:t>
                          </m:r>
                        </m:sub>
                        <m:sup>
                          <m:d>
                            <m:dPr>
                              <m:ctrlPr>
                                <a:rPr lang="en-US" i="1">
                                  <a:latin typeface="Cambria Math" panose="02040503050406030204" pitchFamily="18" charset="0"/>
                                </a:rPr>
                              </m:ctrlPr>
                            </m:dPr>
                            <m:e>
                              <m:r>
                                <a:rPr lang="en-US" i="1">
                                  <a:latin typeface="Cambria Math" panose="02040503050406030204" pitchFamily="18" charset="0"/>
                                </a:rPr>
                                <m:t>0</m:t>
                              </m:r>
                            </m:e>
                          </m:d>
                        </m:sup>
                      </m:sSubSup>
                      <m:r>
                        <a:rPr lang="en-US" i="1">
                          <a:latin typeface="Cambria Math" panose="02040503050406030204" pitchFamily="18" charset="0"/>
                        </a:rPr>
                        <m:t>=</m:t>
                      </m:r>
                      <m:r>
                        <a:rPr lang="en-US" i="1">
                          <a:latin typeface="Cambria Math" panose="02040503050406030204" pitchFamily="18" charset="0"/>
                        </a:rPr>
                        <m:t>𝑞</m:t>
                      </m:r>
                      <m:r>
                        <a:rPr lang="en-US" i="1">
                          <a:latin typeface="Cambria Math" panose="02040503050406030204" pitchFamily="18" charset="0"/>
                        </a:rPr>
                        <m:t> </m:t>
                      </m:r>
                      <m:d>
                        <m:dPr>
                          <m:ctrlPr>
                            <a:rPr lang="en-US" i="1">
                              <a:latin typeface="Cambria Math" panose="02040503050406030204" pitchFamily="18" charset="0"/>
                            </a:rPr>
                          </m:ctrlPr>
                        </m:dPr>
                        <m:e>
                          <m:r>
                            <a:rPr lang="en-US" i="1">
                              <a:latin typeface="Cambria Math" panose="02040503050406030204" pitchFamily="18" charset="0"/>
                            </a:rPr>
                            <m:t>𝑣</m:t>
                          </m:r>
                          <m:r>
                            <a:rPr lang="en-US" i="1">
                              <a:latin typeface="Cambria Math" panose="02040503050406030204" pitchFamily="18" charset="0"/>
                            </a:rPr>
                            <m:t>∈</m:t>
                          </m:r>
                          <m:r>
                            <a:rPr lang="en-US" i="1">
                              <a:latin typeface="Cambria Math" panose="02040503050406030204" pitchFamily="18" charset="0"/>
                            </a:rPr>
                            <m:t>𝑆</m:t>
                          </m:r>
                        </m:e>
                      </m:d>
                      <m:r>
                        <a:rPr lang="en-US" i="1">
                          <a:latin typeface="Cambria Math" panose="02040503050406030204" pitchFamily="18" charset="0"/>
                        </a:rPr>
                        <m:t>; 0 </m:t>
                      </m:r>
                      <m:d>
                        <m:dPr>
                          <m:ctrlPr>
                            <a:rPr lang="en-US" i="1">
                              <a:latin typeface="Cambria Math" panose="02040503050406030204" pitchFamily="18" charset="0"/>
                            </a:rPr>
                          </m:ctrlPr>
                        </m:dPr>
                        <m:e>
                          <m:r>
                            <a:rPr lang="en-US" i="1">
                              <a:latin typeface="Cambria Math" panose="02040503050406030204" pitchFamily="18" charset="0"/>
                            </a:rPr>
                            <m:t>𝑣</m:t>
                          </m:r>
                          <m:r>
                            <a:rPr lang="en-US" i="1">
                              <a:latin typeface="Cambria Math" panose="02040503050406030204" pitchFamily="18" charset="0"/>
                            </a:rPr>
                            <m:t>∉</m:t>
                          </m:r>
                          <m:r>
                            <a:rPr lang="en-US" i="1">
                              <a:latin typeface="Cambria Math" panose="02040503050406030204" pitchFamily="18" charset="0"/>
                            </a:rPr>
                            <m:t>𝑆</m:t>
                          </m:r>
                        </m:e>
                      </m:d>
                    </m:oMath>
                  </m:oMathPara>
                </a14:m>
                <a:endParaRPr lang="en-US" dirty="0"/>
              </a:p>
            </p:txBody>
          </p:sp>
        </mc:Choice>
        <mc:Fallback xmlns="">
          <p:sp>
            <p:nvSpPr>
              <p:cNvPr id="7" name="Rounded Rectangle 6">
                <a:extLst>
                  <a:ext uri="{FF2B5EF4-FFF2-40B4-BE49-F238E27FC236}">
                    <a16:creationId xmlns:a16="http://schemas.microsoft.com/office/drawing/2014/main" id="{227E239C-5787-45B3-9579-0F0DF075E764}"/>
                  </a:ext>
                </a:extLst>
              </p:cNvPr>
              <p:cNvSpPr>
                <a:spLocks noGrp="1" noRot="1" noChangeAspect="1" noMove="1" noResize="1" noEditPoints="1" noAdjustHandles="1" noChangeArrowheads="1" noChangeShapeType="1" noTextEdit="1"/>
              </p:cNvSpPr>
              <p:nvPr/>
            </p:nvSpPr>
            <p:spPr>
              <a:xfrm>
                <a:off x="8096250" y="1676400"/>
                <a:ext cx="3524250" cy="742950"/>
              </a:xfrm>
              <a:prstGeom prst="roundRect">
                <a:avLst>
                  <a:gd name="adj" fmla="val 12821"/>
                </a:avLst>
              </a:prstGeom>
              <a:blipFill>
                <a:blip r:embed="rId4"/>
                <a:stretch>
                  <a:fillRect/>
                </a:stretch>
              </a:blipFill>
              <a:ln w="11430">
                <a:solidFill>
                  <a:srgbClr val="398D84"/>
                </a:solidFill>
                <a:prstDash val="soli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ounded Rectangle 8">
                <a:extLst>
                  <a:ext uri="{FF2B5EF4-FFF2-40B4-BE49-F238E27FC236}">
                    <a16:creationId xmlns:a16="http://schemas.microsoft.com/office/drawing/2014/main" id="{0B518678-4F3F-44BC-8516-C824E1A51F42}"/>
                  </a:ext>
                </a:extLst>
              </p:cNvPr>
              <p:cNvSpPr>
                <a:spLocks noGrp="1"/>
              </p:cNvSpPr>
              <p:nvPr/>
            </p:nvSpPr>
            <p:spPr>
              <a:xfrm>
                <a:off x="8096250" y="2600325"/>
                <a:ext cx="3524250" cy="742950"/>
              </a:xfrm>
              <a:prstGeom prst="roundRect">
                <a:avLst>
                  <a:gd name="adj" fmla="val 12821"/>
                </a:avLst>
              </a:prstGeom>
              <a:solidFill>
                <a:srgbClr val="E8F5F3"/>
              </a:solidFill>
              <a:ln w="11430">
                <a:solidFill>
                  <a:srgbClr val="398D84"/>
                </a:solidFill>
                <a:prstDash val="solid"/>
              </a:ln>
            </p:spPr>
            <p:txBody>
              <a:bodyPr anchor="ctr"/>
              <a:lstStyle/>
              <a:p>
                <a:pPr algn="ctr"/>
                <a14:m>
                  <m:oMath xmlns:m="http://schemas.openxmlformats.org/officeDocument/2006/math">
                    <m:sSubSup>
                      <m:sSubSupPr>
                        <m:ctrlPr>
                          <a:rPr lang="en-US" i="1" smtClean="0">
                            <a:latin typeface="Cambria Math" panose="02040503050406030204" pitchFamily="18" charset="0"/>
                          </a:rPr>
                        </m:ctrlPr>
                      </m:sSubSupPr>
                      <m:e>
                        <m:r>
                          <a:rPr lang="en-US" i="1">
                            <a:latin typeface="Cambria Math" panose="02040503050406030204" pitchFamily="18" charset="0"/>
                          </a:rPr>
                          <m:t>𝑚</m:t>
                        </m:r>
                      </m:e>
                      <m:sub>
                        <m:r>
                          <a:rPr lang="en-US" i="1">
                            <a:latin typeface="Cambria Math" panose="02040503050406030204" pitchFamily="18" charset="0"/>
                          </a:rPr>
                          <m:t>𝑢</m:t>
                        </m:r>
                        <m:r>
                          <a:rPr lang="en-US" i="1">
                            <a:latin typeface="Cambria Math" panose="02040503050406030204" pitchFamily="18" charset="0"/>
                          </a:rPr>
                          <m:t>,</m:t>
                        </m:r>
                        <m:r>
                          <a:rPr lang="en-US" i="1">
                            <a:latin typeface="Cambria Math" panose="02040503050406030204" pitchFamily="18" charset="0"/>
                          </a:rPr>
                          <m:t>𝑟</m:t>
                        </m:r>
                        <m:r>
                          <a:rPr lang="en-US" i="1">
                            <a:latin typeface="Cambria Math" panose="02040503050406030204" pitchFamily="18" charset="0"/>
                          </a:rPr>
                          <m:t>,</m:t>
                        </m:r>
                        <m:r>
                          <a:rPr lang="en-US" i="1">
                            <a:latin typeface="Cambria Math" panose="02040503050406030204" pitchFamily="18" charset="0"/>
                          </a:rPr>
                          <m:t>𝑣</m:t>
                        </m:r>
                      </m:sub>
                      <m:sup>
                        <m:d>
                          <m:dPr>
                            <m:ctrlPr>
                              <a:rPr lang="en-US" i="1">
                                <a:latin typeface="Cambria Math" panose="02040503050406030204" pitchFamily="18" charset="0"/>
                              </a:rPr>
                            </m:ctrlPr>
                          </m:dPr>
                          <m:e>
                            <m:r>
                              <a:rPr lang="en-US" i="1">
                                <a:latin typeface="Cambria Math" panose="02040503050406030204" pitchFamily="18" charset="0"/>
                              </a:rPr>
                              <m:t>𝑙</m:t>
                            </m:r>
                          </m:e>
                        </m:d>
                      </m:sup>
                    </m:sSubSup>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h</m:t>
                        </m:r>
                      </m:e>
                      <m:sub>
                        <m:r>
                          <a:rPr lang="en-US" i="1">
                            <a:latin typeface="Cambria Math" panose="02040503050406030204" pitchFamily="18" charset="0"/>
                          </a:rPr>
                          <m:t>𝑢</m:t>
                        </m:r>
                      </m:sub>
                      <m:sup>
                        <m:d>
                          <m:dPr>
                            <m:ctrlPr>
                              <a:rPr lang="en-US" i="1">
                                <a:latin typeface="Cambria Math" panose="02040503050406030204" pitchFamily="18" charset="0"/>
                              </a:rPr>
                            </m:ctrlPr>
                          </m:dPr>
                          <m:e>
                            <m:r>
                              <a:rPr lang="en-US" i="1">
                                <a:latin typeface="Cambria Math" panose="02040503050406030204" pitchFamily="18" charset="0"/>
                              </a:rPr>
                              <m:t>𝑙</m:t>
                            </m:r>
                          </m:e>
                        </m:d>
                      </m:sup>
                    </m:sSubSup>
                    <m:r>
                      <a:rPr lang="en-US" i="1">
                        <a:latin typeface="Cambria Math" panose="02040503050406030204" pitchFamily="18" charset="0"/>
                      </a:rPr>
                      <m:t>⊙</m:t>
                    </m:r>
                    <m:sSubSup>
                      <m:sSubSupPr>
                        <m:ctrlPr>
                          <a:rPr lang="en-US" i="1">
                            <a:latin typeface="Cambria Math" panose="02040503050406030204" pitchFamily="18" charset="0"/>
                          </a:rPr>
                        </m:ctrlPr>
                      </m:sSubSupPr>
                      <m:e>
                        <m:r>
                          <a:rPr lang="en-US" b="0" i="1" smtClean="0">
                            <a:latin typeface="Cambria Math" panose="02040503050406030204" pitchFamily="18" charset="0"/>
                          </a:rPr>
                          <m:t>(</m:t>
                        </m:r>
                        <m:r>
                          <a:rPr lang="en-US" i="1">
                            <a:latin typeface="Cambria Math" panose="02040503050406030204" pitchFamily="18" charset="0"/>
                          </a:rPr>
                          <m:t>𝑤</m:t>
                        </m:r>
                      </m:e>
                      <m:sub>
                        <m:r>
                          <a:rPr lang="en-US" i="1">
                            <a:latin typeface="Cambria Math" panose="02040503050406030204" pitchFamily="18" charset="0"/>
                          </a:rPr>
                          <m:t>𝑟</m:t>
                        </m:r>
                      </m:sub>
                      <m:sup>
                        <m:d>
                          <m:dPr>
                            <m:ctrlPr>
                              <a:rPr lang="en-US" i="1">
                                <a:latin typeface="Cambria Math" panose="02040503050406030204" pitchFamily="18" charset="0"/>
                              </a:rPr>
                            </m:ctrlPr>
                          </m:dPr>
                          <m:e>
                            <m:r>
                              <a:rPr lang="en-US" i="1">
                                <a:latin typeface="Cambria Math" panose="02040503050406030204" pitchFamily="18" charset="0"/>
                              </a:rPr>
                              <m:t>𝑙</m:t>
                            </m:r>
                          </m:e>
                        </m:d>
                      </m:sup>
                    </m:sSubSup>
                    <m:d>
                      <m:dPr>
                        <m:ctrlPr>
                          <a:rPr lang="en-US" i="1" smtClean="0">
                            <a:latin typeface="Cambria Math" panose="02040503050406030204" pitchFamily="18" charset="0"/>
                          </a:rPr>
                        </m:ctrlPr>
                      </m:dPr>
                      <m:e>
                        <m:r>
                          <a:rPr lang="en-US" i="1">
                            <a:latin typeface="Cambria Math" panose="02040503050406030204" pitchFamily="18" charset="0"/>
                          </a:rPr>
                          <m:t>𝑞</m:t>
                        </m:r>
                      </m:e>
                    </m:d>
                  </m:oMath>
                </a14:m>
                <a:r>
                  <a:rPr lang="en-US" i="1" dirty="0"/>
                  <a:t>+b)</a:t>
                </a:r>
              </a:p>
            </p:txBody>
          </p:sp>
        </mc:Choice>
        <mc:Fallback xmlns="">
          <p:sp>
            <p:nvSpPr>
              <p:cNvPr id="9" name="Rounded Rectangle 8">
                <a:extLst>
                  <a:ext uri="{FF2B5EF4-FFF2-40B4-BE49-F238E27FC236}">
                    <a16:creationId xmlns:a16="http://schemas.microsoft.com/office/drawing/2014/main" id="{0B518678-4F3F-44BC-8516-C824E1A51F42}"/>
                  </a:ext>
                </a:extLst>
              </p:cNvPr>
              <p:cNvSpPr>
                <a:spLocks noGrp="1" noRot="1" noChangeAspect="1" noMove="1" noResize="1" noEditPoints="1" noAdjustHandles="1" noChangeArrowheads="1" noChangeShapeType="1" noTextEdit="1"/>
              </p:cNvSpPr>
              <p:nvPr/>
            </p:nvSpPr>
            <p:spPr>
              <a:xfrm>
                <a:off x="8096250" y="2600325"/>
                <a:ext cx="3524250" cy="742950"/>
              </a:xfrm>
              <a:prstGeom prst="roundRect">
                <a:avLst>
                  <a:gd name="adj" fmla="val 12821"/>
                </a:avLst>
              </a:prstGeom>
              <a:blipFill>
                <a:blip r:embed="rId5"/>
                <a:stretch>
                  <a:fillRect/>
                </a:stretch>
              </a:blipFill>
              <a:ln w="11430">
                <a:solidFill>
                  <a:srgbClr val="398D84"/>
                </a:solidFill>
                <a:prstDash val="solid"/>
              </a:ln>
            </p:spPr>
            <p:txBody>
              <a:bodyPr/>
              <a:lstStyle/>
              <a:p>
                <a:r>
                  <a:rPr lang="en-US">
                    <a:noFill/>
                  </a:rPr>
                  <a:t> </a:t>
                </a:r>
              </a:p>
            </p:txBody>
          </p:sp>
        </mc:Fallback>
      </mc:AlternateContent>
      <p:sp>
        <p:nvSpPr>
          <p:cNvPr id="11" name="Oval 10">
            <a:extLst>
              <a:ext uri="{FF2B5EF4-FFF2-40B4-BE49-F238E27FC236}">
                <a16:creationId xmlns:a16="http://schemas.microsoft.com/office/drawing/2014/main" id="{CB2F9C99-9986-4334-ACEC-D539AEB9CF19}"/>
              </a:ext>
            </a:extLst>
          </p:cNvPr>
          <p:cNvSpPr>
            <a:spLocks noGrp="1"/>
          </p:cNvSpPr>
          <p:nvPr/>
        </p:nvSpPr>
        <p:spPr>
          <a:xfrm>
            <a:off x="8191500" y="4724400"/>
            <a:ext cx="66675" cy="66675"/>
          </a:xfrm>
          <a:prstGeom prst="ellipse">
            <a:avLst/>
          </a:prstGeom>
          <a:solidFill>
            <a:srgbClr val="398D84"/>
          </a:solidFill>
          <a:ln w="0">
            <a:noFill/>
            <a:prstDash val="solid"/>
          </a:ln>
        </p:spPr>
        <p:txBody>
          <a:bodyPr/>
          <a:lstStyle/>
          <a:p>
            <a:endParaRPr lang="en-US"/>
          </a:p>
        </p:txBody>
      </p:sp>
      <p:sp>
        <p:nvSpPr>
          <p:cNvPr id="12" name="Rectangle 11">
            <a:extLst>
              <a:ext uri="{FF2B5EF4-FFF2-40B4-BE49-F238E27FC236}">
                <a16:creationId xmlns:a16="http://schemas.microsoft.com/office/drawing/2014/main" id="{8161AE30-2D90-4E0F-B38D-801313969865}"/>
              </a:ext>
            </a:extLst>
          </p:cNvPr>
          <p:cNvSpPr>
            <a:spLocks noGrp="1"/>
          </p:cNvSpPr>
          <p:nvPr/>
        </p:nvSpPr>
        <p:spPr>
          <a:xfrm>
            <a:off x="8362949" y="4619625"/>
            <a:ext cx="3428999" cy="590550"/>
          </a:xfrm>
          <a:prstGeom prst="rect">
            <a:avLst/>
          </a:prstGeom>
          <a:noFill/>
          <a:ln w="0">
            <a:noFill/>
            <a:prstDash val="solid"/>
          </a:ln>
        </p:spPr>
        <p:txBody>
          <a:bodyPr wrap="square" lIns="38100" tIns="19050" rIns="38100" bIns="19050" anchor="t">
            <a:normAutofit/>
          </a:bodyPr>
          <a:lstStyle/>
          <a:p>
            <a:pPr algn="l">
              <a:defRPr sz="1275" b="0" i="0">
                <a:solidFill>
                  <a:srgbClr val="263746"/>
                </a:solidFill>
                <a:latin typeface="Arial"/>
                <a:ea typeface="Arial"/>
                <a:cs typeface="Arial"/>
              </a:defRPr>
            </a:pPr>
            <a:r>
              <a:rPr lang="mk-MK" sz="1275" dirty="0">
                <a:solidFill>
                  <a:srgbClr val="263746"/>
                </a:solidFill>
                <a:latin typeface="Arial"/>
                <a:ea typeface="Arial"/>
                <a:cs typeface="Arial"/>
              </a:rPr>
              <a:t>Се користи </a:t>
            </a:r>
            <a:r>
              <a:rPr lang="en-US" sz="1275" dirty="0">
                <a:solidFill>
                  <a:srgbClr val="263746"/>
                </a:solidFill>
                <a:latin typeface="Arial"/>
                <a:ea typeface="Arial"/>
                <a:cs typeface="Arial"/>
              </a:rPr>
              <a:t>PNA – Principal Neighborhood Aggregation  </a:t>
            </a:r>
            <a:endParaRPr sz="1275" b="0" i="0" dirty="0">
              <a:solidFill>
                <a:srgbClr val="263746"/>
              </a:solidFill>
              <a:latin typeface="Arial"/>
              <a:ea typeface="Arial"/>
              <a:cs typeface="Arial"/>
            </a:endParaRPr>
          </a:p>
        </p:txBody>
      </p:sp>
      <p:sp>
        <p:nvSpPr>
          <p:cNvPr id="13" name="Oval 12">
            <a:extLst>
              <a:ext uri="{FF2B5EF4-FFF2-40B4-BE49-F238E27FC236}">
                <a16:creationId xmlns:a16="http://schemas.microsoft.com/office/drawing/2014/main" id="{91AB3D91-E1E6-4F30-949E-DB97848171FD}"/>
              </a:ext>
            </a:extLst>
          </p:cNvPr>
          <p:cNvSpPr>
            <a:spLocks noGrp="1"/>
          </p:cNvSpPr>
          <p:nvPr/>
        </p:nvSpPr>
        <p:spPr>
          <a:xfrm>
            <a:off x="8191500" y="4149082"/>
            <a:ext cx="66675" cy="66675"/>
          </a:xfrm>
          <a:prstGeom prst="ellipse">
            <a:avLst/>
          </a:prstGeom>
          <a:solidFill>
            <a:srgbClr val="398D84"/>
          </a:solidFill>
          <a:ln w="0">
            <a:noFill/>
            <a:prstDash val="solid"/>
          </a:ln>
        </p:spPr>
        <p:txBody>
          <a:bodyPr/>
          <a:lstStyle/>
          <a:p>
            <a:endParaRPr lang="en-US"/>
          </a:p>
        </p:txBody>
      </p:sp>
      <p:sp>
        <p:nvSpPr>
          <p:cNvPr id="14" name="Rectangle 13">
            <a:extLst>
              <a:ext uri="{FF2B5EF4-FFF2-40B4-BE49-F238E27FC236}">
                <a16:creationId xmlns:a16="http://schemas.microsoft.com/office/drawing/2014/main" id="{CE1E4875-2A43-430F-B04E-04C0E3E5CC40}"/>
              </a:ext>
            </a:extLst>
          </p:cNvPr>
          <p:cNvSpPr>
            <a:spLocks noGrp="1"/>
          </p:cNvSpPr>
          <p:nvPr/>
        </p:nvSpPr>
        <p:spPr>
          <a:xfrm>
            <a:off x="8362950" y="4115876"/>
            <a:ext cx="3162300" cy="495300"/>
          </a:xfrm>
          <a:prstGeom prst="rect">
            <a:avLst/>
          </a:prstGeom>
          <a:noFill/>
          <a:ln w="0">
            <a:noFill/>
            <a:prstDash val="solid"/>
          </a:ln>
        </p:spPr>
        <p:txBody>
          <a:bodyPr wrap="square" lIns="38100" tIns="19050" rIns="38100" bIns="19050" anchor="t">
            <a:normAutofit/>
          </a:bodyPr>
          <a:lstStyle/>
          <a:p>
            <a:pPr algn="l">
              <a:defRPr sz="1275" b="0" i="0">
                <a:solidFill>
                  <a:srgbClr val="263746"/>
                </a:solidFill>
                <a:latin typeface="Arial"/>
                <a:ea typeface="Arial"/>
                <a:cs typeface="Arial"/>
              </a:defRPr>
            </a:pPr>
            <a:r>
              <a:rPr sz="1275" b="0" i="0" dirty="0" err="1">
                <a:solidFill>
                  <a:srgbClr val="263746"/>
                </a:solidFill>
                <a:latin typeface="Arial"/>
                <a:ea typeface="Arial"/>
                <a:cs typeface="Arial"/>
              </a:rPr>
              <a:t>Поддржани</a:t>
            </a:r>
            <a:r>
              <a:rPr sz="1275" b="0" i="0" dirty="0">
                <a:solidFill>
                  <a:srgbClr val="263746"/>
                </a:solidFill>
                <a:latin typeface="Arial"/>
                <a:ea typeface="Arial"/>
                <a:cs typeface="Arial"/>
              </a:rPr>
              <a:t> </a:t>
            </a:r>
            <a:r>
              <a:rPr sz="1275" b="0" i="0" dirty="0" err="1">
                <a:solidFill>
                  <a:srgbClr val="263746"/>
                </a:solidFill>
                <a:latin typeface="Arial"/>
                <a:ea typeface="Arial"/>
                <a:cs typeface="Arial"/>
              </a:rPr>
              <a:t>се</a:t>
            </a:r>
            <a:r>
              <a:rPr sz="1275" b="0" i="0" dirty="0">
                <a:solidFill>
                  <a:srgbClr val="263746"/>
                </a:solidFill>
                <a:latin typeface="Arial"/>
                <a:ea typeface="Arial"/>
                <a:cs typeface="Arial"/>
              </a:rPr>
              <a:t> </a:t>
            </a:r>
            <a:r>
              <a:rPr sz="1275" b="0" i="0" dirty="0" err="1">
                <a:solidFill>
                  <a:srgbClr val="263746"/>
                </a:solidFill>
                <a:latin typeface="Arial"/>
                <a:ea typeface="Arial"/>
                <a:cs typeface="Arial"/>
              </a:rPr>
              <a:t>повеќе</a:t>
            </a:r>
            <a:r>
              <a:rPr sz="1275" b="0" i="0" dirty="0">
                <a:solidFill>
                  <a:srgbClr val="263746"/>
                </a:solidFill>
                <a:latin typeface="Arial"/>
                <a:ea typeface="Arial"/>
                <a:cs typeface="Arial"/>
              </a:rPr>
              <a:t> </a:t>
            </a:r>
            <a:r>
              <a:rPr sz="1275" b="0" i="0" dirty="0" err="1">
                <a:solidFill>
                  <a:srgbClr val="263746"/>
                </a:solidFill>
                <a:latin typeface="Arial"/>
                <a:ea typeface="Arial"/>
                <a:cs typeface="Arial"/>
              </a:rPr>
              <a:t>почетни</a:t>
            </a:r>
            <a:r>
              <a:rPr sz="1275" b="0" i="0" dirty="0">
                <a:solidFill>
                  <a:srgbClr val="263746"/>
                </a:solidFill>
                <a:latin typeface="Arial"/>
                <a:ea typeface="Arial"/>
                <a:cs typeface="Arial"/>
              </a:rPr>
              <a:t> </a:t>
            </a:r>
            <a:r>
              <a:rPr sz="1275" b="0" i="0" dirty="0" err="1">
                <a:solidFill>
                  <a:srgbClr val="263746"/>
                </a:solidFill>
                <a:latin typeface="Arial"/>
                <a:ea typeface="Arial"/>
                <a:cs typeface="Arial"/>
              </a:rPr>
              <a:t>ентитети</a:t>
            </a:r>
            <a:r>
              <a:rPr sz="1275" b="0" i="0" dirty="0">
                <a:solidFill>
                  <a:srgbClr val="263746"/>
                </a:solidFill>
                <a:latin typeface="Arial"/>
                <a:ea typeface="Arial"/>
                <a:cs typeface="Arial"/>
              </a:rPr>
              <a:t>.</a:t>
            </a:r>
          </a:p>
        </p:txBody>
      </p:sp>
      <p:sp>
        <p:nvSpPr>
          <p:cNvPr id="15" name="Rectangle 14">
            <a:extLst>
              <a:ext uri="{FF2B5EF4-FFF2-40B4-BE49-F238E27FC236}">
                <a16:creationId xmlns:a16="http://schemas.microsoft.com/office/drawing/2014/main" id="{231D4BA5-7095-4A49-B8E8-9759F5EAFADB}"/>
              </a:ext>
            </a:extLst>
          </p:cNvPr>
          <p:cNvSpPr>
            <a:spLocks noGrp="1"/>
          </p:cNvSpPr>
          <p:nvPr/>
        </p:nvSpPr>
        <p:spPr>
          <a:xfrm>
            <a:off x="742950" y="5260278"/>
            <a:ext cx="10706100" cy="590550"/>
          </a:xfrm>
          <a:prstGeom prst="rect">
            <a:avLst/>
          </a:prstGeom>
          <a:noFill/>
          <a:ln w="0">
            <a:noFill/>
            <a:prstDash val="solid"/>
          </a:ln>
        </p:spPr>
        <p:txBody>
          <a:bodyPr wrap="square" lIns="38100" tIns="19050" rIns="38100" bIns="19050" anchor="ctr">
            <a:normAutofit/>
          </a:bodyPr>
          <a:lstStyle/>
          <a:p>
            <a:pPr algn="ctr">
              <a:defRPr sz="1500" b="1" i="0">
                <a:solidFill>
                  <a:srgbClr val="263746"/>
                </a:solidFill>
                <a:latin typeface="Arial"/>
                <a:ea typeface="Arial"/>
                <a:cs typeface="Arial"/>
              </a:defRPr>
            </a:pPr>
            <a:r>
              <a:rPr sz="1500" b="1" i="0" dirty="0" err="1">
                <a:solidFill>
                  <a:srgbClr val="263746"/>
                </a:solidFill>
                <a:latin typeface="Arial"/>
                <a:ea typeface="Arial"/>
                <a:cs typeface="Arial"/>
              </a:rPr>
              <a:t>Репрезентацијата</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на</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кандидатот</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опишува</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како</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тој</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се</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достигнува</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преку</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патеки</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релевантни</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за</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прашањето</a:t>
            </a:r>
            <a:r>
              <a:rPr sz="1500" b="1" i="0" dirty="0">
                <a:solidFill>
                  <a:srgbClr val="263746"/>
                </a:solidFill>
                <a:latin typeface="Arial"/>
                <a:ea typeface="Arial"/>
                <a:cs typeface="Arial"/>
              </a:rPr>
              <a:t>.</a:t>
            </a:r>
          </a:p>
        </p:txBody>
      </p:sp>
      <p:sp>
        <p:nvSpPr>
          <p:cNvPr id="5" name="Rectangle 4">
            <a:extLst>
              <a:ext uri="{FF2B5EF4-FFF2-40B4-BE49-F238E27FC236}">
                <a16:creationId xmlns:a16="http://schemas.microsoft.com/office/drawing/2014/main" id="{C09A2899-8BE1-78E1-B211-95ACB6B3407C}"/>
              </a:ext>
            </a:extLst>
          </p:cNvPr>
          <p:cNvSpPr/>
          <p:nvPr/>
        </p:nvSpPr>
        <p:spPr>
          <a:xfrm>
            <a:off x="964610" y="4731612"/>
            <a:ext cx="6309904" cy="53176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B00A9791-CFBE-8604-BE88-7F9E1C1332D7}"/>
              </a:ext>
            </a:extLst>
          </p:cNvPr>
          <p:cNvSpPr>
            <a:spLocks noGrp="1"/>
          </p:cNvSpPr>
          <p:nvPr/>
        </p:nvSpPr>
        <p:spPr>
          <a:xfrm>
            <a:off x="8191500" y="3564828"/>
            <a:ext cx="66675" cy="66675"/>
          </a:xfrm>
          <a:prstGeom prst="ellipse">
            <a:avLst/>
          </a:prstGeom>
          <a:solidFill>
            <a:srgbClr val="398D84"/>
          </a:solidFill>
          <a:ln w="0">
            <a:noFill/>
            <a:prstDash val="solid"/>
          </a:ln>
        </p:spPr>
        <p:txBody>
          <a:bodyPr/>
          <a:lstStyle/>
          <a:p>
            <a:endParaRPr lang="en-US"/>
          </a:p>
        </p:txBody>
      </p:sp>
      <p:sp>
        <p:nvSpPr>
          <p:cNvPr id="10" name="Rectangle 9">
            <a:extLst>
              <a:ext uri="{FF2B5EF4-FFF2-40B4-BE49-F238E27FC236}">
                <a16:creationId xmlns:a16="http://schemas.microsoft.com/office/drawing/2014/main" id="{4A8382D6-0A71-213B-242A-0A30D1E843E8}"/>
              </a:ext>
            </a:extLst>
          </p:cNvPr>
          <p:cNvSpPr>
            <a:spLocks noGrp="1"/>
          </p:cNvSpPr>
          <p:nvPr/>
        </p:nvSpPr>
        <p:spPr>
          <a:xfrm>
            <a:off x="8362950" y="3460053"/>
            <a:ext cx="3162300" cy="590550"/>
          </a:xfrm>
          <a:prstGeom prst="rect">
            <a:avLst/>
          </a:prstGeom>
          <a:noFill/>
          <a:ln w="0">
            <a:noFill/>
            <a:prstDash val="solid"/>
          </a:ln>
        </p:spPr>
        <p:txBody>
          <a:bodyPr wrap="square" lIns="38100" tIns="19050" rIns="38100" bIns="19050" anchor="t">
            <a:normAutofit/>
          </a:bodyPr>
          <a:lstStyle/>
          <a:p>
            <a:pPr algn="l">
              <a:defRPr sz="1275" b="0" i="0">
                <a:solidFill>
                  <a:srgbClr val="263746"/>
                </a:solidFill>
                <a:latin typeface="Arial"/>
                <a:ea typeface="Arial"/>
                <a:cs typeface="Arial"/>
              </a:defRPr>
            </a:pPr>
            <a:r>
              <a:rPr lang="mk-MK" sz="1275" b="0" i="0" dirty="0">
                <a:solidFill>
                  <a:srgbClr val="263746"/>
                </a:solidFill>
                <a:latin typeface="Arial"/>
                <a:ea typeface="Arial"/>
                <a:cs typeface="Arial"/>
              </a:rPr>
              <a:t>Патеките и релациите се условени од прашањето</a:t>
            </a:r>
            <a:r>
              <a:rPr sz="1275" b="0" i="0" dirty="0">
                <a:solidFill>
                  <a:srgbClr val="263746"/>
                </a:solidFill>
                <a:latin typeface="Arial"/>
                <a:ea typeface="Arial"/>
                <a:cs typeface="Arial"/>
              </a:rPr>
              <a:t>.</a:t>
            </a:r>
          </a:p>
        </p:txBody>
      </p:sp>
    </p:spTree>
    <p:extLst>
      <p:ext uri="{BB962C8B-B14F-4D97-AF65-F5344CB8AC3E}">
        <p14:creationId xmlns:p14="http://schemas.microsoft.com/office/powerpoint/2010/main" val="3938516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5EEDE8CA-5EB9-4DF7-A7FF-22DB5290AAD1}"/>
              </a:ext>
            </a:extLst>
          </p:cNvPr>
          <p:cNvSpPr>
            <a:spLocks noGrp="1"/>
          </p:cNvSpPr>
          <p:nvPr/>
        </p:nvSpPr>
        <p:spPr>
          <a:xfrm>
            <a:off x="552450" y="209550"/>
            <a:ext cx="10763250" cy="523875"/>
          </a:xfrm>
          <a:prstGeom prst="rect">
            <a:avLst/>
          </a:prstGeom>
          <a:noFill/>
          <a:ln w="0">
            <a:noFill/>
            <a:prstDash val="solid"/>
          </a:ln>
        </p:spPr>
        <p:txBody>
          <a:bodyPr wrap="square" lIns="38100" tIns="19050" rIns="38100" bIns="19050" anchor="ctr">
            <a:normAutofit/>
          </a:bodyPr>
          <a:lstStyle/>
          <a:p>
            <a:pPr algn="l">
              <a:defRPr sz="2325" b="1" i="0">
                <a:solidFill>
                  <a:srgbClr val="263746"/>
                </a:solidFill>
                <a:latin typeface="Arial"/>
                <a:ea typeface="Arial"/>
                <a:cs typeface="Arial"/>
              </a:defRPr>
            </a:pPr>
            <a:r>
              <a:rPr sz="2325" b="1" i="0">
                <a:solidFill>
                  <a:srgbClr val="263746"/>
                </a:solidFill>
                <a:latin typeface="Arial"/>
                <a:ea typeface="Arial"/>
                <a:cs typeface="Arial"/>
              </a:rPr>
              <a:t>Метрики за пребарување</a:t>
            </a:r>
          </a:p>
        </p:txBody>
      </p:sp>
      <p:sp>
        <p:nvSpPr>
          <p:cNvPr id="2" name="Rectangle 1">
            <a:extLst>
              <a:ext uri="{FF2B5EF4-FFF2-40B4-BE49-F238E27FC236}">
                <a16:creationId xmlns:a16="http://schemas.microsoft.com/office/drawing/2014/main" id="{37B5306A-DE08-4502-8C97-6B8CDD17736E}"/>
              </a:ext>
            </a:extLst>
          </p:cNvPr>
          <p:cNvSpPr>
            <a:spLocks noGrp="1"/>
          </p:cNvSpPr>
          <p:nvPr/>
        </p:nvSpPr>
        <p:spPr>
          <a:xfrm>
            <a:off x="552450" y="781050"/>
            <a:ext cx="11087100" cy="38100"/>
          </a:xfrm>
          <a:prstGeom prst="rect">
            <a:avLst/>
          </a:prstGeom>
          <a:solidFill>
            <a:srgbClr val="D97942"/>
          </a:solidFill>
          <a:ln w="0">
            <a:noFill/>
            <a:prstDash val="solid"/>
          </a:ln>
        </p:spPr>
        <p:txBody>
          <a:bodyPr/>
          <a:lstStyle/>
          <a:p>
            <a:endParaRPr lang="en-US"/>
          </a:p>
        </p:txBody>
      </p:sp>
      <p:sp>
        <p:nvSpPr>
          <p:cNvPr id="3" name="Rectangle 2">
            <a:extLst>
              <a:ext uri="{FF2B5EF4-FFF2-40B4-BE49-F238E27FC236}">
                <a16:creationId xmlns:a16="http://schemas.microsoft.com/office/drawing/2014/main" id="{836FA5F2-EB61-4C86-87A2-4D97466B20FA}"/>
              </a:ext>
            </a:extLst>
          </p:cNvPr>
          <p:cNvSpPr>
            <a:spLocks noGrp="1"/>
          </p:cNvSpPr>
          <p:nvPr/>
        </p:nvSpPr>
        <p:spPr>
          <a:xfrm>
            <a:off x="552450" y="6486525"/>
            <a:ext cx="9334500" cy="228600"/>
          </a:xfrm>
          <a:prstGeom prst="rect">
            <a:avLst/>
          </a:prstGeom>
          <a:noFill/>
          <a:ln w="0">
            <a:noFill/>
            <a:prstDash val="solid"/>
          </a:ln>
        </p:spPr>
        <p:txBody>
          <a:bodyPr wrap="square" lIns="38100" tIns="19050" rIns="38100" bIns="19050" anchor="b">
            <a:normAutofit/>
          </a:bodyPr>
          <a:lstStyle/>
          <a:p>
            <a:pPr algn="l">
              <a:defRPr sz="825" b="0" i="0">
                <a:solidFill>
                  <a:srgbClr val="617080"/>
                </a:solidFill>
                <a:latin typeface="Arial"/>
                <a:ea typeface="Arial"/>
                <a:cs typeface="Arial"/>
              </a:defRPr>
            </a:pPr>
            <a:r>
              <a:rPr sz="825" b="0" i="0">
                <a:solidFill>
                  <a:srgbClr val="617080"/>
                </a:solidFill>
                <a:latin typeface="Arial"/>
                <a:ea typeface="Arial"/>
                <a:cs typeface="Arial"/>
              </a:rPr>
              <a:t>nDCG: Järvelin and Kekäläinen, 2002</a:t>
            </a:r>
          </a:p>
        </p:txBody>
      </p:sp>
      <p:sp>
        <p:nvSpPr>
          <p:cNvPr id="4" name="Rectangle 3">
            <a:extLst>
              <a:ext uri="{FF2B5EF4-FFF2-40B4-BE49-F238E27FC236}">
                <a16:creationId xmlns:a16="http://schemas.microsoft.com/office/drawing/2014/main" id="{2C9D1437-9C52-4EAE-920F-17E5B0A48A99}"/>
              </a:ext>
            </a:extLst>
          </p:cNvPr>
          <p:cNvSpPr>
            <a:spLocks noGrp="1"/>
          </p:cNvSpPr>
          <p:nvPr/>
        </p:nvSpPr>
        <p:spPr>
          <a:xfrm>
            <a:off x="11315700" y="6486525"/>
            <a:ext cx="323850" cy="228600"/>
          </a:xfrm>
          <a:prstGeom prst="rect">
            <a:avLst/>
          </a:prstGeom>
          <a:noFill/>
          <a:ln w="0">
            <a:noFill/>
            <a:prstDash val="solid"/>
          </a:ln>
        </p:spPr>
        <p:txBody>
          <a:bodyPr wrap="square" lIns="38100" tIns="19050" rIns="38100" bIns="19050" anchor="b">
            <a:normAutofit/>
          </a:bodyPr>
          <a:lstStyle/>
          <a:p>
            <a:pPr algn="r">
              <a:defRPr sz="900" b="0" i="0">
                <a:solidFill>
                  <a:srgbClr val="617080"/>
                </a:solidFill>
                <a:latin typeface="Arial"/>
                <a:ea typeface="Arial"/>
                <a:cs typeface="Arial"/>
              </a:defRPr>
            </a:pPr>
            <a:r>
              <a:rPr sz="900" b="0" i="0">
                <a:solidFill>
                  <a:srgbClr val="617080"/>
                </a:solidFill>
                <a:latin typeface="Arial"/>
                <a:ea typeface="Arial"/>
                <a:cs typeface="Arial"/>
              </a:rPr>
              <a:t>13</a:t>
            </a:r>
          </a:p>
        </p:txBody>
      </p:sp>
      <p:sp>
        <p:nvSpPr>
          <p:cNvPr id="5" name="Rectangle 4">
            <a:extLst>
              <a:ext uri="{FF2B5EF4-FFF2-40B4-BE49-F238E27FC236}">
                <a16:creationId xmlns:a16="http://schemas.microsoft.com/office/drawing/2014/main" id="{E5A3BC85-1B3C-489A-950A-84A5EBC6EFF5}"/>
              </a:ext>
            </a:extLst>
          </p:cNvPr>
          <p:cNvSpPr>
            <a:spLocks noGrp="1"/>
          </p:cNvSpPr>
          <p:nvPr/>
        </p:nvSpPr>
        <p:spPr>
          <a:xfrm>
            <a:off x="666750" y="1104900"/>
            <a:ext cx="4857750" cy="400050"/>
          </a:xfrm>
          <a:prstGeom prst="rect">
            <a:avLst/>
          </a:prstGeom>
          <a:noFill/>
          <a:ln w="0">
            <a:noFill/>
            <a:prstDash val="solid"/>
          </a:ln>
        </p:spPr>
        <p:txBody>
          <a:bodyPr wrap="square" lIns="38100" tIns="19050" rIns="38100" bIns="19050" anchor="ctr">
            <a:normAutofit/>
          </a:bodyPr>
          <a:lstStyle/>
          <a:p>
            <a:pPr algn="l">
              <a:defRPr sz="1800" b="1" i="0">
                <a:solidFill>
                  <a:srgbClr val="D97942"/>
                </a:solidFill>
                <a:latin typeface="Arial"/>
                <a:ea typeface="Arial"/>
                <a:cs typeface="Arial"/>
              </a:defRPr>
            </a:pPr>
            <a:r>
              <a:rPr sz="1800" b="1" i="0">
                <a:solidFill>
                  <a:srgbClr val="D97942"/>
                </a:solidFill>
                <a:latin typeface="Arial"/>
                <a:ea typeface="Arial"/>
                <a:cs typeface="Arial"/>
              </a:rPr>
              <a:t>Рангирање</a:t>
            </a:r>
          </a:p>
        </p:txBody>
      </p:sp>
      <p:sp>
        <p:nvSpPr>
          <p:cNvPr id="6" name="Rounded Rectangle 5">
            <a:extLst>
              <a:ext uri="{FF2B5EF4-FFF2-40B4-BE49-F238E27FC236}">
                <a16:creationId xmlns:a16="http://schemas.microsoft.com/office/drawing/2014/main" id="{D85738EF-AA1C-4553-9D4D-48AC386CA1A8}"/>
              </a:ext>
            </a:extLst>
          </p:cNvPr>
          <p:cNvSpPr>
            <a:spLocks noGrp="1"/>
          </p:cNvSpPr>
          <p:nvPr/>
        </p:nvSpPr>
        <p:spPr>
          <a:xfrm>
            <a:off x="666750" y="1619250"/>
            <a:ext cx="4857750" cy="1898062"/>
          </a:xfrm>
          <a:prstGeom prst="roundRect">
            <a:avLst>
              <a:gd name="adj" fmla="val 7368"/>
            </a:avLst>
          </a:prstGeom>
          <a:solidFill>
            <a:srgbClr val="FBEDE5"/>
          </a:solidFill>
          <a:ln w="14288">
            <a:solidFill>
              <a:srgbClr val="D97942"/>
            </a:solidFill>
            <a:prstDash val="solid"/>
          </a:ln>
        </p:spPr>
        <p:txBody>
          <a:bodyPr/>
          <a:lstStyle/>
          <a:p>
            <a:endParaRPr lang="en-US" dirty="0"/>
          </a:p>
        </p:txBody>
      </p:sp>
      <p:sp>
        <p:nvSpPr>
          <p:cNvPr id="7" name="Oval 6">
            <a:extLst>
              <a:ext uri="{FF2B5EF4-FFF2-40B4-BE49-F238E27FC236}">
                <a16:creationId xmlns:a16="http://schemas.microsoft.com/office/drawing/2014/main" id="{8961D1B3-8A4C-4675-BCB8-6264250A90A6}"/>
              </a:ext>
            </a:extLst>
          </p:cNvPr>
          <p:cNvSpPr>
            <a:spLocks noGrp="1"/>
          </p:cNvSpPr>
          <p:nvPr/>
        </p:nvSpPr>
        <p:spPr>
          <a:xfrm>
            <a:off x="876300" y="1962150"/>
            <a:ext cx="66675" cy="66675"/>
          </a:xfrm>
          <a:prstGeom prst="ellipse">
            <a:avLst/>
          </a:prstGeom>
          <a:solidFill>
            <a:srgbClr val="D97942"/>
          </a:solidFill>
          <a:ln w="0">
            <a:noFill/>
            <a:prstDash val="solid"/>
          </a:ln>
        </p:spPr>
        <p:txBody>
          <a:bodyPr/>
          <a:lstStyle/>
          <a:p>
            <a:endParaRPr lang="en-US"/>
          </a:p>
        </p:txBody>
      </p:sp>
      <p:sp>
        <p:nvSpPr>
          <p:cNvPr id="8" name="Rectangle 7">
            <a:extLst>
              <a:ext uri="{FF2B5EF4-FFF2-40B4-BE49-F238E27FC236}">
                <a16:creationId xmlns:a16="http://schemas.microsoft.com/office/drawing/2014/main" id="{9DA66C8C-B1A7-45F8-88EC-ABF0A70BF095}"/>
              </a:ext>
            </a:extLst>
          </p:cNvPr>
          <p:cNvSpPr>
            <a:spLocks noGrp="1"/>
          </p:cNvSpPr>
          <p:nvPr/>
        </p:nvSpPr>
        <p:spPr>
          <a:xfrm>
            <a:off x="1047750" y="1857375"/>
            <a:ext cx="4257675" cy="628650"/>
          </a:xfrm>
          <a:prstGeom prst="rect">
            <a:avLst/>
          </a:prstGeom>
          <a:noFill/>
          <a:ln w="0">
            <a:noFill/>
            <a:prstDash val="solid"/>
          </a:ln>
        </p:spPr>
        <p:txBody>
          <a:bodyPr wrap="square" lIns="38100" tIns="19050" rIns="38100" bIns="19050" anchor="t">
            <a:normAutofit/>
          </a:bodyPr>
          <a:lstStyle/>
          <a:p>
            <a:pPr algn="l">
              <a:defRPr sz="1350" b="0" i="0">
                <a:solidFill>
                  <a:srgbClr val="263746"/>
                </a:solidFill>
                <a:latin typeface="Arial"/>
                <a:ea typeface="Arial"/>
                <a:cs typeface="Arial"/>
              </a:defRPr>
            </a:pPr>
            <a:r>
              <a:rPr sz="1350" b="1" i="0" dirty="0">
                <a:solidFill>
                  <a:srgbClr val="263746"/>
                </a:solidFill>
                <a:latin typeface="Arial"/>
                <a:ea typeface="Arial"/>
                <a:cs typeface="Arial"/>
              </a:rPr>
              <a:t>Hits@1 </a:t>
            </a:r>
            <a:r>
              <a:rPr sz="1350" b="0" i="0" dirty="0">
                <a:solidFill>
                  <a:srgbClr val="263746"/>
                </a:solidFill>
                <a:latin typeface="Arial"/>
                <a:ea typeface="Arial"/>
                <a:cs typeface="Arial"/>
              </a:rPr>
              <a:t>/ </a:t>
            </a:r>
            <a:r>
              <a:rPr sz="1350" b="1" i="0" dirty="0">
                <a:solidFill>
                  <a:srgbClr val="263746"/>
                </a:solidFill>
                <a:latin typeface="Arial"/>
                <a:ea typeface="Arial"/>
                <a:cs typeface="Arial"/>
              </a:rPr>
              <a:t>Hits@10 </a:t>
            </a:r>
            <a:r>
              <a:rPr sz="1350" b="0" i="0" dirty="0">
                <a:solidFill>
                  <a:srgbClr val="263746"/>
                </a:solidFill>
                <a:latin typeface="Arial"/>
                <a:ea typeface="Arial"/>
                <a:cs typeface="Arial"/>
              </a:rPr>
              <a:t>— </a:t>
            </a:r>
            <a:r>
              <a:rPr sz="1350" b="0" i="0" dirty="0" err="1">
                <a:solidFill>
                  <a:srgbClr val="263746"/>
                </a:solidFill>
                <a:latin typeface="Arial"/>
                <a:ea typeface="Arial"/>
                <a:cs typeface="Arial"/>
              </a:rPr>
              <a:t>барем</a:t>
            </a:r>
            <a:r>
              <a:rPr sz="1350" b="0" i="0" dirty="0">
                <a:solidFill>
                  <a:srgbClr val="263746"/>
                </a:solidFill>
                <a:latin typeface="Arial"/>
                <a:ea typeface="Arial"/>
                <a:cs typeface="Arial"/>
              </a:rPr>
              <a:t> </a:t>
            </a:r>
            <a:r>
              <a:rPr sz="1350" b="0" i="0" dirty="0" err="1">
                <a:solidFill>
                  <a:srgbClr val="263746"/>
                </a:solidFill>
                <a:latin typeface="Arial"/>
                <a:ea typeface="Arial"/>
                <a:cs typeface="Arial"/>
              </a:rPr>
              <a:t>еден</a:t>
            </a:r>
            <a:r>
              <a:rPr sz="1350" b="0" i="0" dirty="0">
                <a:solidFill>
                  <a:srgbClr val="263746"/>
                </a:solidFill>
                <a:latin typeface="Arial"/>
                <a:ea typeface="Arial"/>
                <a:cs typeface="Arial"/>
              </a:rPr>
              <a:t> </a:t>
            </a:r>
            <a:r>
              <a:rPr sz="1350" b="0" i="0" dirty="0" err="1">
                <a:solidFill>
                  <a:srgbClr val="263746"/>
                </a:solidFill>
                <a:latin typeface="Arial"/>
                <a:ea typeface="Arial"/>
                <a:cs typeface="Arial"/>
              </a:rPr>
              <a:t>точен</a:t>
            </a:r>
            <a:r>
              <a:rPr sz="1350" b="0" i="0" dirty="0">
                <a:solidFill>
                  <a:srgbClr val="263746"/>
                </a:solidFill>
                <a:latin typeface="Arial"/>
                <a:ea typeface="Arial"/>
                <a:cs typeface="Arial"/>
              </a:rPr>
              <a:t> </a:t>
            </a:r>
            <a:r>
              <a:rPr sz="1350" b="0" i="0" dirty="0" err="1">
                <a:solidFill>
                  <a:srgbClr val="263746"/>
                </a:solidFill>
                <a:latin typeface="Arial"/>
                <a:ea typeface="Arial"/>
                <a:cs typeface="Arial"/>
              </a:rPr>
              <a:t>одговор</a:t>
            </a:r>
            <a:r>
              <a:rPr sz="1350" b="0" i="0" dirty="0">
                <a:solidFill>
                  <a:srgbClr val="263746"/>
                </a:solidFill>
                <a:latin typeface="Arial"/>
                <a:ea typeface="Arial"/>
                <a:cs typeface="Arial"/>
              </a:rPr>
              <a:t> </a:t>
            </a:r>
            <a:r>
              <a:rPr sz="1350" b="0" i="0" dirty="0" err="1">
                <a:solidFill>
                  <a:srgbClr val="263746"/>
                </a:solidFill>
                <a:latin typeface="Arial"/>
                <a:ea typeface="Arial"/>
                <a:cs typeface="Arial"/>
              </a:rPr>
              <a:t>во</a:t>
            </a:r>
            <a:r>
              <a:rPr sz="1350" b="0" i="0" dirty="0">
                <a:solidFill>
                  <a:srgbClr val="263746"/>
                </a:solidFill>
                <a:latin typeface="Arial"/>
                <a:ea typeface="Arial"/>
                <a:cs typeface="Arial"/>
              </a:rPr>
              <a:t> </a:t>
            </a:r>
            <a:r>
              <a:rPr sz="1350" b="0" i="0" dirty="0" err="1">
                <a:solidFill>
                  <a:srgbClr val="263746"/>
                </a:solidFill>
                <a:latin typeface="Arial"/>
                <a:ea typeface="Arial"/>
                <a:cs typeface="Arial"/>
              </a:rPr>
              <a:t>првите</a:t>
            </a:r>
            <a:r>
              <a:rPr sz="1350" b="0" i="0" dirty="0">
                <a:solidFill>
                  <a:srgbClr val="263746"/>
                </a:solidFill>
                <a:latin typeface="Arial"/>
                <a:ea typeface="Arial"/>
                <a:cs typeface="Arial"/>
              </a:rPr>
              <a:t> 1</a:t>
            </a:r>
            <a:r>
              <a:rPr lang="mk-MK" sz="1350" b="0" i="0" dirty="0">
                <a:solidFill>
                  <a:srgbClr val="263746"/>
                </a:solidFill>
                <a:latin typeface="Arial"/>
                <a:ea typeface="Arial"/>
                <a:cs typeface="Arial"/>
              </a:rPr>
              <a:t>, односно </a:t>
            </a:r>
            <a:r>
              <a:rPr sz="1350" b="0" i="0" dirty="0">
                <a:solidFill>
                  <a:srgbClr val="263746"/>
                </a:solidFill>
                <a:latin typeface="Arial"/>
                <a:ea typeface="Arial"/>
                <a:cs typeface="Arial"/>
              </a:rPr>
              <a:t>10 </a:t>
            </a:r>
            <a:r>
              <a:rPr lang="mk-MK" sz="1350" b="0" i="0" dirty="0">
                <a:solidFill>
                  <a:srgbClr val="263746"/>
                </a:solidFill>
                <a:latin typeface="Arial"/>
                <a:ea typeface="Arial"/>
                <a:cs typeface="Arial"/>
              </a:rPr>
              <a:t>кандидати</a:t>
            </a:r>
            <a:endParaRPr sz="1350" b="0" i="0" dirty="0">
              <a:solidFill>
                <a:srgbClr val="263746"/>
              </a:solidFill>
              <a:latin typeface="Arial"/>
              <a:ea typeface="Arial"/>
              <a:cs typeface="Arial"/>
            </a:endParaRPr>
          </a:p>
        </p:txBody>
      </p:sp>
      <p:sp>
        <p:nvSpPr>
          <p:cNvPr id="9" name="Oval 8">
            <a:extLst>
              <a:ext uri="{FF2B5EF4-FFF2-40B4-BE49-F238E27FC236}">
                <a16:creationId xmlns:a16="http://schemas.microsoft.com/office/drawing/2014/main" id="{C80939DA-F14A-41ED-9BDC-E98FE689815D}"/>
              </a:ext>
            </a:extLst>
          </p:cNvPr>
          <p:cNvSpPr>
            <a:spLocks noGrp="1"/>
          </p:cNvSpPr>
          <p:nvPr/>
        </p:nvSpPr>
        <p:spPr>
          <a:xfrm>
            <a:off x="876300" y="2752725"/>
            <a:ext cx="66675" cy="66675"/>
          </a:xfrm>
          <a:prstGeom prst="ellipse">
            <a:avLst/>
          </a:prstGeom>
          <a:solidFill>
            <a:srgbClr val="D97942"/>
          </a:solidFill>
          <a:ln w="0">
            <a:noFill/>
            <a:prstDash val="solid"/>
          </a:ln>
        </p:spPr>
        <p:txBody>
          <a:bodyPr/>
          <a:lstStyle/>
          <a:p>
            <a:endParaRPr lang="en-US"/>
          </a:p>
        </p:txBody>
      </p:sp>
      <p:sp>
        <p:nvSpPr>
          <p:cNvPr id="10" name="Rectangle 9">
            <a:extLst>
              <a:ext uri="{FF2B5EF4-FFF2-40B4-BE49-F238E27FC236}">
                <a16:creationId xmlns:a16="http://schemas.microsoft.com/office/drawing/2014/main" id="{82F2CA1B-2F81-4C10-8B01-E88BB768A823}"/>
              </a:ext>
            </a:extLst>
          </p:cNvPr>
          <p:cNvSpPr>
            <a:spLocks noGrp="1"/>
          </p:cNvSpPr>
          <p:nvPr/>
        </p:nvSpPr>
        <p:spPr>
          <a:xfrm>
            <a:off x="1047750" y="2647950"/>
            <a:ext cx="4257675" cy="590550"/>
          </a:xfrm>
          <a:prstGeom prst="rect">
            <a:avLst/>
          </a:prstGeom>
          <a:noFill/>
          <a:ln w="0">
            <a:noFill/>
            <a:prstDash val="solid"/>
          </a:ln>
        </p:spPr>
        <p:txBody>
          <a:bodyPr wrap="square" lIns="38100" tIns="19050" rIns="38100" bIns="19050" anchor="t">
            <a:normAutofit/>
          </a:bodyPr>
          <a:lstStyle/>
          <a:p>
            <a:pPr algn="l">
              <a:defRPr sz="1350" b="0" i="0">
                <a:solidFill>
                  <a:srgbClr val="263746"/>
                </a:solidFill>
                <a:latin typeface="Arial"/>
                <a:ea typeface="Arial"/>
                <a:cs typeface="Arial"/>
              </a:defRPr>
            </a:pPr>
            <a:r>
              <a:rPr sz="1350" b="1" i="0" dirty="0">
                <a:solidFill>
                  <a:srgbClr val="263746"/>
                </a:solidFill>
                <a:latin typeface="Arial"/>
                <a:ea typeface="Arial"/>
                <a:cs typeface="Arial"/>
              </a:rPr>
              <a:t>nDCG@10 </a:t>
            </a:r>
            <a:r>
              <a:rPr sz="1350" b="0" i="0" dirty="0">
                <a:solidFill>
                  <a:srgbClr val="263746"/>
                </a:solidFill>
                <a:latin typeface="Arial"/>
                <a:ea typeface="Arial"/>
                <a:cs typeface="Arial"/>
              </a:rPr>
              <a:t>— </a:t>
            </a:r>
            <a:r>
              <a:rPr sz="1350" b="0" i="0" dirty="0" err="1">
                <a:solidFill>
                  <a:srgbClr val="263746"/>
                </a:solidFill>
                <a:latin typeface="Arial"/>
                <a:ea typeface="Arial"/>
                <a:cs typeface="Arial"/>
              </a:rPr>
              <a:t>позицијата</a:t>
            </a:r>
            <a:r>
              <a:rPr sz="1350" b="0" i="0" dirty="0">
                <a:solidFill>
                  <a:srgbClr val="263746"/>
                </a:solidFill>
                <a:latin typeface="Arial"/>
                <a:ea typeface="Arial"/>
                <a:cs typeface="Arial"/>
              </a:rPr>
              <a:t> </a:t>
            </a:r>
            <a:r>
              <a:rPr sz="1350" b="0" i="0" dirty="0" err="1">
                <a:solidFill>
                  <a:srgbClr val="263746"/>
                </a:solidFill>
                <a:latin typeface="Arial"/>
                <a:ea typeface="Arial"/>
                <a:cs typeface="Arial"/>
              </a:rPr>
              <a:t>и</a:t>
            </a:r>
            <a:r>
              <a:rPr sz="1350" b="0" i="0" dirty="0">
                <a:solidFill>
                  <a:srgbClr val="263746"/>
                </a:solidFill>
                <a:latin typeface="Arial"/>
                <a:ea typeface="Arial"/>
                <a:cs typeface="Arial"/>
              </a:rPr>
              <a:t> </a:t>
            </a:r>
            <a:r>
              <a:rPr sz="1350" b="0" i="0" dirty="0" err="1">
                <a:solidFill>
                  <a:srgbClr val="263746"/>
                </a:solidFill>
                <a:latin typeface="Arial"/>
                <a:ea typeface="Arial"/>
                <a:cs typeface="Arial"/>
              </a:rPr>
              <a:t>бројот</a:t>
            </a:r>
            <a:r>
              <a:rPr sz="1350" b="0" i="0" dirty="0">
                <a:solidFill>
                  <a:srgbClr val="263746"/>
                </a:solidFill>
                <a:latin typeface="Arial"/>
                <a:ea typeface="Arial"/>
                <a:cs typeface="Arial"/>
              </a:rPr>
              <a:t> </a:t>
            </a:r>
            <a:r>
              <a:rPr sz="1350" b="0" i="0" dirty="0" err="1">
                <a:solidFill>
                  <a:srgbClr val="263746"/>
                </a:solidFill>
                <a:latin typeface="Arial"/>
                <a:ea typeface="Arial"/>
                <a:cs typeface="Arial"/>
              </a:rPr>
              <a:t>на</a:t>
            </a:r>
            <a:r>
              <a:rPr sz="1350" b="0" i="0" dirty="0">
                <a:solidFill>
                  <a:srgbClr val="263746"/>
                </a:solidFill>
                <a:latin typeface="Arial"/>
                <a:ea typeface="Arial"/>
                <a:cs typeface="Arial"/>
              </a:rPr>
              <a:t> </a:t>
            </a:r>
            <a:r>
              <a:rPr sz="1350" b="0" i="0" dirty="0" err="1">
                <a:solidFill>
                  <a:srgbClr val="263746"/>
                </a:solidFill>
                <a:latin typeface="Arial"/>
                <a:ea typeface="Arial"/>
                <a:cs typeface="Arial"/>
              </a:rPr>
              <a:t>точни</a:t>
            </a:r>
            <a:r>
              <a:rPr sz="1350" b="0" i="0" dirty="0">
                <a:solidFill>
                  <a:srgbClr val="263746"/>
                </a:solidFill>
                <a:latin typeface="Arial"/>
                <a:ea typeface="Arial"/>
                <a:cs typeface="Arial"/>
              </a:rPr>
              <a:t> </a:t>
            </a:r>
            <a:r>
              <a:rPr sz="1350" b="0" i="0" dirty="0" err="1">
                <a:solidFill>
                  <a:srgbClr val="263746"/>
                </a:solidFill>
                <a:latin typeface="Arial"/>
                <a:ea typeface="Arial"/>
                <a:cs typeface="Arial"/>
              </a:rPr>
              <a:t>одговори</a:t>
            </a:r>
            <a:r>
              <a:rPr sz="1350" b="0" i="0" dirty="0">
                <a:solidFill>
                  <a:srgbClr val="263746"/>
                </a:solidFill>
                <a:latin typeface="Arial"/>
                <a:ea typeface="Arial"/>
                <a:cs typeface="Arial"/>
              </a:rPr>
              <a:t> </a:t>
            </a:r>
            <a:r>
              <a:rPr sz="1350" b="0" i="0" dirty="0" err="1">
                <a:solidFill>
                  <a:srgbClr val="263746"/>
                </a:solidFill>
                <a:latin typeface="Arial"/>
                <a:ea typeface="Arial"/>
                <a:cs typeface="Arial"/>
              </a:rPr>
              <a:t>во</a:t>
            </a:r>
            <a:r>
              <a:rPr sz="1350" b="0" i="0" dirty="0">
                <a:solidFill>
                  <a:srgbClr val="263746"/>
                </a:solidFill>
                <a:latin typeface="Arial"/>
                <a:ea typeface="Arial"/>
                <a:cs typeface="Arial"/>
              </a:rPr>
              <a:t> </a:t>
            </a:r>
            <a:r>
              <a:rPr sz="1350" b="0" i="0" dirty="0" err="1">
                <a:solidFill>
                  <a:srgbClr val="263746"/>
                </a:solidFill>
                <a:latin typeface="Arial"/>
                <a:ea typeface="Arial"/>
                <a:cs typeface="Arial"/>
              </a:rPr>
              <a:t>првите</a:t>
            </a:r>
            <a:r>
              <a:rPr sz="1350" b="0" i="0" dirty="0">
                <a:solidFill>
                  <a:srgbClr val="263746"/>
                </a:solidFill>
                <a:latin typeface="Arial"/>
                <a:ea typeface="Arial"/>
                <a:cs typeface="Arial"/>
              </a:rPr>
              <a:t> 10</a:t>
            </a:r>
            <a:r>
              <a:rPr lang="mk-MK" sz="1350" b="0" i="0" dirty="0">
                <a:solidFill>
                  <a:srgbClr val="263746"/>
                </a:solidFill>
                <a:latin typeface="Arial"/>
                <a:ea typeface="Arial"/>
                <a:cs typeface="Arial"/>
              </a:rPr>
              <a:t> кандидати</a:t>
            </a:r>
            <a:endParaRPr sz="1350" b="0" i="0" dirty="0">
              <a:solidFill>
                <a:srgbClr val="263746"/>
              </a:solidFill>
              <a:latin typeface="Arial"/>
              <a:ea typeface="Arial"/>
              <a:cs typeface="Arial"/>
            </a:endParaRPr>
          </a:p>
        </p:txBody>
      </p:sp>
      <p:sp>
        <p:nvSpPr>
          <p:cNvPr id="11" name="Rectangle 10">
            <a:extLst>
              <a:ext uri="{FF2B5EF4-FFF2-40B4-BE49-F238E27FC236}">
                <a16:creationId xmlns:a16="http://schemas.microsoft.com/office/drawing/2014/main" id="{865DAC87-449D-4CAA-BDD2-435BE7674A1E}"/>
              </a:ext>
            </a:extLst>
          </p:cNvPr>
          <p:cNvSpPr>
            <a:spLocks noGrp="1"/>
          </p:cNvSpPr>
          <p:nvPr/>
        </p:nvSpPr>
        <p:spPr>
          <a:xfrm>
            <a:off x="6191250" y="1104900"/>
            <a:ext cx="5334000" cy="400050"/>
          </a:xfrm>
          <a:prstGeom prst="rect">
            <a:avLst/>
          </a:prstGeom>
          <a:noFill/>
          <a:ln w="0">
            <a:noFill/>
            <a:prstDash val="solid"/>
          </a:ln>
        </p:spPr>
        <p:txBody>
          <a:bodyPr wrap="square" lIns="38100" tIns="19050" rIns="38100" bIns="19050" anchor="ctr">
            <a:normAutofit/>
          </a:bodyPr>
          <a:lstStyle/>
          <a:p>
            <a:pPr algn="l">
              <a:defRPr sz="1800" b="1" i="0">
                <a:solidFill>
                  <a:srgbClr val="4F86C6"/>
                </a:solidFill>
                <a:latin typeface="Arial"/>
                <a:ea typeface="Arial"/>
                <a:cs typeface="Arial"/>
              </a:defRPr>
            </a:pPr>
            <a:r>
              <a:rPr sz="1800" b="1" i="0">
                <a:solidFill>
                  <a:srgbClr val="4F86C6"/>
                </a:solidFill>
                <a:latin typeface="Arial"/>
                <a:ea typeface="Arial"/>
                <a:cs typeface="Arial"/>
              </a:rPr>
              <a:t>Покриеност на точните одговори</a:t>
            </a:r>
          </a:p>
        </p:txBody>
      </p:sp>
      <mc:AlternateContent xmlns:mc="http://schemas.openxmlformats.org/markup-compatibility/2006" xmlns:a14="http://schemas.microsoft.com/office/drawing/2010/main">
        <mc:Choice Requires="a14">
          <p:sp>
            <p:nvSpPr>
              <p:cNvPr id="12" name="Rounded Rectangle 11">
                <a:extLst>
                  <a:ext uri="{FF2B5EF4-FFF2-40B4-BE49-F238E27FC236}">
                    <a16:creationId xmlns:a16="http://schemas.microsoft.com/office/drawing/2014/main" id="{94239560-36C6-4C55-B6CE-1F7ACD0A8760}"/>
                  </a:ext>
                </a:extLst>
              </p:cNvPr>
              <p:cNvSpPr>
                <a:spLocks noGrp="1"/>
              </p:cNvSpPr>
              <p:nvPr/>
            </p:nvSpPr>
            <p:spPr>
              <a:xfrm>
                <a:off x="6191250" y="1619249"/>
                <a:ext cx="5334000" cy="866775"/>
              </a:xfrm>
              <a:prstGeom prst="roundRect">
                <a:avLst>
                  <a:gd name="adj" fmla="val 12500"/>
                </a:avLst>
              </a:prstGeom>
              <a:solidFill>
                <a:srgbClr val="EAF2FB"/>
              </a:solidFill>
              <a:ln w="11430">
                <a:solidFill>
                  <a:srgbClr val="4F86C6"/>
                </a:solidFill>
                <a:prstDash val="solid"/>
              </a:ln>
            </p:spPr>
            <p:txBody>
              <a:bodyPr anchor="ctr"/>
              <a:lstStyle/>
              <a:p>
                <a:pPr/>
                <a14:m>
                  <m:oMathPara xmlns:m="http://schemas.openxmlformats.org/officeDocument/2006/math">
                    <m:oMathParaPr>
                      <m:jc m:val="centerGroup"/>
                    </m:oMathParaPr>
                    <m:oMath xmlns:m="http://schemas.openxmlformats.org/officeDocument/2006/math">
                      <m:r>
                        <m:rPr>
                          <m:nor/>
                        </m:rPr>
                        <a:rPr lang="en-US" i="0" smtClean="0">
                          <a:latin typeface="Cambria Math" panose="02040503050406030204" pitchFamily="18" charset="0"/>
                        </a:rPr>
                        <m:t>RetrievalGoldCoverage</m:t>
                      </m:r>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d>
                            <m:dPr>
                              <m:begChr m:val="|"/>
                              <m:endChr m:val="|"/>
                              <m:ctrlPr>
                                <a:rPr lang="en-US" i="1">
                                  <a:latin typeface="Cambria Math" panose="02040503050406030204" pitchFamily="18" charset="0"/>
                                </a:rPr>
                              </m:ctrlPr>
                            </m:dPr>
                            <m:e>
                              <m:r>
                                <a:rPr lang="en-US" i="1">
                                  <a:latin typeface="Cambria Math" panose="02040503050406030204" pitchFamily="18" charset="0"/>
                                </a:rPr>
                                <m:t>𝑄</m:t>
                              </m:r>
                            </m:e>
                          </m:d>
                        </m:den>
                      </m:f>
                      <m:nary>
                        <m:naryPr>
                          <m:chr m:val="∑"/>
                          <m:supHide m:val="on"/>
                          <m:ctrlPr>
                            <a:rPr lang="en-US" i="1">
                              <a:latin typeface="Cambria Math" panose="02040503050406030204" pitchFamily="18" charset="0"/>
                            </a:rPr>
                          </m:ctrlPr>
                        </m:naryPr>
                        <m:sub>
                          <m:r>
                            <a:rPr lang="en-US" i="1">
                              <a:latin typeface="Cambria Math" panose="02040503050406030204" pitchFamily="18" charset="0"/>
                            </a:rPr>
                            <m:t>𝑞</m:t>
                          </m:r>
                          <m:r>
                            <a:rPr lang="en-US" i="1">
                              <a:latin typeface="Cambria Math" panose="02040503050406030204" pitchFamily="18" charset="0"/>
                            </a:rPr>
                            <m:t>∈</m:t>
                          </m:r>
                          <m:r>
                            <a:rPr lang="en-US" i="1">
                              <a:latin typeface="Cambria Math" panose="02040503050406030204" pitchFamily="18" charset="0"/>
                            </a:rPr>
                            <m:t>𝑄</m:t>
                          </m:r>
                        </m:sub>
                        <m:sup/>
                        <m:e>
                          <m:f>
                            <m:fPr>
                              <m:ctrlPr>
                                <a:rPr lang="en-US" i="1">
                                  <a:latin typeface="Cambria Math" panose="02040503050406030204" pitchFamily="18" charset="0"/>
                                </a:rPr>
                              </m:ctrlPr>
                            </m:fPr>
                            <m:num>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𝐺</m:t>
                                      </m:r>
                                    </m:e>
                                    <m:sub>
                                      <m:r>
                                        <a:rPr lang="en-US" i="1">
                                          <a:latin typeface="Cambria Math" panose="02040503050406030204" pitchFamily="18" charset="0"/>
                                        </a:rPr>
                                        <m:t>𝑞</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𝑞</m:t>
                                      </m:r>
                                    </m:sub>
                                  </m:sSub>
                                </m:e>
                              </m:d>
                            </m:num>
                            <m:den>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𝐺</m:t>
                                      </m:r>
                                    </m:e>
                                    <m:sub>
                                      <m:r>
                                        <a:rPr lang="en-US" i="1">
                                          <a:latin typeface="Cambria Math" panose="02040503050406030204" pitchFamily="18" charset="0"/>
                                        </a:rPr>
                                        <m:t>𝑞</m:t>
                                      </m:r>
                                    </m:sub>
                                  </m:sSub>
                                </m:e>
                              </m:d>
                            </m:den>
                          </m:f>
                        </m:e>
                      </m:nary>
                    </m:oMath>
                  </m:oMathPara>
                </a14:m>
                <a:endParaRPr lang="en-US" dirty="0"/>
              </a:p>
            </p:txBody>
          </p:sp>
        </mc:Choice>
        <mc:Fallback xmlns="">
          <p:sp>
            <p:nvSpPr>
              <p:cNvPr id="12" name="Rounded Rectangle 11">
                <a:extLst>
                  <a:ext uri="{FF2B5EF4-FFF2-40B4-BE49-F238E27FC236}">
                    <a16:creationId xmlns:a16="http://schemas.microsoft.com/office/drawing/2014/main" id="{94239560-36C6-4C55-B6CE-1F7ACD0A8760}"/>
                  </a:ext>
                </a:extLst>
              </p:cNvPr>
              <p:cNvSpPr>
                <a:spLocks noGrp="1" noRot="1" noChangeAspect="1" noMove="1" noResize="1" noEditPoints="1" noAdjustHandles="1" noChangeArrowheads="1" noChangeShapeType="1" noTextEdit="1"/>
              </p:cNvSpPr>
              <p:nvPr/>
            </p:nvSpPr>
            <p:spPr>
              <a:xfrm>
                <a:off x="6191250" y="1619249"/>
                <a:ext cx="5334000" cy="866775"/>
              </a:xfrm>
              <a:prstGeom prst="roundRect">
                <a:avLst>
                  <a:gd name="adj" fmla="val 12500"/>
                </a:avLst>
              </a:prstGeom>
              <a:blipFill>
                <a:blip r:embed="rId3"/>
                <a:stretch>
                  <a:fillRect t="-98571" b="-142857"/>
                </a:stretch>
              </a:blipFill>
              <a:ln w="11430">
                <a:solidFill>
                  <a:srgbClr val="4F86C6"/>
                </a:solidFill>
                <a:prstDash val="soli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Rounded Rectangle 13">
                <a:extLst>
                  <a:ext uri="{FF2B5EF4-FFF2-40B4-BE49-F238E27FC236}">
                    <a16:creationId xmlns:a16="http://schemas.microsoft.com/office/drawing/2014/main" id="{D2402969-3CA4-4B41-AFD3-77ACCF3A529A}"/>
                  </a:ext>
                </a:extLst>
              </p:cNvPr>
              <p:cNvSpPr>
                <a:spLocks noGrp="1"/>
              </p:cNvSpPr>
              <p:nvPr/>
            </p:nvSpPr>
            <p:spPr>
              <a:xfrm>
                <a:off x="6191250" y="2645364"/>
                <a:ext cx="5334000" cy="871948"/>
              </a:xfrm>
              <a:prstGeom prst="roundRect">
                <a:avLst>
                  <a:gd name="adj" fmla="val 12500"/>
                </a:avLst>
              </a:prstGeom>
              <a:solidFill>
                <a:srgbClr val="EAF2FB"/>
              </a:solidFill>
              <a:ln w="11430">
                <a:solidFill>
                  <a:srgbClr val="4F86C6"/>
                </a:solidFill>
                <a:prstDash val="solid"/>
              </a:ln>
            </p:spPr>
            <p:txBody>
              <a:bodyPr anchor="ctr"/>
              <a:lstStyle/>
              <a:p>
                <a:pPr/>
                <a14:m>
                  <m:oMathPara xmlns:m="http://schemas.openxmlformats.org/officeDocument/2006/math">
                    <m:oMathParaPr>
                      <m:jc m:val="centerGroup"/>
                    </m:oMathParaPr>
                    <m:oMath xmlns:m="http://schemas.openxmlformats.org/officeDocument/2006/math">
                      <m:r>
                        <m:rPr>
                          <m:nor/>
                        </m:rPr>
                        <a:rPr lang="en-US" i="0" smtClean="0">
                          <a:latin typeface="Cambria Math" panose="02040503050406030204" pitchFamily="18" charset="0"/>
                        </a:rPr>
                        <m:t>RetrievalFullGoldCoverage</m:t>
                      </m:r>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d>
                            <m:dPr>
                              <m:begChr m:val="|"/>
                              <m:endChr m:val="|"/>
                              <m:ctrlPr>
                                <a:rPr lang="en-US" i="1">
                                  <a:latin typeface="Cambria Math" panose="02040503050406030204" pitchFamily="18" charset="0"/>
                                </a:rPr>
                              </m:ctrlPr>
                            </m:dPr>
                            <m:e>
                              <m:r>
                                <a:rPr lang="en-US" i="1">
                                  <a:latin typeface="Cambria Math" panose="02040503050406030204" pitchFamily="18" charset="0"/>
                                </a:rPr>
                                <m:t>𝑄</m:t>
                              </m:r>
                            </m:e>
                          </m:d>
                        </m:den>
                      </m:f>
                      <m:nary>
                        <m:naryPr>
                          <m:chr m:val="∑"/>
                          <m:supHide m:val="on"/>
                          <m:ctrlPr>
                            <a:rPr lang="en-US" i="1">
                              <a:latin typeface="Cambria Math" panose="02040503050406030204" pitchFamily="18" charset="0"/>
                            </a:rPr>
                          </m:ctrlPr>
                        </m:naryPr>
                        <m:sub>
                          <m:r>
                            <a:rPr lang="en-US" i="1">
                              <a:latin typeface="Cambria Math" panose="02040503050406030204" pitchFamily="18" charset="0"/>
                            </a:rPr>
                            <m:t>𝑞</m:t>
                          </m:r>
                          <m:r>
                            <a:rPr lang="en-US" i="1">
                              <a:latin typeface="Cambria Math" panose="02040503050406030204" pitchFamily="18" charset="0"/>
                            </a:rPr>
                            <m:t>∈</m:t>
                          </m:r>
                          <m:r>
                            <a:rPr lang="en-US" i="1">
                              <a:latin typeface="Cambria Math" panose="02040503050406030204" pitchFamily="18" charset="0"/>
                            </a:rPr>
                            <m:t>𝑄</m:t>
                          </m:r>
                        </m:sub>
                        <m:sup/>
                        <m:e>
                          <m:r>
                            <a:rPr lang="en-US" i="1">
                              <a:latin typeface="Cambria Math" panose="02040503050406030204" pitchFamily="18" charset="0"/>
                            </a:rPr>
                            <m:t>𝐼</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𝐺</m:t>
                                  </m:r>
                                </m:e>
                                <m:sub>
                                  <m:r>
                                    <a:rPr lang="en-US" i="1">
                                      <a:latin typeface="Cambria Math" panose="02040503050406030204" pitchFamily="18" charset="0"/>
                                    </a:rPr>
                                    <m:t>𝑞</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𝑞</m:t>
                                  </m:r>
                                </m:sub>
                              </m:sSub>
                            </m:e>
                          </m:d>
                        </m:e>
                      </m:nary>
                    </m:oMath>
                  </m:oMathPara>
                </a14:m>
                <a:endParaRPr lang="en-US" dirty="0"/>
              </a:p>
            </p:txBody>
          </p:sp>
        </mc:Choice>
        <mc:Fallback xmlns="">
          <p:sp>
            <p:nvSpPr>
              <p:cNvPr id="14" name="Rounded Rectangle 13">
                <a:extLst>
                  <a:ext uri="{FF2B5EF4-FFF2-40B4-BE49-F238E27FC236}">
                    <a16:creationId xmlns:a16="http://schemas.microsoft.com/office/drawing/2014/main" id="{D2402969-3CA4-4B41-AFD3-77ACCF3A529A}"/>
                  </a:ext>
                </a:extLst>
              </p:cNvPr>
              <p:cNvSpPr>
                <a:spLocks noGrp="1" noRot="1" noChangeAspect="1" noMove="1" noResize="1" noEditPoints="1" noAdjustHandles="1" noChangeArrowheads="1" noChangeShapeType="1" noTextEdit="1"/>
              </p:cNvSpPr>
              <p:nvPr/>
            </p:nvSpPr>
            <p:spPr>
              <a:xfrm>
                <a:off x="6191250" y="2645364"/>
                <a:ext cx="5334000" cy="871948"/>
              </a:xfrm>
              <a:prstGeom prst="roundRect">
                <a:avLst>
                  <a:gd name="adj" fmla="val 12500"/>
                </a:avLst>
              </a:prstGeom>
              <a:blipFill>
                <a:blip r:embed="rId4"/>
                <a:stretch>
                  <a:fillRect t="-100000" b="-138028"/>
                </a:stretch>
              </a:blipFill>
              <a:ln w="11430">
                <a:solidFill>
                  <a:srgbClr val="4F86C6"/>
                </a:solidFill>
                <a:prstDash val="solid"/>
              </a:ln>
            </p:spPr>
            <p:txBody>
              <a:bodyPr/>
              <a:lstStyle/>
              <a:p>
                <a:r>
                  <a:rPr lang="en-US">
                    <a:noFill/>
                  </a:rPr>
                  <a:t> </a:t>
                </a:r>
              </a:p>
            </p:txBody>
          </p:sp>
        </mc:Fallback>
      </mc:AlternateContent>
      <p:sp>
        <p:nvSpPr>
          <p:cNvPr id="16" name="Rounded Rectangle 15">
            <a:extLst>
              <a:ext uri="{FF2B5EF4-FFF2-40B4-BE49-F238E27FC236}">
                <a16:creationId xmlns:a16="http://schemas.microsoft.com/office/drawing/2014/main" id="{8716B5F8-CEA5-4551-B217-B9C18422BF86}"/>
              </a:ext>
            </a:extLst>
          </p:cNvPr>
          <p:cNvSpPr>
            <a:spLocks noGrp="1"/>
          </p:cNvSpPr>
          <p:nvPr/>
        </p:nvSpPr>
        <p:spPr>
          <a:xfrm>
            <a:off x="2629988" y="3981450"/>
            <a:ext cx="6418761" cy="1428750"/>
          </a:xfrm>
          <a:prstGeom prst="roundRect">
            <a:avLst>
              <a:gd name="adj" fmla="val 9333"/>
            </a:avLst>
          </a:prstGeom>
          <a:solidFill>
            <a:srgbClr val="F7F9FB"/>
          </a:solidFill>
          <a:ln w="12383">
            <a:solidFill>
              <a:srgbClr val="A9B4BE"/>
            </a:solidFill>
            <a:prstDash val="solid"/>
          </a:ln>
        </p:spPr>
        <p:txBody>
          <a:bodyPr/>
          <a:lstStyle/>
          <a:p>
            <a:endParaRPr lang="en-US"/>
          </a:p>
        </p:txBody>
      </p:sp>
      <p:sp>
        <p:nvSpPr>
          <p:cNvPr id="17" name="Rectangle 16">
            <a:extLst>
              <a:ext uri="{FF2B5EF4-FFF2-40B4-BE49-F238E27FC236}">
                <a16:creationId xmlns:a16="http://schemas.microsoft.com/office/drawing/2014/main" id="{A76DA4AC-91C7-474C-BCE6-39753987167D}"/>
              </a:ext>
            </a:extLst>
          </p:cNvPr>
          <p:cNvSpPr>
            <a:spLocks noGrp="1"/>
          </p:cNvSpPr>
          <p:nvPr/>
        </p:nvSpPr>
        <p:spPr>
          <a:xfrm>
            <a:off x="2921107" y="4169395"/>
            <a:ext cx="907338" cy="323850"/>
          </a:xfrm>
          <a:prstGeom prst="rect">
            <a:avLst/>
          </a:prstGeom>
          <a:noFill/>
          <a:ln w="0">
            <a:noFill/>
            <a:prstDash val="solid"/>
          </a:ln>
        </p:spPr>
        <p:txBody>
          <a:bodyPr wrap="square" lIns="38100" tIns="19050" rIns="38100" bIns="19050" anchor="ctr">
            <a:normAutofit/>
          </a:bodyPr>
          <a:lstStyle/>
          <a:p>
            <a:pPr algn="l">
              <a:defRPr sz="1500" b="1" i="0">
                <a:solidFill>
                  <a:srgbClr val="263746"/>
                </a:solidFill>
                <a:latin typeface="Arial"/>
                <a:ea typeface="Arial"/>
                <a:cs typeface="Arial"/>
              </a:defRPr>
            </a:pPr>
            <a:r>
              <a:rPr sz="1500" b="1" i="0" dirty="0" err="1">
                <a:solidFill>
                  <a:srgbClr val="263746"/>
                </a:solidFill>
                <a:latin typeface="Arial"/>
                <a:ea typeface="Arial"/>
                <a:cs typeface="Arial"/>
              </a:rPr>
              <a:t>Пример</a:t>
            </a:r>
            <a:endParaRPr sz="1500" b="1" i="0" dirty="0">
              <a:solidFill>
                <a:srgbClr val="263746"/>
              </a:solidFill>
              <a:latin typeface="Arial"/>
              <a:ea typeface="Arial"/>
              <a:cs typeface="Arial"/>
            </a:endParaRPr>
          </a:p>
        </p:txBody>
      </p:sp>
      <p:sp>
        <p:nvSpPr>
          <p:cNvPr id="18" name="Rectangle 17">
            <a:extLst>
              <a:ext uri="{FF2B5EF4-FFF2-40B4-BE49-F238E27FC236}">
                <a16:creationId xmlns:a16="http://schemas.microsoft.com/office/drawing/2014/main" id="{2430FAFC-FA48-49FD-8E07-C7F0E8B96D01}"/>
              </a:ext>
            </a:extLst>
          </p:cNvPr>
          <p:cNvSpPr>
            <a:spLocks noGrp="1"/>
          </p:cNvSpPr>
          <p:nvPr/>
        </p:nvSpPr>
        <p:spPr>
          <a:xfrm>
            <a:off x="4119563" y="4246380"/>
            <a:ext cx="2571750" cy="514350"/>
          </a:xfrm>
          <a:prstGeom prst="rect">
            <a:avLst/>
          </a:prstGeom>
          <a:noFill/>
          <a:ln w="0">
            <a:noFill/>
            <a:prstDash val="solid"/>
          </a:ln>
        </p:spPr>
        <p:txBody>
          <a:bodyPr wrap="square" lIns="38100" tIns="19050" rIns="38100" bIns="19050" anchor="ctr">
            <a:normAutofit/>
          </a:bodyPr>
          <a:lstStyle/>
          <a:p>
            <a:pPr algn="ctr">
              <a:defRPr sz="2325" b="1" i="0">
                <a:solidFill>
                  <a:srgbClr val="4F86C6"/>
                </a:solidFill>
                <a:latin typeface="Arial"/>
                <a:ea typeface="Arial"/>
                <a:cs typeface="Arial"/>
              </a:defRPr>
            </a:pPr>
            <a:r>
              <a:rPr sz="2325" b="1" i="0" dirty="0">
                <a:solidFill>
                  <a:srgbClr val="4F86C6"/>
                </a:solidFill>
                <a:latin typeface="Arial"/>
                <a:ea typeface="Arial"/>
                <a:cs typeface="Arial"/>
              </a:rPr>
              <a:t>2 / 3</a:t>
            </a:r>
          </a:p>
        </p:txBody>
      </p:sp>
      <p:sp>
        <p:nvSpPr>
          <p:cNvPr id="19" name="Rectangle 18">
            <a:extLst>
              <a:ext uri="{FF2B5EF4-FFF2-40B4-BE49-F238E27FC236}">
                <a16:creationId xmlns:a16="http://schemas.microsoft.com/office/drawing/2014/main" id="{B354D322-60E7-45B1-8A5B-70FC5FAEE068}"/>
              </a:ext>
            </a:extLst>
          </p:cNvPr>
          <p:cNvSpPr>
            <a:spLocks noGrp="1"/>
          </p:cNvSpPr>
          <p:nvPr/>
        </p:nvSpPr>
        <p:spPr>
          <a:xfrm>
            <a:off x="4107657" y="4717868"/>
            <a:ext cx="2571750" cy="400050"/>
          </a:xfrm>
          <a:prstGeom prst="rect">
            <a:avLst/>
          </a:prstGeom>
          <a:noFill/>
          <a:ln w="0">
            <a:noFill/>
            <a:prstDash val="solid"/>
          </a:ln>
        </p:spPr>
        <p:txBody>
          <a:bodyPr wrap="square" lIns="38100" tIns="19050" rIns="38100" bIns="19050" anchor="t">
            <a:normAutofit/>
          </a:bodyPr>
          <a:lstStyle/>
          <a:p>
            <a:pPr algn="ctr">
              <a:defRPr sz="1200" b="0" i="0">
                <a:solidFill>
                  <a:srgbClr val="617080"/>
                </a:solidFill>
                <a:latin typeface="Arial"/>
                <a:ea typeface="Arial"/>
                <a:cs typeface="Arial"/>
              </a:defRPr>
            </a:pPr>
            <a:r>
              <a:rPr sz="1200" b="0" i="0" dirty="0" err="1">
                <a:solidFill>
                  <a:srgbClr val="617080"/>
                </a:solidFill>
                <a:latin typeface="Arial"/>
                <a:ea typeface="Arial"/>
                <a:cs typeface="Arial"/>
              </a:rPr>
              <a:t>пронајдени</a:t>
            </a:r>
            <a:r>
              <a:rPr sz="1200" b="0" i="0" dirty="0">
                <a:solidFill>
                  <a:srgbClr val="617080"/>
                </a:solidFill>
                <a:latin typeface="Arial"/>
                <a:ea typeface="Arial"/>
                <a:cs typeface="Arial"/>
              </a:rPr>
              <a:t> </a:t>
            </a:r>
            <a:r>
              <a:rPr sz="1200" b="0" i="0" dirty="0" err="1">
                <a:solidFill>
                  <a:srgbClr val="617080"/>
                </a:solidFill>
                <a:latin typeface="Arial"/>
                <a:ea typeface="Arial"/>
                <a:cs typeface="Arial"/>
              </a:rPr>
              <a:t>точни</a:t>
            </a:r>
            <a:r>
              <a:rPr sz="1200" b="0" i="0" dirty="0">
                <a:solidFill>
                  <a:srgbClr val="617080"/>
                </a:solidFill>
                <a:latin typeface="Arial"/>
                <a:ea typeface="Arial"/>
                <a:cs typeface="Arial"/>
              </a:rPr>
              <a:t> </a:t>
            </a:r>
            <a:r>
              <a:rPr sz="1200" b="0" i="0" dirty="0" err="1">
                <a:solidFill>
                  <a:srgbClr val="617080"/>
                </a:solidFill>
                <a:latin typeface="Arial"/>
                <a:ea typeface="Arial"/>
                <a:cs typeface="Arial"/>
              </a:rPr>
              <a:t>одговори</a:t>
            </a:r>
            <a:endParaRPr sz="1200" b="0" i="0" dirty="0">
              <a:solidFill>
                <a:srgbClr val="617080"/>
              </a:solidFill>
              <a:latin typeface="Arial"/>
              <a:ea typeface="Arial"/>
              <a:cs typeface="Arial"/>
            </a:endParaRPr>
          </a:p>
        </p:txBody>
      </p:sp>
      <p:sp>
        <p:nvSpPr>
          <p:cNvPr id="20" name="Rectangle 19">
            <a:extLst>
              <a:ext uri="{FF2B5EF4-FFF2-40B4-BE49-F238E27FC236}">
                <a16:creationId xmlns:a16="http://schemas.microsoft.com/office/drawing/2014/main" id="{FEEC1E5F-7C9F-4C6C-9A6F-7A61DAE7C569}"/>
              </a:ext>
            </a:extLst>
          </p:cNvPr>
          <p:cNvSpPr>
            <a:spLocks noGrp="1"/>
          </p:cNvSpPr>
          <p:nvPr/>
        </p:nvSpPr>
        <p:spPr>
          <a:xfrm>
            <a:off x="6191250" y="4231684"/>
            <a:ext cx="2381250" cy="514350"/>
          </a:xfrm>
          <a:prstGeom prst="rect">
            <a:avLst/>
          </a:prstGeom>
          <a:noFill/>
          <a:ln w="0">
            <a:noFill/>
            <a:prstDash val="solid"/>
          </a:ln>
        </p:spPr>
        <p:txBody>
          <a:bodyPr wrap="square" lIns="38100" tIns="19050" rIns="38100" bIns="19050" anchor="ctr">
            <a:normAutofit/>
          </a:bodyPr>
          <a:lstStyle/>
          <a:p>
            <a:pPr algn="ctr">
              <a:defRPr sz="2325" b="1" i="0">
                <a:solidFill>
                  <a:srgbClr val="D97942"/>
                </a:solidFill>
                <a:latin typeface="Arial"/>
                <a:ea typeface="Arial"/>
                <a:cs typeface="Arial"/>
              </a:defRPr>
            </a:pPr>
            <a:r>
              <a:rPr sz="2325" b="1" i="0" dirty="0">
                <a:solidFill>
                  <a:srgbClr val="D97942"/>
                </a:solidFill>
                <a:latin typeface="Arial"/>
                <a:ea typeface="Arial"/>
                <a:cs typeface="Arial"/>
              </a:rPr>
              <a:t>0</a:t>
            </a:r>
          </a:p>
        </p:txBody>
      </p:sp>
      <p:sp>
        <p:nvSpPr>
          <p:cNvPr id="21" name="Rectangle 20">
            <a:extLst>
              <a:ext uri="{FF2B5EF4-FFF2-40B4-BE49-F238E27FC236}">
                <a16:creationId xmlns:a16="http://schemas.microsoft.com/office/drawing/2014/main" id="{BBEBACF5-1589-4799-BD6B-237CA5FB81E3}"/>
              </a:ext>
            </a:extLst>
          </p:cNvPr>
          <p:cNvSpPr>
            <a:spLocks noGrp="1"/>
          </p:cNvSpPr>
          <p:nvPr/>
        </p:nvSpPr>
        <p:spPr>
          <a:xfrm>
            <a:off x="6215063" y="4703172"/>
            <a:ext cx="2381250" cy="400050"/>
          </a:xfrm>
          <a:prstGeom prst="rect">
            <a:avLst/>
          </a:prstGeom>
          <a:noFill/>
          <a:ln w="0">
            <a:noFill/>
            <a:prstDash val="solid"/>
          </a:ln>
        </p:spPr>
        <p:txBody>
          <a:bodyPr wrap="square" lIns="38100" tIns="19050" rIns="38100" bIns="19050" anchor="t">
            <a:normAutofit/>
          </a:bodyPr>
          <a:lstStyle/>
          <a:p>
            <a:pPr algn="ctr">
              <a:defRPr sz="1200" b="0" i="0">
                <a:solidFill>
                  <a:srgbClr val="617080"/>
                </a:solidFill>
                <a:latin typeface="Arial"/>
                <a:ea typeface="Arial"/>
                <a:cs typeface="Arial"/>
              </a:defRPr>
            </a:pPr>
            <a:r>
              <a:rPr sz="1200" b="0" i="0" dirty="0" err="1">
                <a:solidFill>
                  <a:srgbClr val="617080"/>
                </a:solidFill>
                <a:latin typeface="Arial"/>
                <a:ea typeface="Arial"/>
                <a:cs typeface="Arial"/>
              </a:rPr>
              <a:t>целосна</a:t>
            </a:r>
            <a:r>
              <a:rPr sz="1200" b="0" i="0" dirty="0">
                <a:solidFill>
                  <a:srgbClr val="617080"/>
                </a:solidFill>
                <a:latin typeface="Arial"/>
                <a:ea typeface="Arial"/>
                <a:cs typeface="Arial"/>
              </a:rPr>
              <a:t> </a:t>
            </a:r>
            <a:r>
              <a:rPr sz="1200" b="0" i="0" dirty="0" err="1">
                <a:solidFill>
                  <a:srgbClr val="617080"/>
                </a:solidFill>
                <a:latin typeface="Arial"/>
                <a:ea typeface="Arial"/>
                <a:cs typeface="Arial"/>
              </a:rPr>
              <a:t>покриеност</a:t>
            </a:r>
            <a:endParaRPr sz="1200" b="0" i="0" dirty="0">
              <a:solidFill>
                <a:srgbClr val="617080"/>
              </a:solidFill>
              <a:latin typeface="Arial"/>
              <a:ea typeface="Arial"/>
              <a:cs typeface="Arial"/>
            </a:endParaRPr>
          </a:p>
        </p:txBody>
      </p:sp>
      <p:sp>
        <p:nvSpPr>
          <p:cNvPr id="22" name="Rectangle 21">
            <a:extLst>
              <a:ext uri="{FF2B5EF4-FFF2-40B4-BE49-F238E27FC236}">
                <a16:creationId xmlns:a16="http://schemas.microsoft.com/office/drawing/2014/main" id="{07166D4E-21A3-4784-A420-247905ECCD22}"/>
              </a:ext>
            </a:extLst>
          </p:cNvPr>
          <p:cNvSpPr>
            <a:spLocks noGrp="1"/>
          </p:cNvSpPr>
          <p:nvPr/>
        </p:nvSpPr>
        <p:spPr>
          <a:xfrm>
            <a:off x="2381250" y="5572125"/>
            <a:ext cx="7429500" cy="323850"/>
          </a:xfrm>
          <a:prstGeom prst="rect">
            <a:avLst/>
          </a:prstGeom>
          <a:noFill/>
          <a:ln w="0">
            <a:noFill/>
            <a:prstDash val="solid"/>
          </a:ln>
        </p:spPr>
        <p:txBody>
          <a:bodyPr wrap="square" lIns="38100" tIns="19050" rIns="38100" bIns="19050" anchor="ctr">
            <a:normAutofit/>
          </a:bodyPr>
          <a:lstStyle/>
          <a:p>
            <a:pPr algn="ctr">
              <a:defRPr sz="1200" b="0" i="0">
                <a:solidFill>
                  <a:srgbClr val="617080"/>
                </a:solidFill>
                <a:latin typeface="Arial"/>
                <a:ea typeface="Arial"/>
                <a:cs typeface="Arial"/>
              </a:defRPr>
            </a:pPr>
            <a:r>
              <a:rPr sz="1200" b="0" i="0">
                <a:solidFill>
                  <a:srgbClr val="617080"/>
                </a:solidFill>
                <a:latin typeface="Arial"/>
                <a:ea typeface="Arial"/>
                <a:cs typeface="Arial"/>
              </a:rPr>
              <a:t>Gq — точни одговори · Rq — пребарани кандидати</a:t>
            </a:r>
          </a:p>
        </p:txBody>
      </p:sp>
    </p:spTree>
    <p:extLst>
      <p:ext uri="{BB962C8B-B14F-4D97-AF65-F5344CB8AC3E}">
        <p14:creationId xmlns:p14="http://schemas.microsoft.com/office/powerpoint/2010/main" val="18939431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F528EAF0-1EC2-412A-B52B-9FF0E1683ADB}"/>
              </a:ext>
            </a:extLst>
          </p:cNvPr>
          <p:cNvSpPr>
            <a:spLocks noGrp="1"/>
          </p:cNvSpPr>
          <p:nvPr/>
        </p:nvSpPr>
        <p:spPr>
          <a:xfrm>
            <a:off x="552450" y="209550"/>
            <a:ext cx="10763250" cy="523875"/>
          </a:xfrm>
          <a:prstGeom prst="rect">
            <a:avLst/>
          </a:prstGeom>
          <a:noFill/>
          <a:ln w="0">
            <a:noFill/>
            <a:prstDash val="solid"/>
          </a:ln>
        </p:spPr>
        <p:txBody>
          <a:bodyPr wrap="square" lIns="38100" tIns="19050" rIns="38100" bIns="19050" anchor="ctr">
            <a:normAutofit/>
          </a:bodyPr>
          <a:lstStyle/>
          <a:p>
            <a:pPr algn="l">
              <a:defRPr sz="2325" b="1" i="0">
                <a:solidFill>
                  <a:srgbClr val="263746"/>
                </a:solidFill>
                <a:latin typeface="Arial"/>
                <a:ea typeface="Arial"/>
                <a:cs typeface="Arial"/>
              </a:defRPr>
            </a:pPr>
            <a:r>
              <a:rPr sz="2325" b="1" i="0">
                <a:solidFill>
                  <a:srgbClr val="263746"/>
                </a:solidFill>
                <a:latin typeface="Arial"/>
                <a:ea typeface="Arial"/>
                <a:cs typeface="Arial"/>
              </a:rPr>
              <a:t>Резултати од пребарувањето</a:t>
            </a:r>
          </a:p>
        </p:txBody>
      </p:sp>
      <p:sp>
        <p:nvSpPr>
          <p:cNvPr id="2" name="Rectangle 1">
            <a:extLst>
              <a:ext uri="{FF2B5EF4-FFF2-40B4-BE49-F238E27FC236}">
                <a16:creationId xmlns:a16="http://schemas.microsoft.com/office/drawing/2014/main" id="{5805E6DA-20C8-45B8-92F0-7FF7AD9A05E2}"/>
              </a:ext>
            </a:extLst>
          </p:cNvPr>
          <p:cNvSpPr>
            <a:spLocks noGrp="1"/>
          </p:cNvSpPr>
          <p:nvPr/>
        </p:nvSpPr>
        <p:spPr>
          <a:xfrm>
            <a:off x="552450" y="781050"/>
            <a:ext cx="11087100" cy="38100"/>
          </a:xfrm>
          <a:prstGeom prst="rect">
            <a:avLst/>
          </a:prstGeom>
          <a:solidFill>
            <a:srgbClr val="D97942"/>
          </a:solidFill>
          <a:ln w="0">
            <a:noFill/>
            <a:prstDash val="solid"/>
          </a:ln>
        </p:spPr>
        <p:txBody>
          <a:bodyPr/>
          <a:lstStyle/>
          <a:p>
            <a:endParaRPr lang="en-US"/>
          </a:p>
        </p:txBody>
      </p:sp>
      <p:sp>
        <p:nvSpPr>
          <p:cNvPr id="3" name="Rectangle 2">
            <a:extLst>
              <a:ext uri="{FF2B5EF4-FFF2-40B4-BE49-F238E27FC236}">
                <a16:creationId xmlns:a16="http://schemas.microsoft.com/office/drawing/2014/main" id="{4E359488-DCAE-43C2-B477-8B1F3ADB2D45}"/>
              </a:ext>
            </a:extLst>
          </p:cNvPr>
          <p:cNvSpPr>
            <a:spLocks noGrp="1"/>
          </p:cNvSpPr>
          <p:nvPr/>
        </p:nvSpPr>
        <p:spPr>
          <a:xfrm>
            <a:off x="11315700" y="6486525"/>
            <a:ext cx="323850" cy="228600"/>
          </a:xfrm>
          <a:prstGeom prst="rect">
            <a:avLst/>
          </a:prstGeom>
          <a:noFill/>
          <a:ln w="0">
            <a:noFill/>
            <a:prstDash val="solid"/>
          </a:ln>
        </p:spPr>
        <p:txBody>
          <a:bodyPr wrap="square" lIns="38100" tIns="19050" rIns="38100" bIns="19050" anchor="b">
            <a:normAutofit/>
          </a:bodyPr>
          <a:lstStyle/>
          <a:p>
            <a:pPr algn="r">
              <a:defRPr sz="900" b="0" i="0">
                <a:solidFill>
                  <a:srgbClr val="617080"/>
                </a:solidFill>
                <a:latin typeface="Arial"/>
                <a:ea typeface="Arial"/>
                <a:cs typeface="Arial"/>
              </a:defRPr>
            </a:pPr>
            <a:r>
              <a:rPr sz="900" b="0" i="0">
                <a:solidFill>
                  <a:srgbClr val="617080"/>
                </a:solidFill>
                <a:latin typeface="Arial"/>
                <a:ea typeface="Arial"/>
                <a:cs typeface="Arial"/>
              </a:rPr>
              <a:t>14</a:t>
            </a:r>
          </a:p>
        </p:txBody>
      </p:sp>
      <p:pic>
        <p:nvPicPr>
          <p:cNvPr id="19" name="Picture 18"/>
          <p:cNvPicPr>
            <a:picLocks noChangeAspect="1"/>
          </p:cNvPicPr>
          <p:nvPr/>
        </p:nvPicPr>
        <p:blipFill>
          <a:blip r:embed="rId3"/>
          <a:stretch/>
        </p:blipFill>
        <p:spPr>
          <a:xfrm>
            <a:off x="400050" y="1067515"/>
            <a:ext cx="8286750" cy="3808569"/>
          </a:xfrm>
          <a:prstGeom prst="rect">
            <a:avLst/>
          </a:prstGeom>
        </p:spPr>
      </p:pic>
      <p:sp>
        <p:nvSpPr>
          <p:cNvPr id="5" name="Rounded Rectangle 4">
            <a:extLst>
              <a:ext uri="{FF2B5EF4-FFF2-40B4-BE49-F238E27FC236}">
                <a16:creationId xmlns:a16="http://schemas.microsoft.com/office/drawing/2014/main" id="{B3132804-446E-462D-B5A3-915426A2A7E2}"/>
              </a:ext>
            </a:extLst>
          </p:cNvPr>
          <p:cNvSpPr>
            <a:spLocks noGrp="1"/>
          </p:cNvSpPr>
          <p:nvPr/>
        </p:nvSpPr>
        <p:spPr>
          <a:xfrm>
            <a:off x="8953500" y="1162049"/>
            <a:ext cx="2667000" cy="4314825"/>
          </a:xfrm>
          <a:prstGeom prst="roundRect">
            <a:avLst>
              <a:gd name="adj" fmla="val 5000"/>
            </a:avLst>
          </a:prstGeom>
          <a:solidFill>
            <a:srgbClr val="FBEDE5"/>
          </a:solidFill>
          <a:ln w="16193">
            <a:solidFill>
              <a:srgbClr val="D97942"/>
            </a:solidFill>
            <a:prstDash val="solid"/>
          </a:ln>
        </p:spPr>
        <p:txBody>
          <a:bodyPr/>
          <a:lstStyle/>
          <a:p>
            <a:endParaRPr lang="en-US"/>
          </a:p>
        </p:txBody>
      </p:sp>
      <p:sp>
        <p:nvSpPr>
          <p:cNvPr id="6" name="Rectangle 5">
            <a:extLst>
              <a:ext uri="{FF2B5EF4-FFF2-40B4-BE49-F238E27FC236}">
                <a16:creationId xmlns:a16="http://schemas.microsoft.com/office/drawing/2014/main" id="{300D9212-DF51-48E2-8BCF-07CAC137FFBB}"/>
              </a:ext>
            </a:extLst>
          </p:cNvPr>
          <p:cNvSpPr>
            <a:spLocks noGrp="1"/>
          </p:cNvSpPr>
          <p:nvPr/>
        </p:nvSpPr>
        <p:spPr>
          <a:xfrm>
            <a:off x="9239250" y="1381125"/>
            <a:ext cx="2095500" cy="419100"/>
          </a:xfrm>
          <a:prstGeom prst="rect">
            <a:avLst/>
          </a:prstGeom>
          <a:noFill/>
          <a:ln w="0">
            <a:noFill/>
            <a:prstDash val="solid"/>
          </a:ln>
        </p:spPr>
        <p:txBody>
          <a:bodyPr wrap="square" lIns="38100" tIns="19050" rIns="38100" bIns="19050" anchor="ctr">
            <a:normAutofit/>
          </a:bodyPr>
          <a:lstStyle/>
          <a:p>
            <a:pPr algn="ctr">
              <a:defRPr sz="2175" b="1" i="0">
                <a:solidFill>
                  <a:srgbClr val="D97942"/>
                </a:solidFill>
                <a:latin typeface="Arial"/>
                <a:ea typeface="Arial"/>
                <a:cs typeface="Arial"/>
              </a:defRPr>
            </a:pPr>
            <a:r>
              <a:rPr sz="2175" b="1" i="0">
                <a:solidFill>
                  <a:srgbClr val="D97942"/>
                </a:solidFill>
                <a:latin typeface="Arial"/>
                <a:ea typeface="Arial"/>
                <a:cs typeface="Arial"/>
              </a:rPr>
              <a:t>NBFNet</a:t>
            </a:r>
          </a:p>
        </p:txBody>
      </p:sp>
      <p:sp>
        <p:nvSpPr>
          <p:cNvPr id="7" name="Rectangle 6">
            <a:extLst>
              <a:ext uri="{FF2B5EF4-FFF2-40B4-BE49-F238E27FC236}">
                <a16:creationId xmlns:a16="http://schemas.microsoft.com/office/drawing/2014/main" id="{CF3C1FFF-C837-4026-9134-9FB67024F041}"/>
              </a:ext>
            </a:extLst>
          </p:cNvPr>
          <p:cNvSpPr>
            <a:spLocks noGrp="1"/>
          </p:cNvSpPr>
          <p:nvPr/>
        </p:nvSpPr>
        <p:spPr>
          <a:xfrm>
            <a:off x="9220200" y="1952625"/>
            <a:ext cx="2133600" cy="514350"/>
          </a:xfrm>
          <a:prstGeom prst="rect">
            <a:avLst/>
          </a:prstGeom>
          <a:noFill/>
          <a:ln w="0">
            <a:noFill/>
            <a:prstDash val="solid"/>
          </a:ln>
        </p:spPr>
        <p:txBody>
          <a:bodyPr wrap="square" lIns="38100" tIns="19050" rIns="38100" bIns="19050" anchor="ctr">
            <a:normAutofit/>
          </a:bodyPr>
          <a:lstStyle/>
          <a:p>
            <a:pPr algn="ctr">
              <a:defRPr sz="2100" b="1" i="0">
                <a:solidFill>
                  <a:srgbClr val="D97942"/>
                </a:solidFill>
                <a:latin typeface="Arial"/>
                <a:ea typeface="Arial"/>
                <a:cs typeface="Arial"/>
              </a:defRPr>
            </a:pPr>
            <a:r>
              <a:rPr sz="2100" b="1" i="0" dirty="0">
                <a:solidFill>
                  <a:srgbClr val="D97942"/>
                </a:solidFill>
                <a:latin typeface="Arial"/>
                <a:ea typeface="Arial"/>
                <a:cs typeface="Arial"/>
              </a:rPr>
              <a:t>0,692</a:t>
            </a:r>
          </a:p>
        </p:txBody>
      </p:sp>
      <p:sp>
        <p:nvSpPr>
          <p:cNvPr id="8" name="Rectangle 7">
            <a:extLst>
              <a:ext uri="{FF2B5EF4-FFF2-40B4-BE49-F238E27FC236}">
                <a16:creationId xmlns:a16="http://schemas.microsoft.com/office/drawing/2014/main" id="{BC6195FB-0D1D-4A18-BD08-A3F3FC34949A}"/>
              </a:ext>
            </a:extLst>
          </p:cNvPr>
          <p:cNvSpPr>
            <a:spLocks noGrp="1"/>
          </p:cNvSpPr>
          <p:nvPr/>
        </p:nvSpPr>
        <p:spPr>
          <a:xfrm>
            <a:off x="9220200" y="2409825"/>
            <a:ext cx="2133600" cy="400050"/>
          </a:xfrm>
          <a:prstGeom prst="rect">
            <a:avLst/>
          </a:prstGeom>
          <a:noFill/>
          <a:ln w="0">
            <a:noFill/>
            <a:prstDash val="solid"/>
          </a:ln>
        </p:spPr>
        <p:txBody>
          <a:bodyPr wrap="square" lIns="38100" tIns="19050" rIns="38100" bIns="19050" anchor="t">
            <a:normAutofit/>
          </a:bodyPr>
          <a:lstStyle/>
          <a:p>
            <a:pPr algn="ctr">
              <a:defRPr sz="1125" b="0" i="0">
                <a:solidFill>
                  <a:srgbClr val="617080"/>
                </a:solidFill>
                <a:latin typeface="Arial"/>
                <a:ea typeface="Arial"/>
                <a:cs typeface="Arial"/>
              </a:defRPr>
            </a:pPr>
            <a:r>
              <a:rPr sz="1125" b="0" i="0">
                <a:solidFill>
                  <a:srgbClr val="617080"/>
                </a:solidFill>
                <a:latin typeface="Arial"/>
                <a:ea typeface="Arial"/>
                <a:cs typeface="Arial"/>
              </a:rPr>
              <a:t>Hits@1</a:t>
            </a:r>
          </a:p>
        </p:txBody>
      </p:sp>
      <p:sp>
        <p:nvSpPr>
          <p:cNvPr id="9" name="Rectangle 8">
            <a:extLst>
              <a:ext uri="{FF2B5EF4-FFF2-40B4-BE49-F238E27FC236}">
                <a16:creationId xmlns:a16="http://schemas.microsoft.com/office/drawing/2014/main" id="{C2E20F21-18A0-496C-B5D4-AE39436B2C59}"/>
              </a:ext>
            </a:extLst>
          </p:cNvPr>
          <p:cNvSpPr>
            <a:spLocks noGrp="1"/>
          </p:cNvSpPr>
          <p:nvPr/>
        </p:nvSpPr>
        <p:spPr>
          <a:xfrm>
            <a:off x="9220200" y="2781300"/>
            <a:ext cx="2133600" cy="514350"/>
          </a:xfrm>
          <a:prstGeom prst="rect">
            <a:avLst/>
          </a:prstGeom>
          <a:noFill/>
          <a:ln w="0">
            <a:noFill/>
            <a:prstDash val="solid"/>
          </a:ln>
        </p:spPr>
        <p:txBody>
          <a:bodyPr wrap="square" lIns="38100" tIns="19050" rIns="38100" bIns="19050" anchor="ctr">
            <a:normAutofit/>
          </a:bodyPr>
          <a:lstStyle/>
          <a:p>
            <a:pPr algn="ctr">
              <a:defRPr sz="2100" b="1" i="0">
                <a:solidFill>
                  <a:srgbClr val="D97942"/>
                </a:solidFill>
                <a:latin typeface="Arial"/>
                <a:ea typeface="Arial"/>
                <a:cs typeface="Arial"/>
              </a:defRPr>
            </a:pPr>
            <a:r>
              <a:rPr sz="2100" b="1" i="0">
                <a:solidFill>
                  <a:srgbClr val="D97942"/>
                </a:solidFill>
                <a:latin typeface="Arial"/>
                <a:ea typeface="Arial"/>
                <a:cs typeface="Arial"/>
              </a:rPr>
              <a:t>0,921</a:t>
            </a:r>
          </a:p>
        </p:txBody>
      </p:sp>
      <p:sp>
        <p:nvSpPr>
          <p:cNvPr id="10" name="Rectangle 9">
            <a:extLst>
              <a:ext uri="{FF2B5EF4-FFF2-40B4-BE49-F238E27FC236}">
                <a16:creationId xmlns:a16="http://schemas.microsoft.com/office/drawing/2014/main" id="{62813A14-14B5-40F3-B290-8EBF010AF817}"/>
              </a:ext>
            </a:extLst>
          </p:cNvPr>
          <p:cNvSpPr>
            <a:spLocks noGrp="1"/>
          </p:cNvSpPr>
          <p:nvPr/>
        </p:nvSpPr>
        <p:spPr>
          <a:xfrm>
            <a:off x="9220200" y="3238500"/>
            <a:ext cx="2133600" cy="400050"/>
          </a:xfrm>
          <a:prstGeom prst="rect">
            <a:avLst/>
          </a:prstGeom>
          <a:noFill/>
          <a:ln w="0">
            <a:noFill/>
            <a:prstDash val="solid"/>
          </a:ln>
        </p:spPr>
        <p:txBody>
          <a:bodyPr wrap="square" lIns="38100" tIns="19050" rIns="38100" bIns="19050" anchor="t">
            <a:normAutofit/>
          </a:bodyPr>
          <a:lstStyle/>
          <a:p>
            <a:pPr algn="ctr">
              <a:defRPr sz="1125" b="0" i="0">
                <a:solidFill>
                  <a:srgbClr val="617080"/>
                </a:solidFill>
                <a:latin typeface="Arial"/>
                <a:ea typeface="Arial"/>
                <a:cs typeface="Arial"/>
              </a:defRPr>
            </a:pPr>
            <a:r>
              <a:rPr sz="1125" b="0" i="0">
                <a:solidFill>
                  <a:srgbClr val="617080"/>
                </a:solidFill>
                <a:latin typeface="Arial"/>
                <a:ea typeface="Arial"/>
                <a:cs typeface="Arial"/>
              </a:rPr>
              <a:t>Hits@10</a:t>
            </a:r>
          </a:p>
        </p:txBody>
      </p:sp>
      <p:sp>
        <p:nvSpPr>
          <p:cNvPr id="11" name="Rectangle 10">
            <a:extLst>
              <a:ext uri="{FF2B5EF4-FFF2-40B4-BE49-F238E27FC236}">
                <a16:creationId xmlns:a16="http://schemas.microsoft.com/office/drawing/2014/main" id="{9090F63C-558F-497D-93C3-410211B895A4}"/>
              </a:ext>
            </a:extLst>
          </p:cNvPr>
          <p:cNvSpPr>
            <a:spLocks noGrp="1"/>
          </p:cNvSpPr>
          <p:nvPr/>
        </p:nvSpPr>
        <p:spPr>
          <a:xfrm>
            <a:off x="9220200" y="3609975"/>
            <a:ext cx="2133600" cy="514350"/>
          </a:xfrm>
          <a:prstGeom prst="rect">
            <a:avLst/>
          </a:prstGeom>
          <a:noFill/>
          <a:ln w="0">
            <a:noFill/>
            <a:prstDash val="solid"/>
          </a:ln>
        </p:spPr>
        <p:txBody>
          <a:bodyPr wrap="square" lIns="38100" tIns="19050" rIns="38100" bIns="19050" anchor="ctr">
            <a:normAutofit/>
          </a:bodyPr>
          <a:lstStyle/>
          <a:p>
            <a:pPr algn="ctr">
              <a:defRPr sz="2100" b="1" i="0">
                <a:solidFill>
                  <a:srgbClr val="D97942"/>
                </a:solidFill>
                <a:latin typeface="Arial"/>
                <a:ea typeface="Arial"/>
                <a:cs typeface="Arial"/>
              </a:defRPr>
            </a:pPr>
            <a:r>
              <a:rPr sz="2100" b="1" i="0" dirty="0">
                <a:solidFill>
                  <a:srgbClr val="D97942"/>
                </a:solidFill>
                <a:latin typeface="Arial"/>
                <a:ea typeface="Arial"/>
                <a:cs typeface="Arial"/>
              </a:rPr>
              <a:t>0,796</a:t>
            </a:r>
          </a:p>
        </p:txBody>
      </p:sp>
      <p:sp>
        <p:nvSpPr>
          <p:cNvPr id="12" name="Rectangle 11">
            <a:extLst>
              <a:ext uri="{FF2B5EF4-FFF2-40B4-BE49-F238E27FC236}">
                <a16:creationId xmlns:a16="http://schemas.microsoft.com/office/drawing/2014/main" id="{C6641CC1-81A9-430A-B153-D380F86521C2}"/>
              </a:ext>
            </a:extLst>
          </p:cNvPr>
          <p:cNvSpPr>
            <a:spLocks noGrp="1"/>
          </p:cNvSpPr>
          <p:nvPr/>
        </p:nvSpPr>
        <p:spPr>
          <a:xfrm>
            <a:off x="9220200" y="4067175"/>
            <a:ext cx="2133600" cy="400050"/>
          </a:xfrm>
          <a:prstGeom prst="rect">
            <a:avLst/>
          </a:prstGeom>
          <a:noFill/>
          <a:ln w="0">
            <a:noFill/>
            <a:prstDash val="solid"/>
          </a:ln>
        </p:spPr>
        <p:txBody>
          <a:bodyPr wrap="square" lIns="38100" tIns="19050" rIns="38100" bIns="19050" anchor="t">
            <a:normAutofit/>
          </a:bodyPr>
          <a:lstStyle/>
          <a:p>
            <a:pPr algn="ctr">
              <a:defRPr sz="1125" b="0" i="0">
                <a:solidFill>
                  <a:srgbClr val="617080"/>
                </a:solidFill>
                <a:latin typeface="Arial"/>
                <a:ea typeface="Arial"/>
                <a:cs typeface="Arial"/>
              </a:defRPr>
            </a:pPr>
            <a:r>
              <a:rPr sz="1125" b="0" i="0" dirty="0">
                <a:solidFill>
                  <a:srgbClr val="617080"/>
                </a:solidFill>
                <a:latin typeface="Arial"/>
                <a:ea typeface="Arial"/>
                <a:cs typeface="Arial"/>
              </a:rPr>
              <a:t>nDCG@10</a:t>
            </a:r>
          </a:p>
        </p:txBody>
      </p:sp>
      <p:sp>
        <p:nvSpPr>
          <p:cNvPr id="13" name="Rectangle 12">
            <a:extLst>
              <a:ext uri="{FF2B5EF4-FFF2-40B4-BE49-F238E27FC236}">
                <a16:creationId xmlns:a16="http://schemas.microsoft.com/office/drawing/2014/main" id="{FDA11785-DAE3-4EA0-BA42-AF47189A58D3}"/>
              </a:ext>
            </a:extLst>
          </p:cNvPr>
          <p:cNvSpPr>
            <a:spLocks noGrp="1"/>
          </p:cNvSpPr>
          <p:nvPr/>
        </p:nvSpPr>
        <p:spPr>
          <a:xfrm>
            <a:off x="9124950" y="5167313"/>
            <a:ext cx="2286000" cy="228600"/>
          </a:xfrm>
          <a:prstGeom prst="rect">
            <a:avLst/>
          </a:prstGeom>
          <a:noFill/>
          <a:ln w="0">
            <a:noFill/>
            <a:prstDash val="solid"/>
          </a:ln>
        </p:spPr>
        <p:txBody>
          <a:bodyPr wrap="square" lIns="38100" tIns="19050" rIns="38100" bIns="19050" anchor="ctr">
            <a:normAutofit/>
          </a:bodyPr>
          <a:lstStyle/>
          <a:p>
            <a:pPr algn="ctr">
              <a:defRPr sz="900" b="0" i="0">
                <a:solidFill>
                  <a:srgbClr val="617080"/>
                </a:solidFill>
                <a:latin typeface="Arial"/>
                <a:ea typeface="Arial"/>
                <a:cs typeface="Arial"/>
              </a:defRPr>
            </a:pPr>
            <a:r>
              <a:rPr sz="900" b="0" i="0" dirty="0" err="1">
                <a:solidFill>
                  <a:srgbClr val="617080"/>
                </a:solidFill>
                <a:latin typeface="Arial"/>
                <a:ea typeface="Arial"/>
                <a:cs typeface="Arial"/>
              </a:rPr>
              <a:t>средна</a:t>
            </a:r>
            <a:r>
              <a:rPr sz="900" b="0" i="0" dirty="0">
                <a:solidFill>
                  <a:srgbClr val="617080"/>
                </a:solidFill>
                <a:latin typeface="Arial"/>
                <a:ea typeface="Arial"/>
                <a:cs typeface="Arial"/>
              </a:rPr>
              <a:t> </a:t>
            </a:r>
            <a:r>
              <a:rPr sz="900" b="0" i="0" dirty="0" err="1">
                <a:solidFill>
                  <a:srgbClr val="617080"/>
                </a:solidFill>
                <a:latin typeface="Arial"/>
                <a:ea typeface="Arial"/>
                <a:cs typeface="Arial"/>
              </a:rPr>
              <a:t>вредност</a:t>
            </a:r>
            <a:r>
              <a:rPr sz="900" b="0" i="0" dirty="0">
                <a:solidFill>
                  <a:srgbClr val="617080"/>
                </a:solidFill>
                <a:latin typeface="Arial"/>
                <a:ea typeface="Arial"/>
                <a:cs typeface="Arial"/>
              </a:rPr>
              <a:t> </a:t>
            </a:r>
            <a:r>
              <a:rPr sz="900" b="0" i="0" dirty="0" err="1">
                <a:solidFill>
                  <a:srgbClr val="617080"/>
                </a:solidFill>
                <a:latin typeface="Arial"/>
                <a:ea typeface="Arial"/>
                <a:cs typeface="Arial"/>
              </a:rPr>
              <a:t>од</a:t>
            </a:r>
            <a:r>
              <a:rPr sz="900" b="0" i="0" dirty="0">
                <a:solidFill>
                  <a:srgbClr val="617080"/>
                </a:solidFill>
                <a:latin typeface="Arial"/>
                <a:ea typeface="Arial"/>
                <a:cs typeface="Arial"/>
              </a:rPr>
              <a:t> 3 </a:t>
            </a:r>
            <a:r>
              <a:rPr sz="900" b="0" i="0" dirty="0" err="1">
                <a:solidFill>
                  <a:srgbClr val="617080"/>
                </a:solidFill>
                <a:latin typeface="Arial"/>
                <a:ea typeface="Arial"/>
                <a:cs typeface="Arial"/>
              </a:rPr>
              <a:t>извршувања</a:t>
            </a:r>
            <a:endParaRPr sz="900" b="0" i="0" dirty="0">
              <a:solidFill>
                <a:srgbClr val="617080"/>
              </a:solidFill>
              <a:latin typeface="Arial"/>
              <a:ea typeface="Arial"/>
              <a:cs typeface="Arial"/>
            </a:endParaRPr>
          </a:p>
        </p:txBody>
      </p:sp>
      <p:sp>
        <p:nvSpPr>
          <p:cNvPr id="14" name="Rounded Rectangle 13">
            <a:extLst>
              <a:ext uri="{FF2B5EF4-FFF2-40B4-BE49-F238E27FC236}">
                <a16:creationId xmlns:a16="http://schemas.microsoft.com/office/drawing/2014/main" id="{FC07EFEE-6758-495E-9373-40486E0BBC0D}"/>
              </a:ext>
            </a:extLst>
          </p:cNvPr>
          <p:cNvSpPr>
            <a:spLocks noGrp="1"/>
          </p:cNvSpPr>
          <p:nvPr/>
        </p:nvSpPr>
        <p:spPr>
          <a:xfrm>
            <a:off x="666750" y="5676900"/>
            <a:ext cx="10763250" cy="876300"/>
          </a:xfrm>
          <a:prstGeom prst="roundRect">
            <a:avLst>
              <a:gd name="adj" fmla="val 15217"/>
            </a:avLst>
          </a:prstGeom>
          <a:solidFill>
            <a:srgbClr val="F7F9FB"/>
          </a:solidFill>
          <a:ln w="11430">
            <a:solidFill>
              <a:srgbClr val="A9B4BE"/>
            </a:solidFill>
            <a:prstDash val="solid"/>
          </a:ln>
        </p:spPr>
        <p:txBody>
          <a:bodyPr/>
          <a:lstStyle/>
          <a:p>
            <a:endParaRPr lang="en-US"/>
          </a:p>
        </p:txBody>
      </p:sp>
      <p:sp>
        <p:nvSpPr>
          <p:cNvPr id="15" name="Rectangle 14">
            <a:extLst>
              <a:ext uri="{FF2B5EF4-FFF2-40B4-BE49-F238E27FC236}">
                <a16:creationId xmlns:a16="http://schemas.microsoft.com/office/drawing/2014/main" id="{1C899750-EEE5-4225-BF68-8E3169ACB9E2}"/>
              </a:ext>
            </a:extLst>
          </p:cNvPr>
          <p:cNvSpPr>
            <a:spLocks noGrp="1"/>
          </p:cNvSpPr>
          <p:nvPr/>
        </p:nvSpPr>
        <p:spPr>
          <a:xfrm>
            <a:off x="952500" y="5819775"/>
            <a:ext cx="10191750" cy="590550"/>
          </a:xfrm>
          <a:prstGeom prst="rect">
            <a:avLst/>
          </a:prstGeom>
          <a:noFill/>
          <a:ln w="0">
            <a:noFill/>
            <a:prstDash val="solid"/>
          </a:ln>
        </p:spPr>
        <p:txBody>
          <a:bodyPr wrap="square" lIns="38100" tIns="19050" rIns="38100" bIns="19050" anchor="ctr">
            <a:normAutofit/>
          </a:bodyPr>
          <a:lstStyle/>
          <a:p>
            <a:pPr algn="ctr">
              <a:defRPr sz="1425" b="1" i="0">
                <a:solidFill>
                  <a:srgbClr val="263746"/>
                </a:solidFill>
                <a:latin typeface="Arial"/>
                <a:ea typeface="Arial"/>
                <a:cs typeface="Arial"/>
              </a:defRPr>
            </a:pPr>
            <a:r>
              <a:rPr sz="1425" b="1" i="0" dirty="0" err="1">
                <a:solidFill>
                  <a:srgbClr val="263746"/>
                </a:solidFill>
                <a:latin typeface="Arial"/>
                <a:ea typeface="Arial"/>
                <a:cs typeface="Arial"/>
              </a:rPr>
              <a:t>Условувањето</a:t>
            </a:r>
            <a:r>
              <a:rPr sz="1425" b="1" i="0" dirty="0">
                <a:solidFill>
                  <a:srgbClr val="263746"/>
                </a:solidFill>
                <a:latin typeface="Arial"/>
                <a:ea typeface="Arial"/>
                <a:cs typeface="Arial"/>
              </a:rPr>
              <a:t> </a:t>
            </a:r>
            <a:r>
              <a:rPr sz="1425" b="1" i="0" dirty="0" err="1">
                <a:solidFill>
                  <a:srgbClr val="263746"/>
                </a:solidFill>
                <a:latin typeface="Arial"/>
                <a:ea typeface="Arial"/>
                <a:cs typeface="Arial"/>
              </a:rPr>
              <a:t>со</a:t>
            </a:r>
            <a:r>
              <a:rPr sz="1425" b="1" i="0" dirty="0">
                <a:solidFill>
                  <a:srgbClr val="263746"/>
                </a:solidFill>
                <a:latin typeface="Arial"/>
                <a:ea typeface="Arial"/>
                <a:cs typeface="Arial"/>
              </a:rPr>
              <a:t> </a:t>
            </a:r>
            <a:r>
              <a:rPr sz="1425" b="1" i="0" dirty="0" err="1">
                <a:solidFill>
                  <a:srgbClr val="263746"/>
                </a:solidFill>
                <a:latin typeface="Arial"/>
                <a:ea typeface="Arial"/>
                <a:cs typeface="Arial"/>
              </a:rPr>
              <a:t>прашањето</a:t>
            </a:r>
            <a:r>
              <a:rPr sz="1425" b="1" i="0" dirty="0">
                <a:solidFill>
                  <a:srgbClr val="263746"/>
                </a:solidFill>
                <a:latin typeface="Arial"/>
                <a:ea typeface="Arial"/>
                <a:cs typeface="Arial"/>
              </a:rPr>
              <a:t> </a:t>
            </a:r>
            <a:r>
              <a:rPr sz="1425" b="1" i="0" dirty="0" err="1">
                <a:solidFill>
                  <a:srgbClr val="263746"/>
                </a:solidFill>
                <a:latin typeface="Arial"/>
                <a:ea typeface="Arial"/>
                <a:cs typeface="Arial"/>
              </a:rPr>
              <a:t>и</a:t>
            </a:r>
            <a:r>
              <a:rPr sz="1425" b="1" i="0" dirty="0">
                <a:solidFill>
                  <a:srgbClr val="263746"/>
                </a:solidFill>
                <a:latin typeface="Arial"/>
                <a:ea typeface="Arial"/>
                <a:cs typeface="Arial"/>
              </a:rPr>
              <a:t> </a:t>
            </a:r>
            <a:r>
              <a:rPr sz="1425" b="1" i="0" dirty="0" err="1">
                <a:solidFill>
                  <a:srgbClr val="263746"/>
                </a:solidFill>
                <a:latin typeface="Arial"/>
                <a:ea typeface="Arial"/>
                <a:cs typeface="Arial"/>
              </a:rPr>
              <a:t>експлицитното</a:t>
            </a:r>
            <a:r>
              <a:rPr sz="1425" b="1" i="0" dirty="0">
                <a:solidFill>
                  <a:srgbClr val="263746"/>
                </a:solidFill>
                <a:latin typeface="Arial"/>
                <a:ea typeface="Arial"/>
                <a:cs typeface="Arial"/>
              </a:rPr>
              <a:t> </a:t>
            </a:r>
            <a:r>
              <a:rPr sz="1425" b="1" i="0" dirty="0" err="1">
                <a:solidFill>
                  <a:srgbClr val="263746"/>
                </a:solidFill>
                <a:latin typeface="Arial"/>
                <a:ea typeface="Arial"/>
                <a:cs typeface="Arial"/>
              </a:rPr>
              <a:t>моделирање</a:t>
            </a:r>
            <a:r>
              <a:rPr sz="1425" b="1" i="0" dirty="0">
                <a:solidFill>
                  <a:srgbClr val="263746"/>
                </a:solidFill>
                <a:latin typeface="Arial"/>
                <a:ea typeface="Arial"/>
                <a:cs typeface="Arial"/>
              </a:rPr>
              <a:t> </a:t>
            </a:r>
            <a:r>
              <a:rPr sz="1425" b="1" i="0" dirty="0" err="1">
                <a:solidFill>
                  <a:srgbClr val="263746"/>
                </a:solidFill>
                <a:latin typeface="Arial"/>
                <a:ea typeface="Arial"/>
                <a:cs typeface="Arial"/>
              </a:rPr>
              <a:t>на</a:t>
            </a:r>
            <a:r>
              <a:rPr sz="1425" b="1" i="0" dirty="0">
                <a:solidFill>
                  <a:srgbClr val="263746"/>
                </a:solidFill>
                <a:latin typeface="Arial"/>
                <a:ea typeface="Arial"/>
                <a:cs typeface="Arial"/>
              </a:rPr>
              <a:t> </a:t>
            </a:r>
            <a:r>
              <a:rPr sz="1425" b="1" i="0" dirty="0" err="1">
                <a:solidFill>
                  <a:srgbClr val="263746"/>
                </a:solidFill>
                <a:latin typeface="Arial"/>
                <a:ea typeface="Arial"/>
                <a:cs typeface="Arial"/>
              </a:rPr>
              <a:t>релациските</a:t>
            </a:r>
            <a:r>
              <a:rPr sz="1425" b="1" i="0" dirty="0">
                <a:solidFill>
                  <a:srgbClr val="263746"/>
                </a:solidFill>
                <a:latin typeface="Arial"/>
                <a:ea typeface="Arial"/>
                <a:cs typeface="Arial"/>
              </a:rPr>
              <a:t> </a:t>
            </a:r>
            <a:r>
              <a:rPr sz="1425" b="1" i="0" dirty="0" err="1">
                <a:solidFill>
                  <a:srgbClr val="263746"/>
                </a:solidFill>
                <a:latin typeface="Arial"/>
                <a:ea typeface="Arial"/>
                <a:cs typeface="Arial"/>
              </a:rPr>
              <a:t>патеки</a:t>
            </a:r>
            <a:r>
              <a:rPr sz="1425" b="1" i="0" dirty="0">
                <a:solidFill>
                  <a:srgbClr val="263746"/>
                </a:solidFill>
                <a:latin typeface="Arial"/>
                <a:ea typeface="Arial"/>
                <a:cs typeface="Arial"/>
              </a:rPr>
              <a:t> </a:t>
            </a:r>
            <a:r>
              <a:rPr sz="1425" b="1" i="0" dirty="0" err="1">
                <a:solidFill>
                  <a:srgbClr val="263746"/>
                </a:solidFill>
                <a:latin typeface="Arial"/>
                <a:ea typeface="Arial"/>
                <a:cs typeface="Arial"/>
              </a:rPr>
              <a:t>даваат</a:t>
            </a:r>
            <a:r>
              <a:rPr sz="1425" b="1" i="0" dirty="0">
                <a:solidFill>
                  <a:srgbClr val="263746"/>
                </a:solidFill>
                <a:latin typeface="Arial"/>
                <a:ea typeface="Arial"/>
                <a:cs typeface="Arial"/>
              </a:rPr>
              <a:t> </a:t>
            </a:r>
            <a:r>
              <a:rPr sz="1425" b="1" i="0" dirty="0" err="1">
                <a:solidFill>
                  <a:srgbClr val="263746"/>
                </a:solidFill>
                <a:latin typeface="Arial"/>
                <a:ea typeface="Arial"/>
                <a:cs typeface="Arial"/>
              </a:rPr>
              <a:t>најдобри</a:t>
            </a:r>
            <a:r>
              <a:rPr sz="1425" b="1" i="0" dirty="0">
                <a:solidFill>
                  <a:srgbClr val="263746"/>
                </a:solidFill>
                <a:latin typeface="Arial"/>
                <a:ea typeface="Arial"/>
                <a:cs typeface="Arial"/>
              </a:rPr>
              <a:t> </a:t>
            </a:r>
            <a:r>
              <a:rPr sz="1425" b="1" i="0" dirty="0" err="1">
                <a:solidFill>
                  <a:srgbClr val="263746"/>
                </a:solidFill>
                <a:latin typeface="Arial"/>
                <a:ea typeface="Arial"/>
                <a:cs typeface="Arial"/>
              </a:rPr>
              <a:t>резултати</a:t>
            </a:r>
            <a:r>
              <a:rPr sz="1425" b="1" i="0" dirty="0">
                <a:solidFill>
                  <a:srgbClr val="263746"/>
                </a:solidFill>
                <a:latin typeface="Arial"/>
                <a:ea typeface="Arial"/>
                <a:cs typeface="Arial"/>
              </a:rPr>
              <a:t>. Advance </a:t>
            </a:r>
            <a:r>
              <a:rPr sz="1425" b="1" i="0" dirty="0" err="1">
                <a:solidFill>
                  <a:srgbClr val="263746"/>
                </a:solidFill>
                <a:latin typeface="Arial"/>
                <a:ea typeface="Arial"/>
                <a:cs typeface="Arial"/>
              </a:rPr>
              <a:t>GraphSAGE</a:t>
            </a:r>
            <a:r>
              <a:rPr sz="1425" b="1" i="0" dirty="0">
                <a:solidFill>
                  <a:srgbClr val="263746"/>
                </a:solidFill>
                <a:latin typeface="Arial"/>
                <a:ea typeface="Arial"/>
                <a:cs typeface="Arial"/>
              </a:rPr>
              <a:t> </a:t>
            </a:r>
            <a:r>
              <a:rPr sz="1425" b="1" i="0" dirty="0" err="1">
                <a:solidFill>
                  <a:srgbClr val="263746"/>
                </a:solidFill>
                <a:latin typeface="Arial"/>
                <a:ea typeface="Arial"/>
                <a:cs typeface="Arial"/>
              </a:rPr>
              <a:t>е</a:t>
            </a:r>
            <a:r>
              <a:rPr sz="1425" b="1" i="0" dirty="0">
                <a:solidFill>
                  <a:srgbClr val="263746"/>
                </a:solidFill>
                <a:latin typeface="Arial"/>
                <a:ea typeface="Arial"/>
                <a:cs typeface="Arial"/>
              </a:rPr>
              <a:t> </a:t>
            </a:r>
            <a:r>
              <a:rPr sz="1425" b="1" i="0" dirty="0" err="1">
                <a:solidFill>
                  <a:srgbClr val="263746"/>
                </a:solidFill>
                <a:latin typeface="Arial"/>
                <a:ea typeface="Arial"/>
                <a:cs typeface="Arial"/>
              </a:rPr>
              <a:t>силен</a:t>
            </a:r>
            <a:r>
              <a:rPr sz="1425" b="1" i="0" dirty="0">
                <a:solidFill>
                  <a:srgbClr val="263746"/>
                </a:solidFill>
                <a:latin typeface="Arial"/>
                <a:ea typeface="Arial"/>
                <a:cs typeface="Arial"/>
              </a:rPr>
              <a:t> </a:t>
            </a:r>
            <a:r>
              <a:rPr sz="1425" b="1" i="0" dirty="0" err="1">
                <a:solidFill>
                  <a:srgbClr val="263746"/>
                </a:solidFill>
                <a:latin typeface="Arial"/>
                <a:ea typeface="Arial"/>
                <a:cs typeface="Arial"/>
              </a:rPr>
              <a:t>едноставен</a:t>
            </a:r>
            <a:r>
              <a:rPr sz="1425" b="1" i="0" dirty="0">
                <a:solidFill>
                  <a:srgbClr val="263746"/>
                </a:solidFill>
                <a:latin typeface="Arial"/>
                <a:ea typeface="Arial"/>
                <a:cs typeface="Arial"/>
              </a:rPr>
              <a:t> </a:t>
            </a:r>
            <a:r>
              <a:rPr sz="1425" b="1" i="0" dirty="0" err="1">
                <a:solidFill>
                  <a:srgbClr val="263746"/>
                </a:solidFill>
                <a:latin typeface="Arial"/>
                <a:ea typeface="Arial"/>
                <a:cs typeface="Arial"/>
              </a:rPr>
              <a:t>компромис</a:t>
            </a:r>
            <a:r>
              <a:rPr sz="1425" b="1" i="0" dirty="0">
                <a:solidFill>
                  <a:srgbClr val="263746"/>
                </a:solidFill>
                <a:latin typeface="Arial"/>
                <a:ea typeface="Arial"/>
                <a:cs typeface="Arial"/>
              </a:rPr>
              <a:t>.</a:t>
            </a:r>
          </a:p>
        </p:txBody>
      </p:sp>
      <p:sp>
        <p:nvSpPr>
          <p:cNvPr id="4" name="Rectangle 3">
            <a:extLst>
              <a:ext uri="{FF2B5EF4-FFF2-40B4-BE49-F238E27FC236}">
                <a16:creationId xmlns:a16="http://schemas.microsoft.com/office/drawing/2014/main" id="{54C33D7B-B638-A843-C117-9586B4664351}"/>
              </a:ext>
            </a:extLst>
          </p:cNvPr>
          <p:cNvSpPr>
            <a:spLocks noGrp="1"/>
          </p:cNvSpPr>
          <p:nvPr/>
        </p:nvSpPr>
        <p:spPr>
          <a:xfrm>
            <a:off x="9201150" y="4441845"/>
            <a:ext cx="2133600" cy="514350"/>
          </a:xfrm>
          <a:prstGeom prst="rect">
            <a:avLst/>
          </a:prstGeom>
          <a:noFill/>
          <a:ln w="0">
            <a:noFill/>
            <a:prstDash val="solid"/>
          </a:ln>
        </p:spPr>
        <p:txBody>
          <a:bodyPr wrap="square" lIns="38100" tIns="19050" rIns="38100" bIns="19050" anchor="ctr">
            <a:normAutofit/>
          </a:bodyPr>
          <a:lstStyle/>
          <a:p>
            <a:pPr algn="ctr">
              <a:defRPr sz="2100" b="1" i="0">
                <a:solidFill>
                  <a:srgbClr val="D97942"/>
                </a:solidFill>
                <a:latin typeface="Arial"/>
                <a:ea typeface="Arial"/>
                <a:cs typeface="Arial"/>
              </a:defRPr>
            </a:pPr>
            <a:r>
              <a:rPr lang="en-US" sz="2100" b="1" i="0" dirty="0">
                <a:solidFill>
                  <a:srgbClr val="D97942"/>
                </a:solidFill>
                <a:latin typeface="Arial"/>
                <a:ea typeface="Arial"/>
                <a:cs typeface="Arial"/>
              </a:rPr>
              <a:t>0,877</a:t>
            </a:r>
            <a:endParaRPr sz="2100" b="1" i="0" dirty="0">
              <a:solidFill>
                <a:srgbClr val="D97942"/>
              </a:solidFill>
              <a:latin typeface="Arial"/>
              <a:ea typeface="Arial"/>
              <a:cs typeface="Arial"/>
            </a:endParaRPr>
          </a:p>
        </p:txBody>
      </p:sp>
      <p:sp>
        <p:nvSpPr>
          <p:cNvPr id="17" name="Rectangle 16">
            <a:extLst>
              <a:ext uri="{FF2B5EF4-FFF2-40B4-BE49-F238E27FC236}">
                <a16:creationId xmlns:a16="http://schemas.microsoft.com/office/drawing/2014/main" id="{1300ED91-E644-F3B1-BA89-3C814FB84495}"/>
              </a:ext>
            </a:extLst>
          </p:cNvPr>
          <p:cNvSpPr>
            <a:spLocks noGrp="1"/>
          </p:cNvSpPr>
          <p:nvPr/>
        </p:nvSpPr>
        <p:spPr>
          <a:xfrm>
            <a:off x="9201150" y="4895850"/>
            <a:ext cx="2133600" cy="400050"/>
          </a:xfrm>
          <a:prstGeom prst="rect">
            <a:avLst/>
          </a:prstGeom>
          <a:noFill/>
          <a:ln w="0">
            <a:noFill/>
            <a:prstDash val="solid"/>
          </a:ln>
        </p:spPr>
        <p:txBody>
          <a:bodyPr wrap="square" lIns="38100" tIns="19050" rIns="38100" bIns="19050" anchor="t">
            <a:normAutofit/>
          </a:bodyPr>
          <a:lstStyle/>
          <a:p>
            <a:pPr algn="ctr">
              <a:defRPr sz="1125" b="0" i="0">
                <a:solidFill>
                  <a:srgbClr val="617080"/>
                </a:solidFill>
                <a:latin typeface="Arial"/>
                <a:ea typeface="Arial"/>
                <a:cs typeface="Arial"/>
              </a:defRPr>
            </a:pPr>
            <a:r>
              <a:rPr lang="en-US" sz="1125" dirty="0" err="1">
                <a:solidFill>
                  <a:srgbClr val="617080"/>
                </a:solidFill>
                <a:latin typeface="Arial"/>
                <a:ea typeface="Arial"/>
                <a:cs typeface="Arial"/>
              </a:rPr>
              <a:t>RetrievalGoldCoverage</a:t>
            </a:r>
            <a:endParaRPr sz="1125" b="0" i="0" dirty="0">
              <a:solidFill>
                <a:srgbClr val="617080"/>
              </a:solidFill>
              <a:latin typeface="Arial"/>
              <a:ea typeface="Arial"/>
              <a:cs typeface="Arial"/>
            </a:endParaRPr>
          </a:p>
        </p:txBody>
      </p:sp>
    </p:spTree>
    <p:extLst>
      <p:ext uri="{BB962C8B-B14F-4D97-AF65-F5344CB8AC3E}">
        <p14:creationId xmlns:p14="http://schemas.microsoft.com/office/powerpoint/2010/main" val="5031902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42EF028-B971-4D6E-9C21-52703C1006CD}"/>
              </a:ext>
            </a:extLst>
          </p:cNvPr>
          <p:cNvSpPr>
            <a:spLocks noGrp="1"/>
          </p:cNvSpPr>
          <p:nvPr/>
        </p:nvSpPr>
        <p:spPr>
          <a:xfrm>
            <a:off x="552450" y="209550"/>
            <a:ext cx="10763250" cy="523875"/>
          </a:xfrm>
          <a:prstGeom prst="rect">
            <a:avLst/>
          </a:prstGeom>
          <a:noFill/>
          <a:ln w="0">
            <a:noFill/>
            <a:prstDash val="solid"/>
          </a:ln>
        </p:spPr>
        <p:txBody>
          <a:bodyPr wrap="square" lIns="38100" tIns="19050" rIns="38100" bIns="19050" anchor="ctr">
            <a:normAutofit/>
          </a:bodyPr>
          <a:lstStyle/>
          <a:p>
            <a:pPr algn="l">
              <a:defRPr sz="2325" b="1" i="0">
                <a:solidFill>
                  <a:srgbClr val="263746"/>
                </a:solidFill>
                <a:latin typeface="Arial"/>
                <a:ea typeface="Arial"/>
                <a:cs typeface="Arial"/>
              </a:defRPr>
            </a:pPr>
            <a:r>
              <a:rPr sz="2325" b="1" i="0">
                <a:solidFill>
                  <a:srgbClr val="263746"/>
                </a:solidFill>
                <a:latin typeface="Arial"/>
                <a:ea typeface="Arial"/>
                <a:cs typeface="Arial"/>
              </a:rPr>
              <a:t>Конструкција на доказниот подграф</a:t>
            </a:r>
          </a:p>
        </p:txBody>
      </p:sp>
      <p:sp>
        <p:nvSpPr>
          <p:cNvPr id="2" name="Rectangle 1">
            <a:extLst>
              <a:ext uri="{FF2B5EF4-FFF2-40B4-BE49-F238E27FC236}">
                <a16:creationId xmlns:a16="http://schemas.microsoft.com/office/drawing/2014/main" id="{BE30C4C8-10EF-4975-B12F-63D0568EB253}"/>
              </a:ext>
            </a:extLst>
          </p:cNvPr>
          <p:cNvSpPr>
            <a:spLocks noGrp="1"/>
          </p:cNvSpPr>
          <p:nvPr/>
        </p:nvSpPr>
        <p:spPr>
          <a:xfrm>
            <a:off x="552450" y="781050"/>
            <a:ext cx="11087100" cy="38100"/>
          </a:xfrm>
          <a:prstGeom prst="rect">
            <a:avLst/>
          </a:prstGeom>
          <a:solidFill>
            <a:srgbClr val="398D84"/>
          </a:solidFill>
          <a:ln w="0">
            <a:noFill/>
            <a:prstDash val="solid"/>
          </a:ln>
        </p:spPr>
        <p:txBody>
          <a:bodyPr/>
          <a:lstStyle/>
          <a:p>
            <a:endParaRPr lang="en-US"/>
          </a:p>
        </p:txBody>
      </p:sp>
      <p:sp>
        <p:nvSpPr>
          <p:cNvPr id="3" name="Rectangle 2">
            <a:extLst>
              <a:ext uri="{FF2B5EF4-FFF2-40B4-BE49-F238E27FC236}">
                <a16:creationId xmlns:a16="http://schemas.microsoft.com/office/drawing/2014/main" id="{B6C816E8-700D-467B-AE64-75109A06E8FE}"/>
              </a:ext>
            </a:extLst>
          </p:cNvPr>
          <p:cNvSpPr>
            <a:spLocks noGrp="1"/>
          </p:cNvSpPr>
          <p:nvPr/>
        </p:nvSpPr>
        <p:spPr>
          <a:xfrm>
            <a:off x="552450" y="6486525"/>
            <a:ext cx="9334500" cy="228600"/>
          </a:xfrm>
          <a:prstGeom prst="rect">
            <a:avLst/>
          </a:prstGeom>
          <a:noFill/>
          <a:ln w="0">
            <a:noFill/>
            <a:prstDash val="solid"/>
          </a:ln>
        </p:spPr>
        <p:txBody>
          <a:bodyPr wrap="square" lIns="38100" tIns="19050" rIns="38100" bIns="19050" anchor="b">
            <a:normAutofit/>
          </a:bodyPr>
          <a:lstStyle/>
          <a:p>
            <a:pPr algn="l">
              <a:defRPr sz="825" b="0" i="0">
                <a:solidFill>
                  <a:srgbClr val="617080"/>
                </a:solidFill>
                <a:latin typeface="Arial"/>
                <a:ea typeface="Arial"/>
                <a:cs typeface="Arial"/>
              </a:defRPr>
            </a:pPr>
            <a:r>
              <a:rPr sz="825" b="0" i="0">
                <a:solidFill>
                  <a:srgbClr val="617080"/>
                </a:solidFill>
                <a:latin typeface="Arial"/>
                <a:ea typeface="Arial"/>
                <a:cs typeface="Arial"/>
              </a:rPr>
              <a:t>Goemans and Williamson, 1995</a:t>
            </a:r>
          </a:p>
        </p:txBody>
      </p:sp>
      <p:sp>
        <p:nvSpPr>
          <p:cNvPr id="4" name="Rectangle 3">
            <a:extLst>
              <a:ext uri="{FF2B5EF4-FFF2-40B4-BE49-F238E27FC236}">
                <a16:creationId xmlns:a16="http://schemas.microsoft.com/office/drawing/2014/main" id="{1DFA0E94-7425-4B5D-AA08-BE5C4C432093}"/>
              </a:ext>
            </a:extLst>
          </p:cNvPr>
          <p:cNvSpPr>
            <a:spLocks noGrp="1"/>
          </p:cNvSpPr>
          <p:nvPr/>
        </p:nvSpPr>
        <p:spPr>
          <a:xfrm>
            <a:off x="11315700" y="6486525"/>
            <a:ext cx="323850" cy="228600"/>
          </a:xfrm>
          <a:prstGeom prst="rect">
            <a:avLst/>
          </a:prstGeom>
          <a:noFill/>
          <a:ln w="0">
            <a:noFill/>
            <a:prstDash val="solid"/>
          </a:ln>
        </p:spPr>
        <p:txBody>
          <a:bodyPr wrap="square" lIns="38100" tIns="19050" rIns="38100" bIns="19050" anchor="b">
            <a:normAutofit/>
          </a:bodyPr>
          <a:lstStyle/>
          <a:p>
            <a:pPr algn="r">
              <a:defRPr sz="900" b="0" i="0">
                <a:solidFill>
                  <a:srgbClr val="617080"/>
                </a:solidFill>
                <a:latin typeface="Arial"/>
                <a:ea typeface="Arial"/>
                <a:cs typeface="Arial"/>
              </a:defRPr>
            </a:pPr>
            <a:r>
              <a:rPr sz="900" b="0" i="0">
                <a:solidFill>
                  <a:srgbClr val="617080"/>
                </a:solidFill>
                <a:latin typeface="Arial"/>
                <a:ea typeface="Arial"/>
                <a:cs typeface="Arial"/>
              </a:rPr>
              <a:t>15</a:t>
            </a:r>
          </a:p>
        </p:txBody>
      </p:sp>
      <p:pic>
        <p:nvPicPr>
          <p:cNvPr id="19" name="Picture 18"/>
          <p:cNvPicPr>
            <a:picLocks noChangeAspect="1"/>
          </p:cNvPicPr>
          <p:nvPr/>
        </p:nvPicPr>
        <p:blipFill>
          <a:blip r:embed="rId3"/>
          <a:stretch/>
        </p:blipFill>
        <p:spPr>
          <a:xfrm>
            <a:off x="308504" y="1047750"/>
            <a:ext cx="6993467" cy="3933825"/>
          </a:xfrm>
          <a:prstGeom prst="rect">
            <a:avLst/>
          </a:prstGeom>
        </p:spPr>
      </p:pic>
      <p:sp>
        <p:nvSpPr>
          <p:cNvPr id="6" name="Rectangle 5">
            <a:extLst>
              <a:ext uri="{FF2B5EF4-FFF2-40B4-BE49-F238E27FC236}">
                <a16:creationId xmlns:a16="http://schemas.microsoft.com/office/drawing/2014/main" id="{043F525B-9FD3-484B-8E88-9B9CBE097BF3}"/>
              </a:ext>
            </a:extLst>
          </p:cNvPr>
          <p:cNvSpPr>
            <a:spLocks noGrp="1"/>
          </p:cNvSpPr>
          <p:nvPr/>
        </p:nvSpPr>
        <p:spPr>
          <a:xfrm>
            <a:off x="7620000" y="1095375"/>
            <a:ext cx="4000500" cy="552450"/>
          </a:xfrm>
          <a:prstGeom prst="rect">
            <a:avLst/>
          </a:prstGeom>
          <a:noFill/>
          <a:ln w="0">
            <a:noFill/>
            <a:prstDash val="solid"/>
          </a:ln>
        </p:spPr>
        <p:txBody>
          <a:bodyPr wrap="square" lIns="38100" tIns="19050" rIns="38100" bIns="19050" anchor="ctr">
            <a:normAutofit/>
          </a:bodyPr>
          <a:lstStyle/>
          <a:p>
            <a:pPr algn="ctr">
              <a:defRPr sz="1575" b="1" i="0">
                <a:solidFill>
                  <a:srgbClr val="398D84"/>
                </a:solidFill>
                <a:latin typeface="Arial"/>
                <a:ea typeface="Arial"/>
                <a:cs typeface="Arial"/>
              </a:defRPr>
            </a:pPr>
            <a:r>
              <a:rPr sz="1575" b="1" i="0">
                <a:solidFill>
                  <a:srgbClr val="398D84"/>
                </a:solidFill>
                <a:latin typeface="Arial"/>
                <a:ea typeface="Arial"/>
                <a:cs typeface="Arial"/>
              </a:rPr>
              <a:t>PCST: награда на јазлите наспроти трошок на рабовите</a:t>
            </a:r>
          </a:p>
        </p:txBody>
      </p:sp>
      <mc:AlternateContent xmlns:mc="http://schemas.openxmlformats.org/markup-compatibility/2006" xmlns:a14="http://schemas.microsoft.com/office/drawing/2010/main">
        <mc:Choice Requires="a14">
          <p:sp>
            <p:nvSpPr>
              <p:cNvPr id="7" name="Rounded Rectangle 6">
                <a:extLst>
                  <a:ext uri="{FF2B5EF4-FFF2-40B4-BE49-F238E27FC236}">
                    <a16:creationId xmlns:a16="http://schemas.microsoft.com/office/drawing/2014/main" id="{FF03D113-8AE5-4CB5-B4F8-EE205F50A754}"/>
                  </a:ext>
                </a:extLst>
              </p:cNvPr>
              <p:cNvSpPr>
                <a:spLocks noGrp="1"/>
              </p:cNvSpPr>
              <p:nvPr/>
            </p:nvSpPr>
            <p:spPr>
              <a:xfrm>
                <a:off x="7667625" y="1790700"/>
                <a:ext cx="3905250" cy="838200"/>
              </a:xfrm>
              <a:prstGeom prst="roundRect">
                <a:avLst>
                  <a:gd name="adj" fmla="val 11364"/>
                </a:avLst>
              </a:prstGeom>
              <a:solidFill>
                <a:srgbClr val="E8F5F3"/>
              </a:solidFill>
              <a:ln w="11430">
                <a:solidFill>
                  <a:srgbClr val="398D84"/>
                </a:solidFill>
                <a:prstDash val="solid"/>
              </a:ln>
            </p:spPr>
            <p:txBody>
              <a:bodyPr anchor="ctr"/>
              <a:lstStyle/>
              <a:p>
                <a:pPr/>
                <a14:m>
                  <m:oMathPara xmlns:m="http://schemas.openxmlformats.org/officeDocument/2006/math">
                    <m:oMathParaPr>
                      <m:jc m:val="centerGroup"/>
                    </m:oMathParaPr>
                    <m:oMath xmlns:m="http://schemas.openxmlformats.org/officeDocument/2006/math">
                      <m:sSup>
                        <m:sSupPr>
                          <m:ctrlPr>
                            <a:rPr lang="en-US" i="1" smtClean="0">
                              <a:latin typeface="Cambria Math" panose="02040503050406030204" pitchFamily="18" charset="0"/>
                            </a:rPr>
                          </m:ctrlPr>
                        </m:sSupPr>
                        <m:e>
                          <m:r>
                            <a:rPr lang="en-US" i="1">
                              <a:latin typeface="Cambria Math" panose="02040503050406030204" pitchFamily="18" charset="0"/>
                            </a:rPr>
                            <m:t>𝑇</m:t>
                          </m:r>
                        </m:e>
                        <m:sup>
                          <m:r>
                            <a:rPr lang="en-US" i="1">
                              <a:latin typeface="Cambria Math" panose="02040503050406030204" pitchFamily="18" charset="0"/>
                            </a:rPr>
                            <m:t>∗</m:t>
                          </m:r>
                        </m:sup>
                      </m:sSup>
                      <m:r>
                        <a:rPr lang="en-US" i="1">
                          <a:latin typeface="Cambria Math" panose="02040503050406030204" pitchFamily="18" charset="0"/>
                        </a:rPr>
                        <m:t>=</m:t>
                      </m:r>
                      <m:func>
                        <m:funcPr>
                          <m:ctrlPr>
                            <a:rPr lang="en-US" i="1">
                              <a:latin typeface="Cambria Math" panose="02040503050406030204" pitchFamily="18" charset="0"/>
                            </a:rPr>
                          </m:ctrlPr>
                        </m:funcPr>
                        <m:fName>
                          <m:r>
                            <m:rPr>
                              <m:sty m:val="p"/>
                            </m:rPr>
                            <a:rPr lang="en-US" i="0">
                              <a:latin typeface="Cambria Math" panose="02040503050406030204" pitchFamily="18" charset="0"/>
                            </a:rPr>
                            <m:t>arg</m:t>
                          </m:r>
                        </m:fName>
                        <m:e>
                          <m:func>
                            <m:funcPr>
                              <m:ctrlPr>
                                <a:rPr lang="en-US" i="1">
                                  <a:latin typeface="Cambria Math" panose="02040503050406030204" pitchFamily="18" charset="0"/>
                                </a:rPr>
                              </m:ctrlPr>
                            </m:funcPr>
                            <m:fName>
                              <m:limLow>
                                <m:limLowPr>
                                  <m:ctrlPr>
                                    <a:rPr lang="en-US" i="1">
                                      <a:latin typeface="Cambria Math" panose="02040503050406030204" pitchFamily="18" charset="0"/>
                                    </a:rPr>
                                  </m:ctrlPr>
                                </m:limLowPr>
                                <m:e>
                                  <m:r>
                                    <m:rPr>
                                      <m:sty m:val="p"/>
                                    </m:rPr>
                                    <a:rPr lang="en-US" i="0">
                                      <a:latin typeface="Cambria Math" panose="02040503050406030204" pitchFamily="18" charset="0"/>
                                    </a:rPr>
                                    <m:t>max</m:t>
                                  </m:r>
                                </m:e>
                                <m:lim>
                                  <m:r>
                                    <a:rPr lang="en-US" i="1">
                                      <a:latin typeface="Cambria Math" panose="02040503050406030204" pitchFamily="18" charset="0"/>
                                    </a:rPr>
                                    <m:t>𝑇</m:t>
                                  </m:r>
                                </m:lim>
                              </m:limLow>
                            </m:fName>
                            <m:e>
                              <m:d>
                                <m:dPr>
                                  <m:begChr m:val="["/>
                                  <m:endChr m:val="]"/>
                                  <m:ctrlPr>
                                    <a:rPr lang="en-US" i="1">
                                      <a:latin typeface="Cambria Math" panose="02040503050406030204" pitchFamily="18" charset="0"/>
                                    </a:rPr>
                                  </m:ctrlPr>
                                </m:dPr>
                                <m:e>
                                  <m:nary>
                                    <m:naryPr>
                                      <m:chr m:val="∑"/>
                                      <m:supHide m:val="on"/>
                                      <m:ctrlPr>
                                        <a:rPr lang="en-US" i="1">
                                          <a:latin typeface="Cambria Math" panose="02040503050406030204" pitchFamily="18" charset="0"/>
                                        </a:rPr>
                                      </m:ctrlPr>
                                    </m:naryPr>
                                    <m:sub>
                                      <m:r>
                                        <a:rPr lang="en-US" i="1">
                                          <a:latin typeface="Cambria Math" panose="02040503050406030204" pitchFamily="18" charset="0"/>
                                        </a:rPr>
                                        <m:t>𝑣</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𝑇</m:t>
                                          </m:r>
                                        </m:sub>
                                      </m:sSub>
                                    </m:sub>
                                    <m:sup/>
                                    <m:e>
                                      <m:r>
                                        <a:rPr lang="en-US" i="1">
                                          <a:latin typeface="Cambria Math" panose="02040503050406030204" pitchFamily="18" charset="0"/>
                                        </a:rPr>
                                        <m:t>𝑝</m:t>
                                      </m:r>
                                      <m:d>
                                        <m:dPr>
                                          <m:ctrlPr>
                                            <a:rPr lang="en-US" i="1">
                                              <a:latin typeface="Cambria Math" panose="02040503050406030204" pitchFamily="18" charset="0"/>
                                            </a:rPr>
                                          </m:ctrlPr>
                                        </m:dPr>
                                        <m:e>
                                          <m:r>
                                            <a:rPr lang="en-US" i="1">
                                              <a:latin typeface="Cambria Math" panose="02040503050406030204" pitchFamily="18" charset="0"/>
                                            </a:rPr>
                                            <m:t>𝑣</m:t>
                                          </m:r>
                                        </m:e>
                                      </m:d>
                                    </m:e>
                                  </m:nary>
                                  <m:r>
                                    <a:rPr lang="en-US" i="1">
                                      <a:latin typeface="Cambria Math" panose="02040503050406030204" pitchFamily="18" charset="0"/>
                                    </a:rPr>
                                    <m:t>−</m:t>
                                  </m:r>
                                  <m:nary>
                                    <m:naryPr>
                                      <m:chr m:val="∑"/>
                                      <m:supHide m:val="on"/>
                                      <m:ctrlPr>
                                        <a:rPr lang="en-US" i="1">
                                          <a:latin typeface="Cambria Math" panose="02040503050406030204" pitchFamily="18" charset="0"/>
                                        </a:rPr>
                                      </m:ctrlPr>
                                    </m:naryPr>
                                    <m:sub>
                                      <m:r>
                                        <a:rPr lang="en-US" i="1">
                                          <a:latin typeface="Cambria Math" panose="02040503050406030204" pitchFamily="18" charset="0"/>
                                        </a:rPr>
                                        <m:t>𝑒</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𝑇</m:t>
                                          </m:r>
                                        </m:sub>
                                      </m:sSub>
                                    </m:sub>
                                    <m:sup/>
                                    <m:e>
                                      <m:r>
                                        <a:rPr lang="en-US" i="1">
                                          <a:latin typeface="Cambria Math" panose="02040503050406030204" pitchFamily="18" charset="0"/>
                                        </a:rPr>
                                        <m:t>𝑐</m:t>
                                      </m:r>
                                      <m:d>
                                        <m:dPr>
                                          <m:ctrlPr>
                                            <a:rPr lang="en-US" i="1">
                                              <a:latin typeface="Cambria Math" panose="02040503050406030204" pitchFamily="18" charset="0"/>
                                            </a:rPr>
                                          </m:ctrlPr>
                                        </m:dPr>
                                        <m:e>
                                          <m:r>
                                            <a:rPr lang="en-US" i="1">
                                              <a:latin typeface="Cambria Math" panose="02040503050406030204" pitchFamily="18" charset="0"/>
                                            </a:rPr>
                                            <m:t>𝑒</m:t>
                                          </m:r>
                                        </m:e>
                                      </m:d>
                                    </m:e>
                                  </m:nary>
                                </m:e>
                              </m:d>
                            </m:e>
                          </m:func>
                        </m:e>
                      </m:func>
                    </m:oMath>
                  </m:oMathPara>
                </a14:m>
                <a:endParaRPr lang="en-US" dirty="0"/>
              </a:p>
            </p:txBody>
          </p:sp>
        </mc:Choice>
        <mc:Fallback xmlns="">
          <p:sp>
            <p:nvSpPr>
              <p:cNvPr id="7" name="Rounded Rectangle 6">
                <a:extLst>
                  <a:ext uri="{FF2B5EF4-FFF2-40B4-BE49-F238E27FC236}">
                    <a16:creationId xmlns:a16="http://schemas.microsoft.com/office/drawing/2014/main" id="{FF03D113-8AE5-4CB5-B4F8-EE205F50A754}"/>
                  </a:ext>
                </a:extLst>
              </p:cNvPr>
              <p:cNvSpPr>
                <a:spLocks noGrp="1" noRot="1" noChangeAspect="1" noMove="1" noResize="1" noEditPoints="1" noAdjustHandles="1" noChangeArrowheads="1" noChangeShapeType="1" noTextEdit="1"/>
              </p:cNvSpPr>
              <p:nvPr/>
            </p:nvSpPr>
            <p:spPr>
              <a:xfrm>
                <a:off x="7667625" y="1790700"/>
                <a:ext cx="3905250" cy="838200"/>
              </a:xfrm>
              <a:prstGeom prst="roundRect">
                <a:avLst>
                  <a:gd name="adj" fmla="val 11364"/>
                </a:avLst>
              </a:prstGeom>
              <a:blipFill>
                <a:blip r:embed="rId4"/>
                <a:stretch>
                  <a:fillRect t="-105882" b="-145588"/>
                </a:stretch>
              </a:blipFill>
              <a:ln w="11430">
                <a:solidFill>
                  <a:srgbClr val="398D84"/>
                </a:solidFill>
                <a:prstDash val="soli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ounded Rectangle 8">
                <a:extLst>
                  <a:ext uri="{FF2B5EF4-FFF2-40B4-BE49-F238E27FC236}">
                    <a16:creationId xmlns:a16="http://schemas.microsoft.com/office/drawing/2014/main" id="{B5055CE5-2E03-4219-84F3-ED4DECB2E9C4}"/>
                  </a:ext>
                </a:extLst>
              </p:cNvPr>
              <p:cNvSpPr>
                <a:spLocks noGrp="1"/>
              </p:cNvSpPr>
              <p:nvPr/>
            </p:nvSpPr>
            <p:spPr>
              <a:xfrm>
                <a:off x="7667625" y="2819400"/>
                <a:ext cx="3905250" cy="619125"/>
              </a:xfrm>
              <a:prstGeom prst="roundRect">
                <a:avLst>
                  <a:gd name="adj" fmla="val 15385"/>
                </a:avLst>
              </a:prstGeom>
              <a:solidFill>
                <a:srgbClr val="F7F9FB"/>
              </a:solidFill>
              <a:ln w="11430">
                <a:solidFill>
                  <a:srgbClr val="A9B4BE"/>
                </a:solidFill>
                <a:prstDash val="solid"/>
              </a:ln>
            </p:spPr>
            <p:txBody>
              <a:bodyPr anchor="ct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𝑐</m:t>
                          </m:r>
                        </m:e>
                        <m:sub>
                          <m:r>
                            <a:rPr lang="en-US" i="1">
                              <a:latin typeface="Cambria Math" panose="02040503050406030204" pitchFamily="18" charset="0"/>
                            </a:rPr>
                            <m:t>𝑐𝑜𝑛𝑠𝑡</m:t>
                          </m:r>
                        </m:sub>
                      </m:sSub>
                      <m:r>
                        <a:rPr lang="en-US" i="1">
                          <a:latin typeface="Cambria Math" panose="02040503050406030204" pitchFamily="18" charset="0"/>
                        </a:rPr>
                        <m:t> </m:t>
                      </m:r>
                      <m:d>
                        <m:dPr>
                          <m:ctrlPr>
                            <a:rPr lang="en-US" i="1">
                              <a:latin typeface="Cambria Math" panose="02040503050406030204" pitchFamily="18" charset="0"/>
                            </a:rPr>
                          </m:ctrlPr>
                        </m:dPr>
                        <m:e>
                          <m:r>
                            <a:rPr lang="en-US" i="1">
                              <a:latin typeface="Cambria Math" panose="02040503050406030204" pitchFamily="18" charset="0"/>
                            </a:rPr>
                            <m:t>𝑒</m:t>
                          </m:r>
                        </m:e>
                      </m:d>
                      <m:r>
                        <a:rPr lang="en-US" i="1">
                          <a:latin typeface="Cambria Math" panose="02040503050406030204" pitchFamily="18" charset="0"/>
                        </a:rPr>
                        <m:t>=</m:t>
                      </m:r>
                      <m:r>
                        <a:rPr lang="el-GR" i="1">
                          <a:latin typeface="Cambria Math" panose="02040503050406030204" pitchFamily="18" charset="0"/>
                        </a:rPr>
                        <m:t>𝜆</m:t>
                      </m:r>
                    </m:oMath>
                  </m:oMathPara>
                </a14:m>
                <a:endParaRPr lang="en-US" dirty="0"/>
              </a:p>
            </p:txBody>
          </p:sp>
        </mc:Choice>
        <mc:Fallback xmlns="">
          <p:sp>
            <p:nvSpPr>
              <p:cNvPr id="9" name="Rounded Rectangle 8">
                <a:extLst>
                  <a:ext uri="{FF2B5EF4-FFF2-40B4-BE49-F238E27FC236}">
                    <a16:creationId xmlns:a16="http://schemas.microsoft.com/office/drawing/2014/main" id="{B5055CE5-2E03-4219-84F3-ED4DECB2E9C4}"/>
                  </a:ext>
                </a:extLst>
              </p:cNvPr>
              <p:cNvSpPr>
                <a:spLocks noGrp="1" noRot="1" noChangeAspect="1" noMove="1" noResize="1" noEditPoints="1" noAdjustHandles="1" noChangeArrowheads="1" noChangeShapeType="1" noTextEdit="1"/>
              </p:cNvSpPr>
              <p:nvPr/>
            </p:nvSpPr>
            <p:spPr>
              <a:xfrm>
                <a:off x="7667625" y="2819400"/>
                <a:ext cx="3905250" cy="619125"/>
              </a:xfrm>
              <a:prstGeom prst="roundRect">
                <a:avLst>
                  <a:gd name="adj" fmla="val 15385"/>
                </a:avLst>
              </a:prstGeom>
              <a:blipFill>
                <a:blip r:embed="rId5"/>
                <a:stretch>
                  <a:fillRect/>
                </a:stretch>
              </a:blipFill>
              <a:ln w="11430">
                <a:solidFill>
                  <a:srgbClr val="A9B4BE"/>
                </a:solidFill>
                <a:prstDash val="soli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Rounded Rectangle 10">
                <a:extLst>
                  <a:ext uri="{FF2B5EF4-FFF2-40B4-BE49-F238E27FC236}">
                    <a16:creationId xmlns:a16="http://schemas.microsoft.com/office/drawing/2014/main" id="{7522A186-ED0E-4FAB-8400-1AE1BF0BAA61}"/>
                  </a:ext>
                </a:extLst>
              </p:cNvPr>
              <p:cNvSpPr>
                <a:spLocks noGrp="1"/>
              </p:cNvSpPr>
              <p:nvPr/>
            </p:nvSpPr>
            <p:spPr>
              <a:xfrm>
                <a:off x="7667625" y="3629025"/>
                <a:ext cx="3905250" cy="733425"/>
              </a:xfrm>
              <a:prstGeom prst="roundRect">
                <a:avLst>
                  <a:gd name="adj" fmla="val 12987"/>
                </a:avLst>
              </a:prstGeom>
              <a:solidFill>
                <a:srgbClr val="F7F9FB"/>
              </a:solidFill>
              <a:ln w="11430">
                <a:solidFill>
                  <a:srgbClr val="A9B4BE"/>
                </a:solidFill>
                <a:prstDash val="solid"/>
              </a:ln>
            </p:spPr>
            <p:txBody>
              <a:bodyPr anchor="ct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𝑐</m:t>
                          </m:r>
                        </m:e>
                        <m:sub>
                          <m:r>
                            <a:rPr lang="en-US" i="1">
                              <a:latin typeface="Cambria Math" panose="02040503050406030204" pitchFamily="18" charset="0"/>
                            </a:rPr>
                            <m:t>𝑠𝑒𝑚</m:t>
                          </m:r>
                        </m:sub>
                      </m:sSub>
                      <m:r>
                        <a:rPr lang="en-US" i="1">
                          <a:latin typeface="Cambria Math" panose="02040503050406030204" pitchFamily="18" charset="0"/>
                        </a:rPr>
                        <m:t> </m:t>
                      </m:r>
                      <m:d>
                        <m:dPr>
                          <m:ctrlPr>
                            <a:rPr lang="en-US" i="1">
                              <a:latin typeface="Cambria Math" panose="02040503050406030204" pitchFamily="18" charset="0"/>
                            </a:rPr>
                          </m:ctrlPr>
                        </m:dPr>
                        <m:e>
                          <m:r>
                            <a:rPr lang="en-US" i="1">
                              <a:latin typeface="Cambria Math" panose="02040503050406030204" pitchFamily="18" charset="0"/>
                            </a:rPr>
                            <m:t>𝑒</m:t>
                          </m:r>
                        </m:e>
                      </m:d>
                      <m:r>
                        <a:rPr lang="en-US" i="1">
                          <a:latin typeface="Cambria Math" panose="02040503050406030204" pitchFamily="18" charset="0"/>
                        </a:rPr>
                        <m:t>=</m:t>
                      </m:r>
                      <m:func>
                        <m:funcPr>
                          <m:ctrlPr>
                            <a:rPr lang="en-US" i="1">
                              <a:latin typeface="Cambria Math" panose="02040503050406030204" pitchFamily="18" charset="0"/>
                            </a:rPr>
                          </m:ctrlPr>
                        </m:funcPr>
                        <m:fName>
                          <m:r>
                            <m:rPr>
                              <m:sty m:val="p"/>
                            </m:rPr>
                            <a:rPr lang="en-US" i="0">
                              <a:latin typeface="Cambria Math" panose="02040503050406030204" pitchFamily="18" charset="0"/>
                            </a:rPr>
                            <m:t>max</m:t>
                          </m:r>
                        </m:fName>
                        <m:e>
                          <m:d>
                            <m:dPr>
                              <m:ctrlPr>
                                <a:rPr lang="en-US" i="1">
                                  <a:latin typeface="Cambria Math" panose="02040503050406030204" pitchFamily="18" charset="0"/>
                                </a:rPr>
                              </m:ctrlPr>
                            </m:dPr>
                            <m:e>
                              <m:r>
                                <a:rPr lang="el-GR" i="1">
                                  <a:latin typeface="Cambria Math" panose="02040503050406030204" pitchFamily="18" charset="0"/>
                                </a:rPr>
                                <m:t>𝜀</m:t>
                              </m:r>
                              <m:r>
                                <a:rPr lang="el-GR" i="1">
                                  <a:latin typeface="Cambria Math" panose="02040503050406030204" pitchFamily="18" charset="0"/>
                                </a:rPr>
                                <m:t>,</m:t>
                              </m:r>
                              <m:r>
                                <a:rPr lang="el-GR" i="1">
                                  <a:latin typeface="Cambria Math" panose="02040503050406030204" pitchFamily="18" charset="0"/>
                                </a:rPr>
                                <m:t>𝜆</m:t>
                              </m:r>
                              <m:d>
                                <m:dPr>
                                  <m:begChr m:val="["/>
                                  <m:endChr m:val="]"/>
                                  <m:ctrlPr>
                                    <a:rPr lang="el-GR" i="1">
                                      <a:latin typeface="Cambria Math" panose="02040503050406030204" pitchFamily="18" charset="0"/>
                                    </a:rPr>
                                  </m:ctrlPr>
                                </m:dPr>
                                <m:e>
                                  <m:r>
                                    <a:rPr lang="el-GR" i="1">
                                      <a:latin typeface="Cambria Math" panose="02040503050406030204" pitchFamily="18" charset="0"/>
                                    </a:rPr>
                                    <m:t>1−</m:t>
                                  </m:r>
                                  <m:func>
                                    <m:funcPr>
                                      <m:ctrlPr>
                                        <a:rPr lang="en-US" i="1">
                                          <a:latin typeface="Cambria Math" panose="02040503050406030204" pitchFamily="18" charset="0"/>
                                        </a:rPr>
                                      </m:ctrlPr>
                                    </m:funcPr>
                                    <m:fName>
                                      <m:r>
                                        <m:rPr>
                                          <m:sty m:val="p"/>
                                        </m:rPr>
                                        <a:rPr lang="en-US" i="0">
                                          <a:latin typeface="Cambria Math" panose="02040503050406030204" pitchFamily="18" charset="0"/>
                                        </a:rPr>
                                        <m:t>cos</m:t>
                                      </m:r>
                                    </m:fName>
                                    <m:e>
                                      <m:d>
                                        <m:dPr>
                                          <m:ctrlPr>
                                            <a:rPr lang="en-US" i="1">
                                              <a:latin typeface="Cambria Math" panose="02040503050406030204" pitchFamily="18" charset="0"/>
                                            </a:rPr>
                                          </m:ctrlPr>
                                        </m:dPr>
                                        <m:e>
                                          <m:r>
                                            <a:rPr lang="en-US" i="1">
                                              <a:latin typeface="Cambria Math" panose="02040503050406030204" pitchFamily="18" charset="0"/>
                                            </a:rPr>
                                            <m:t>𝑞</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𝑟</m:t>
                                              </m:r>
                                            </m:e>
                                            <m:sub>
                                              <m:r>
                                                <a:rPr lang="en-US" i="1">
                                                  <a:latin typeface="Cambria Math" panose="02040503050406030204" pitchFamily="18" charset="0"/>
                                                </a:rPr>
                                                <m:t>𝑒</m:t>
                                              </m:r>
                                            </m:sub>
                                          </m:sSub>
                                        </m:e>
                                      </m:d>
                                    </m:e>
                                  </m:func>
                                </m:e>
                              </m:d>
                            </m:e>
                          </m:d>
                        </m:e>
                      </m:func>
                    </m:oMath>
                  </m:oMathPara>
                </a14:m>
                <a:endParaRPr lang="en-US" dirty="0"/>
              </a:p>
            </p:txBody>
          </p:sp>
        </mc:Choice>
        <mc:Fallback xmlns="">
          <p:sp>
            <p:nvSpPr>
              <p:cNvPr id="11" name="Rounded Rectangle 10">
                <a:extLst>
                  <a:ext uri="{FF2B5EF4-FFF2-40B4-BE49-F238E27FC236}">
                    <a16:creationId xmlns:a16="http://schemas.microsoft.com/office/drawing/2014/main" id="{7522A186-ED0E-4FAB-8400-1AE1BF0BAA61}"/>
                  </a:ext>
                </a:extLst>
              </p:cNvPr>
              <p:cNvSpPr>
                <a:spLocks noGrp="1" noRot="1" noChangeAspect="1" noMove="1" noResize="1" noEditPoints="1" noAdjustHandles="1" noChangeArrowheads="1" noChangeShapeType="1" noTextEdit="1"/>
              </p:cNvSpPr>
              <p:nvPr/>
            </p:nvSpPr>
            <p:spPr>
              <a:xfrm>
                <a:off x="7667625" y="3629025"/>
                <a:ext cx="3905250" cy="733425"/>
              </a:xfrm>
              <a:prstGeom prst="roundRect">
                <a:avLst>
                  <a:gd name="adj" fmla="val 12987"/>
                </a:avLst>
              </a:prstGeom>
              <a:blipFill>
                <a:blip r:embed="rId6"/>
                <a:stretch>
                  <a:fillRect/>
                </a:stretch>
              </a:blipFill>
              <a:ln w="11430">
                <a:solidFill>
                  <a:srgbClr val="A9B4BE"/>
                </a:solidFill>
                <a:prstDash val="solid"/>
              </a:ln>
            </p:spPr>
            <p:txBody>
              <a:bodyPr/>
              <a:lstStyle/>
              <a:p>
                <a:r>
                  <a:rPr lang="en-US">
                    <a:noFill/>
                  </a:rPr>
                  <a:t> </a:t>
                </a:r>
              </a:p>
            </p:txBody>
          </p:sp>
        </mc:Fallback>
      </mc:AlternateContent>
      <p:sp>
        <p:nvSpPr>
          <p:cNvPr id="13" name="Rounded Rectangle 12">
            <a:extLst>
              <a:ext uri="{FF2B5EF4-FFF2-40B4-BE49-F238E27FC236}">
                <a16:creationId xmlns:a16="http://schemas.microsoft.com/office/drawing/2014/main" id="{D0007323-A5F6-4E56-8888-FBB1BC66BA0F}"/>
              </a:ext>
            </a:extLst>
          </p:cNvPr>
          <p:cNvSpPr>
            <a:spLocks noGrp="1"/>
          </p:cNvSpPr>
          <p:nvPr/>
        </p:nvSpPr>
        <p:spPr>
          <a:xfrm>
            <a:off x="1095375" y="5314950"/>
            <a:ext cx="10001250" cy="781050"/>
          </a:xfrm>
          <a:prstGeom prst="roundRect">
            <a:avLst>
              <a:gd name="adj" fmla="val 17073"/>
            </a:avLst>
          </a:prstGeom>
          <a:solidFill>
            <a:srgbClr val="E8F5F3"/>
          </a:solidFill>
          <a:ln w="14288">
            <a:solidFill>
              <a:srgbClr val="398D84"/>
            </a:solidFill>
            <a:prstDash val="solid"/>
          </a:ln>
        </p:spPr>
        <p:txBody>
          <a:bodyPr/>
          <a:lstStyle/>
          <a:p>
            <a:endParaRPr lang="en-US"/>
          </a:p>
        </p:txBody>
      </p:sp>
      <p:sp>
        <p:nvSpPr>
          <p:cNvPr id="14" name="Rectangle 13">
            <a:extLst>
              <a:ext uri="{FF2B5EF4-FFF2-40B4-BE49-F238E27FC236}">
                <a16:creationId xmlns:a16="http://schemas.microsoft.com/office/drawing/2014/main" id="{21D79A3A-BCA3-4897-9D50-CD510D5E6693}"/>
              </a:ext>
            </a:extLst>
          </p:cNvPr>
          <p:cNvSpPr>
            <a:spLocks noGrp="1"/>
          </p:cNvSpPr>
          <p:nvPr/>
        </p:nvSpPr>
        <p:spPr>
          <a:xfrm>
            <a:off x="1381125" y="5429250"/>
            <a:ext cx="9429750" cy="542925"/>
          </a:xfrm>
          <a:prstGeom prst="rect">
            <a:avLst/>
          </a:prstGeom>
          <a:noFill/>
          <a:ln w="0">
            <a:noFill/>
            <a:prstDash val="solid"/>
          </a:ln>
        </p:spPr>
        <p:txBody>
          <a:bodyPr wrap="square" lIns="38100" tIns="19050" rIns="38100" bIns="19050" anchor="ctr">
            <a:normAutofit/>
          </a:bodyPr>
          <a:lstStyle/>
          <a:p>
            <a:pPr algn="ctr">
              <a:defRPr sz="1425" b="1" i="0">
                <a:solidFill>
                  <a:srgbClr val="263746"/>
                </a:solidFill>
                <a:latin typeface="Arial"/>
                <a:ea typeface="Arial"/>
                <a:cs typeface="Arial"/>
              </a:defRPr>
            </a:pPr>
            <a:r>
              <a:rPr sz="1425" b="1" i="0">
                <a:solidFill>
                  <a:srgbClr val="263746"/>
                </a:solidFill>
                <a:latin typeface="Arial"/>
                <a:ea typeface="Arial"/>
                <a:cs typeface="Arial"/>
              </a:rPr>
              <a:t>Најкратките патеки гарантираат поврзаност до секој кандидат; PCST може да отфрли кандидат кога поврзувањето е прескапо.</a:t>
            </a:r>
          </a:p>
        </p:txBody>
      </p:sp>
    </p:spTree>
    <p:extLst>
      <p:ext uri="{BB962C8B-B14F-4D97-AF65-F5344CB8AC3E}">
        <p14:creationId xmlns:p14="http://schemas.microsoft.com/office/powerpoint/2010/main" val="11788406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E993BDBA-A14F-4170-82A6-6F8E1D7DBC2D}"/>
              </a:ext>
            </a:extLst>
          </p:cNvPr>
          <p:cNvSpPr>
            <a:spLocks noGrp="1"/>
          </p:cNvSpPr>
          <p:nvPr/>
        </p:nvSpPr>
        <p:spPr>
          <a:xfrm>
            <a:off x="552450" y="209550"/>
            <a:ext cx="10763250" cy="523875"/>
          </a:xfrm>
          <a:prstGeom prst="rect">
            <a:avLst/>
          </a:prstGeom>
          <a:noFill/>
          <a:ln w="0">
            <a:noFill/>
            <a:prstDash val="solid"/>
          </a:ln>
        </p:spPr>
        <p:txBody>
          <a:bodyPr wrap="square" lIns="38100" tIns="19050" rIns="38100" bIns="19050" anchor="ctr">
            <a:normAutofit/>
          </a:bodyPr>
          <a:lstStyle/>
          <a:p>
            <a:pPr algn="l">
              <a:defRPr sz="2325" b="1" i="0">
                <a:solidFill>
                  <a:srgbClr val="263746"/>
                </a:solidFill>
                <a:latin typeface="Arial"/>
                <a:ea typeface="Arial"/>
                <a:cs typeface="Arial"/>
              </a:defRPr>
            </a:pPr>
            <a:r>
              <a:rPr sz="2325" b="1" i="0">
                <a:solidFill>
                  <a:srgbClr val="263746"/>
                </a:solidFill>
                <a:latin typeface="Arial"/>
                <a:ea typeface="Arial"/>
                <a:cs typeface="Arial"/>
              </a:rPr>
              <a:t>Метрики за доказниот контекст</a:t>
            </a:r>
          </a:p>
        </p:txBody>
      </p:sp>
      <p:sp>
        <p:nvSpPr>
          <p:cNvPr id="2" name="Rectangle 1">
            <a:extLst>
              <a:ext uri="{FF2B5EF4-FFF2-40B4-BE49-F238E27FC236}">
                <a16:creationId xmlns:a16="http://schemas.microsoft.com/office/drawing/2014/main" id="{A6294223-85A7-4740-9A38-38B4386997A8}"/>
              </a:ext>
            </a:extLst>
          </p:cNvPr>
          <p:cNvSpPr>
            <a:spLocks noGrp="1"/>
          </p:cNvSpPr>
          <p:nvPr/>
        </p:nvSpPr>
        <p:spPr>
          <a:xfrm>
            <a:off x="552450" y="781050"/>
            <a:ext cx="11087100" cy="38100"/>
          </a:xfrm>
          <a:prstGeom prst="rect">
            <a:avLst/>
          </a:prstGeom>
          <a:solidFill>
            <a:srgbClr val="398D84"/>
          </a:solidFill>
          <a:ln w="0">
            <a:noFill/>
            <a:prstDash val="solid"/>
          </a:ln>
        </p:spPr>
        <p:txBody>
          <a:bodyPr/>
          <a:lstStyle/>
          <a:p>
            <a:endParaRPr lang="en-US"/>
          </a:p>
        </p:txBody>
      </p:sp>
      <p:sp>
        <p:nvSpPr>
          <p:cNvPr id="3" name="Rectangle 2">
            <a:extLst>
              <a:ext uri="{FF2B5EF4-FFF2-40B4-BE49-F238E27FC236}">
                <a16:creationId xmlns:a16="http://schemas.microsoft.com/office/drawing/2014/main" id="{921F84B1-7965-4DC6-BD3E-29B7759E2B30}"/>
              </a:ext>
            </a:extLst>
          </p:cNvPr>
          <p:cNvSpPr>
            <a:spLocks noGrp="1"/>
          </p:cNvSpPr>
          <p:nvPr/>
        </p:nvSpPr>
        <p:spPr>
          <a:xfrm>
            <a:off x="11315700" y="6486525"/>
            <a:ext cx="323850" cy="228600"/>
          </a:xfrm>
          <a:prstGeom prst="rect">
            <a:avLst/>
          </a:prstGeom>
          <a:noFill/>
          <a:ln w="0">
            <a:noFill/>
            <a:prstDash val="solid"/>
          </a:ln>
        </p:spPr>
        <p:txBody>
          <a:bodyPr wrap="square" lIns="38100" tIns="19050" rIns="38100" bIns="19050" anchor="b">
            <a:normAutofit/>
          </a:bodyPr>
          <a:lstStyle/>
          <a:p>
            <a:pPr algn="r">
              <a:defRPr sz="900" b="0" i="0">
                <a:solidFill>
                  <a:srgbClr val="617080"/>
                </a:solidFill>
                <a:latin typeface="Arial"/>
                <a:ea typeface="Arial"/>
                <a:cs typeface="Arial"/>
              </a:defRPr>
            </a:pPr>
            <a:r>
              <a:rPr sz="900" b="0" i="0">
                <a:solidFill>
                  <a:srgbClr val="617080"/>
                </a:solidFill>
                <a:latin typeface="Arial"/>
                <a:ea typeface="Arial"/>
                <a:cs typeface="Arial"/>
              </a:rPr>
              <a:t>16</a:t>
            </a:r>
          </a:p>
        </p:txBody>
      </p:sp>
      <p:sp>
        <p:nvSpPr>
          <p:cNvPr id="4" name="Rectangle 3">
            <a:extLst>
              <a:ext uri="{FF2B5EF4-FFF2-40B4-BE49-F238E27FC236}">
                <a16:creationId xmlns:a16="http://schemas.microsoft.com/office/drawing/2014/main" id="{1528BF3F-120F-4C60-B36E-B2B2B197A923}"/>
              </a:ext>
            </a:extLst>
          </p:cNvPr>
          <p:cNvSpPr>
            <a:spLocks noGrp="1"/>
          </p:cNvSpPr>
          <p:nvPr/>
        </p:nvSpPr>
        <p:spPr>
          <a:xfrm>
            <a:off x="666750" y="1104900"/>
            <a:ext cx="4857750" cy="381000"/>
          </a:xfrm>
          <a:prstGeom prst="rect">
            <a:avLst/>
          </a:prstGeom>
          <a:noFill/>
          <a:ln w="0">
            <a:noFill/>
            <a:prstDash val="solid"/>
          </a:ln>
        </p:spPr>
        <p:txBody>
          <a:bodyPr wrap="square" lIns="38100" tIns="19050" rIns="38100" bIns="19050" anchor="ctr">
            <a:normAutofit/>
          </a:bodyPr>
          <a:lstStyle/>
          <a:p>
            <a:pPr algn="l">
              <a:defRPr sz="1800" b="1" i="0">
                <a:solidFill>
                  <a:srgbClr val="398D84"/>
                </a:solidFill>
                <a:latin typeface="Arial"/>
                <a:ea typeface="Arial"/>
                <a:cs typeface="Arial"/>
              </a:defRPr>
            </a:pPr>
            <a:r>
              <a:rPr sz="1800" b="1" i="0">
                <a:solidFill>
                  <a:srgbClr val="398D84"/>
                </a:solidFill>
                <a:latin typeface="Arial"/>
                <a:ea typeface="Arial"/>
                <a:cs typeface="Arial"/>
              </a:rPr>
              <a:t>Компактност</a:t>
            </a:r>
          </a:p>
        </p:txBody>
      </p:sp>
      <p:sp>
        <p:nvSpPr>
          <p:cNvPr id="5" name="Rounded Rectangle 4">
            <a:extLst>
              <a:ext uri="{FF2B5EF4-FFF2-40B4-BE49-F238E27FC236}">
                <a16:creationId xmlns:a16="http://schemas.microsoft.com/office/drawing/2014/main" id="{2D44D4A8-C788-41F1-B500-B8BFF4778CA5}"/>
              </a:ext>
            </a:extLst>
          </p:cNvPr>
          <p:cNvSpPr>
            <a:spLocks noGrp="1"/>
          </p:cNvSpPr>
          <p:nvPr/>
        </p:nvSpPr>
        <p:spPr>
          <a:xfrm>
            <a:off x="666750" y="1619250"/>
            <a:ext cx="4857750" cy="2009775"/>
          </a:xfrm>
          <a:prstGeom prst="roundRect">
            <a:avLst>
              <a:gd name="adj" fmla="val 4217"/>
            </a:avLst>
          </a:prstGeom>
          <a:solidFill>
            <a:srgbClr val="E8F5F3"/>
          </a:solidFill>
          <a:ln w="14288">
            <a:solidFill>
              <a:srgbClr val="398D84"/>
            </a:solidFill>
            <a:prstDash val="solid"/>
          </a:ln>
        </p:spPr>
        <p:txBody>
          <a:bodyPr/>
          <a:lstStyle/>
          <a:p>
            <a:endParaRPr lang="en-US" dirty="0"/>
          </a:p>
        </p:txBody>
      </p:sp>
      <p:sp>
        <p:nvSpPr>
          <p:cNvPr id="12" name="Rectangle 11">
            <a:extLst>
              <a:ext uri="{FF2B5EF4-FFF2-40B4-BE49-F238E27FC236}">
                <a16:creationId xmlns:a16="http://schemas.microsoft.com/office/drawing/2014/main" id="{F49D069B-BB57-45AC-9749-823ADB1E677C}"/>
              </a:ext>
            </a:extLst>
          </p:cNvPr>
          <p:cNvSpPr>
            <a:spLocks noGrp="1"/>
          </p:cNvSpPr>
          <p:nvPr/>
        </p:nvSpPr>
        <p:spPr>
          <a:xfrm>
            <a:off x="6191250" y="1104900"/>
            <a:ext cx="5334000" cy="381000"/>
          </a:xfrm>
          <a:prstGeom prst="rect">
            <a:avLst/>
          </a:prstGeom>
          <a:noFill/>
          <a:ln w="0">
            <a:noFill/>
            <a:prstDash val="solid"/>
          </a:ln>
        </p:spPr>
        <p:txBody>
          <a:bodyPr wrap="square" lIns="38100" tIns="19050" rIns="38100" bIns="19050" anchor="ctr">
            <a:normAutofit/>
          </a:bodyPr>
          <a:lstStyle/>
          <a:p>
            <a:pPr algn="l">
              <a:defRPr sz="1800" b="1" i="0">
                <a:solidFill>
                  <a:srgbClr val="4E9B69"/>
                </a:solidFill>
                <a:latin typeface="Arial"/>
                <a:ea typeface="Arial"/>
                <a:cs typeface="Arial"/>
              </a:defRPr>
            </a:pPr>
            <a:r>
              <a:rPr sz="1800" b="1" i="0">
                <a:solidFill>
                  <a:srgbClr val="4E9B69"/>
                </a:solidFill>
                <a:latin typeface="Arial"/>
                <a:ea typeface="Arial"/>
                <a:cs typeface="Arial"/>
              </a:rPr>
              <a:t>Зачувана информација</a:t>
            </a:r>
          </a:p>
        </p:txBody>
      </p:sp>
      <mc:AlternateContent xmlns:mc="http://schemas.openxmlformats.org/markup-compatibility/2006" xmlns:a14="http://schemas.microsoft.com/office/drawing/2010/main">
        <mc:Choice Requires="a14">
          <p:sp>
            <p:nvSpPr>
              <p:cNvPr id="13" name="Rounded Rectangle 12">
                <a:extLst>
                  <a:ext uri="{FF2B5EF4-FFF2-40B4-BE49-F238E27FC236}">
                    <a16:creationId xmlns:a16="http://schemas.microsoft.com/office/drawing/2014/main" id="{ADEDEE46-3DC3-45D2-965D-9851C2A33B26}"/>
                  </a:ext>
                </a:extLst>
              </p:cNvPr>
              <p:cNvSpPr>
                <a:spLocks noGrp="1"/>
              </p:cNvSpPr>
              <p:nvPr/>
            </p:nvSpPr>
            <p:spPr>
              <a:xfrm>
                <a:off x="6191250" y="1619250"/>
                <a:ext cx="5334000" cy="895350"/>
              </a:xfrm>
              <a:prstGeom prst="roundRect">
                <a:avLst>
                  <a:gd name="adj" fmla="val 10638"/>
                </a:avLst>
              </a:prstGeom>
              <a:solidFill>
                <a:srgbClr val="EAF6EE"/>
              </a:solidFill>
              <a:ln w="11430">
                <a:solidFill>
                  <a:srgbClr val="4E9B69"/>
                </a:solidFill>
                <a:prstDash val="solid"/>
              </a:ln>
            </p:spPr>
            <p:txBody>
              <a:bodyPr anchor="ctr"/>
              <a:lstStyle/>
              <a:p>
                <a:pPr/>
                <a14:m>
                  <m:oMathPara xmlns:m="http://schemas.openxmlformats.org/officeDocument/2006/math">
                    <m:oMathParaPr>
                      <m:jc m:val="centerGroup"/>
                    </m:oMathParaPr>
                    <m:oMath xmlns:m="http://schemas.openxmlformats.org/officeDocument/2006/math">
                      <m:r>
                        <m:rPr>
                          <m:nor/>
                        </m:rPr>
                        <a:rPr lang="en-US" i="0" smtClean="0">
                          <a:latin typeface="Cambria Math" panose="02040503050406030204" pitchFamily="18" charset="0"/>
                        </a:rPr>
                        <m:t>ContextGoldCoverage</m:t>
                      </m:r>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d>
                            <m:dPr>
                              <m:begChr m:val="|"/>
                              <m:endChr m:val="|"/>
                              <m:ctrlPr>
                                <a:rPr lang="en-US" i="1">
                                  <a:latin typeface="Cambria Math" panose="02040503050406030204" pitchFamily="18" charset="0"/>
                                </a:rPr>
                              </m:ctrlPr>
                            </m:dPr>
                            <m:e>
                              <m:r>
                                <a:rPr lang="en-US" i="1">
                                  <a:latin typeface="Cambria Math" panose="02040503050406030204" pitchFamily="18" charset="0"/>
                                </a:rPr>
                                <m:t>𝑄</m:t>
                              </m:r>
                            </m:e>
                          </m:d>
                        </m:den>
                      </m:f>
                      <m:nary>
                        <m:naryPr>
                          <m:chr m:val="∑"/>
                          <m:supHide m:val="on"/>
                          <m:ctrlPr>
                            <a:rPr lang="en-US" i="1">
                              <a:latin typeface="Cambria Math" panose="02040503050406030204" pitchFamily="18" charset="0"/>
                            </a:rPr>
                          </m:ctrlPr>
                        </m:naryPr>
                        <m:sub>
                          <m:r>
                            <a:rPr lang="en-US" i="1">
                              <a:latin typeface="Cambria Math" panose="02040503050406030204" pitchFamily="18" charset="0"/>
                            </a:rPr>
                            <m:t>𝑞</m:t>
                          </m:r>
                          <m:r>
                            <a:rPr lang="en-US" i="1">
                              <a:latin typeface="Cambria Math" panose="02040503050406030204" pitchFamily="18" charset="0"/>
                            </a:rPr>
                            <m:t>∈</m:t>
                          </m:r>
                          <m:r>
                            <a:rPr lang="en-US" i="1">
                              <a:latin typeface="Cambria Math" panose="02040503050406030204" pitchFamily="18" charset="0"/>
                            </a:rPr>
                            <m:t>𝑄</m:t>
                          </m:r>
                        </m:sub>
                        <m:sup/>
                        <m:e>
                          <m:f>
                            <m:fPr>
                              <m:ctrlPr>
                                <a:rPr lang="en-US" i="1">
                                  <a:latin typeface="Cambria Math" panose="02040503050406030204" pitchFamily="18" charset="0"/>
                                </a:rPr>
                              </m:ctrlPr>
                            </m:fPr>
                            <m:num>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𝐺</m:t>
                                      </m:r>
                                    </m:e>
                                    <m:sub>
                                      <m:r>
                                        <a:rPr lang="en-US" i="1">
                                          <a:latin typeface="Cambria Math" panose="02040503050406030204" pitchFamily="18" charset="0"/>
                                        </a:rPr>
                                        <m:t>𝑞</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𝐶</m:t>
                                      </m:r>
                                    </m:e>
                                    <m:sub>
                                      <m:r>
                                        <a:rPr lang="en-US" i="1">
                                          <a:latin typeface="Cambria Math" panose="02040503050406030204" pitchFamily="18" charset="0"/>
                                        </a:rPr>
                                        <m:t>𝑞</m:t>
                                      </m:r>
                                    </m:sub>
                                  </m:sSub>
                                </m:e>
                              </m:d>
                            </m:num>
                            <m:den>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𝐺</m:t>
                                      </m:r>
                                    </m:e>
                                    <m:sub>
                                      <m:r>
                                        <a:rPr lang="en-US" i="1">
                                          <a:latin typeface="Cambria Math" panose="02040503050406030204" pitchFamily="18" charset="0"/>
                                        </a:rPr>
                                        <m:t>𝑞</m:t>
                                      </m:r>
                                    </m:sub>
                                  </m:sSub>
                                </m:e>
                              </m:d>
                            </m:den>
                          </m:f>
                        </m:e>
                      </m:nary>
                    </m:oMath>
                  </m:oMathPara>
                </a14:m>
                <a:endParaRPr lang="en-US" dirty="0"/>
              </a:p>
            </p:txBody>
          </p:sp>
        </mc:Choice>
        <mc:Fallback xmlns="">
          <p:sp>
            <p:nvSpPr>
              <p:cNvPr id="13" name="Rounded Rectangle 12">
                <a:extLst>
                  <a:ext uri="{FF2B5EF4-FFF2-40B4-BE49-F238E27FC236}">
                    <a16:creationId xmlns:a16="http://schemas.microsoft.com/office/drawing/2014/main" id="{ADEDEE46-3DC3-45D2-965D-9851C2A33B26}"/>
                  </a:ext>
                </a:extLst>
              </p:cNvPr>
              <p:cNvSpPr>
                <a:spLocks noGrp="1" noRot="1" noChangeAspect="1" noMove="1" noResize="1" noEditPoints="1" noAdjustHandles="1" noChangeArrowheads="1" noChangeShapeType="1" noTextEdit="1"/>
              </p:cNvSpPr>
              <p:nvPr/>
            </p:nvSpPr>
            <p:spPr>
              <a:xfrm>
                <a:off x="6191250" y="1619250"/>
                <a:ext cx="5334000" cy="895350"/>
              </a:xfrm>
              <a:prstGeom prst="roundRect">
                <a:avLst>
                  <a:gd name="adj" fmla="val 10638"/>
                </a:avLst>
              </a:prstGeom>
              <a:blipFill>
                <a:blip r:embed="rId3"/>
                <a:stretch>
                  <a:fillRect t="-94444" b="-138889"/>
                </a:stretch>
              </a:blipFill>
              <a:ln w="11430">
                <a:solidFill>
                  <a:srgbClr val="4E9B69"/>
                </a:solidFill>
                <a:prstDash val="soli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Rounded Rectangle 14">
                <a:extLst>
                  <a:ext uri="{FF2B5EF4-FFF2-40B4-BE49-F238E27FC236}">
                    <a16:creationId xmlns:a16="http://schemas.microsoft.com/office/drawing/2014/main" id="{97DDF38B-EA8E-4627-B71D-48B7515835DB}"/>
                  </a:ext>
                </a:extLst>
              </p:cNvPr>
              <p:cNvSpPr>
                <a:spLocks noGrp="1"/>
              </p:cNvSpPr>
              <p:nvPr/>
            </p:nvSpPr>
            <p:spPr>
              <a:xfrm>
                <a:off x="6191250" y="2733675"/>
                <a:ext cx="5334000" cy="895350"/>
              </a:xfrm>
              <a:prstGeom prst="roundRect">
                <a:avLst>
                  <a:gd name="adj" fmla="val 10638"/>
                </a:avLst>
              </a:prstGeom>
              <a:solidFill>
                <a:srgbClr val="EAF6EE"/>
              </a:solidFill>
              <a:ln w="11430">
                <a:solidFill>
                  <a:srgbClr val="4E9B69"/>
                </a:solidFill>
                <a:prstDash val="solid"/>
              </a:ln>
            </p:spPr>
            <p:txBody>
              <a:bodyPr anchor="ctr"/>
              <a:lstStyle/>
              <a:p>
                <a:pPr/>
                <a14:m>
                  <m:oMathPara xmlns:m="http://schemas.openxmlformats.org/officeDocument/2006/math">
                    <m:oMathParaPr>
                      <m:jc m:val="centerGroup"/>
                    </m:oMathParaPr>
                    <m:oMath xmlns:m="http://schemas.openxmlformats.org/officeDocument/2006/math">
                      <m:r>
                        <m:rPr>
                          <m:nor/>
                        </m:rPr>
                        <a:rPr lang="en-US" i="0" smtClean="0">
                          <a:latin typeface="Cambria Math" panose="02040503050406030204" pitchFamily="18" charset="0"/>
                        </a:rPr>
                        <m:t>ContextFullGoldCoverage</m:t>
                      </m:r>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d>
                            <m:dPr>
                              <m:begChr m:val="|"/>
                              <m:endChr m:val="|"/>
                              <m:ctrlPr>
                                <a:rPr lang="en-US" i="1">
                                  <a:latin typeface="Cambria Math" panose="02040503050406030204" pitchFamily="18" charset="0"/>
                                </a:rPr>
                              </m:ctrlPr>
                            </m:dPr>
                            <m:e>
                              <m:r>
                                <a:rPr lang="en-US" i="1">
                                  <a:latin typeface="Cambria Math" panose="02040503050406030204" pitchFamily="18" charset="0"/>
                                </a:rPr>
                                <m:t>𝑄</m:t>
                              </m:r>
                            </m:e>
                          </m:d>
                        </m:den>
                      </m:f>
                      <m:nary>
                        <m:naryPr>
                          <m:chr m:val="∑"/>
                          <m:supHide m:val="on"/>
                          <m:ctrlPr>
                            <a:rPr lang="en-US" i="1">
                              <a:latin typeface="Cambria Math" panose="02040503050406030204" pitchFamily="18" charset="0"/>
                            </a:rPr>
                          </m:ctrlPr>
                        </m:naryPr>
                        <m:sub>
                          <m:r>
                            <a:rPr lang="en-US" i="1">
                              <a:latin typeface="Cambria Math" panose="02040503050406030204" pitchFamily="18" charset="0"/>
                            </a:rPr>
                            <m:t>𝑞</m:t>
                          </m:r>
                          <m:r>
                            <a:rPr lang="en-US" i="1">
                              <a:latin typeface="Cambria Math" panose="02040503050406030204" pitchFamily="18" charset="0"/>
                            </a:rPr>
                            <m:t>∈</m:t>
                          </m:r>
                          <m:r>
                            <a:rPr lang="en-US" i="1">
                              <a:latin typeface="Cambria Math" panose="02040503050406030204" pitchFamily="18" charset="0"/>
                            </a:rPr>
                            <m:t>𝑄</m:t>
                          </m:r>
                        </m:sub>
                        <m:sup/>
                        <m:e>
                          <m:r>
                            <a:rPr lang="en-US" i="1">
                              <a:latin typeface="Cambria Math" panose="02040503050406030204" pitchFamily="18" charset="0"/>
                            </a:rPr>
                            <m:t>𝐼</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𝐺</m:t>
                                  </m:r>
                                </m:e>
                                <m:sub>
                                  <m:r>
                                    <a:rPr lang="en-US" i="1">
                                      <a:latin typeface="Cambria Math" panose="02040503050406030204" pitchFamily="18" charset="0"/>
                                    </a:rPr>
                                    <m:t>𝑞</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𝐶</m:t>
                                  </m:r>
                                </m:e>
                                <m:sub>
                                  <m:r>
                                    <a:rPr lang="en-US" i="1">
                                      <a:latin typeface="Cambria Math" panose="02040503050406030204" pitchFamily="18" charset="0"/>
                                    </a:rPr>
                                    <m:t>𝑞</m:t>
                                  </m:r>
                                </m:sub>
                              </m:sSub>
                            </m:e>
                          </m:d>
                        </m:e>
                      </m:nary>
                    </m:oMath>
                  </m:oMathPara>
                </a14:m>
                <a:endParaRPr lang="en-US" dirty="0"/>
              </a:p>
            </p:txBody>
          </p:sp>
        </mc:Choice>
        <mc:Fallback xmlns="">
          <p:sp>
            <p:nvSpPr>
              <p:cNvPr id="15" name="Rounded Rectangle 14">
                <a:extLst>
                  <a:ext uri="{FF2B5EF4-FFF2-40B4-BE49-F238E27FC236}">
                    <a16:creationId xmlns:a16="http://schemas.microsoft.com/office/drawing/2014/main" id="{97DDF38B-EA8E-4627-B71D-48B7515835DB}"/>
                  </a:ext>
                </a:extLst>
              </p:cNvPr>
              <p:cNvSpPr>
                <a:spLocks noGrp="1" noRot="1" noChangeAspect="1" noMove="1" noResize="1" noEditPoints="1" noAdjustHandles="1" noChangeArrowheads="1" noChangeShapeType="1" noTextEdit="1"/>
              </p:cNvSpPr>
              <p:nvPr/>
            </p:nvSpPr>
            <p:spPr>
              <a:xfrm>
                <a:off x="6191250" y="2733675"/>
                <a:ext cx="5334000" cy="895350"/>
              </a:xfrm>
              <a:prstGeom prst="roundRect">
                <a:avLst>
                  <a:gd name="adj" fmla="val 10638"/>
                </a:avLst>
              </a:prstGeom>
              <a:blipFill>
                <a:blip r:embed="rId4"/>
                <a:stretch>
                  <a:fillRect t="-95890" b="-132877"/>
                </a:stretch>
              </a:blipFill>
              <a:ln w="11430">
                <a:solidFill>
                  <a:srgbClr val="4E9B69"/>
                </a:solidFill>
                <a:prstDash val="solid"/>
              </a:ln>
            </p:spPr>
            <p:txBody>
              <a:bodyPr/>
              <a:lstStyle/>
              <a:p>
                <a:r>
                  <a:rPr lang="en-US">
                    <a:noFill/>
                  </a:rPr>
                  <a:t> </a:t>
                </a:r>
              </a:p>
            </p:txBody>
          </p:sp>
        </mc:Fallback>
      </mc:AlternateContent>
      <p:sp>
        <p:nvSpPr>
          <p:cNvPr id="17" name="Rectangle 16">
            <a:extLst>
              <a:ext uri="{FF2B5EF4-FFF2-40B4-BE49-F238E27FC236}">
                <a16:creationId xmlns:a16="http://schemas.microsoft.com/office/drawing/2014/main" id="{8D2749C4-FB37-424E-97F2-107B14ABCA5C}"/>
              </a:ext>
            </a:extLst>
          </p:cNvPr>
          <p:cNvSpPr>
            <a:spLocks noGrp="1"/>
          </p:cNvSpPr>
          <p:nvPr/>
        </p:nvSpPr>
        <p:spPr>
          <a:xfrm>
            <a:off x="3619500" y="5486400"/>
            <a:ext cx="4953000" cy="590550"/>
          </a:xfrm>
          <a:prstGeom prst="rect">
            <a:avLst/>
          </a:prstGeom>
          <a:noFill/>
          <a:ln w="0">
            <a:noFill/>
            <a:prstDash val="solid"/>
          </a:ln>
        </p:spPr>
        <p:txBody>
          <a:bodyPr wrap="square" lIns="38100" tIns="19050" rIns="38100" bIns="19050" anchor="ctr">
            <a:normAutofit/>
          </a:bodyPr>
          <a:lstStyle/>
          <a:p>
            <a:pPr algn="ctr">
              <a:defRPr sz="1275" b="0" i="0">
                <a:solidFill>
                  <a:srgbClr val="617080"/>
                </a:solidFill>
                <a:latin typeface="Arial"/>
                <a:ea typeface="Arial"/>
                <a:cs typeface="Arial"/>
              </a:defRPr>
            </a:pPr>
            <a:r>
              <a:rPr sz="1275" b="0" i="0" dirty="0" err="1">
                <a:solidFill>
                  <a:srgbClr val="617080"/>
                </a:solidFill>
                <a:latin typeface="Arial"/>
                <a:ea typeface="Arial"/>
                <a:cs typeface="Arial"/>
              </a:rPr>
              <a:t>Cq</a:t>
            </a:r>
            <a:r>
              <a:rPr sz="1275" b="0" i="0" dirty="0">
                <a:solidFill>
                  <a:srgbClr val="617080"/>
                </a:solidFill>
                <a:latin typeface="Arial"/>
                <a:ea typeface="Arial"/>
                <a:cs typeface="Arial"/>
              </a:rPr>
              <a:t> — </a:t>
            </a:r>
            <a:r>
              <a:rPr sz="1275" b="0" i="0" dirty="0" err="1">
                <a:solidFill>
                  <a:srgbClr val="617080"/>
                </a:solidFill>
                <a:latin typeface="Arial"/>
                <a:ea typeface="Arial"/>
                <a:cs typeface="Arial"/>
              </a:rPr>
              <a:t>ентитети</a:t>
            </a:r>
            <a:r>
              <a:rPr sz="1275" b="0" i="0" dirty="0">
                <a:solidFill>
                  <a:srgbClr val="617080"/>
                </a:solidFill>
                <a:latin typeface="Arial"/>
                <a:ea typeface="Arial"/>
                <a:cs typeface="Arial"/>
              </a:rPr>
              <a:t> </a:t>
            </a:r>
            <a:r>
              <a:rPr sz="1275" b="0" i="0" dirty="0" err="1">
                <a:solidFill>
                  <a:srgbClr val="617080"/>
                </a:solidFill>
                <a:latin typeface="Arial"/>
                <a:ea typeface="Arial"/>
                <a:cs typeface="Arial"/>
              </a:rPr>
              <a:t>присутни</a:t>
            </a:r>
            <a:r>
              <a:rPr sz="1275" b="0" i="0" dirty="0">
                <a:solidFill>
                  <a:srgbClr val="617080"/>
                </a:solidFill>
                <a:latin typeface="Arial"/>
                <a:ea typeface="Arial"/>
                <a:cs typeface="Arial"/>
              </a:rPr>
              <a:t> </a:t>
            </a:r>
            <a:r>
              <a:rPr sz="1275" b="0" i="0" dirty="0" err="1">
                <a:solidFill>
                  <a:srgbClr val="617080"/>
                </a:solidFill>
                <a:latin typeface="Arial"/>
                <a:ea typeface="Arial"/>
                <a:cs typeface="Arial"/>
              </a:rPr>
              <a:t>во</a:t>
            </a:r>
            <a:r>
              <a:rPr sz="1275" b="0" i="0" dirty="0">
                <a:solidFill>
                  <a:srgbClr val="617080"/>
                </a:solidFill>
                <a:latin typeface="Arial"/>
                <a:ea typeface="Arial"/>
                <a:cs typeface="Arial"/>
              </a:rPr>
              <a:t> </a:t>
            </a:r>
            <a:r>
              <a:rPr sz="1275" b="0" i="0" dirty="0" err="1">
                <a:solidFill>
                  <a:srgbClr val="617080"/>
                </a:solidFill>
                <a:latin typeface="Arial"/>
                <a:ea typeface="Arial"/>
                <a:cs typeface="Arial"/>
              </a:rPr>
              <a:t>тројките</a:t>
            </a:r>
            <a:r>
              <a:rPr sz="1275" b="0" i="0" dirty="0">
                <a:solidFill>
                  <a:srgbClr val="617080"/>
                </a:solidFill>
                <a:latin typeface="Arial"/>
                <a:ea typeface="Arial"/>
                <a:cs typeface="Arial"/>
              </a:rPr>
              <a:t> </a:t>
            </a:r>
            <a:r>
              <a:rPr sz="1275" b="0" i="0" dirty="0" err="1">
                <a:solidFill>
                  <a:srgbClr val="617080"/>
                </a:solidFill>
                <a:latin typeface="Arial"/>
                <a:ea typeface="Arial"/>
                <a:cs typeface="Arial"/>
              </a:rPr>
              <a:t>од</a:t>
            </a:r>
            <a:r>
              <a:rPr sz="1275" b="0" i="0" dirty="0">
                <a:solidFill>
                  <a:srgbClr val="617080"/>
                </a:solidFill>
                <a:latin typeface="Arial"/>
                <a:ea typeface="Arial"/>
                <a:cs typeface="Arial"/>
              </a:rPr>
              <a:t> </a:t>
            </a:r>
            <a:r>
              <a:rPr sz="1275" b="0" i="0" dirty="0" err="1">
                <a:solidFill>
                  <a:srgbClr val="617080"/>
                </a:solidFill>
                <a:latin typeface="Arial"/>
                <a:ea typeface="Arial"/>
                <a:cs typeface="Arial"/>
              </a:rPr>
              <a:t>доказниот</a:t>
            </a:r>
            <a:r>
              <a:rPr sz="1275" b="0" i="0" dirty="0">
                <a:solidFill>
                  <a:srgbClr val="617080"/>
                </a:solidFill>
                <a:latin typeface="Arial"/>
                <a:ea typeface="Arial"/>
                <a:cs typeface="Arial"/>
              </a:rPr>
              <a:t> </a:t>
            </a:r>
            <a:r>
              <a:rPr sz="1275" b="0" i="0" dirty="0" err="1">
                <a:solidFill>
                  <a:srgbClr val="617080"/>
                </a:solidFill>
                <a:latin typeface="Arial"/>
                <a:ea typeface="Arial"/>
                <a:cs typeface="Arial"/>
              </a:rPr>
              <a:t>контекст</a:t>
            </a:r>
            <a:endParaRPr sz="1275" b="0" i="0" dirty="0">
              <a:solidFill>
                <a:srgbClr val="617080"/>
              </a:solidFill>
              <a:latin typeface="Arial"/>
              <a:ea typeface="Arial"/>
              <a:cs typeface="Arial"/>
            </a:endParaRPr>
          </a:p>
        </p:txBody>
      </p:sp>
      <p:sp>
        <p:nvSpPr>
          <p:cNvPr id="18" name="Rounded Rectangle 17">
            <a:extLst>
              <a:ext uri="{FF2B5EF4-FFF2-40B4-BE49-F238E27FC236}">
                <a16:creationId xmlns:a16="http://schemas.microsoft.com/office/drawing/2014/main" id="{40DBE70F-1C8C-405D-B9CC-AA358E96B631}"/>
              </a:ext>
            </a:extLst>
          </p:cNvPr>
          <p:cNvSpPr>
            <a:spLocks noGrp="1"/>
          </p:cNvSpPr>
          <p:nvPr/>
        </p:nvSpPr>
        <p:spPr>
          <a:xfrm>
            <a:off x="1714500" y="4457700"/>
            <a:ext cx="8763000" cy="781050"/>
          </a:xfrm>
          <a:prstGeom prst="roundRect">
            <a:avLst>
              <a:gd name="adj" fmla="val 17073"/>
            </a:avLst>
          </a:prstGeom>
          <a:solidFill>
            <a:srgbClr val="F7F9FB"/>
          </a:solidFill>
          <a:ln w="11430">
            <a:solidFill>
              <a:srgbClr val="A9B4BE"/>
            </a:solidFill>
            <a:prstDash val="solid"/>
          </a:ln>
        </p:spPr>
        <p:txBody>
          <a:bodyPr/>
          <a:lstStyle/>
          <a:p>
            <a:endParaRPr lang="en-US"/>
          </a:p>
        </p:txBody>
      </p:sp>
      <p:sp>
        <p:nvSpPr>
          <p:cNvPr id="19" name="Rectangle 18">
            <a:extLst>
              <a:ext uri="{FF2B5EF4-FFF2-40B4-BE49-F238E27FC236}">
                <a16:creationId xmlns:a16="http://schemas.microsoft.com/office/drawing/2014/main" id="{8CF7D9E8-AD3E-4654-9296-2E31B0D78CC0}"/>
              </a:ext>
            </a:extLst>
          </p:cNvPr>
          <p:cNvSpPr>
            <a:spLocks noGrp="1"/>
          </p:cNvSpPr>
          <p:nvPr/>
        </p:nvSpPr>
        <p:spPr>
          <a:xfrm>
            <a:off x="2000250" y="4648200"/>
            <a:ext cx="8191500" cy="533400"/>
          </a:xfrm>
          <a:prstGeom prst="rect">
            <a:avLst/>
          </a:prstGeom>
          <a:noFill/>
          <a:ln w="0">
            <a:noFill/>
            <a:prstDash val="solid"/>
          </a:ln>
        </p:spPr>
        <p:txBody>
          <a:bodyPr wrap="square" lIns="38100" tIns="19050" rIns="38100" bIns="19050" anchor="ctr">
            <a:normAutofit/>
          </a:bodyPr>
          <a:lstStyle/>
          <a:p>
            <a:pPr algn="ctr">
              <a:defRPr sz="1500" b="1" i="0">
                <a:solidFill>
                  <a:srgbClr val="263746"/>
                </a:solidFill>
                <a:latin typeface="Arial"/>
                <a:ea typeface="Arial"/>
                <a:cs typeface="Arial"/>
              </a:defRPr>
            </a:pPr>
            <a:r>
              <a:rPr sz="1500" b="1" i="0" dirty="0" err="1">
                <a:solidFill>
                  <a:srgbClr val="263746"/>
                </a:solidFill>
                <a:latin typeface="Arial"/>
                <a:ea typeface="Arial"/>
                <a:cs typeface="Arial"/>
              </a:rPr>
              <a:t>Компактноста</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се</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оценува</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заедно</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со</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информацијата</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што</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останува</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достапна</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за</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јазичниот</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модел</a:t>
            </a:r>
            <a:r>
              <a:rPr sz="1500" b="1" i="0" dirty="0">
                <a:solidFill>
                  <a:srgbClr val="263746"/>
                </a:solidFill>
                <a:latin typeface="Arial"/>
                <a:ea typeface="Arial"/>
                <a:cs typeface="Arial"/>
              </a:rPr>
              <a:t>.</a:t>
            </a:r>
          </a:p>
        </p:txBody>
      </p:sp>
      <p:sp>
        <p:nvSpPr>
          <p:cNvPr id="23" name="Rectangle 22">
            <a:extLst>
              <a:ext uri="{FF2B5EF4-FFF2-40B4-BE49-F238E27FC236}">
                <a16:creationId xmlns:a16="http://schemas.microsoft.com/office/drawing/2014/main" id="{B2DBFF29-20CF-2415-A88C-DC7D25501FF4}"/>
              </a:ext>
            </a:extLst>
          </p:cNvPr>
          <p:cNvSpPr>
            <a:spLocks noGrp="1"/>
          </p:cNvSpPr>
          <p:nvPr/>
        </p:nvSpPr>
        <p:spPr>
          <a:xfrm>
            <a:off x="830643" y="2102050"/>
            <a:ext cx="4257675" cy="333374"/>
          </a:xfrm>
          <a:prstGeom prst="rect">
            <a:avLst/>
          </a:prstGeom>
          <a:noFill/>
          <a:ln w="0">
            <a:noFill/>
            <a:prstDash val="solid"/>
          </a:ln>
        </p:spPr>
        <p:txBody>
          <a:bodyPr wrap="square" lIns="38100" tIns="19050" rIns="38100" bIns="19050" anchor="t">
            <a:normAutofit/>
          </a:bodyPr>
          <a:lstStyle/>
          <a:p>
            <a:pPr marL="285750" indent="-285750">
              <a:buFont typeface="Arial" panose="020B0604020202020204" pitchFamily="34" charset="0"/>
              <a:buChar char="•"/>
              <a:defRPr sz="1350" b="0" i="0">
                <a:solidFill>
                  <a:srgbClr val="263746"/>
                </a:solidFill>
                <a:latin typeface="Arial"/>
                <a:ea typeface="Arial"/>
                <a:cs typeface="Arial"/>
              </a:defRPr>
            </a:pPr>
            <a:r>
              <a:rPr lang="en-US" sz="1350" b="1" dirty="0" err="1">
                <a:solidFill>
                  <a:srgbClr val="398D84"/>
                </a:solidFill>
                <a:latin typeface="Arial"/>
                <a:ea typeface="Arial"/>
                <a:cs typeface="Arial"/>
              </a:rPr>
              <a:t>AverageTriples</a:t>
            </a:r>
            <a:r>
              <a:rPr lang="en-US" sz="1350" b="1" dirty="0">
                <a:solidFill>
                  <a:srgbClr val="398D84"/>
                </a:solidFill>
                <a:latin typeface="Arial"/>
                <a:ea typeface="Arial"/>
                <a:cs typeface="Arial"/>
              </a:rPr>
              <a:t> </a:t>
            </a:r>
            <a:r>
              <a:rPr sz="1350" b="0" i="0" dirty="0">
                <a:solidFill>
                  <a:srgbClr val="263746"/>
                </a:solidFill>
                <a:latin typeface="Arial"/>
                <a:ea typeface="Arial"/>
                <a:cs typeface="Arial"/>
              </a:rPr>
              <a:t>— </a:t>
            </a:r>
            <a:r>
              <a:rPr lang="mk-MK" sz="1350" dirty="0">
                <a:solidFill>
                  <a:srgbClr val="263746"/>
                </a:solidFill>
                <a:latin typeface="Arial"/>
                <a:ea typeface="Arial"/>
                <a:cs typeface="Arial"/>
              </a:rPr>
              <a:t>просечен број тројки </a:t>
            </a:r>
            <a:endParaRPr sz="1350" b="0" i="0" dirty="0">
              <a:solidFill>
                <a:srgbClr val="263746"/>
              </a:solidFill>
              <a:latin typeface="Arial"/>
              <a:ea typeface="Arial"/>
              <a:cs typeface="Arial"/>
            </a:endParaRPr>
          </a:p>
        </p:txBody>
      </p:sp>
      <p:sp>
        <p:nvSpPr>
          <p:cNvPr id="24" name="Rectangle 23">
            <a:extLst>
              <a:ext uri="{FF2B5EF4-FFF2-40B4-BE49-F238E27FC236}">
                <a16:creationId xmlns:a16="http://schemas.microsoft.com/office/drawing/2014/main" id="{9B271E4E-2C9C-FDA8-FAEC-9EAF4E51A339}"/>
              </a:ext>
            </a:extLst>
          </p:cNvPr>
          <p:cNvSpPr>
            <a:spLocks noGrp="1"/>
          </p:cNvSpPr>
          <p:nvPr/>
        </p:nvSpPr>
        <p:spPr>
          <a:xfrm>
            <a:off x="830643" y="2725936"/>
            <a:ext cx="4358043" cy="491729"/>
          </a:xfrm>
          <a:prstGeom prst="rect">
            <a:avLst/>
          </a:prstGeom>
          <a:noFill/>
          <a:ln w="0">
            <a:noFill/>
            <a:prstDash val="solid"/>
          </a:ln>
        </p:spPr>
        <p:txBody>
          <a:bodyPr wrap="square" lIns="38100" tIns="19050" rIns="38100" bIns="19050" anchor="t">
            <a:normAutofit/>
          </a:bodyPr>
          <a:lstStyle/>
          <a:p>
            <a:pPr marL="285750" indent="-285750">
              <a:buFont typeface="Arial" panose="020B0604020202020204" pitchFamily="34" charset="0"/>
              <a:buChar char="•"/>
              <a:defRPr sz="1350" b="0" i="0">
                <a:solidFill>
                  <a:srgbClr val="263746"/>
                </a:solidFill>
                <a:latin typeface="Arial"/>
                <a:ea typeface="Arial"/>
                <a:cs typeface="Arial"/>
              </a:defRPr>
            </a:pPr>
            <a:r>
              <a:rPr lang="en-US" sz="1350" b="1" dirty="0" err="1">
                <a:solidFill>
                  <a:srgbClr val="398D84"/>
                </a:solidFill>
                <a:latin typeface="Arial"/>
                <a:ea typeface="Arial"/>
                <a:cs typeface="Arial"/>
              </a:rPr>
              <a:t>CandidateReduction</a:t>
            </a:r>
            <a:r>
              <a:rPr lang="en-US" sz="1350" b="1" dirty="0">
                <a:solidFill>
                  <a:srgbClr val="398D84"/>
                </a:solidFill>
                <a:latin typeface="Arial"/>
                <a:ea typeface="Arial"/>
                <a:cs typeface="Arial"/>
              </a:rPr>
              <a:t> </a:t>
            </a:r>
            <a:r>
              <a:rPr sz="1350" b="0" i="0" dirty="0">
                <a:solidFill>
                  <a:srgbClr val="263746"/>
                </a:solidFill>
                <a:latin typeface="Arial"/>
                <a:ea typeface="Arial"/>
                <a:cs typeface="Arial"/>
              </a:rPr>
              <a:t>— </a:t>
            </a:r>
            <a:r>
              <a:rPr lang="mk-MK" sz="1350" dirty="0">
                <a:solidFill>
                  <a:srgbClr val="263746"/>
                </a:solidFill>
                <a:latin typeface="Arial"/>
                <a:ea typeface="Arial"/>
                <a:cs typeface="Arial"/>
              </a:rPr>
              <a:t>процент отфрлени кандидати</a:t>
            </a:r>
            <a:endParaRPr sz="1350" b="0" i="0" dirty="0">
              <a:solidFill>
                <a:srgbClr val="263746"/>
              </a:solidFill>
              <a:latin typeface="Arial"/>
              <a:ea typeface="Arial"/>
              <a:cs typeface="Arial"/>
            </a:endParaRPr>
          </a:p>
        </p:txBody>
      </p:sp>
      <p:sp>
        <p:nvSpPr>
          <p:cNvPr id="26" name="Rectangle 25">
            <a:extLst>
              <a:ext uri="{FF2B5EF4-FFF2-40B4-BE49-F238E27FC236}">
                <a16:creationId xmlns:a16="http://schemas.microsoft.com/office/drawing/2014/main" id="{6BC1B166-21D2-A42C-C63A-6A6F6770FF92}"/>
              </a:ext>
            </a:extLst>
          </p:cNvPr>
          <p:cNvSpPr>
            <a:spLocks noGrp="1"/>
          </p:cNvSpPr>
          <p:nvPr/>
        </p:nvSpPr>
        <p:spPr>
          <a:xfrm>
            <a:off x="830643" y="3002363"/>
            <a:ext cx="4358043" cy="502444"/>
          </a:xfrm>
          <a:prstGeom prst="rect">
            <a:avLst/>
          </a:prstGeom>
          <a:noFill/>
          <a:ln w="0">
            <a:noFill/>
            <a:prstDash val="solid"/>
          </a:ln>
        </p:spPr>
        <p:txBody>
          <a:bodyPr wrap="square" lIns="38100" tIns="19050" rIns="38100" bIns="19050" anchor="t">
            <a:normAutofit/>
          </a:bodyPr>
          <a:lstStyle/>
          <a:p>
            <a:pPr marL="285750" indent="-285750">
              <a:buFont typeface="Arial" panose="020B0604020202020204" pitchFamily="34" charset="0"/>
              <a:buChar char="•"/>
              <a:defRPr sz="1350" b="0" i="0">
                <a:solidFill>
                  <a:srgbClr val="263746"/>
                </a:solidFill>
                <a:latin typeface="Arial"/>
                <a:ea typeface="Arial"/>
                <a:cs typeface="Arial"/>
              </a:defRPr>
            </a:pPr>
            <a:endParaRPr sz="1350" b="0" i="0" dirty="0">
              <a:solidFill>
                <a:srgbClr val="263746"/>
              </a:solidFill>
              <a:latin typeface="Arial"/>
              <a:ea typeface="Arial"/>
              <a:cs typeface="Arial"/>
            </a:endParaRPr>
          </a:p>
        </p:txBody>
      </p:sp>
    </p:spTree>
    <p:extLst>
      <p:ext uri="{BB962C8B-B14F-4D97-AF65-F5344CB8AC3E}">
        <p14:creationId xmlns:p14="http://schemas.microsoft.com/office/powerpoint/2010/main" val="13831470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FAEDA72E-DC92-4A14-ABD7-FFD78CBFB3B4}"/>
              </a:ext>
            </a:extLst>
          </p:cNvPr>
          <p:cNvSpPr>
            <a:spLocks noGrp="1"/>
          </p:cNvSpPr>
          <p:nvPr/>
        </p:nvSpPr>
        <p:spPr>
          <a:xfrm>
            <a:off x="552450" y="209550"/>
            <a:ext cx="10763250" cy="523875"/>
          </a:xfrm>
          <a:prstGeom prst="rect">
            <a:avLst/>
          </a:prstGeom>
          <a:noFill/>
          <a:ln w="0">
            <a:noFill/>
            <a:prstDash val="solid"/>
          </a:ln>
        </p:spPr>
        <p:txBody>
          <a:bodyPr wrap="square" lIns="38100" tIns="19050" rIns="38100" bIns="19050" anchor="ctr">
            <a:normAutofit/>
          </a:bodyPr>
          <a:lstStyle/>
          <a:p>
            <a:pPr algn="l">
              <a:defRPr sz="2325" b="1" i="0">
                <a:solidFill>
                  <a:srgbClr val="263746"/>
                </a:solidFill>
                <a:latin typeface="Arial"/>
                <a:ea typeface="Arial"/>
                <a:cs typeface="Arial"/>
              </a:defRPr>
            </a:pPr>
            <a:r>
              <a:rPr sz="2325" b="1" i="0">
                <a:solidFill>
                  <a:srgbClr val="263746"/>
                </a:solidFill>
                <a:latin typeface="Arial"/>
                <a:ea typeface="Arial"/>
                <a:cs typeface="Arial"/>
              </a:rPr>
              <a:t>Компактност и зачувување на точните одговори</a:t>
            </a:r>
          </a:p>
        </p:txBody>
      </p:sp>
      <p:sp>
        <p:nvSpPr>
          <p:cNvPr id="2" name="Rectangle 1">
            <a:extLst>
              <a:ext uri="{FF2B5EF4-FFF2-40B4-BE49-F238E27FC236}">
                <a16:creationId xmlns:a16="http://schemas.microsoft.com/office/drawing/2014/main" id="{E7C2C463-FA36-4A26-B1F9-33D13D736BDB}"/>
              </a:ext>
            </a:extLst>
          </p:cNvPr>
          <p:cNvSpPr>
            <a:spLocks noGrp="1"/>
          </p:cNvSpPr>
          <p:nvPr/>
        </p:nvSpPr>
        <p:spPr>
          <a:xfrm>
            <a:off x="552450" y="781050"/>
            <a:ext cx="11087100" cy="38100"/>
          </a:xfrm>
          <a:prstGeom prst="rect">
            <a:avLst/>
          </a:prstGeom>
          <a:solidFill>
            <a:srgbClr val="398D84"/>
          </a:solidFill>
          <a:ln w="0">
            <a:noFill/>
            <a:prstDash val="solid"/>
          </a:ln>
        </p:spPr>
        <p:txBody>
          <a:bodyPr/>
          <a:lstStyle/>
          <a:p>
            <a:endParaRPr lang="en-US"/>
          </a:p>
        </p:txBody>
      </p:sp>
      <p:sp>
        <p:nvSpPr>
          <p:cNvPr id="3" name="Rectangle 2">
            <a:extLst>
              <a:ext uri="{FF2B5EF4-FFF2-40B4-BE49-F238E27FC236}">
                <a16:creationId xmlns:a16="http://schemas.microsoft.com/office/drawing/2014/main" id="{C270FCC5-B80F-4869-BC82-1C27A2F928C7}"/>
              </a:ext>
            </a:extLst>
          </p:cNvPr>
          <p:cNvSpPr>
            <a:spLocks noGrp="1"/>
          </p:cNvSpPr>
          <p:nvPr/>
        </p:nvSpPr>
        <p:spPr>
          <a:xfrm>
            <a:off x="11315700" y="6486525"/>
            <a:ext cx="323850" cy="228600"/>
          </a:xfrm>
          <a:prstGeom prst="rect">
            <a:avLst/>
          </a:prstGeom>
          <a:noFill/>
          <a:ln w="0">
            <a:noFill/>
            <a:prstDash val="solid"/>
          </a:ln>
        </p:spPr>
        <p:txBody>
          <a:bodyPr wrap="square" lIns="38100" tIns="19050" rIns="38100" bIns="19050" anchor="b">
            <a:normAutofit/>
          </a:bodyPr>
          <a:lstStyle/>
          <a:p>
            <a:pPr algn="r">
              <a:defRPr sz="900" b="0" i="0">
                <a:solidFill>
                  <a:srgbClr val="617080"/>
                </a:solidFill>
                <a:latin typeface="Arial"/>
                <a:ea typeface="Arial"/>
                <a:cs typeface="Arial"/>
              </a:defRPr>
            </a:pPr>
            <a:r>
              <a:rPr sz="900" b="0" i="0">
                <a:solidFill>
                  <a:srgbClr val="617080"/>
                </a:solidFill>
                <a:latin typeface="Arial"/>
                <a:ea typeface="Arial"/>
                <a:cs typeface="Arial"/>
              </a:rPr>
              <a:t>17</a:t>
            </a:r>
          </a:p>
        </p:txBody>
      </p:sp>
      <p:pic>
        <p:nvPicPr>
          <p:cNvPr id="20" name="Picture 19"/>
          <p:cNvPicPr>
            <a:picLocks noChangeAspect="1"/>
          </p:cNvPicPr>
          <p:nvPr/>
        </p:nvPicPr>
        <p:blipFill>
          <a:blip r:embed="rId3"/>
          <a:stretch/>
        </p:blipFill>
        <p:spPr>
          <a:xfrm>
            <a:off x="342900" y="1068625"/>
            <a:ext cx="7239000" cy="4996976"/>
          </a:xfrm>
          <a:prstGeom prst="rect">
            <a:avLst/>
          </a:prstGeom>
        </p:spPr>
      </p:pic>
      <p:sp>
        <p:nvSpPr>
          <p:cNvPr id="5" name="Rounded Rectangle 4">
            <a:extLst>
              <a:ext uri="{FF2B5EF4-FFF2-40B4-BE49-F238E27FC236}">
                <a16:creationId xmlns:a16="http://schemas.microsoft.com/office/drawing/2014/main" id="{7970FB69-1DEA-4398-B61D-FA08BC1BDD4E}"/>
              </a:ext>
            </a:extLst>
          </p:cNvPr>
          <p:cNvSpPr>
            <a:spLocks noGrp="1"/>
          </p:cNvSpPr>
          <p:nvPr/>
        </p:nvSpPr>
        <p:spPr>
          <a:xfrm>
            <a:off x="7881937" y="2638425"/>
            <a:ext cx="3667125" cy="1619250"/>
          </a:xfrm>
          <a:prstGeom prst="roundRect">
            <a:avLst>
              <a:gd name="adj" fmla="val 8235"/>
            </a:avLst>
          </a:prstGeom>
          <a:solidFill>
            <a:srgbClr val="E8F5F3"/>
          </a:solidFill>
          <a:ln w="17145">
            <a:solidFill>
              <a:srgbClr val="398D84"/>
            </a:solidFill>
            <a:prstDash val="solid"/>
          </a:ln>
        </p:spPr>
        <p:txBody>
          <a:bodyPr/>
          <a:lstStyle/>
          <a:p>
            <a:endParaRPr lang="en-US"/>
          </a:p>
        </p:txBody>
      </p:sp>
      <p:sp>
        <p:nvSpPr>
          <p:cNvPr id="6" name="Rectangle 5">
            <a:extLst>
              <a:ext uri="{FF2B5EF4-FFF2-40B4-BE49-F238E27FC236}">
                <a16:creationId xmlns:a16="http://schemas.microsoft.com/office/drawing/2014/main" id="{40EF82E2-E87F-406B-90B4-298342FD6A52}"/>
              </a:ext>
            </a:extLst>
          </p:cNvPr>
          <p:cNvSpPr>
            <a:spLocks noGrp="1"/>
          </p:cNvSpPr>
          <p:nvPr/>
        </p:nvSpPr>
        <p:spPr>
          <a:xfrm>
            <a:off x="8191499" y="2995613"/>
            <a:ext cx="3000375" cy="514350"/>
          </a:xfrm>
          <a:prstGeom prst="rect">
            <a:avLst/>
          </a:prstGeom>
          <a:noFill/>
          <a:ln w="0">
            <a:noFill/>
            <a:prstDash val="solid"/>
          </a:ln>
        </p:spPr>
        <p:txBody>
          <a:bodyPr wrap="square" lIns="38100" tIns="19050" rIns="38100" bIns="19050" anchor="ctr">
            <a:normAutofit fontScale="99206"/>
          </a:bodyPr>
          <a:lstStyle/>
          <a:p>
            <a:pPr algn="ctr">
              <a:defRPr sz="3150" b="1" i="0">
                <a:solidFill>
                  <a:srgbClr val="398D84"/>
                </a:solidFill>
                <a:latin typeface="Arial"/>
                <a:ea typeface="Arial"/>
                <a:cs typeface="Arial"/>
              </a:defRPr>
            </a:pPr>
            <a:r>
              <a:rPr sz="3150" b="1" i="0" dirty="0">
                <a:solidFill>
                  <a:srgbClr val="398D84"/>
                </a:solidFill>
                <a:latin typeface="Arial"/>
                <a:ea typeface="Arial"/>
                <a:cs typeface="Arial"/>
              </a:rPr>
              <a:t>≈ 85%</a:t>
            </a:r>
          </a:p>
        </p:txBody>
      </p:sp>
      <p:sp>
        <p:nvSpPr>
          <p:cNvPr id="7" name="Rectangle 6">
            <a:extLst>
              <a:ext uri="{FF2B5EF4-FFF2-40B4-BE49-F238E27FC236}">
                <a16:creationId xmlns:a16="http://schemas.microsoft.com/office/drawing/2014/main" id="{F442E009-49FF-4CED-ACD8-1EC7DFC12794}"/>
              </a:ext>
            </a:extLst>
          </p:cNvPr>
          <p:cNvSpPr>
            <a:spLocks noGrp="1"/>
          </p:cNvSpPr>
          <p:nvPr/>
        </p:nvSpPr>
        <p:spPr>
          <a:xfrm>
            <a:off x="8215311" y="3509963"/>
            <a:ext cx="3000375" cy="533400"/>
          </a:xfrm>
          <a:prstGeom prst="rect">
            <a:avLst/>
          </a:prstGeom>
          <a:noFill/>
          <a:ln w="0">
            <a:noFill/>
            <a:prstDash val="solid"/>
          </a:ln>
        </p:spPr>
        <p:txBody>
          <a:bodyPr wrap="square" lIns="38100" tIns="19050" rIns="38100" bIns="19050" anchor="t">
            <a:normAutofit/>
          </a:bodyPr>
          <a:lstStyle/>
          <a:p>
            <a:pPr algn="ctr">
              <a:defRPr sz="1350" b="0" i="0">
                <a:solidFill>
                  <a:srgbClr val="617080"/>
                </a:solidFill>
                <a:latin typeface="Arial"/>
                <a:ea typeface="Arial"/>
                <a:cs typeface="Arial"/>
              </a:defRPr>
            </a:pPr>
            <a:r>
              <a:rPr sz="1350" b="0" i="0" dirty="0" err="1">
                <a:solidFill>
                  <a:srgbClr val="617080"/>
                </a:solidFill>
                <a:latin typeface="Arial"/>
                <a:ea typeface="Arial"/>
                <a:cs typeface="Arial"/>
              </a:rPr>
              <a:t>помал</a:t>
            </a:r>
            <a:r>
              <a:rPr sz="1350" b="0" i="0" dirty="0">
                <a:solidFill>
                  <a:srgbClr val="617080"/>
                </a:solidFill>
                <a:latin typeface="Arial"/>
                <a:ea typeface="Arial"/>
                <a:cs typeface="Arial"/>
              </a:rPr>
              <a:t> </a:t>
            </a:r>
            <a:r>
              <a:rPr sz="1350" b="0" i="0" dirty="0" err="1">
                <a:solidFill>
                  <a:srgbClr val="617080"/>
                </a:solidFill>
                <a:latin typeface="Arial"/>
                <a:ea typeface="Arial"/>
                <a:cs typeface="Arial"/>
              </a:rPr>
              <a:t>доказен</a:t>
            </a:r>
            <a:r>
              <a:rPr sz="1350" b="0" i="0" dirty="0">
                <a:solidFill>
                  <a:srgbClr val="617080"/>
                </a:solidFill>
                <a:latin typeface="Arial"/>
                <a:ea typeface="Arial"/>
                <a:cs typeface="Arial"/>
              </a:rPr>
              <a:t> </a:t>
            </a:r>
            <a:r>
              <a:rPr sz="1350" b="0" i="0" dirty="0" err="1">
                <a:solidFill>
                  <a:srgbClr val="617080"/>
                </a:solidFill>
                <a:latin typeface="Arial"/>
                <a:ea typeface="Arial"/>
                <a:cs typeface="Arial"/>
              </a:rPr>
              <a:t>контекст</a:t>
            </a:r>
            <a:r>
              <a:rPr sz="1350" b="0" i="0" dirty="0">
                <a:solidFill>
                  <a:srgbClr val="617080"/>
                </a:solidFill>
                <a:latin typeface="Arial"/>
                <a:ea typeface="Arial"/>
                <a:cs typeface="Arial"/>
              </a:rPr>
              <a:t> </a:t>
            </a:r>
            <a:r>
              <a:rPr sz="1350" b="0" i="0" dirty="0" err="1">
                <a:solidFill>
                  <a:srgbClr val="617080"/>
                </a:solidFill>
                <a:latin typeface="Arial"/>
                <a:ea typeface="Arial"/>
                <a:cs typeface="Arial"/>
              </a:rPr>
              <a:t>со</a:t>
            </a:r>
            <a:r>
              <a:rPr sz="1350" b="0" i="0" dirty="0">
                <a:solidFill>
                  <a:srgbClr val="617080"/>
                </a:solidFill>
                <a:latin typeface="Arial"/>
                <a:ea typeface="Arial"/>
                <a:cs typeface="Arial"/>
              </a:rPr>
              <a:t> PCST</a:t>
            </a:r>
          </a:p>
        </p:txBody>
      </p:sp>
      <p:sp>
        <p:nvSpPr>
          <p:cNvPr id="8" name="Rectangle 7">
            <a:extLst>
              <a:ext uri="{FF2B5EF4-FFF2-40B4-BE49-F238E27FC236}">
                <a16:creationId xmlns:a16="http://schemas.microsoft.com/office/drawing/2014/main" id="{73CE092B-7A5B-4FD8-AD94-A8D8757B99A1}"/>
              </a:ext>
            </a:extLst>
          </p:cNvPr>
          <p:cNvSpPr>
            <a:spLocks noGrp="1"/>
          </p:cNvSpPr>
          <p:nvPr/>
        </p:nvSpPr>
        <p:spPr>
          <a:xfrm>
            <a:off x="7953375" y="1300162"/>
            <a:ext cx="3381375" cy="304800"/>
          </a:xfrm>
          <a:prstGeom prst="rect">
            <a:avLst/>
          </a:prstGeom>
          <a:noFill/>
          <a:ln w="0">
            <a:noFill/>
            <a:prstDash val="solid"/>
          </a:ln>
        </p:spPr>
        <p:txBody>
          <a:bodyPr wrap="square" lIns="38100" tIns="19050" rIns="38100" bIns="19050" anchor="ctr">
            <a:normAutofit/>
          </a:bodyPr>
          <a:lstStyle/>
          <a:p>
            <a:pPr algn="ctr">
              <a:defRPr sz="1500" b="1" i="0">
                <a:solidFill>
                  <a:srgbClr val="263746"/>
                </a:solidFill>
                <a:latin typeface="Arial"/>
                <a:ea typeface="Arial"/>
                <a:cs typeface="Arial"/>
              </a:defRPr>
            </a:pPr>
            <a:r>
              <a:rPr sz="1500" b="1" i="0" dirty="0" err="1">
                <a:solidFill>
                  <a:srgbClr val="263746"/>
                </a:solidFill>
                <a:latin typeface="Arial"/>
                <a:ea typeface="Arial"/>
                <a:cs typeface="Arial"/>
              </a:rPr>
              <a:t>Просечен</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број</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тројки</a:t>
            </a:r>
            <a:endParaRPr sz="1500" b="1" i="0" dirty="0">
              <a:solidFill>
                <a:srgbClr val="263746"/>
              </a:solidFill>
              <a:latin typeface="Arial"/>
              <a:ea typeface="Arial"/>
              <a:cs typeface="Arial"/>
            </a:endParaRPr>
          </a:p>
        </p:txBody>
      </p:sp>
      <p:sp>
        <p:nvSpPr>
          <p:cNvPr id="9" name="Rectangle 8">
            <a:extLst>
              <a:ext uri="{FF2B5EF4-FFF2-40B4-BE49-F238E27FC236}">
                <a16:creationId xmlns:a16="http://schemas.microsoft.com/office/drawing/2014/main" id="{AA4256D2-ED36-4D73-B79A-887C1D47BB46}"/>
              </a:ext>
            </a:extLst>
          </p:cNvPr>
          <p:cNvSpPr>
            <a:spLocks noGrp="1"/>
          </p:cNvSpPr>
          <p:nvPr/>
        </p:nvSpPr>
        <p:spPr>
          <a:xfrm>
            <a:off x="7905750" y="1709737"/>
            <a:ext cx="1619250" cy="514350"/>
          </a:xfrm>
          <a:prstGeom prst="rect">
            <a:avLst/>
          </a:prstGeom>
          <a:noFill/>
          <a:ln w="0">
            <a:noFill/>
            <a:prstDash val="solid"/>
          </a:ln>
        </p:spPr>
        <p:txBody>
          <a:bodyPr wrap="square" lIns="38100" tIns="19050" rIns="38100" bIns="19050" anchor="ctr">
            <a:normAutofit/>
          </a:bodyPr>
          <a:lstStyle/>
          <a:p>
            <a:pPr algn="ctr">
              <a:defRPr sz="2025" b="1" i="0">
                <a:solidFill>
                  <a:srgbClr val="4F86C6"/>
                </a:solidFill>
                <a:latin typeface="Arial"/>
                <a:ea typeface="Arial"/>
                <a:cs typeface="Arial"/>
              </a:defRPr>
            </a:pPr>
            <a:r>
              <a:rPr sz="2025" b="1" i="0" dirty="0">
                <a:solidFill>
                  <a:srgbClr val="4F86C6"/>
                </a:solidFill>
                <a:latin typeface="Arial"/>
                <a:ea typeface="Arial"/>
                <a:cs typeface="Arial"/>
              </a:rPr>
              <a:t>94,47</a:t>
            </a:r>
          </a:p>
        </p:txBody>
      </p:sp>
      <p:sp>
        <p:nvSpPr>
          <p:cNvPr id="10" name="Rectangle 9">
            <a:extLst>
              <a:ext uri="{FF2B5EF4-FFF2-40B4-BE49-F238E27FC236}">
                <a16:creationId xmlns:a16="http://schemas.microsoft.com/office/drawing/2014/main" id="{389402BD-8109-442F-A292-E7AC161D7B3D}"/>
              </a:ext>
            </a:extLst>
          </p:cNvPr>
          <p:cNvSpPr>
            <a:spLocks noGrp="1"/>
          </p:cNvSpPr>
          <p:nvPr/>
        </p:nvSpPr>
        <p:spPr>
          <a:xfrm>
            <a:off x="7905750" y="2166937"/>
            <a:ext cx="1619250" cy="400050"/>
          </a:xfrm>
          <a:prstGeom prst="rect">
            <a:avLst/>
          </a:prstGeom>
          <a:noFill/>
          <a:ln w="0">
            <a:noFill/>
            <a:prstDash val="solid"/>
          </a:ln>
        </p:spPr>
        <p:txBody>
          <a:bodyPr wrap="square" lIns="38100" tIns="19050" rIns="38100" bIns="19050" anchor="t">
            <a:normAutofit/>
          </a:bodyPr>
          <a:lstStyle/>
          <a:p>
            <a:pPr algn="ctr">
              <a:defRPr sz="1050" b="0" i="0">
                <a:solidFill>
                  <a:srgbClr val="617080"/>
                </a:solidFill>
                <a:latin typeface="Arial"/>
                <a:ea typeface="Arial"/>
                <a:cs typeface="Arial"/>
              </a:defRPr>
            </a:pPr>
            <a:r>
              <a:rPr sz="1050" b="0" i="0" dirty="0" err="1">
                <a:solidFill>
                  <a:srgbClr val="617080"/>
                </a:solidFill>
                <a:latin typeface="Arial"/>
                <a:ea typeface="Arial"/>
                <a:cs typeface="Arial"/>
              </a:rPr>
              <a:t>најкратки</a:t>
            </a:r>
            <a:r>
              <a:rPr sz="1050" b="0" i="0" dirty="0">
                <a:solidFill>
                  <a:srgbClr val="617080"/>
                </a:solidFill>
                <a:latin typeface="Arial"/>
                <a:ea typeface="Arial"/>
                <a:cs typeface="Arial"/>
              </a:rPr>
              <a:t> </a:t>
            </a:r>
            <a:r>
              <a:rPr sz="1050" b="0" i="0" dirty="0" err="1">
                <a:solidFill>
                  <a:srgbClr val="617080"/>
                </a:solidFill>
                <a:latin typeface="Arial"/>
                <a:ea typeface="Arial"/>
                <a:cs typeface="Arial"/>
              </a:rPr>
              <a:t>патеки</a:t>
            </a:r>
            <a:endParaRPr sz="1050" b="0" i="0" dirty="0">
              <a:solidFill>
                <a:srgbClr val="617080"/>
              </a:solidFill>
              <a:latin typeface="Arial"/>
              <a:ea typeface="Arial"/>
              <a:cs typeface="Arial"/>
            </a:endParaRPr>
          </a:p>
        </p:txBody>
      </p:sp>
      <p:sp>
        <p:nvSpPr>
          <p:cNvPr id="11" name="Rectangle 10">
            <a:extLst>
              <a:ext uri="{FF2B5EF4-FFF2-40B4-BE49-F238E27FC236}">
                <a16:creationId xmlns:a16="http://schemas.microsoft.com/office/drawing/2014/main" id="{925DDDA6-C177-4E76-820D-690D6B17E31E}"/>
              </a:ext>
            </a:extLst>
          </p:cNvPr>
          <p:cNvSpPr>
            <a:spLocks noGrp="1"/>
          </p:cNvSpPr>
          <p:nvPr/>
        </p:nvSpPr>
        <p:spPr>
          <a:xfrm>
            <a:off x="9620250" y="1709737"/>
            <a:ext cx="1809750" cy="514350"/>
          </a:xfrm>
          <a:prstGeom prst="rect">
            <a:avLst/>
          </a:prstGeom>
          <a:noFill/>
          <a:ln w="0">
            <a:noFill/>
            <a:prstDash val="solid"/>
          </a:ln>
        </p:spPr>
        <p:txBody>
          <a:bodyPr wrap="square" lIns="38100" tIns="19050" rIns="38100" bIns="19050" anchor="ctr">
            <a:normAutofit/>
          </a:bodyPr>
          <a:lstStyle/>
          <a:p>
            <a:pPr algn="ctr">
              <a:defRPr sz="1875" b="1" i="0">
                <a:solidFill>
                  <a:srgbClr val="398D84"/>
                </a:solidFill>
                <a:latin typeface="Arial"/>
                <a:ea typeface="Arial"/>
                <a:cs typeface="Arial"/>
              </a:defRPr>
            </a:pPr>
            <a:r>
              <a:rPr sz="1875" b="1" i="0">
                <a:solidFill>
                  <a:srgbClr val="398D84"/>
                </a:solidFill>
                <a:latin typeface="Arial"/>
                <a:ea typeface="Arial"/>
                <a:cs typeface="Arial"/>
              </a:rPr>
              <a:t>13,50–14,45</a:t>
            </a:r>
          </a:p>
        </p:txBody>
      </p:sp>
      <p:sp>
        <p:nvSpPr>
          <p:cNvPr id="12" name="Rectangle 11">
            <a:extLst>
              <a:ext uri="{FF2B5EF4-FFF2-40B4-BE49-F238E27FC236}">
                <a16:creationId xmlns:a16="http://schemas.microsoft.com/office/drawing/2014/main" id="{4362CF92-4010-402E-91FF-AF75527C24DF}"/>
              </a:ext>
            </a:extLst>
          </p:cNvPr>
          <p:cNvSpPr>
            <a:spLocks noGrp="1"/>
          </p:cNvSpPr>
          <p:nvPr/>
        </p:nvSpPr>
        <p:spPr>
          <a:xfrm>
            <a:off x="9620250" y="2166937"/>
            <a:ext cx="1809750" cy="400050"/>
          </a:xfrm>
          <a:prstGeom prst="rect">
            <a:avLst/>
          </a:prstGeom>
          <a:noFill/>
          <a:ln w="0">
            <a:noFill/>
            <a:prstDash val="solid"/>
          </a:ln>
        </p:spPr>
        <p:txBody>
          <a:bodyPr wrap="square" lIns="38100" tIns="19050" rIns="38100" bIns="19050" anchor="t">
            <a:normAutofit/>
          </a:bodyPr>
          <a:lstStyle/>
          <a:p>
            <a:pPr algn="ctr">
              <a:defRPr sz="1050" b="0" i="0">
                <a:solidFill>
                  <a:srgbClr val="617080"/>
                </a:solidFill>
                <a:latin typeface="Arial"/>
                <a:ea typeface="Arial"/>
                <a:cs typeface="Arial"/>
              </a:defRPr>
            </a:pPr>
            <a:r>
              <a:rPr sz="1050" b="0" i="0">
                <a:solidFill>
                  <a:srgbClr val="617080"/>
                </a:solidFill>
                <a:latin typeface="Arial"/>
                <a:ea typeface="Arial"/>
                <a:cs typeface="Arial"/>
              </a:rPr>
              <a:t>PCST</a:t>
            </a:r>
          </a:p>
        </p:txBody>
      </p:sp>
      <p:sp>
        <p:nvSpPr>
          <p:cNvPr id="13" name="Rectangle 12">
            <a:extLst>
              <a:ext uri="{FF2B5EF4-FFF2-40B4-BE49-F238E27FC236}">
                <a16:creationId xmlns:a16="http://schemas.microsoft.com/office/drawing/2014/main" id="{D3BD3296-B5B9-48D1-BAC9-A543950A183F}"/>
              </a:ext>
            </a:extLst>
          </p:cNvPr>
          <p:cNvSpPr>
            <a:spLocks noGrp="1"/>
          </p:cNvSpPr>
          <p:nvPr/>
        </p:nvSpPr>
        <p:spPr>
          <a:xfrm>
            <a:off x="8048625" y="4457700"/>
            <a:ext cx="3286125" cy="14288"/>
          </a:xfrm>
          <a:prstGeom prst="rect">
            <a:avLst/>
          </a:prstGeom>
          <a:solidFill>
            <a:srgbClr val="DDE3E8"/>
          </a:solidFill>
          <a:ln w="0">
            <a:noFill/>
            <a:prstDash val="solid"/>
          </a:ln>
        </p:spPr>
        <p:txBody>
          <a:bodyPr/>
          <a:lstStyle/>
          <a:p>
            <a:endParaRPr lang="en-US"/>
          </a:p>
        </p:txBody>
      </p:sp>
      <p:sp>
        <p:nvSpPr>
          <p:cNvPr id="14" name="Rectangle 13">
            <a:extLst>
              <a:ext uri="{FF2B5EF4-FFF2-40B4-BE49-F238E27FC236}">
                <a16:creationId xmlns:a16="http://schemas.microsoft.com/office/drawing/2014/main" id="{7DA28FBD-B2ED-4F5B-80BC-91AF81F110A0}"/>
              </a:ext>
            </a:extLst>
          </p:cNvPr>
          <p:cNvSpPr>
            <a:spLocks noGrp="1"/>
          </p:cNvSpPr>
          <p:nvPr/>
        </p:nvSpPr>
        <p:spPr>
          <a:xfrm>
            <a:off x="8096250" y="4667250"/>
            <a:ext cx="3190875" cy="285750"/>
          </a:xfrm>
          <a:prstGeom prst="rect">
            <a:avLst/>
          </a:prstGeom>
          <a:noFill/>
          <a:ln w="0">
            <a:noFill/>
            <a:prstDash val="solid"/>
          </a:ln>
        </p:spPr>
        <p:txBody>
          <a:bodyPr wrap="square" lIns="38100" tIns="19050" rIns="38100" bIns="19050" anchor="ctr">
            <a:normAutofit/>
          </a:bodyPr>
          <a:lstStyle/>
          <a:p>
            <a:pPr algn="ctr">
              <a:defRPr sz="1275" b="1" i="0">
                <a:solidFill>
                  <a:srgbClr val="263746"/>
                </a:solidFill>
                <a:latin typeface="Arial"/>
                <a:ea typeface="Arial"/>
                <a:cs typeface="Arial"/>
              </a:defRPr>
            </a:pPr>
            <a:r>
              <a:rPr sz="1275" b="1" i="0">
                <a:solidFill>
                  <a:srgbClr val="263746"/>
                </a:solidFill>
                <a:latin typeface="Arial"/>
                <a:ea typeface="Arial"/>
                <a:cs typeface="Arial"/>
              </a:rPr>
              <a:t>Покриеноста се намалува минимално:</a:t>
            </a:r>
          </a:p>
        </p:txBody>
      </p:sp>
      <p:sp>
        <p:nvSpPr>
          <p:cNvPr id="15" name="Rectangle 14">
            <a:extLst>
              <a:ext uri="{FF2B5EF4-FFF2-40B4-BE49-F238E27FC236}">
                <a16:creationId xmlns:a16="http://schemas.microsoft.com/office/drawing/2014/main" id="{6943580D-829D-4680-95ED-6E61AD06BB75}"/>
              </a:ext>
            </a:extLst>
          </p:cNvPr>
          <p:cNvSpPr>
            <a:spLocks noGrp="1"/>
          </p:cNvSpPr>
          <p:nvPr/>
        </p:nvSpPr>
        <p:spPr>
          <a:xfrm>
            <a:off x="8096250" y="5019675"/>
            <a:ext cx="3238500" cy="647700"/>
          </a:xfrm>
          <a:prstGeom prst="rect">
            <a:avLst/>
          </a:prstGeom>
          <a:noFill/>
          <a:ln w="0">
            <a:noFill/>
            <a:prstDash val="solid"/>
          </a:ln>
        </p:spPr>
        <p:txBody>
          <a:bodyPr wrap="square" lIns="38100" tIns="19050" rIns="38100" bIns="19050" anchor="ctr">
            <a:normAutofit/>
          </a:bodyPr>
          <a:lstStyle/>
          <a:p>
            <a:pPr algn="ctr">
              <a:defRPr sz="1275" b="0" i="0">
                <a:solidFill>
                  <a:srgbClr val="263746"/>
                </a:solidFill>
                <a:latin typeface="Arial"/>
                <a:ea typeface="Arial"/>
                <a:cs typeface="Arial"/>
              </a:defRPr>
            </a:pPr>
            <a:r>
              <a:rPr sz="1275" b="0" i="0" dirty="0" err="1">
                <a:solidFill>
                  <a:srgbClr val="263746"/>
                </a:solidFill>
                <a:latin typeface="Arial"/>
                <a:ea typeface="Arial"/>
                <a:cs typeface="Arial"/>
              </a:rPr>
              <a:t>ContextGoldCoverage</a:t>
            </a:r>
            <a:r>
              <a:rPr sz="1275" b="0" i="0" dirty="0">
                <a:solidFill>
                  <a:srgbClr val="263746"/>
                </a:solidFill>
                <a:latin typeface="Arial"/>
                <a:ea typeface="Arial"/>
                <a:cs typeface="Arial"/>
              </a:rPr>
              <a:t>  0,888 → ≈</a:t>
            </a:r>
            <a:r>
              <a:rPr lang="mk-MK" sz="1275" b="0" i="0" dirty="0">
                <a:solidFill>
                  <a:srgbClr val="263746"/>
                </a:solidFill>
                <a:latin typeface="Arial"/>
                <a:ea typeface="Arial"/>
                <a:cs typeface="Arial"/>
              </a:rPr>
              <a:t> </a:t>
            </a:r>
            <a:r>
              <a:rPr sz="1275" b="0" i="0" dirty="0">
                <a:solidFill>
                  <a:srgbClr val="263746"/>
                </a:solidFill>
                <a:latin typeface="Arial"/>
                <a:ea typeface="Arial"/>
                <a:cs typeface="Arial"/>
              </a:rPr>
              <a:t>0,881</a:t>
            </a:r>
          </a:p>
          <a:p>
            <a:pPr algn="ctr">
              <a:defRPr sz="1275" b="0" i="0">
                <a:solidFill>
                  <a:srgbClr val="263746"/>
                </a:solidFill>
                <a:latin typeface="Arial"/>
                <a:ea typeface="Arial"/>
                <a:cs typeface="Arial"/>
              </a:defRPr>
            </a:pPr>
            <a:r>
              <a:rPr sz="1275" b="0" i="0" dirty="0" err="1">
                <a:solidFill>
                  <a:srgbClr val="263746"/>
                </a:solidFill>
                <a:latin typeface="Arial"/>
                <a:ea typeface="Arial"/>
                <a:cs typeface="Arial"/>
              </a:rPr>
              <a:t>ContextFullGoldCoverage</a:t>
            </a:r>
            <a:r>
              <a:rPr sz="1275" b="0" i="0" dirty="0">
                <a:solidFill>
                  <a:srgbClr val="263746"/>
                </a:solidFill>
                <a:latin typeface="Arial"/>
                <a:ea typeface="Arial"/>
                <a:cs typeface="Arial"/>
              </a:rPr>
              <a:t>  0,838 → ≈</a:t>
            </a:r>
            <a:r>
              <a:rPr lang="mk-MK" sz="1275" b="0" i="0" dirty="0">
                <a:solidFill>
                  <a:srgbClr val="263746"/>
                </a:solidFill>
                <a:latin typeface="Arial"/>
                <a:ea typeface="Arial"/>
                <a:cs typeface="Arial"/>
              </a:rPr>
              <a:t> </a:t>
            </a:r>
            <a:r>
              <a:rPr sz="1275" b="0" i="0" dirty="0">
                <a:solidFill>
                  <a:srgbClr val="263746"/>
                </a:solidFill>
                <a:latin typeface="Arial"/>
                <a:ea typeface="Arial"/>
                <a:cs typeface="Arial"/>
              </a:rPr>
              <a:t>0,830</a:t>
            </a:r>
          </a:p>
        </p:txBody>
      </p:sp>
      <p:sp>
        <p:nvSpPr>
          <p:cNvPr id="16" name="Rectangle 15">
            <a:extLst>
              <a:ext uri="{FF2B5EF4-FFF2-40B4-BE49-F238E27FC236}">
                <a16:creationId xmlns:a16="http://schemas.microsoft.com/office/drawing/2014/main" id="{0A8B5DB2-5D8E-430E-92DF-88F0F0217972}"/>
              </a:ext>
            </a:extLst>
          </p:cNvPr>
          <p:cNvSpPr>
            <a:spLocks noGrp="1"/>
          </p:cNvSpPr>
          <p:nvPr/>
        </p:nvSpPr>
        <p:spPr>
          <a:xfrm>
            <a:off x="7905750" y="5829300"/>
            <a:ext cx="3571875" cy="409575"/>
          </a:xfrm>
          <a:prstGeom prst="rect">
            <a:avLst/>
          </a:prstGeom>
          <a:noFill/>
          <a:ln w="0">
            <a:noFill/>
            <a:prstDash val="solid"/>
          </a:ln>
        </p:spPr>
        <p:txBody>
          <a:bodyPr wrap="square" lIns="38100" tIns="19050" rIns="38100" bIns="19050" anchor="ctr">
            <a:normAutofit/>
          </a:bodyPr>
          <a:lstStyle/>
          <a:p>
            <a:pPr algn="ctr">
              <a:defRPr sz="1200" b="1" i="0">
                <a:solidFill>
                  <a:srgbClr val="398D84"/>
                </a:solidFill>
                <a:latin typeface="Arial"/>
                <a:ea typeface="Arial"/>
                <a:cs typeface="Arial"/>
              </a:defRPr>
            </a:pPr>
            <a:r>
              <a:rPr sz="1200" b="1" i="0" dirty="0" err="1">
                <a:solidFill>
                  <a:srgbClr val="398D84"/>
                </a:solidFill>
                <a:latin typeface="Arial"/>
                <a:ea typeface="Arial"/>
                <a:cs typeface="Arial"/>
              </a:rPr>
              <a:t>Стратегијата</a:t>
            </a:r>
            <a:r>
              <a:rPr sz="1200" b="1" i="0" dirty="0">
                <a:solidFill>
                  <a:srgbClr val="398D84"/>
                </a:solidFill>
                <a:latin typeface="Arial"/>
                <a:ea typeface="Arial"/>
                <a:cs typeface="Arial"/>
              </a:rPr>
              <a:t> </a:t>
            </a:r>
            <a:r>
              <a:rPr sz="1200" b="1" i="0" dirty="0" err="1">
                <a:solidFill>
                  <a:srgbClr val="398D84"/>
                </a:solidFill>
                <a:latin typeface="Arial"/>
                <a:ea typeface="Arial"/>
                <a:cs typeface="Arial"/>
              </a:rPr>
              <a:t>на</a:t>
            </a:r>
            <a:r>
              <a:rPr sz="1200" b="1" i="0" dirty="0">
                <a:solidFill>
                  <a:srgbClr val="398D84"/>
                </a:solidFill>
                <a:latin typeface="Arial"/>
                <a:ea typeface="Arial"/>
                <a:cs typeface="Arial"/>
              </a:rPr>
              <a:t> </a:t>
            </a:r>
            <a:r>
              <a:rPr sz="1200" b="1" i="0" dirty="0" err="1">
                <a:solidFill>
                  <a:srgbClr val="398D84"/>
                </a:solidFill>
                <a:latin typeface="Arial"/>
                <a:ea typeface="Arial"/>
                <a:cs typeface="Arial"/>
              </a:rPr>
              <a:t>трошок</a:t>
            </a:r>
            <a:r>
              <a:rPr sz="1200" b="1" i="0" dirty="0">
                <a:solidFill>
                  <a:srgbClr val="398D84"/>
                </a:solidFill>
                <a:latin typeface="Arial"/>
                <a:ea typeface="Arial"/>
                <a:cs typeface="Arial"/>
              </a:rPr>
              <a:t> </a:t>
            </a:r>
            <a:r>
              <a:rPr sz="1200" b="1" i="0" dirty="0" err="1">
                <a:solidFill>
                  <a:srgbClr val="398D84"/>
                </a:solidFill>
                <a:latin typeface="Arial"/>
                <a:ea typeface="Arial"/>
                <a:cs typeface="Arial"/>
              </a:rPr>
              <a:t>има</a:t>
            </a:r>
            <a:r>
              <a:rPr sz="1200" b="1" i="0" dirty="0">
                <a:solidFill>
                  <a:srgbClr val="398D84"/>
                </a:solidFill>
                <a:latin typeface="Arial"/>
                <a:ea typeface="Arial"/>
                <a:cs typeface="Arial"/>
              </a:rPr>
              <a:t> </a:t>
            </a:r>
            <a:r>
              <a:rPr sz="1200" b="1" i="0" dirty="0" err="1">
                <a:solidFill>
                  <a:srgbClr val="398D84"/>
                </a:solidFill>
                <a:latin typeface="Arial"/>
                <a:ea typeface="Arial"/>
                <a:cs typeface="Arial"/>
              </a:rPr>
              <a:t>поголемо</a:t>
            </a:r>
            <a:r>
              <a:rPr sz="1200" b="1" i="0" dirty="0">
                <a:solidFill>
                  <a:srgbClr val="398D84"/>
                </a:solidFill>
                <a:latin typeface="Arial"/>
                <a:ea typeface="Arial"/>
                <a:cs typeface="Arial"/>
              </a:rPr>
              <a:t> </a:t>
            </a:r>
            <a:r>
              <a:rPr sz="1200" b="1" i="0" dirty="0" err="1">
                <a:solidFill>
                  <a:srgbClr val="398D84"/>
                </a:solidFill>
                <a:latin typeface="Arial"/>
                <a:ea typeface="Arial"/>
                <a:cs typeface="Arial"/>
              </a:rPr>
              <a:t>влијание</a:t>
            </a:r>
            <a:r>
              <a:rPr sz="1200" b="1" i="0" dirty="0">
                <a:solidFill>
                  <a:srgbClr val="398D84"/>
                </a:solidFill>
                <a:latin typeface="Arial"/>
                <a:ea typeface="Arial"/>
                <a:cs typeface="Arial"/>
              </a:rPr>
              <a:t> </a:t>
            </a:r>
            <a:r>
              <a:rPr sz="1200" b="1" i="0" dirty="0" err="1">
                <a:solidFill>
                  <a:srgbClr val="398D84"/>
                </a:solidFill>
                <a:latin typeface="Arial"/>
                <a:ea typeface="Arial"/>
                <a:cs typeface="Arial"/>
              </a:rPr>
              <a:t>од</a:t>
            </a:r>
            <a:r>
              <a:rPr sz="1200" b="1" i="0" dirty="0">
                <a:solidFill>
                  <a:srgbClr val="398D84"/>
                </a:solidFill>
                <a:latin typeface="Arial"/>
                <a:ea typeface="Arial"/>
                <a:cs typeface="Arial"/>
              </a:rPr>
              <a:t> </a:t>
            </a:r>
            <a:r>
              <a:rPr sz="1200" b="1" i="0" dirty="0" err="1">
                <a:solidFill>
                  <a:srgbClr val="398D84"/>
                </a:solidFill>
                <a:latin typeface="Arial"/>
                <a:ea typeface="Arial"/>
                <a:cs typeface="Arial"/>
              </a:rPr>
              <a:t>промени</a:t>
            </a:r>
            <a:r>
              <a:rPr lang="mk-MK" sz="1200" b="1" dirty="0">
                <a:solidFill>
                  <a:srgbClr val="398D84"/>
                </a:solidFill>
                <a:latin typeface="Arial"/>
                <a:ea typeface="Arial"/>
                <a:cs typeface="Arial"/>
              </a:rPr>
              <a:t>те</a:t>
            </a:r>
            <a:r>
              <a:rPr sz="1200" b="1" i="0" dirty="0">
                <a:solidFill>
                  <a:srgbClr val="398D84"/>
                </a:solidFill>
                <a:latin typeface="Arial"/>
                <a:ea typeface="Arial"/>
                <a:cs typeface="Arial"/>
              </a:rPr>
              <a:t> </a:t>
            </a:r>
            <a:r>
              <a:rPr sz="1200" b="1" i="0" dirty="0" err="1">
                <a:solidFill>
                  <a:srgbClr val="398D84"/>
                </a:solidFill>
                <a:latin typeface="Arial"/>
                <a:ea typeface="Arial"/>
                <a:cs typeface="Arial"/>
              </a:rPr>
              <a:t>на</a:t>
            </a:r>
            <a:r>
              <a:rPr sz="1200" b="1" i="0" dirty="0">
                <a:solidFill>
                  <a:srgbClr val="398D84"/>
                </a:solidFill>
                <a:latin typeface="Arial"/>
                <a:ea typeface="Arial"/>
                <a:cs typeface="Arial"/>
              </a:rPr>
              <a:t> </a:t>
            </a:r>
            <a:r>
              <a:rPr sz="1200" b="1" i="0" dirty="0" err="1">
                <a:solidFill>
                  <a:srgbClr val="398D84"/>
                </a:solidFill>
                <a:latin typeface="Arial"/>
                <a:ea typeface="Arial"/>
                <a:cs typeface="Arial"/>
              </a:rPr>
              <a:t>λ</a:t>
            </a:r>
            <a:r>
              <a:rPr sz="1200" b="1" i="0" dirty="0">
                <a:solidFill>
                  <a:srgbClr val="398D84"/>
                </a:solidFill>
                <a:latin typeface="Arial"/>
                <a:ea typeface="Arial"/>
                <a:cs typeface="Arial"/>
              </a:rPr>
              <a:t>.</a:t>
            </a:r>
          </a:p>
        </p:txBody>
      </p:sp>
    </p:spTree>
    <p:extLst>
      <p:ext uri="{BB962C8B-B14F-4D97-AF65-F5344CB8AC3E}">
        <p14:creationId xmlns:p14="http://schemas.microsoft.com/office/powerpoint/2010/main" val="20202881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EA01D29D-9111-4E60-9564-30069BCB48B0}"/>
              </a:ext>
            </a:extLst>
          </p:cNvPr>
          <p:cNvSpPr>
            <a:spLocks noGrp="1"/>
          </p:cNvSpPr>
          <p:nvPr/>
        </p:nvSpPr>
        <p:spPr>
          <a:xfrm>
            <a:off x="552450" y="209550"/>
            <a:ext cx="10763250" cy="523875"/>
          </a:xfrm>
          <a:prstGeom prst="rect">
            <a:avLst/>
          </a:prstGeom>
          <a:noFill/>
          <a:ln w="0">
            <a:noFill/>
            <a:prstDash val="solid"/>
          </a:ln>
        </p:spPr>
        <p:txBody>
          <a:bodyPr wrap="square" lIns="38100" tIns="19050" rIns="38100" bIns="19050" anchor="ctr">
            <a:normAutofit/>
          </a:bodyPr>
          <a:lstStyle/>
          <a:p>
            <a:pPr algn="l">
              <a:defRPr sz="2325" b="1" i="0">
                <a:solidFill>
                  <a:srgbClr val="263746"/>
                </a:solidFill>
                <a:latin typeface="Arial"/>
                <a:ea typeface="Arial"/>
                <a:cs typeface="Arial"/>
              </a:defRPr>
            </a:pPr>
            <a:r>
              <a:rPr sz="2325" b="1" i="0">
                <a:solidFill>
                  <a:srgbClr val="263746"/>
                </a:solidFill>
                <a:latin typeface="Arial"/>
                <a:ea typeface="Arial"/>
                <a:cs typeface="Arial"/>
              </a:rPr>
              <a:t>Метрики за конечниот одговор</a:t>
            </a:r>
          </a:p>
        </p:txBody>
      </p:sp>
      <p:sp>
        <p:nvSpPr>
          <p:cNvPr id="2" name="Rectangle 1">
            <a:extLst>
              <a:ext uri="{FF2B5EF4-FFF2-40B4-BE49-F238E27FC236}">
                <a16:creationId xmlns:a16="http://schemas.microsoft.com/office/drawing/2014/main" id="{404A934E-AE1F-4A5D-B14A-5E99C94A851E}"/>
              </a:ext>
            </a:extLst>
          </p:cNvPr>
          <p:cNvSpPr>
            <a:spLocks noGrp="1"/>
          </p:cNvSpPr>
          <p:nvPr/>
        </p:nvSpPr>
        <p:spPr>
          <a:xfrm>
            <a:off x="552450" y="781050"/>
            <a:ext cx="11087100" cy="38100"/>
          </a:xfrm>
          <a:prstGeom prst="rect">
            <a:avLst/>
          </a:prstGeom>
          <a:solidFill>
            <a:srgbClr val="8064A2"/>
          </a:solidFill>
          <a:ln w="0">
            <a:noFill/>
            <a:prstDash val="solid"/>
          </a:ln>
        </p:spPr>
        <p:txBody>
          <a:bodyPr/>
          <a:lstStyle/>
          <a:p>
            <a:endParaRPr lang="en-US"/>
          </a:p>
        </p:txBody>
      </p:sp>
      <p:sp>
        <p:nvSpPr>
          <p:cNvPr id="3" name="Rectangle 2">
            <a:extLst>
              <a:ext uri="{FF2B5EF4-FFF2-40B4-BE49-F238E27FC236}">
                <a16:creationId xmlns:a16="http://schemas.microsoft.com/office/drawing/2014/main" id="{ABB44C81-1537-46E2-A589-831F7BA5D9AD}"/>
              </a:ext>
            </a:extLst>
          </p:cNvPr>
          <p:cNvSpPr>
            <a:spLocks noGrp="1"/>
          </p:cNvSpPr>
          <p:nvPr/>
        </p:nvSpPr>
        <p:spPr>
          <a:xfrm>
            <a:off x="11315700" y="6486525"/>
            <a:ext cx="323850" cy="228600"/>
          </a:xfrm>
          <a:prstGeom prst="rect">
            <a:avLst/>
          </a:prstGeom>
          <a:noFill/>
          <a:ln w="0">
            <a:noFill/>
            <a:prstDash val="solid"/>
          </a:ln>
        </p:spPr>
        <p:txBody>
          <a:bodyPr wrap="square" lIns="38100" tIns="19050" rIns="38100" bIns="19050" anchor="b">
            <a:normAutofit/>
          </a:bodyPr>
          <a:lstStyle/>
          <a:p>
            <a:pPr algn="r">
              <a:defRPr sz="900" b="0" i="0">
                <a:solidFill>
                  <a:srgbClr val="617080"/>
                </a:solidFill>
                <a:latin typeface="Arial"/>
                <a:ea typeface="Arial"/>
                <a:cs typeface="Arial"/>
              </a:defRPr>
            </a:pPr>
            <a:r>
              <a:rPr sz="900" b="0" i="0">
                <a:solidFill>
                  <a:srgbClr val="617080"/>
                </a:solidFill>
                <a:latin typeface="Arial"/>
                <a:ea typeface="Arial"/>
                <a:cs typeface="Arial"/>
              </a:rPr>
              <a:t>18</a:t>
            </a:r>
          </a:p>
        </p:txBody>
      </p:sp>
      <p:sp>
        <p:nvSpPr>
          <p:cNvPr id="4" name="Rectangle 3">
            <a:extLst>
              <a:ext uri="{FF2B5EF4-FFF2-40B4-BE49-F238E27FC236}">
                <a16:creationId xmlns:a16="http://schemas.microsoft.com/office/drawing/2014/main" id="{38BF945A-81AE-4913-BE02-12980960090E}"/>
              </a:ext>
            </a:extLst>
          </p:cNvPr>
          <p:cNvSpPr>
            <a:spLocks noGrp="1"/>
          </p:cNvSpPr>
          <p:nvPr/>
        </p:nvSpPr>
        <p:spPr>
          <a:xfrm>
            <a:off x="666750" y="1104900"/>
            <a:ext cx="4857750" cy="381000"/>
          </a:xfrm>
          <a:prstGeom prst="rect">
            <a:avLst/>
          </a:prstGeom>
          <a:noFill/>
          <a:ln w="0">
            <a:noFill/>
            <a:prstDash val="solid"/>
          </a:ln>
        </p:spPr>
        <p:txBody>
          <a:bodyPr wrap="square" lIns="38100" tIns="19050" rIns="38100" bIns="19050" anchor="ctr">
            <a:normAutofit/>
          </a:bodyPr>
          <a:lstStyle/>
          <a:p>
            <a:pPr algn="l">
              <a:defRPr sz="1800" b="1" i="0">
                <a:solidFill>
                  <a:srgbClr val="8064A2"/>
                </a:solidFill>
                <a:latin typeface="Arial"/>
                <a:ea typeface="Arial"/>
                <a:cs typeface="Arial"/>
              </a:defRPr>
            </a:pPr>
            <a:r>
              <a:rPr sz="1800" b="1" i="0">
                <a:solidFill>
                  <a:srgbClr val="8064A2"/>
                </a:solidFill>
                <a:latin typeface="Arial"/>
                <a:ea typeface="Arial"/>
                <a:cs typeface="Arial"/>
              </a:rPr>
              <a:t>Квалитет на одговорот</a:t>
            </a:r>
          </a:p>
        </p:txBody>
      </p:sp>
      <p:sp>
        <p:nvSpPr>
          <p:cNvPr id="5" name="Rounded Rectangle 4">
            <a:extLst>
              <a:ext uri="{FF2B5EF4-FFF2-40B4-BE49-F238E27FC236}">
                <a16:creationId xmlns:a16="http://schemas.microsoft.com/office/drawing/2014/main" id="{98AAD01E-F090-4BF9-95BB-AD0F14DD67F3}"/>
              </a:ext>
            </a:extLst>
          </p:cNvPr>
          <p:cNvSpPr>
            <a:spLocks noGrp="1"/>
          </p:cNvSpPr>
          <p:nvPr/>
        </p:nvSpPr>
        <p:spPr>
          <a:xfrm>
            <a:off x="666750" y="1619250"/>
            <a:ext cx="4857750" cy="2428875"/>
          </a:xfrm>
          <a:prstGeom prst="roundRect">
            <a:avLst>
              <a:gd name="adj" fmla="val 5490"/>
            </a:avLst>
          </a:prstGeom>
          <a:solidFill>
            <a:srgbClr val="F1ECF7"/>
          </a:solidFill>
          <a:ln w="14288">
            <a:solidFill>
              <a:srgbClr val="8064A2"/>
            </a:solidFill>
            <a:prstDash val="solid"/>
          </a:ln>
        </p:spPr>
        <p:txBody>
          <a:bodyPr/>
          <a:lstStyle/>
          <a:p>
            <a:endParaRPr lang="en-US"/>
          </a:p>
        </p:txBody>
      </p:sp>
      <p:sp>
        <p:nvSpPr>
          <p:cNvPr id="6" name="Oval 5">
            <a:extLst>
              <a:ext uri="{FF2B5EF4-FFF2-40B4-BE49-F238E27FC236}">
                <a16:creationId xmlns:a16="http://schemas.microsoft.com/office/drawing/2014/main" id="{44CC37F0-B9A4-4450-94F5-149BD99D5186}"/>
              </a:ext>
            </a:extLst>
          </p:cNvPr>
          <p:cNvSpPr>
            <a:spLocks noGrp="1"/>
          </p:cNvSpPr>
          <p:nvPr/>
        </p:nvSpPr>
        <p:spPr>
          <a:xfrm>
            <a:off x="904875" y="2028825"/>
            <a:ext cx="66675" cy="66675"/>
          </a:xfrm>
          <a:prstGeom prst="ellipse">
            <a:avLst/>
          </a:prstGeom>
          <a:solidFill>
            <a:srgbClr val="8064A2"/>
          </a:solidFill>
          <a:ln w="0">
            <a:noFill/>
            <a:prstDash val="solid"/>
          </a:ln>
        </p:spPr>
        <p:txBody>
          <a:bodyPr/>
          <a:lstStyle/>
          <a:p>
            <a:endParaRPr lang="en-US"/>
          </a:p>
        </p:txBody>
      </p:sp>
      <p:sp>
        <p:nvSpPr>
          <p:cNvPr id="7" name="Rectangle 6">
            <a:extLst>
              <a:ext uri="{FF2B5EF4-FFF2-40B4-BE49-F238E27FC236}">
                <a16:creationId xmlns:a16="http://schemas.microsoft.com/office/drawing/2014/main" id="{98D1C017-103C-42DB-9393-4065095CD77B}"/>
              </a:ext>
            </a:extLst>
          </p:cNvPr>
          <p:cNvSpPr>
            <a:spLocks noGrp="1"/>
          </p:cNvSpPr>
          <p:nvPr/>
        </p:nvSpPr>
        <p:spPr>
          <a:xfrm>
            <a:off x="1076325" y="1924050"/>
            <a:ext cx="4210050" cy="495300"/>
          </a:xfrm>
          <a:prstGeom prst="rect">
            <a:avLst/>
          </a:prstGeom>
          <a:noFill/>
          <a:ln w="0">
            <a:noFill/>
            <a:prstDash val="solid"/>
          </a:ln>
        </p:spPr>
        <p:txBody>
          <a:bodyPr wrap="square" lIns="38100" tIns="19050" rIns="38100" bIns="19050" anchor="t">
            <a:normAutofit/>
          </a:bodyPr>
          <a:lstStyle/>
          <a:p>
            <a:pPr algn="l">
              <a:defRPr sz="1350" b="0" i="0">
                <a:solidFill>
                  <a:srgbClr val="263746"/>
                </a:solidFill>
                <a:latin typeface="Arial"/>
                <a:ea typeface="Arial"/>
                <a:cs typeface="Arial"/>
              </a:defRPr>
            </a:pPr>
            <a:r>
              <a:rPr sz="1350" b="1" i="0" dirty="0">
                <a:solidFill>
                  <a:srgbClr val="263746"/>
                </a:solidFill>
                <a:latin typeface="Arial"/>
                <a:ea typeface="Arial"/>
                <a:cs typeface="Arial"/>
              </a:rPr>
              <a:t>Hit</a:t>
            </a:r>
            <a:r>
              <a:rPr sz="1350" b="0" i="0" dirty="0">
                <a:solidFill>
                  <a:srgbClr val="263746"/>
                </a:solidFill>
                <a:latin typeface="Arial"/>
                <a:ea typeface="Arial"/>
                <a:cs typeface="Arial"/>
              </a:rPr>
              <a:t> — </a:t>
            </a:r>
            <a:r>
              <a:rPr sz="1350" b="0" i="0" dirty="0" err="1">
                <a:solidFill>
                  <a:srgbClr val="263746"/>
                </a:solidFill>
                <a:latin typeface="Arial"/>
                <a:ea typeface="Arial"/>
                <a:cs typeface="Arial"/>
              </a:rPr>
              <a:t>вратен</a:t>
            </a:r>
            <a:r>
              <a:rPr sz="1350" b="0" i="0" dirty="0">
                <a:solidFill>
                  <a:srgbClr val="263746"/>
                </a:solidFill>
                <a:latin typeface="Arial"/>
                <a:ea typeface="Arial"/>
                <a:cs typeface="Arial"/>
              </a:rPr>
              <a:t> </a:t>
            </a:r>
            <a:r>
              <a:rPr sz="1350" b="0" i="0" dirty="0" err="1">
                <a:solidFill>
                  <a:srgbClr val="263746"/>
                </a:solidFill>
                <a:latin typeface="Arial"/>
                <a:ea typeface="Arial"/>
                <a:cs typeface="Arial"/>
              </a:rPr>
              <a:t>е</a:t>
            </a:r>
            <a:r>
              <a:rPr sz="1350" b="0" i="0" dirty="0">
                <a:solidFill>
                  <a:srgbClr val="263746"/>
                </a:solidFill>
                <a:latin typeface="Arial"/>
                <a:ea typeface="Arial"/>
                <a:cs typeface="Arial"/>
              </a:rPr>
              <a:t> </a:t>
            </a:r>
            <a:r>
              <a:rPr sz="1350" b="0" i="0" dirty="0" err="1">
                <a:solidFill>
                  <a:srgbClr val="263746"/>
                </a:solidFill>
                <a:latin typeface="Arial"/>
                <a:ea typeface="Arial"/>
                <a:cs typeface="Arial"/>
              </a:rPr>
              <a:t>барем</a:t>
            </a:r>
            <a:r>
              <a:rPr sz="1350" b="0" i="0" dirty="0">
                <a:solidFill>
                  <a:srgbClr val="263746"/>
                </a:solidFill>
                <a:latin typeface="Arial"/>
                <a:ea typeface="Arial"/>
                <a:cs typeface="Arial"/>
              </a:rPr>
              <a:t> </a:t>
            </a:r>
            <a:r>
              <a:rPr sz="1350" b="0" i="0" dirty="0" err="1">
                <a:solidFill>
                  <a:srgbClr val="263746"/>
                </a:solidFill>
                <a:latin typeface="Arial"/>
                <a:ea typeface="Arial"/>
                <a:cs typeface="Arial"/>
              </a:rPr>
              <a:t>еден</a:t>
            </a:r>
            <a:r>
              <a:rPr sz="1350" b="0" i="0" dirty="0">
                <a:solidFill>
                  <a:srgbClr val="263746"/>
                </a:solidFill>
                <a:latin typeface="Arial"/>
                <a:ea typeface="Arial"/>
                <a:cs typeface="Arial"/>
              </a:rPr>
              <a:t> </a:t>
            </a:r>
            <a:r>
              <a:rPr sz="1350" b="0" i="0" dirty="0" err="1">
                <a:solidFill>
                  <a:srgbClr val="263746"/>
                </a:solidFill>
                <a:latin typeface="Arial"/>
                <a:ea typeface="Arial"/>
                <a:cs typeface="Arial"/>
              </a:rPr>
              <a:t>точен</a:t>
            </a:r>
            <a:r>
              <a:rPr sz="1350" b="0" i="0" dirty="0">
                <a:solidFill>
                  <a:srgbClr val="263746"/>
                </a:solidFill>
                <a:latin typeface="Arial"/>
                <a:ea typeface="Arial"/>
                <a:cs typeface="Arial"/>
              </a:rPr>
              <a:t> </a:t>
            </a:r>
            <a:r>
              <a:rPr sz="1350" b="0" i="0" dirty="0" err="1">
                <a:solidFill>
                  <a:srgbClr val="263746"/>
                </a:solidFill>
                <a:latin typeface="Arial"/>
                <a:ea typeface="Arial"/>
                <a:cs typeface="Arial"/>
              </a:rPr>
              <a:t>одговор</a:t>
            </a:r>
            <a:endParaRPr sz="1350" b="0" i="0" dirty="0">
              <a:solidFill>
                <a:srgbClr val="263746"/>
              </a:solidFill>
              <a:latin typeface="Arial"/>
              <a:ea typeface="Arial"/>
              <a:cs typeface="Arial"/>
            </a:endParaRPr>
          </a:p>
        </p:txBody>
      </p:sp>
      <p:sp>
        <p:nvSpPr>
          <p:cNvPr id="8" name="Oval 7">
            <a:extLst>
              <a:ext uri="{FF2B5EF4-FFF2-40B4-BE49-F238E27FC236}">
                <a16:creationId xmlns:a16="http://schemas.microsoft.com/office/drawing/2014/main" id="{354B7ABC-A030-4E86-AD76-B25C9C021664}"/>
              </a:ext>
            </a:extLst>
          </p:cNvPr>
          <p:cNvSpPr>
            <a:spLocks noGrp="1"/>
          </p:cNvSpPr>
          <p:nvPr/>
        </p:nvSpPr>
        <p:spPr>
          <a:xfrm>
            <a:off x="904875" y="2695575"/>
            <a:ext cx="66675" cy="66675"/>
          </a:xfrm>
          <a:prstGeom prst="ellipse">
            <a:avLst/>
          </a:prstGeom>
          <a:solidFill>
            <a:srgbClr val="8064A2"/>
          </a:solidFill>
          <a:ln w="0">
            <a:noFill/>
            <a:prstDash val="solid"/>
          </a:ln>
        </p:spPr>
        <p:txBody>
          <a:bodyPr/>
          <a:lstStyle/>
          <a:p>
            <a:endParaRPr lang="en-US"/>
          </a:p>
        </p:txBody>
      </p:sp>
      <p:sp>
        <p:nvSpPr>
          <p:cNvPr id="9" name="Rectangle 8">
            <a:extLst>
              <a:ext uri="{FF2B5EF4-FFF2-40B4-BE49-F238E27FC236}">
                <a16:creationId xmlns:a16="http://schemas.microsoft.com/office/drawing/2014/main" id="{4BB31B75-29CB-49E4-AE64-CF5E0F30403F}"/>
              </a:ext>
            </a:extLst>
          </p:cNvPr>
          <p:cNvSpPr>
            <a:spLocks noGrp="1"/>
          </p:cNvSpPr>
          <p:nvPr/>
        </p:nvSpPr>
        <p:spPr>
          <a:xfrm>
            <a:off x="1076325" y="2590800"/>
            <a:ext cx="4210050" cy="495300"/>
          </a:xfrm>
          <a:prstGeom prst="rect">
            <a:avLst/>
          </a:prstGeom>
          <a:noFill/>
          <a:ln w="0">
            <a:noFill/>
            <a:prstDash val="solid"/>
          </a:ln>
        </p:spPr>
        <p:txBody>
          <a:bodyPr wrap="square" lIns="38100" tIns="19050" rIns="38100" bIns="19050" anchor="t">
            <a:normAutofit/>
          </a:bodyPr>
          <a:lstStyle/>
          <a:p>
            <a:pPr algn="l">
              <a:defRPr sz="1350" b="0" i="0">
                <a:solidFill>
                  <a:srgbClr val="263746"/>
                </a:solidFill>
                <a:latin typeface="Arial"/>
                <a:ea typeface="Arial"/>
                <a:cs typeface="Arial"/>
              </a:defRPr>
            </a:pPr>
            <a:r>
              <a:rPr sz="1350" b="1" i="0" dirty="0" err="1">
                <a:solidFill>
                  <a:srgbClr val="263746"/>
                </a:solidFill>
                <a:latin typeface="Arial"/>
                <a:ea typeface="Arial"/>
                <a:cs typeface="Arial"/>
              </a:rPr>
              <a:t>ExactMatch</a:t>
            </a:r>
            <a:r>
              <a:rPr sz="1350" b="0" i="0" dirty="0">
                <a:solidFill>
                  <a:srgbClr val="263746"/>
                </a:solidFill>
                <a:latin typeface="Arial"/>
                <a:ea typeface="Arial"/>
                <a:cs typeface="Arial"/>
              </a:rPr>
              <a:t> — </a:t>
            </a:r>
            <a:r>
              <a:rPr sz="1350" b="0" i="0" dirty="0" err="1">
                <a:solidFill>
                  <a:srgbClr val="263746"/>
                </a:solidFill>
                <a:latin typeface="Arial"/>
                <a:ea typeface="Arial"/>
                <a:cs typeface="Arial"/>
              </a:rPr>
              <a:t>целосно</a:t>
            </a:r>
            <a:r>
              <a:rPr sz="1350" b="0" i="0" dirty="0">
                <a:solidFill>
                  <a:srgbClr val="263746"/>
                </a:solidFill>
                <a:latin typeface="Arial"/>
                <a:ea typeface="Arial"/>
                <a:cs typeface="Arial"/>
              </a:rPr>
              <a:t> </a:t>
            </a:r>
            <a:r>
              <a:rPr sz="1350" b="0" i="0" dirty="0" err="1">
                <a:solidFill>
                  <a:srgbClr val="263746"/>
                </a:solidFill>
                <a:latin typeface="Arial"/>
                <a:ea typeface="Arial"/>
                <a:cs typeface="Arial"/>
              </a:rPr>
              <a:t>совпаѓање</a:t>
            </a:r>
            <a:r>
              <a:rPr sz="1350" b="0" i="0" dirty="0">
                <a:solidFill>
                  <a:srgbClr val="263746"/>
                </a:solidFill>
                <a:latin typeface="Arial"/>
                <a:ea typeface="Arial"/>
                <a:cs typeface="Arial"/>
              </a:rPr>
              <a:t> </a:t>
            </a:r>
            <a:r>
              <a:rPr sz="1350" b="0" i="0" dirty="0" err="1">
                <a:solidFill>
                  <a:srgbClr val="263746"/>
                </a:solidFill>
                <a:latin typeface="Arial"/>
                <a:ea typeface="Arial"/>
                <a:cs typeface="Arial"/>
              </a:rPr>
              <a:t>на</a:t>
            </a:r>
            <a:r>
              <a:rPr sz="1350" b="0" i="0" dirty="0">
                <a:solidFill>
                  <a:srgbClr val="263746"/>
                </a:solidFill>
                <a:latin typeface="Arial"/>
                <a:ea typeface="Arial"/>
                <a:cs typeface="Arial"/>
              </a:rPr>
              <a:t> </a:t>
            </a:r>
            <a:r>
              <a:rPr sz="1350" b="0" i="0" dirty="0" err="1">
                <a:solidFill>
                  <a:srgbClr val="263746"/>
                </a:solidFill>
                <a:latin typeface="Arial"/>
                <a:ea typeface="Arial"/>
                <a:cs typeface="Arial"/>
              </a:rPr>
              <a:t>множествата</a:t>
            </a:r>
            <a:endParaRPr sz="1350" b="0" i="0" dirty="0">
              <a:solidFill>
                <a:srgbClr val="263746"/>
              </a:solidFill>
              <a:latin typeface="Arial"/>
              <a:ea typeface="Arial"/>
              <a:cs typeface="Arial"/>
            </a:endParaRPr>
          </a:p>
        </p:txBody>
      </p:sp>
      <p:sp>
        <p:nvSpPr>
          <p:cNvPr id="10" name="Oval 9">
            <a:extLst>
              <a:ext uri="{FF2B5EF4-FFF2-40B4-BE49-F238E27FC236}">
                <a16:creationId xmlns:a16="http://schemas.microsoft.com/office/drawing/2014/main" id="{B82A031F-3448-4442-8325-23FAF572E9D8}"/>
              </a:ext>
            </a:extLst>
          </p:cNvPr>
          <p:cNvSpPr>
            <a:spLocks noGrp="1"/>
          </p:cNvSpPr>
          <p:nvPr/>
        </p:nvSpPr>
        <p:spPr>
          <a:xfrm>
            <a:off x="904875" y="3362325"/>
            <a:ext cx="66675" cy="66675"/>
          </a:xfrm>
          <a:prstGeom prst="ellipse">
            <a:avLst/>
          </a:prstGeom>
          <a:solidFill>
            <a:srgbClr val="8064A2"/>
          </a:solidFill>
          <a:ln w="0">
            <a:noFill/>
            <a:prstDash val="solid"/>
          </a:ln>
        </p:spPr>
        <p:txBody>
          <a:bodyPr/>
          <a:lstStyle/>
          <a:p>
            <a:endParaRPr lang="en-US"/>
          </a:p>
        </p:txBody>
      </p:sp>
      <p:sp>
        <p:nvSpPr>
          <p:cNvPr id="11" name="Rectangle 10">
            <a:extLst>
              <a:ext uri="{FF2B5EF4-FFF2-40B4-BE49-F238E27FC236}">
                <a16:creationId xmlns:a16="http://schemas.microsoft.com/office/drawing/2014/main" id="{2948E7FE-46A6-45B4-AADC-98E26C8A616D}"/>
              </a:ext>
            </a:extLst>
          </p:cNvPr>
          <p:cNvSpPr>
            <a:spLocks noGrp="1"/>
          </p:cNvSpPr>
          <p:nvPr/>
        </p:nvSpPr>
        <p:spPr>
          <a:xfrm>
            <a:off x="1076325" y="3257550"/>
            <a:ext cx="4210050" cy="571500"/>
          </a:xfrm>
          <a:prstGeom prst="rect">
            <a:avLst/>
          </a:prstGeom>
          <a:noFill/>
          <a:ln w="0">
            <a:noFill/>
            <a:prstDash val="solid"/>
          </a:ln>
        </p:spPr>
        <p:txBody>
          <a:bodyPr wrap="square" lIns="38100" tIns="19050" rIns="38100" bIns="19050" anchor="t">
            <a:normAutofit/>
          </a:bodyPr>
          <a:lstStyle/>
          <a:p>
            <a:pPr algn="l">
              <a:defRPr sz="1350" b="0" i="0">
                <a:solidFill>
                  <a:srgbClr val="263746"/>
                </a:solidFill>
                <a:latin typeface="Arial"/>
                <a:ea typeface="Arial"/>
                <a:cs typeface="Arial"/>
              </a:defRPr>
            </a:pPr>
            <a:r>
              <a:rPr sz="1350" b="1" i="0" dirty="0">
                <a:solidFill>
                  <a:srgbClr val="263746"/>
                </a:solidFill>
                <a:latin typeface="Arial"/>
                <a:ea typeface="Arial"/>
                <a:cs typeface="Arial"/>
              </a:rPr>
              <a:t>Precision · Recall · F1</a:t>
            </a:r>
            <a:r>
              <a:rPr sz="1350" b="0" i="0" dirty="0">
                <a:solidFill>
                  <a:srgbClr val="263746"/>
                </a:solidFill>
                <a:latin typeface="Arial"/>
                <a:ea typeface="Arial"/>
                <a:cs typeface="Arial"/>
              </a:rPr>
              <a:t> — </a:t>
            </a:r>
            <a:r>
              <a:rPr sz="1350" b="0" i="0" dirty="0" err="1">
                <a:solidFill>
                  <a:srgbClr val="263746"/>
                </a:solidFill>
                <a:latin typeface="Arial"/>
                <a:ea typeface="Arial"/>
                <a:cs typeface="Arial"/>
              </a:rPr>
              <a:t>квалитет</a:t>
            </a:r>
            <a:r>
              <a:rPr sz="1350" b="0" i="0" dirty="0">
                <a:solidFill>
                  <a:srgbClr val="263746"/>
                </a:solidFill>
                <a:latin typeface="Arial"/>
                <a:ea typeface="Arial"/>
                <a:cs typeface="Arial"/>
              </a:rPr>
              <a:t> </a:t>
            </a:r>
            <a:r>
              <a:rPr sz="1350" b="0" i="0" dirty="0" err="1">
                <a:solidFill>
                  <a:srgbClr val="263746"/>
                </a:solidFill>
                <a:latin typeface="Arial"/>
                <a:ea typeface="Arial"/>
                <a:cs typeface="Arial"/>
              </a:rPr>
              <a:t>на</a:t>
            </a:r>
            <a:r>
              <a:rPr sz="1350" b="0" i="0" dirty="0">
                <a:solidFill>
                  <a:srgbClr val="263746"/>
                </a:solidFill>
                <a:latin typeface="Arial"/>
                <a:ea typeface="Arial"/>
                <a:cs typeface="Arial"/>
              </a:rPr>
              <a:t> </a:t>
            </a:r>
            <a:r>
              <a:rPr sz="1350" b="0" i="0" dirty="0" err="1">
                <a:solidFill>
                  <a:srgbClr val="263746"/>
                </a:solidFill>
                <a:latin typeface="Arial"/>
                <a:ea typeface="Arial"/>
                <a:cs typeface="Arial"/>
              </a:rPr>
              <a:t>генерираното</a:t>
            </a:r>
            <a:r>
              <a:rPr sz="1350" b="0" i="0" dirty="0">
                <a:solidFill>
                  <a:srgbClr val="263746"/>
                </a:solidFill>
                <a:latin typeface="Arial"/>
                <a:ea typeface="Arial"/>
                <a:cs typeface="Arial"/>
              </a:rPr>
              <a:t> </a:t>
            </a:r>
            <a:r>
              <a:rPr sz="1350" b="0" i="0" dirty="0" err="1">
                <a:solidFill>
                  <a:srgbClr val="263746"/>
                </a:solidFill>
                <a:latin typeface="Arial"/>
                <a:ea typeface="Arial"/>
                <a:cs typeface="Arial"/>
              </a:rPr>
              <a:t>множество</a:t>
            </a:r>
            <a:endParaRPr sz="1350" b="0" i="0" dirty="0">
              <a:solidFill>
                <a:srgbClr val="263746"/>
              </a:solidFill>
              <a:latin typeface="Arial"/>
              <a:ea typeface="Arial"/>
              <a:cs typeface="Arial"/>
            </a:endParaRPr>
          </a:p>
        </p:txBody>
      </p:sp>
      <p:sp>
        <p:nvSpPr>
          <p:cNvPr id="12" name="Rectangle 11">
            <a:extLst>
              <a:ext uri="{FF2B5EF4-FFF2-40B4-BE49-F238E27FC236}">
                <a16:creationId xmlns:a16="http://schemas.microsoft.com/office/drawing/2014/main" id="{7B27F998-8ACB-49FA-8FE8-13AF3A5A9764}"/>
              </a:ext>
            </a:extLst>
          </p:cNvPr>
          <p:cNvSpPr>
            <a:spLocks noGrp="1"/>
          </p:cNvSpPr>
          <p:nvPr/>
        </p:nvSpPr>
        <p:spPr>
          <a:xfrm>
            <a:off x="6191250" y="1104900"/>
            <a:ext cx="5334000" cy="381000"/>
          </a:xfrm>
          <a:prstGeom prst="rect">
            <a:avLst/>
          </a:prstGeom>
          <a:noFill/>
          <a:ln w="0">
            <a:noFill/>
            <a:prstDash val="solid"/>
          </a:ln>
        </p:spPr>
        <p:txBody>
          <a:bodyPr wrap="square" lIns="38100" tIns="19050" rIns="38100" bIns="19050" anchor="ctr">
            <a:normAutofit fontScale="92500"/>
          </a:bodyPr>
          <a:lstStyle/>
          <a:p>
            <a:pPr algn="l">
              <a:defRPr sz="1800" b="1" i="0">
                <a:solidFill>
                  <a:srgbClr val="4E9B69"/>
                </a:solidFill>
                <a:latin typeface="Arial"/>
                <a:ea typeface="Arial"/>
                <a:cs typeface="Arial"/>
              </a:defRPr>
            </a:pPr>
            <a:r>
              <a:rPr lang="mk-MK" sz="1800" b="1" i="0" dirty="0">
                <a:solidFill>
                  <a:srgbClr val="4E9B69"/>
                </a:solidFill>
                <a:latin typeface="Arial"/>
                <a:ea typeface="Arial"/>
                <a:cs typeface="Arial"/>
              </a:rPr>
              <a:t>Потрошувачка и и</a:t>
            </a:r>
            <a:r>
              <a:rPr sz="1800" b="1" i="0" dirty="0" err="1">
                <a:solidFill>
                  <a:srgbClr val="4E9B69"/>
                </a:solidFill>
                <a:latin typeface="Arial"/>
                <a:ea typeface="Arial"/>
                <a:cs typeface="Arial"/>
              </a:rPr>
              <a:t>скористување</a:t>
            </a:r>
            <a:r>
              <a:rPr sz="1800" b="1" i="0" dirty="0">
                <a:solidFill>
                  <a:srgbClr val="4E9B69"/>
                </a:solidFill>
                <a:latin typeface="Arial"/>
                <a:ea typeface="Arial"/>
                <a:cs typeface="Arial"/>
              </a:rPr>
              <a:t> </a:t>
            </a:r>
            <a:r>
              <a:rPr sz="1800" b="1" i="0" dirty="0" err="1">
                <a:solidFill>
                  <a:srgbClr val="4E9B69"/>
                </a:solidFill>
                <a:latin typeface="Arial"/>
                <a:ea typeface="Arial"/>
                <a:cs typeface="Arial"/>
              </a:rPr>
              <a:t>на</a:t>
            </a:r>
            <a:r>
              <a:rPr sz="1800" b="1" i="0" dirty="0">
                <a:solidFill>
                  <a:srgbClr val="4E9B69"/>
                </a:solidFill>
                <a:latin typeface="Arial"/>
                <a:ea typeface="Arial"/>
                <a:cs typeface="Arial"/>
              </a:rPr>
              <a:t> </a:t>
            </a:r>
            <a:r>
              <a:rPr sz="1800" b="1" i="0" dirty="0" err="1">
                <a:solidFill>
                  <a:srgbClr val="4E9B69"/>
                </a:solidFill>
                <a:latin typeface="Arial"/>
                <a:ea typeface="Arial"/>
                <a:cs typeface="Arial"/>
              </a:rPr>
              <a:t>контекстот</a:t>
            </a:r>
            <a:endParaRPr sz="1800" b="1" i="0" dirty="0">
              <a:solidFill>
                <a:srgbClr val="4E9B69"/>
              </a:solidFill>
              <a:latin typeface="Arial"/>
              <a:ea typeface="Arial"/>
              <a:cs typeface="Arial"/>
            </a:endParaRPr>
          </a:p>
        </p:txBody>
      </p:sp>
      <p:sp>
        <p:nvSpPr>
          <p:cNvPr id="13" name="Rounded Rectangle 12">
            <a:extLst>
              <a:ext uri="{FF2B5EF4-FFF2-40B4-BE49-F238E27FC236}">
                <a16:creationId xmlns:a16="http://schemas.microsoft.com/office/drawing/2014/main" id="{332C47A0-2BA1-4C98-B549-A1CC40057B3E}"/>
              </a:ext>
            </a:extLst>
          </p:cNvPr>
          <p:cNvSpPr>
            <a:spLocks noGrp="1"/>
          </p:cNvSpPr>
          <p:nvPr/>
        </p:nvSpPr>
        <p:spPr>
          <a:xfrm>
            <a:off x="6096000" y="2914651"/>
            <a:ext cx="5334000" cy="1133474"/>
          </a:xfrm>
          <a:prstGeom prst="roundRect">
            <a:avLst>
              <a:gd name="adj" fmla="val 5490"/>
            </a:avLst>
          </a:prstGeom>
          <a:solidFill>
            <a:srgbClr val="EAF6EE"/>
          </a:solidFill>
          <a:ln w="14288">
            <a:solidFill>
              <a:srgbClr val="4E9B69"/>
            </a:solidFill>
            <a:prstDash val="solid"/>
          </a:ln>
        </p:spPr>
        <p:txBody>
          <a:bodyPr/>
          <a:lstStyle/>
          <a:p>
            <a:endParaRPr lang="en-US"/>
          </a:p>
        </p:txBody>
      </p:sp>
      <p:sp>
        <p:nvSpPr>
          <p:cNvPr id="14" name="Rectangle 13">
            <a:extLst>
              <a:ext uri="{FF2B5EF4-FFF2-40B4-BE49-F238E27FC236}">
                <a16:creationId xmlns:a16="http://schemas.microsoft.com/office/drawing/2014/main" id="{B71E8E00-1B49-4342-8EF5-3EB33477B780}"/>
              </a:ext>
            </a:extLst>
          </p:cNvPr>
          <p:cNvSpPr>
            <a:spLocks noGrp="1"/>
          </p:cNvSpPr>
          <p:nvPr/>
        </p:nvSpPr>
        <p:spPr>
          <a:xfrm>
            <a:off x="6429375" y="3068184"/>
            <a:ext cx="4857750" cy="285750"/>
          </a:xfrm>
          <a:prstGeom prst="rect">
            <a:avLst/>
          </a:prstGeom>
          <a:noFill/>
          <a:ln w="0">
            <a:noFill/>
            <a:prstDash val="solid"/>
          </a:ln>
        </p:spPr>
        <p:txBody>
          <a:bodyPr wrap="square" lIns="38100" tIns="19050" rIns="38100" bIns="19050" anchor="ctr">
            <a:normAutofit/>
          </a:bodyPr>
          <a:lstStyle/>
          <a:p>
            <a:pPr>
              <a:defRPr sz="1425" b="1" i="0">
                <a:solidFill>
                  <a:srgbClr val="4E9B69"/>
                </a:solidFill>
                <a:latin typeface="Arial"/>
                <a:ea typeface="Arial"/>
                <a:cs typeface="Arial"/>
              </a:defRPr>
            </a:pPr>
            <a:r>
              <a:rPr lang="en-US" sz="1400" dirty="0" err="1">
                <a:solidFill>
                  <a:schemeClr val="tx1">
                    <a:lumMod val="65000"/>
                    <a:lumOff val="35000"/>
                  </a:schemeClr>
                </a:solidFill>
                <a:latin typeface="Arial" panose="020B0604020202020204" pitchFamily="34" charset="0"/>
                <a:cs typeface="Arial" panose="020B0604020202020204" pitchFamily="34" charset="0"/>
              </a:rPr>
              <a:t>LLMOmissionGivenFullContext</a:t>
            </a:r>
            <a:endParaRPr sz="1425" b="1" i="0" dirty="0">
              <a:solidFill>
                <a:srgbClr val="4E9B69"/>
              </a:solidFill>
              <a:latin typeface="Arial"/>
              <a:ea typeface="Arial"/>
              <a:cs typeface="Arial"/>
            </a:endParaRPr>
          </a:p>
        </p:txBody>
      </p:sp>
      <p:sp>
        <p:nvSpPr>
          <p:cNvPr id="15" name="Rectangle 14">
            <a:extLst>
              <a:ext uri="{FF2B5EF4-FFF2-40B4-BE49-F238E27FC236}">
                <a16:creationId xmlns:a16="http://schemas.microsoft.com/office/drawing/2014/main" id="{508435CD-C610-47B9-9C8A-E98BFA416B7A}"/>
              </a:ext>
            </a:extLst>
          </p:cNvPr>
          <p:cNvSpPr>
            <a:spLocks noGrp="1"/>
          </p:cNvSpPr>
          <p:nvPr/>
        </p:nvSpPr>
        <p:spPr>
          <a:xfrm>
            <a:off x="6429375" y="3382509"/>
            <a:ext cx="4857750" cy="523875"/>
          </a:xfrm>
          <a:prstGeom prst="rect">
            <a:avLst/>
          </a:prstGeom>
          <a:noFill/>
          <a:ln w="0">
            <a:noFill/>
            <a:prstDash val="solid"/>
          </a:ln>
        </p:spPr>
        <p:txBody>
          <a:bodyPr wrap="square" lIns="38100" tIns="19050" rIns="38100" bIns="19050" anchor="ctr">
            <a:normAutofit/>
          </a:bodyPr>
          <a:lstStyle/>
          <a:p>
            <a:pPr>
              <a:defRPr sz="1275" b="0" i="0">
                <a:solidFill>
                  <a:srgbClr val="263746"/>
                </a:solidFill>
                <a:latin typeface="Arial"/>
                <a:ea typeface="Arial"/>
                <a:cs typeface="Arial"/>
              </a:defRPr>
            </a:pPr>
            <a:r>
              <a:rPr lang="mk-MK" sz="1200" dirty="0">
                <a:latin typeface="Arial" panose="020B0604020202020204" pitchFamily="34" charset="0"/>
                <a:cs typeface="Arial" panose="020B0604020202020204" pitchFamily="34" charset="0"/>
              </a:rPr>
              <a:t>Кај прашањата со целосен контекст, го мери уделот во кој моделот испушта најмалку еден точен одговор.</a:t>
            </a:r>
          </a:p>
        </p:txBody>
      </p:sp>
      <p:sp>
        <p:nvSpPr>
          <p:cNvPr id="20" name="Rectangle 19">
            <a:extLst>
              <a:ext uri="{FF2B5EF4-FFF2-40B4-BE49-F238E27FC236}">
                <a16:creationId xmlns:a16="http://schemas.microsoft.com/office/drawing/2014/main" id="{2FE5266B-F406-40A0-B9DD-1615044A173F}"/>
              </a:ext>
            </a:extLst>
          </p:cNvPr>
          <p:cNvSpPr>
            <a:spLocks noGrp="1"/>
          </p:cNvSpPr>
          <p:nvPr/>
        </p:nvSpPr>
        <p:spPr>
          <a:xfrm>
            <a:off x="1355725" y="5024437"/>
            <a:ext cx="8953500" cy="428625"/>
          </a:xfrm>
          <a:prstGeom prst="rect">
            <a:avLst/>
          </a:prstGeom>
          <a:noFill/>
          <a:ln w="0">
            <a:noFill/>
            <a:prstDash val="solid"/>
          </a:ln>
        </p:spPr>
        <p:txBody>
          <a:bodyPr wrap="square" lIns="38100" tIns="19050" rIns="38100" bIns="19050" anchor="ctr">
            <a:normAutofit fontScale="92500" lnSpcReduction="10000"/>
          </a:bodyPr>
          <a:lstStyle/>
          <a:p>
            <a:pPr lvl="1" algn="ctr">
              <a:defRPr sz="1500" b="1" i="0">
                <a:solidFill>
                  <a:srgbClr val="263746"/>
                </a:solidFill>
                <a:latin typeface="Arial"/>
                <a:ea typeface="Arial"/>
                <a:cs typeface="Arial"/>
              </a:defRPr>
            </a:pPr>
            <a:r>
              <a:rPr lang="en-US" sz="1500" b="1" i="0" dirty="0" err="1">
                <a:solidFill>
                  <a:srgbClr val="263746"/>
                </a:solidFill>
                <a:latin typeface="Arial"/>
                <a:ea typeface="Arial"/>
                <a:cs typeface="Arial"/>
              </a:rPr>
              <a:t>LLMOmission</a:t>
            </a:r>
            <a:r>
              <a:rPr lang="en-US" sz="1500" b="1" dirty="0" err="1">
                <a:solidFill>
                  <a:srgbClr val="263746"/>
                </a:solidFill>
                <a:latin typeface="Arial"/>
                <a:ea typeface="Arial"/>
                <a:cs typeface="Arial"/>
              </a:rPr>
              <a:t>GivenFullContext</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го</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изолира</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пропустот</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на</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јазичниот</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модел</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од</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загубата</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во</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претходните</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фази</a:t>
            </a:r>
            <a:r>
              <a:rPr sz="1500" b="1" i="0" dirty="0">
                <a:solidFill>
                  <a:srgbClr val="263746"/>
                </a:solidFill>
                <a:latin typeface="Arial"/>
                <a:ea typeface="Arial"/>
                <a:cs typeface="Arial"/>
              </a:rPr>
              <a:t>.</a:t>
            </a:r>
          </a:p>
        </p:txBody>
      </p:sp>
      <p:sp>
        <p:nvSpPr>
          <p:cNvPr id="26" name="Rounded Rectangle 25">
            <a:extLst>
              <a:ext uri="{FF2B5EF4-FFF2-40B4-BE49-F238E27FC236}">
                <a16:creationId xmlns:a16="http://schemas.microsoft.com/office/drawing/2014/main" id="{B854BD7D-76A0-7296-EEB8-7B93C25A72AF}"/>
              </a:ext>
            </a:extLst>
          </p:cNvPr>
          <p:cNvSpPr>
            <a:spLocks noGrp="1"/>
          </p:cNvSpPr>
          <p:nvPr/>
        </p:nvSpPr>
        <p:spPr>
          <a:xfrm>
            <a:off x="6096000" y="1599067"/>
            <a:ext cx="5334000" cy="1133474"/>
          </a:xfrm>
          <a:prstGeom prst="roundRect">
            <a:avLst>
              <a:gd name="adj" fmla="val 5490"/>
            </a:avLst>
          </a:prstGeom>
          <a:solidFill>
            <a:srgbClr val="EAF6EE"/>
          </a:solidFill>
          <a:ln w="14288">
            <a:solidFill>
              <a:srgbClr val="4E9B69"/>
            </a:solidFill>
            <a:prstDash val="solid"/>
          </a:ln>
        </p:spPr>
        <p:txBody>
          <a:bodyPr/>
          <a:lstStyle/>
          <a:p>
            <a:endParaRPr lang="en-US"/>
          </a:p>
        </p:txBody>
      </p:sp>
      <p:sp>
        <p:nvSpPr>
          <p:cNvPr id="27" name="Rectangle 26">
            <a:extLst>
              <a:ext uri="{FF2B5EF4-FFF2-40B4-BE49-F238E27FC236}">
                <a16:creationId xmlns:a16="http://schemas.microsoft.com/office/drawing/2014/main" id="{8BDBFC22-6ECD-5081-C6CB-96D494163297}"/>
              </a:ext>
            </a:extLst>
          </p:cNvPr>
          <p:cNvSpPr>
            <a:spLocks noGrp="1"/>
          </p:cNvSpPr>
          <p:nvPr/>
        </p:nvSpPr>
        <p:spPr>
          <a:xfrm>
            <a:off x="6429375" y="1752600"/>
            <a:ext cx="4857750" cy="285750"/>
          </a:xfrm>
          <a:prstGeom prst="rect">
            <a:avLst/>
          </a:prstGeom>
          <a:noFill/>
          <a:ln w="0">
            <a:noFill/>
            <a:prstDash val="solid"/>
          </a:ln>
        </p:spPr>
        <p:txBody>
          <a:bodyPr wrap="square" lIns="38100" tIns="19050" rIns="38100" bIns="19050" anchor="ctr">
            <a:normAutofit/>
          </a:bodyPr>
          <a:lstStyle/>
          <a:p>
            <a:pPr>
              <a:defRPr sz="1425" b="1" i="0">
                <a:solidFill>
                  <a:srgbClr val="4E9B69"/>
                </a:solidFill>
                <a:latin typeface="Arial"/>
                <a:ea typeface="Arial"/>
                <a:cs typeface="Arial"/>
              </a:defRPr>
            </a:pPr>
            <a:r>
              <a:rPr lang="en-US" sz="1400" b="1" i="0" dirty="0" err="1">
                <a:solidFill>
                  <a:schemeClr val="tx1">
                    <a:lumMod val="65000"/>
                    <a:lumOff val="35000"/>
                  </a:schemeClr>
                </a:solidFill>
                <a:latin typeface="Arial" panose="020B0604020202020204" pitchFamily="34" charset="0"/>
                <a:ea typeface="Arial"/>
                <a:cs typeface="Arial" panose="020B0604020202020204" pitchFamily="34" charset="0"/>
              </a:rPr>
              <a:t>TotalTokens</a:t>
            </a:r>
            <a:endParaRPr sz="1425" b="1" i="0" dirty="0">
              <a:solidFill>
                <a:srgbClr val="4E9B69"/>
              </a:solidFill>
              <a:latin typeface="Arial"/>
              <a:ea typeface="Arial"/>
              <a:cs typeface="Arial"/>
            </a:endParaRPr>
          </a:p>
        </p:txBody>
      </p:sp>
      <p:sp>
        <p:nvSpPr>
          <p:cNvPr id="28" name="Rectangle 27">
            <a:extLst>
              <a:ext uri="{FF2B5EF4-FFF2-40B4-BE49-F238E27FC236}">
                <a16:creationId xmlns:a16="http://schemas.microsoft.com/office/drawing/2014/main" id="{FF555CD0-CDDB-70DE-7F08-9755DB263669}"/>
              </a:ext>
            </a:extLst>
          </p:cNvPr>
          <p:cNvSpPr>
            <a:spLocks noGrp="1"/>
          </p:cNvSpPr>
          <p:nvPr/>
        </p:nvSpPr>
        <p:spPr>
          <a:xfrm>
            <a:off x="6429375" y="2066925"/>
            <a:ext cx="4857750" cy="523875"/>
          </a:xfrm>
          <a:prstGeom prst="rect">
            <a:avLst/>
          </a:prstGeom>
          <a:noFill/>
          <a:ln w="0">
            <a:noFill/>
            <a:prstDash val="solid"/>
          </a:ln>
        </p:spPr>
        <p:txBody>
          <a:bodyPr wrap="square" lIns="38100" tIns="19050" rIns="38100" bIns="19050" anchor="ctr">
            <a:normAutofit/>
          </a:bodyPr>
          <a:lstStyle/>
          <a:p>
            <a:pPr>
              <a:defRPr sz="1275" b="0" i="0">
                <a:solidFill>
                  <a:srgbClr val="263746"/>
                </a:solidFill>
                <a:latin typeface="Arial"/>
                <a:ea typeface="Arial"/>
                <a:cs typeface="Arial"/>
              </a:defRPr>
            </a:pPr>
            <a:r>
              <a:rPr lang="mk-MK" sz="1200" dirty="0">
                <a:latin typeface="Arial" panose="020B0604020202020204" pitchFamily="34" charset="0"/>
                <a:cs typeface="Arial" panose="020B0604020202020204" pitchFamily="34" charset="0"/>
              </a:rPr>
              <a:t>Вкупниот број на потрошени </a:t>
            </a:r>
            <a:r>
              <a:rPr lang="mk-MK" sz="1200" dirty="0" err="1">
                <a:latin typeface="Arial" panose="020B0604020202020204" pitchFamily="34" charset="0"/>
                <a:cs typeface="Arial" panose="020B0604020202020204" pitchFamily="34" charset="0"/>
              </a:rPr>
              <a:t>токени</a:t>
            </a:r>
            <a:r>
              <a:rPr lang="mk-MK" sz="1200" dirty="0">
                <a:latin typeface="Arial" panose="020B0604020202020204" pitchFamily="34" charset="0"/>
                <a:cs typeface="Arial" panose="020B0604020202020204" pitchFamily="34" charset="0"/>
              </a:rPr>
              <a:t> за генерирање на одговорот од страна на јазичниот модел</a:t>
            </a:r>
          </a:p>
        </p:txBody>
      </p:sp>
    </p:spTree>
    <p:extLst>
      <p:ext uri="{BB962C8B-B14F-4D97-AF65-F5344CB8AC3E}">
        <p14:creationId xmlns:p14="http://schemas.microsoft.com/office/powerpoint/2010/main" val="9452288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37CFBA19-D509-4280-9129-639F820296CE}"/>
              </a:ext>
            </a:extLst>
          </p:cNvPr>
          <p:cNvSpPr>
            <a:spLocks noGrp="1"/>
          </p:cNvSpPr>
          <p:nvPr/>
        </p:nvSpPr>
        <p:spPr>
          <a:xfrm>
            <a:off x="552450" y="209550"/>
            <a:ext cx="10763250" cy="523875"/>
          </a:xfrm>
          <a:prstGeom prst="rect">
            <a:avLst/>
          </a:prstGeom>
          <a:noFill/>
          <a:ln w="0">
            <a:noFill/>
            <a:prstDash val="solid"/>
          </a:ln>
        </p:spPr>
        <p:txBody>
          <a:bodyPr wrap="square" lIns="38100" tIns="19050" rIns="38100" bIns="19050" anchor="ctr">
            <a:normAutofit/>
          </a:bodyPr>
          <a:lstStyle/>
          <a:p>
            <a:pPr algn="l">
              <a:defRPr sz="2325" b="1" i="0">
                <a:solidFill>
                  <a:srgbClr val="263746"/>
                </a:solidFill>
                <a:latin typeface="Arial"/>
                <a:ea typeface="Arial"/>
                <a:cs typeface="Arial"/>
              </a:defRPr>
            </a:pPr>
            <a:r>
              <a:rPr sz="2325" b="1" i="0">
                <a:solidFill>
                  <a:srgbClr val="263746"/>
                </a:solidFill>
                <a:latin typeface="Arial"/>
                <a:ea typeface="Arial"/>
                <a:cs typeface="Arial"/>
              </a:rPr>
              <a:t>Квалитет и потрошувачка на токени</a:t>
            </a:r>
          </a:p>
        </p:txBody>
      </p:sp>
      <p:sp>
        <p:nvSpPr>
          <p:cNvPr id="2" name="Rectangle 1">
            <a:extLst>
              <a:ext uri="{FF2B5EF4-FFF2-40B4-BE49-F238E27FC236}">
                <a16:creationId xmlns:a16="http://schemas.microsoft.com/office/drawing/2014/main" id="{87B885FE-F30F-4348-B3F7-29C6FF16A349}"/>
              </a:ext>
            </a:extLst>
          </p:cNvPr>
          <p:cNvSpPr>
            <a:spLocks noGrp="1"/>
          </p:cNvSpPr>
          <p:nvPr/>
        </p:nvSpPr>
        <p:spPr>
          <a:xfrm>
            <a:off x="552450" y="781050"/>
            <a:ext cx="11087100" cy="38100"/>
          </a:xfrm>
          <a:prstGeom prst="rect">
            <a:avLst/>
          </a:prstGeom>
          <a:solidFill>
            <a:srgbClr val="8064A2"/>
          </a:solidFill>
          <a:ln w="0">
            <a:noFill/>
            <a:prstDash val="solid"/>
          </a:ln>
        </p:spPr>
        <p:txBody>
          <a:bodyPr/>
          <a:lstStyle/>
          <a:p>
            <a:endParaRPr lang="en-US"/>
          </a:p>
        </p:txBody>
      </p:sp>
      <p:sp>
        <p:nvSpPr>
          <p:cNvPr id="3" name="Rectangle 2">
            <a:extLst>
              <a:ext uri="{FF2B5EF4-FFF2-40B4-BE49-F238E27FC236}">
                <a16:creationId xmlns:a16="http://schemas.microsoft.com/office/drawing/2014/main" id="{9000464B-1275-4EBE-A25F-9B479A0BF501}"/>
              </a:ext>
            </a:extLst>
          </p:cNvPr>
          <p:cNvSpPr>
            <a:spLocks noGrp="1"/>
          </p:cNvSpPr>
          <p:nvPr/>
        </p:nvSpPr>
        <p:spPr>
          <a:xfrm>
            <a:off x="11315700" y="6486525"/>
            <a:ext cx="323850" cy="228600"/>
          </a:xfrm>
          <a:prstGeom prst="rect">
            <a:avLst/>
          </a:prstGeom>
          <a:noFill/>
          <a:ln w="0">
            <a:noFill/>
            <a:prstDash val="solid"/>
          </a:ln>
        </p:spPr>
        <p:txBody>
          <a:bodyPr wrap="square" lIns="38100" tIns="19050" rIns="38100" bIns="19050" anchor="b">
            <a:normAutofit/>
          </a:bodyPr>
          <a:lstStyle/>
          <a:p>
            <a:pPr algn="r">
              <a:defRPr sz="900" b="0" i="0">
                <a:solidFill>
                  <a:srgbClr val="617080"/>
                </a:solidFill>
                <a:latin typeface="Arial"/>
                <a:ea typeface="Arial"/>
                <a:cs typeface="Arial"/>
              </a:defRPr>
            </a:pPr>
            <a:r>
              <a:rPr sz="900" b="0" i="0">
                <a:solidFill>
                  <a:srgbClr val="617080"/>
                </a:solidFill>
                <a:latin typeface="Arial"/>
                <a:ea typeface="Arial"/>
                <a:cs typeface="Arial"/>
              </a:rPr>
              <a:t>19</a:t>
            </a:r>
          </a:p>
        </p:txBody>
      </p:sp>
      <p:pic>
        <p:nvPicPr>
          <p:cNvPr id="24" name="Picture 23"/>
          <p:cNvPicPr>
            <a:picLocks noChangeAspect="1"/>
          </p:cNvPicPr>
          <p:nvPr/>
        </p:nvPicPr>
        <p:blipFill>
          <a:blip r:embed="rId3"/>
          <a:stretch/>
        </p:blipFill>
        <p:spPr>
          <a:xfrm>
            <a:off x="428625" y="1019864"/>
            <a:ext cx="11334750" cy="3522872"/>
          </a:xfrm>
          <a:prstGeom prst="rect">
            <a:avLst/>
          </a:prstGeom>
        </p:spPr>
      </p:pic>
      <p:sp>
        <p:nvSpPr>
          <p:cNvPr id="5" name="Rounded Rectangle 4">
            <a:extLst>
              <a:ext uri="{FF2B5EF4-FFF2-40B4-BE49-F238E27FC236}">
                <a16:creationId xmlns:a16="http://schemas.microsoft.com/office/drawing/2014/main" id="{05ADEB02-BCB7-43E8-B0D6-0D9F36E8FD83}"/>
              </a:ext>
            </a:extLst>
          </p:cNvPr>
          <p:cNvSpPr>
            <a:spLocks noGrp="1"/>
          </p:cNvSpPr>
          <p:nvPr/>
        </p:nvSpPr>
        <p:spPr>
          <a:xfrm>
            <a:off x="666750" y="4791075"/>
            <a:ext cx="5191125" cy="1333500"/>
          </a:xfrm>
          <a:prstGeom prst="roundRect">
            <a:avLst>
              <a:gd name="adj" fmla="val 10000"/>
            </a:avLst>
          </a:prstGeom>
          <a:solidFill>
            <a:srgbClr val="EAF2FB"/>
          </a:solidFill>
          <a:ln w="14288">
            <a:solidFill>
              <a:srgbClr val="4F86C6"/>
            </a:solidFill>
            <a:prstDash val="solid"/>
          </a:ln>
        </p:spPr>
        <p:txBody>
          <a:bodyPr/>
          <a:lstStyle/>
          <a:p>
            <a:endParaRPr lang="en-US"/>
          </a:p>
        </p:txBody>
      </p:sp>
      <p:sp>
        <p:nvSpPr>
          <p:cNvPr id="6" name="Rectangle 5">
            <a:extLst>
              <a:ext uri="{FF2B5EF4-FFF2-40B4-BE49-F238E27FC236}">
                <a16:creationId xmlns:a16="http://schemas.microsoft.com/office/drawing/2014/main" id="{B5A862D6-FE89-4C25-882F-9EF3599CB8E1}"/>
              </a:ext>
            </a:extLst>
          </p:cNvPr>
          <p:cNvSpPr>
            <a:spLocks noGrp="1"/>
          </p:cNvSpPr>
          <p:nvPr/>
        </p:nvSpPr>
        <p:spPr>
          <a:xfrm>
            <a:off x="904875" y="4933950"/>
            <a:ext cx="4714875" cy="285750"/>
          </a:xfrm>
          <a:prstGeom prst="rect">
            <a:avLst/>
          </a:prstGeom>
          <a:noFill/>
          <a:ln w="0">
            <a:noFill/>
            <a:prstDash val="solid"/>
          </a:ln>
        </p:spPr>
        <p:txBody>
          <a:bodyPr wrap="square" lIns="38100" tIns="19050" rIns="38100" bIns="19050" anchor="ctr">
            <a:normAutofit/>
          </a:bodyPr>
          <a:lstStyle/>
          <a:p>
            <a:pPr algn="ctr">
              <a:defRPr sz="1500" b="1" i="0">
                <a:solidFill>
                  <a:srgbClr val="4F86C6"/>
                </a:solidFill>
                <a:latin typeface="Arial"/>
                <a:ea typeface="Arial"/>
                <a:cs typeface="Arial"/>
              </a:defRPr>
            </a:pPr>
            <a:r>
              <a:rPr sz="1500" b="1" i="0">
                <a:solidFill>
                  <a:srgbClr val="4F86C6"/>
                </a:solidFill>
                <a:latin typeface="Arial"/>
                <a:ea typeface="Arial"/>
                <a:cs typeface="Arial"/>
              </a:rPr>
              <a:t>Унија на најкратки патеки</a:t>
            </a:r>
          </a:p>
        </p:txBody>
      </p:sp>
      <p:sp>
        <p:nvSpPr>
          <p:cNvPr id="7" name="Rectangle 6">
            <a:extLst>
              <a:ext uri="{FF2B5EF4-FFF2-40B4-BE49-F238E27FC236}">
                <a16:creationId xmlns:a16="http://schemas.microsoft.com/office/drawing/2014/main" id="{498E3F20-FBB2-4B97-A316-90BA77C449F9}"/>
              </a:ext>
            </a:extLst>
          </p:cNvPr>
          <p:cNvSpPr>
            <a:spLocks noGrp="1"/>
          </p:cNvSpPr>
          <p:nvPr/>
        </p:nvSpPr>
        <p:spPr>
          <a:xfrm>
            <a:off x="790575" y="5305425"/>
            <a:ext cx="1581150" cy="514350"/>
          </a:xfrm>
          <a:prstGeom prst="rect">
            <a:avLst/>
          </a:prstGeom>
          <a:noFill/>
          <a:ln w="0">
            <a:noFill/>
            <a:prstDash val="solid"/>
          </a:ln>
        </p:spPr>
        <p:txBody>
          <a:bodyPr wrap="square" lIns="38100" tIns="19050" rIns="38100" bIns="19050" anchor="ctr">
            <a:normAutofit/>
          </a:bodyPr>
          <a:lstStyle/>
          <a:p>
            <a:pPr algn="ctr">
              <a:defRPr sz="1500" b="1" i="0">
                <a:solidFill>
                  <a:srgbClr val="4F86C6"/>
                </a:solidFill>
                <a:latin typeface="Arial"/>
                <a:ea typeface="Arial"/>
                <a:cs typeface="Arial"/>
              </a:defRPr>
            </a:pPr>
            <a:r>
              <a:rPr sz="1500" b="1" i="0">
                <a:solidFill>
                  <a:srgbClr val="4F86C6"/>
                </a:solidFill>
                <a:latin typeface="Arial"/>
                <a:ea typeface="Arial"/>
                <a:cs typeface="Arial"/>
              </a:rPr>
              <a:t>0,802 / 0,804</a:t>
            </a:r>
          </a:p>
        </p:txBody>
      </p:sp>
      <p:sp>
        <p:nvSpPr>
          <p:cNvPr id="8" name="Rectangle 7">
            <a:extLst>
              <a:ext uri="{FF2B5EF4-FFF2-40B4-BE49-F238E27FC236}">
                <a16:creationId xmlns:a16="http://schemas.microsoft.com/office/drawing/2014/main" id="{22F6321E-E6D2-425A-ABF0-9A809B10868A}"/>
              </a:ext>
            </a:extLst>
          </p:cNvPr>
          <p:cNvSpPr>
            <a:spLocks noGrp="1"/>
          </p:cNvSpPr>
          <p:nvPr/>
        </p:nvSpPr>
        <p:spPr>
          <a:xfrm>
            <a:off x="790575" y="5762625"/>
            <a:ext cx="1581150" cy="400050"/>
          </a:xfrm>
          <a:prstGeom prst="rect">
            <a:avLst/>
          </a:prstGeom>
          <a:noFill/>
          <a:ln w="0">
            <a:noFill/>
            <a:prstDash val="solid"/>
          </a:ln>
        </p:spPr>
        <p:txBody>
          <a:bodyPr wrap="square" lIns="38100" tIns="19050" rIns="38100" bIns="19050" anchor="t">
            <a:normAutofit/>
          </a:bodyPr>
          <a:lstStyle/>
          <a:p>
            <a:pPr algn="ctr">
              <a:defRPr sz="900" b="0" i="0">
                <a:solidFill>
                  <a:srgbClr val="617080"/>
                </a:solidFill>
                <a:latin typeface="Arial"/>
                <a:ea typeface="Arial"/>
                <a:cs typeface="Arial"/>
              </a:defRPr>
            </a:pPr>
            <a:r>
              <a:rPr sz="900" b="0" i="0">
                <a:solidFill>
                  <a:srgbClr val="617080"/>
                </a:solidFill>
                <a:latin typeface="Arial"/>
                <a:ea typeface="Arial"/>
                <a:cs typeface="Arial"/>
              </a:rPr>
              <a:t>Hit · DeepSeek / GPT</a:t>
            </a:r>
          </a:p>
        </p:txBody>
      </p:sp>
      <p:sp>
        <p:nvSpPr>
          <p:cNvPr id="9" name="Rectangle 8">
            <a:extLst>
              <a:ext uri="{FF2B5EF4-FFF2-40B4-BE49-F238E27FC236}">
                <a16:creationId xmlns:a16="http://schemas.microsoft.com/office/drawing/2014/main" id="{535A8276-40A7-43A8-AADB-1F6ECA27C3FC}"/>
              </a:ext>
            </a:extLst>
          </p:cNvPr>
          <p:cNvSpPr>
            <a:spLocks noGrp="1"/>
          </p:cNvSpPr>
          <p:nvPr/>
        </p:nvSpPr>
        <p:spPr>
          <a:xfrm>
            <a:off x="2466975" y="5305425"/>
            <a:ext cx="1581150" cy="514350"/>
          </a:xfrm>
          <a:prstGeom prst="rect">
            <a:avLst/>
          </a:prstGeom>
          <a:noFill/>
          <a:ln w="0">
            <a:noFill/>
            <a:prstDash val="solid"/>
          </a:ln>
        </p:spPr>
        <p:txBody>
          <a:bodyPr wrap="square" lIns="38100" tIns="19050" rIns="38100" bIns="19050" anchor="ctr">
            <a:normAutofit/>
          </a:bodyPr>
          <a:lstStyle/>
          <a:p>
            <a:pPr algn="ctr">
              <a:defRPr sz="1500" b="1" i="0">
                <a:solidFill>
                  <a:srgbClr val="4F86C6"/>
                </a:solidFill>
                <a:latin typeface="Arial"/>
                <a:ea typeface="Arial"/>
                <a:cs typeface="Arial"/>
              </a:defRPr>
            </a:pPr>
            <a:r>
              <a:rPr sz="1500" b="1" i="0">
                <a:solidFill>
                  <a:srgbClr val="4F86C6"/>
                </a:solidFill>
                <a:latin typeface="Arial"/>
                <a:ea typeface="Arial"/>
                <a:cs typeface="Arial"/>
              </a:rPr>
              <a:t>0,627 / 0,613</a:t>
            </a:r>
          </a:p>
        </p:txBody>
      </p:sp>
      <p:sp>
        <p:nvSpPr>
          <p:cNvPr id="10" name="Rectangle 9">
            <a:extLst>
              <a:ext uri="{FF2B5EF4-FFF2-40B4-BE49-F238E27FC236}">
                <a16:creationId xmlns:a16="http://schemas.microsoft.com/office/drawing/2014/main" id="{42FC6AAA-37B0-4A76-93FD-7C09FC40303A}"/>
              </a:ext>
            </a:extLst>
          </p:cNvPr>
          <p:cNvSpPr>
            <a:spLocks noGrp="1"/>
          </p:cNvSpPr>
          <p:nvPr/>
        </p:nvSpPr>
        <p:spPr>
          <a:xfrm>
            <a:off x="2466975" y="5762625"/>
            <a:ext cx="1581150" cy="400050"/>
          </a:xfrm>
          <a:prstGeom prst="rect">
            <a:avLst/>
          </a:prstGeom>
          <a:noFill/>
          <a:ln w="0">
            <a:noFill/>
            <a:prstDash val="solid"/>
          </a:ln>
        </p:spPr>
        <p:txBody>
          <a:bodyPr wrap="square" lIns="38100" tIns="19050" rIns="38100" bIns="19050" anchor="t">
            <a:normAutofit/>
          </a:bodyPr>
          <a:lstStyle/>
          <a:p>
            <a:pPr algn="ctr">
              <a:defRPr sz="900" b="0" i="0">
                <a:solidFill>
                  <a:srgbClr val="617080"/>
                </a:solidFill>
                <a:latin typeface="Arial"/>
                <a:ea typeface="Arial"/>
                <a:cs typeface="Arial"/>
              </a:defRPr>
            </a:pPr>
            <a:r>
              <a:rPr sz="900" b="0" i="0">
                <a:solidFill>
                  <a:srgbClr val="617080"/>
                </a:solidFill>
                <a:latin typeface="Arial"/>
                <a:ea typeface="Arial"/>
                <a:cs typeface="Arial"/>
              </a:rPr>
              <a:t>F1 · DeepSeek / GPT</a:t>
            </a:r>
          </a:p>
        </p:txBody>
      </p:sp>
      <p:sp>
        <p:nvSpPr>
          <p:cNvPr id="11" name="Rectangle 10">
            <a:extLst>
              <a:ext uri="{FF2B5EF4-FFF2-40B4-BE49-F238E27FC236}">
                <a16:creationId xmlns:a16="http://schemas.microsoft.com/office/drawing/2014/main" id="{E2A9EF80-F130-41A9-B005-171851E21B0A}"/>
              </a:ext>
            </a:extLst>
          </p:cNvPr>
          <p:cNvSpPr>
            <a:spLocks noGrp="1"/>
          </p:cNvSpPr>
          <p:nvPr/>
        </p:nvSpPr>
        <p:spPr>
          <a:xfrm>
            <a:off x="4143375" y="5305425"/>
            <a:ext cx="1581150" cy="514350"/>
          </a:xfrm>
          <a:prstGeom prst="rect">
            <a:avLst/>
          </a:prstGeom>
          <a:noFill/>
          <a:ln w="0">
            <a:noFill/>
            <a:prstDash val="solid"/>
          </a:ln>
        </p:spPr>
        <p:txBody>
          <a:bodyPr wrap="square" lIns="38100" tIns="19050" rIns="38100" bIns="19050" anchor="ctr">
            <a:normAutofit/>
          </a:bodyPr>
          <a:lstStyle/>
          <a:p>
            <a:pPr algn="ctr">
              <a:defRPr sz="1500" b="1" i="0">
                <a:solidFill>
                  <a:srgbClr val="4F86C6"/>
                </a:solidFill>
                <a:latin typeface="Arial"/>
                <a:ea typeface="Arial"/>
                <a:cs typeface="Arial"/>
              </a:defRPr>
            </a:pPr>
            <a:r>
              <a:rPr sz="1500" b="1" i="0">
                <a:solidFill>
                  <a:srgbClr val="4F86C6"/>
                </a:solidFill>
                <a:latin typeface="Arial"/>
                <a:ea typeface="Arial"/>
                <a:cs typeface="Arial"/>
              </a:rPr>
              <a:t>3,42 / 3,07 M</a:t>
            </a:r>
          </a:p>
        </p:txBody>
      </p:sp>
      <p:sp>
        <p:nvSpPr>
          <p:cNvPr id="12" name="Rectangle 11">
            <a:extLst>
              <a:ext uri="{FF2B5EF4-FFF2-40B4-BE49-F238E27FC236}">
                <a16:creationId xmlns:a16="http://schemas.microsoft.com/office/drawing/2014/main" id="{7741351D-F43E-4126-9334-46E72FE1B3EF}"/>
              </a:ext>
            </a:extLst>
          </p:cNvPr>
          <p:cNvSpPr>
            <a:spLocks noGrp="1"/>
          </p:cNvSpPr>
          <p:nvPr/>
        </p:nvSpPr>
        <p:spPr>
          <a:xfrm>
            <a:off x="4143375" y="5762625"/>
            <a:ext cx="1581150" cy="400050"/>
          </a:xfrm>
          <a:prstGeom prst="rect">
            <a:avLst/>
          </a:prstGeom>
          <a:noFill/>
          <a:ln w="0">
            <a:noFill/>
            <a:prstDash val="solid"/>
          </a:ln>
        </p:spPr>
        <p:txBody>
          <a:bodyPr wrap="square" lIns="38100" tIns="19050" rIns="38100" bIns="19050" anchor="t">
            <a:normAutofit/>
          </a:bodyPr>
          <a:lstStyle/>
          <a:p>
            <a:pPr algn="ctr">
              <a:defRPr sz="900" b="0" i="0">
                <a:solidFill>
                  <a:srgbClr val="617080"/>
                </a:solidFill>
                <a:latin typeface="Arial"/>
                <a:ea typeface="Arial"/>
                <a:cs typeface="Arial"/>
              </a:defRPr>
            </a:pPr>
            <a:r>
              <a:rPr sz="900" b="0" i="0" dirty="0" err="1">
                <a:solidFill>
                  <a:srgbClr val="617080"/>
                </a:solidFill>
                <a:latin typeface="Arial"/>
                <a:ea typeface="Arial"/>
                <a:cs typeface="Arial"/>
              </a:rPr>
              <a:t>токени</a:t>
            </a:r>
            <a:r>
              <a:rPr sz="900" b="0" i="0" dirty="0">
                <a:solidFill>
                  <a:srgbClr val="617080"/>
                </a:solidFill>
                <a:latin typeface="Arial"/>
                <a:ea typeface="Arial"/>
                <a:cs typeface="Arial"/>
              </a:rPr>
              <a:t> · DeepSeek / GPT</a:t>
            </a:r>
          </a:p>
        </p:txBody>
      </p:sp>
      <p:sp>
        <p:nvSpPr>
          <p:cNvPr id="13" name="Rounded Rectangle 12">
            <a:extLst>
              <a:ext uri="{FF2B5EF4-FFF2-40B4-BE49-F238E27FC236}">
                <a16:creationId xmlns:a16="http://schemas.microsoft.com/office/drawing/2014/main" id="{363A3EB2-A9CF-49E0-A51A-F7925D4EE6B8}"/>
              </a:ext>
            </a:extLst>
          </p:cNvPr>
          <p:cNvSpPr>
            <a:spLocks noGrp="1"/>
          </p:cNvSpPr>
          <p:nvPr/>
        </p:nvSpPr>
        <p:spPr>
          <a:xfrm>
            <a:off x="6334125" y="4791075"/>
            <a:ext cx="5191125" cy="1333500"/>
          </a:xfrm>
          <a:prstGeom prst="roundRect">
            <a:avLst>
              <a:gd name="adj" fmla="val 10000"/>
            </a:avLst>
          </a:prstGeom>
          <a:solidFill>
            <a:srgbClr val="E8F5F3"/>
          </a:solidFill>
          <a:ln w="14288">
            <a:solidFill>
              <a:srgbClr val="398D84"/>
            </a:solidFill>
            <a:prstDash val="solid"/>
          </a:ln>
        </p:spPr>
        <p:txBody>
          <a:bodyPr/>
          <a:lstStyle/>
          <a:p>
            <a:endParaRPr lang="en-US"/>
          </a:p>
        </p:txBody>
      </p:sp>
      <p:sp>
        <p:nvSpPr>
          <p:cNvPr id="14" name="Rectangle 13">
            <a:extLst>
              <a:ext uri="{FF2B5EF4-FFF2-40B4-BE49-F238E27FC236}">
                <a16:creationId xmlns:a16="http://schemas.microsoft.com/office/drawing/2014/main" id="{5FA5216A-839A-41F2-9FCD-6125BC38CEE3}"/>
              </a:ext>
            </a:extLst>
          </p:cNvPr>
          <p:cNvSpPr>
            <a:spLocks noGrp="1"/>
          </p:cNvSpPr>
          <p:nvPr/>
        </p:nvSpPr>
        <p:spPr>
          <a:xfrm>
            <a:off x="6572250" y="4933950"/>
            <a:ext cx="4714875" cy="285750"/>
          </a:xfrm>
          <a:prstGeom prst="rect">
            <a:avLst/>
          </a:prstGeom>
          <a:noFill/>
          <a:ln w="0">
            <a:noFill/>
            <a:prstDash val="solid"/>
          </a:ln>
        </p:spPr>
        <p:txBody>
          <a:bodyPr wrap="square" lIns="38100" tIns="19050" rIns="38100" bIns="19050" anchor="ctr">
            <a:normAutofit/>
          </a:bodyPr>
          <a:lstStyle/>
          <a:p>
            <a:pPr algn="ctr">
              <a:defRPr sz="1500" b="1" i="0">
                <a:solidFill>
                  <a:srgbClr val="398D84"/>
                </a:solidFill>
                <a:latin typeface="Arial"/>
                <a:ea typeface="Arial"/>
                <a:cs typeface="Arial"/>
              </a:defRPr>
            </a:pPr>
            <a:r>
              <a:rPr sz="1500" b="1" i="0">
                <a:solidFill>
                  <a:srgbClr val="398D84"/>
                </a:solidFill>
                <a:latin typeface="Arial"/>
                <a:ea typeface="Arial"/>
                <a:cs typeface="Arial"/>
              </a:rPr>
              <a:t>Семантички PCST, λ=1</a:t>
            </a:r>
          </a:p>
        </p:txBody>
      </p:sp>
      <p:sp>
        <p:nvSpPr>
          <p:cNvPr id="15" name="Rectangle 14">
            <a:extLst>
              <a:ext uri="{FF2B5EF4-FFF2-40B4-BE49-F238E27FC236}">
                <a16:creationId xmlns:a16="http://schemas.microsoft.com/office/drawing/2014/main" id="{56E72E37-F983-4556-A1F6-1FF887208E85}"/>
              </a:ext>
            </a:extLst>
          </p:cNvPr>
          <p:cNvSpPr>
            <a:spLocks noGrp="1"/>
          </p:cNvSpPr>
          <p:nvPr/>
        </p:nvSpPr>
        <p:spPr>
          <a:xfrm>
            <a:off x="6457950" y="5305425"/>
            <a:ext cx="1581150" cy="514350"/>
          </a:xfrm>
          <a:prstGeom prst="rect">
            <a:avLst/>
          </a:prstGeom>
          <a:noFill/>
          <a:ln w="0">
            <a:noFill/>
            <a:prstDash val="solid"/>
          </a:ln>
        </p:spPr>
        <p:txBody>
          <a:bodyPr wrap="square" lIns="38100" tIns="19050" rIns="38100" bIns="19050" anchor="ctr">
            <a:normAutofit/>
          </a:bodyPr>
          <a:lstStyle/>
          <a:p>
            <a:pPr algn="ctr">
              <a:defRPr sz="1500" b="1" i="0">
                <a:solidFill>
                  <a:srgbClr val="398D84"/>
                </a:solidFill>
                <a:latin typeface="Arial"/>
                <a:ea typeface="Arial"/>
                <a:cs typeface="Arial"/>
              </a:defRPr>
            </a:pPr>
            <a:r>
              <a:rPr sz="1500" b="1" i="0">
                <a:solidFill>
                  <a:srgbClr val="398D84"/>
                </a:solidFill>
                <a:latin typeface="Arial"/>
                <a:ea typeface="Arial"/>
                <a:cs typeface="Arial"/>
              </a:rPr>
              <a:t>0,689 / 0,728</a:t>
            </a:r>
          </a:p>
        </p:txBody>
      </p:sp>
      <p:sp>
        <p:nvSpPr>
          <p:cNvPr id="16" name="Rectangle 15">
            <a:extLst>
              <a:ext uri="{FF2B5EF4-FFF2-40B4-BE49-F238E27FC236}">
                <a16:creationId xmlns:a16="http://schemas.microsoft.com/office/drawing/2014/main" id="{E09A0ABF-C1F3-46F4-9235-AF36E5F82310}"/>
              </a:ext>
            </a:extLst>
          </p:cNvPr>
          <p:cNvSpPr>
            <a:spLocks noGrp="1"/>
          </p:cNvSpPr>
          <p:nvPr/>
        </p:nvSpPr>
        <p:spPr>
          <a:xfrm>
            <a:off x="6457950" y="5762625"/>
            <a:ext cx="1581150" cy="400050"/>
          </a:xfrm>
          <a:prstGeom prst="rect">
            <a:avLst/>
          </a:prstGeom>
          <a:noFill/>
          <a:ln w="0">
            <a:noFill/>
            <a:prstDash val="solid"/>
          </a:ln>
        </p:spPr>
        <p:txBody>
          <a:bodyPr wrap="square" lIns="38100" tIns="19050" rIns="38100" bIns="19050" anchor="t">
            <a:normAutofit/>
          </a:bodyPr>
          <a:lstStyle/>
          <a:p>
            <a:pPr algn="ctr">
              <a:defRPr sz="900" b="0" i="0">
                <a:solidFill>
                  <a:srgbClr val="617080"/>
                </a:solidFill>
                <a:latin typeface="Arial"/>
                <a:ea typeface="Arial"/>
                <a:cs typeface="Arial"/>
              </a:defRPr>
            </a:pPr>
            <a:r>
              <a:rPr sz="900" b="0" i="0">
                <a:solidFill>
                  <a:srgbClr val="617080"/>
                </a:solidFill>
                <a:latin typeface="Arial"/>
                <a:ea typeface="Arial"/>
                <a:cs typeface="Arial"/>
              </a:rPr>
              <a:t>Hit · DeepSeek / GPT</a:t>
            </a:r>
          </a:p>
        </p:txBody>
      </p:sp>
      <p:sp>
        <p:nvSpPr>
          <p:cNvPr id="17" name="Rectangle 16">
            <a:extLst>
              <a:ext uri="{FF2B5EF4-FFF2-40B4-BE49-F238E27FC236}">
                <a16:creationId xmlns:a16="http://schemas.microsoft.com/office/drawing/2014/main" id="{BF36BC57-7632-4D6D-BB6E-F8FD540772E2}"/>
              </a:ext>
            </a:extLst>
          </p:cNvPr>
          <p:cNvSpPr>
            <a:spLocks noGrp="1"/>
          </p:cNvSpPr>
          <p:nvPr/>
        </p:nvSpPr>
        <p:spPr>
          <a:xfrm>
            <a:off x="8134350" y="5305425"/>
            <a:ext cx="1581150" cy="514350"/>
          </a:xfrm>
          <a:prstGeom prst="rect">
            <a:avLst/>
          </a:prstGeom>
          <a:noFill/>
          <a:ln w="0">
            <a:noFill/>
            <a:prstDash val="solid"/>
          </a:ln>
        </p:spPr>
        <p:txBody>
          <a:bodyPr wrap="square" lIns="38100" tIns="19050" rIns="38100" bIns="19050" anchor="ctr">
            <a:normAutofit/>
          </a:bodyPr>
          <a:lstStyle/>
          <a:p>
            <a:pPr algn="ctr">
              <a:defRPr sz="1500" b="1" i="0">
                <a:solidFill>
                  <a:srgbClr val="398D84"/>
                </a:solidFill>
                <a:latin typeface="Arial"/>
                <a:ea typeface="Arial"/>
                <a:cs typeface="Arial"/>
              </a:defRPr>
            </a:pPr>
            <a:r>
              <a:rPr sz="1500" b="1" i="0">
                <a:solidFill>
                  <a:srgbClr val="398D84"/>
                </a:solidFill>
                <a:latin typeface="Arial"/>
                <a:ea typeface="Arial"/>
                <a:cs typeface="Arial"/>
              </a:rPr>
              <a:t>0,492 / 0,477</a:t>
            </a:r>
          </a:p>
        </p:txBody>
      </p:sp>
      <p:sp>
        <p:nvSpPr>
          <p:cNvPr id="18" name="Rectangle 17">
            <a:extLst>
              <a:ext uri="{FF2B5EF4-FFF2-40B4-BE49-F238E27FC236}">
                <a16:creationId xmlns:a16="http://schemas.microsoft.com/office/drawing/2014/main" id="{76ABFF4D-F7E0-40FB-ABF0-8036F8329BEB}"/>
              </a:ext>
            </a:extLst>
          </p:cNvPr>
          <p:cNvSpPr>
            <a:spLocks noGrp="1"/>
          </p:cNvSpPr>
          <p:nvPr/>
        </p:nvSpPr>
        <p:spPr>
          <a:xfrm>
            <a:off x="8134350" y="5762625"/>
            <a:ext cx="1581150" cy="400050"/>
          </a:xfrm>
          <a:prstGeom prst="rect">
            <a:avLst/>
          </a:prstGeom>
          <a:noFill/>
          <a:ln w="0">
            <a:noFill/>
            <a:prstDash val="solid"/>
          </a:ln>
        </p:spPr>
        <p:txBody>
          <a:bodyPr wrap="square" lIns="38100" tIns="19050" rIns="38100" bIns="19050" anchor="t">
            <a:normAutofit/>
          </a:bodyPr>
          <a:lstStyle/>
          <a:p>
            <a:pPr algn="ctr">
              <a:defRPr sz="900" b="0" i="0">
                <a:solidFill>
                  <a:srgbClr val="617080"/>
                </a:solidFill>
                <a:latin typeface="Arial"/>
                <a:ea typeface="Arial"/>
                <a:cs typeface="Arial"/>
              </a:defRPr>
            </a:pPr>
            <a:r>
              <a:rPr sz="900" b="0" i="0">
                <a:solidFill>
                  <a:srgbClr val="617080"/>
                </a:solidFill>
                <a:latin typeface="Arial"/>
                <a:ea typeface="Arial"/>
                <a:cs typeface="Arial"/>
              </a:rPr>
              <a:t>F1 · DeepSeek / GPT</a:t>
            </a:r>
          </a:p>
        </p:txBody>
      </p:sp>
      <p:sp>
        <p:nvSpPr>
          <p:cNvPr id="19" name="Rectangle 18">
            <a:extLst>
              <a:ext uri="{FF2B5EF4-FFF2-40B4-BE49-F238E27FC236}">
                <a16:creationId xmlns:a16="http://schemas.microsoft.com/office/drawing/2014/main" id="{0EED459C-496A-43E6-936B-62CB172534ED}"/>
              </a:ext>
            </a:extLst>
          </p:cNvPr>
          <p:cNvSpPr>
            <a:spLocks noGrp="1"/>
          </p:cNvSpPr>
          <p:nvPr/>
        </p:nvSpPr>
        <p:spPr>
          <a:xfrm>
            <a:off x="9810750" y="5305425"/>
            <a:ext cx="1581150" cy="514350"/>
          </a:xfrm>
          <a:prstGeom prst="rect">
            <a:avLst/>
          </a:prstGeom>
          <a:noFill/>
          <a:ln w="0">
            <a:noFill/>
            <a:prstDash val="solid"/>
          </a:ln>
        </p:spPr>
        <p:txBody>
          <a:bodyPr wrap="square" lIns="38100" tIns="19050" rIns="38100" bIns="19050" anchor="ctr">
            <a:normAutofit/>
          </a:bodyPr>
          <a:lstStyle/>
          <a:p>
            <a:pPr algn="ctr">
              <a:defRPr sz="1500" b="1" i="0">
                <a:solidFill>
                  <a:srgbClr val="398D84"/>
                </a:solidFill>
                <a:latin typeface="Arial"/>
                <a:ea typeface="Arial"/>
                <a:cs typeface="Arial"/>
              </a:defRPr>
            </a:pPr>
            <a:r>
              <a:rPr sz="1500" b="1" i="0">
                <a:solidFill>
                  <a:srgbClr val="398D84"/>
                </a:solidFill>
                <a:latin typeface="Arial"/>
                <a:ea typeface="Arial"/>
                <a:cs typeface="Arial"/>
              </a:rPr>
              <a:t>0,69 / 0,66 M</a:t>
            </a:r>
          </a:p>
        </p:txBody>
      </p:sp>
      <p:sp>
        <p:nvSpPr>
          <p:cNvPr id="20" name="Rectangle 19">
            <a:extLst>
              <a:ext uri="{FF2B5EF4-FFF2-40B4-BE49-F238E27FC236}">
                <a16:creationId xmlns:a16="http://schemas.microsoft.com/office/drawing/2014/main" id="{CE28770A-CC0E-4D04-97BB-70744DDD2E11}"/>
              </a:ext>
            </a:extLst>
          </p:cNvPr>
          <p:cNvSpPr>
            <a:spLocks noGrp="1"/>
          </p:cNvSpPr>
          <p:nvPr/>
        </p:nvSpPr>
        <p:spPr>
          <a:xfrm>
            <a:off x="9810750" y="5762625"/>
            <a:ext cx="1581150" cy="400050"/>
          </a:xfrm>
          <a:prstGeom prst="rect">
            <a:avLst/>
          </a:prstGeom>
          <a:noFill/>
          <a:ln w="0">
            <a:noFill/>
            <a:prstDash val="solid"/>
          </a:ln>
        </p:spPr>
        <p:txBody>
          <a:bodyPr wrap="square" lIns="38100" tIns="19050" rIns="38100" bIns="19050" anchor="t">
            <a:normAutofit/>
          </a:bodyPr>
          <a:lstStyle/>
          <a:p>
            <a:pPr algn="ctr">
              <a:defRPr sz="900" b="0" i="0">
                <a:solidFill>
                  <a:srgbClr val="617080"/>
                </a:solidFill>
                <a:latin typeface="Arial"/>
                <a:ea typeface="Arial"/>
                <a:cs typeface="Arial"/>
              </a:defRPr>
            </a:pPr>
            <a:r>
              <a:rPr sz="900" b="0" i="0" dirty="0" err="1">
                <a:solidFill>
                  <a:srgbClr val="617080"/>
                </a:solidFill>
                <a:latin typeface="Arial"/>
                <a:ea typeface="Arial"/>
                <a:cs typeface="Arial"/>
              </a:rPr>
              <a:t>токени</a:t>
            </a:r>
            <a:r>
              <a:rPr sz="900" b="0" i="0" dirty="0">
                <a:solidFill>
                  <a:srgbClr val="617080"/>
                </a:solidFill>
                <a:latin typeface="Arial"/>
                <a:ea typeface="Arial"/>
                <a:cs typeface="Arial"/>
              </a:rPr>
              <a:t> · 78–80% </a:t>
            </a:r>
            <a:r>
              <a:rPr sz="900" b="0" i="0" dirty="0" err="1">
                <a:solidFill>
                  <a:srgbClr val="617080"/>
                </a:solidFill>
                <a:latin typeface="Arial"/>
                <a:ea typeface="Arial"/>
                <a:cs typeface="Arial"/>
              </a:rPr>
              <a:t>помалку</a:t>
            </a:r>
            <a:endParaRPr sz="900" b="0" i="0" dirty="0">
              <a:solidFill>
                <a:srgbClr val="617080"/>
              </a:solidFill>
              <a:latin typeface="Arial"/>
              <a:ea typeface="Arial"/>
              <a:cs typeface="Arial"/>
            </a:endParaRPr>
          </a:p>
        </p:txBody>
      </p:sp>
    </p:spTree>
    <p:extLst>
      <p:ext uri="{BB962C8B-B14F-4D97-AF65-F5344CB8AC3E}">
        <p14:creationId xmlns:p14="http://schemas.microsoft.com/office/powerpoint/2010/main" val="9189406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EABAACA-A7A8-470E-B2A7-257FDC1AFC0D}"/>
              </a:ext>
            </a:extLst>
          </p:cNvPr>
          <p:cNvSpPr>
            <a:spLocks noGrp="1"/>
          </p:cNvSpPr>
          <p:nvPr/>
        </p:nvSpPr>
        <p:spPr>
          <a:xfrm>
            <a:off x="552450" y="209550"/>
            <a:ext cx="10763250" cy="523875"/>
          </a:xfrm>
          <a:prstGeom prst="rect">
            <a:avLst/>
          </a:prstGeom>
          <a:noFill/>
          <a:ln w="0">
            <a:noFill/>
            <a:prstDash val="solid"/>
          </a:ln>
        </p:spPr>
        <p:txBody>
          <a:bodyPr wrap="square" lIns="38100" tIns="19050" rIns="38100" bIns="19050" anchor="ctr">
            <a:normAutofit/>
          </a:bodyPr>
          <a:lstStyle/>
          <a:p>
            <a:pPr algn="l">
              <a:defRPr sz="2325" b="1" i="0">
                <a:solidFill>
                  <a:srgbClr val="263746"/>
                </a:solidFill>
                <a:latin typeface="Arial"/>
                <a:ea typeface="Arial"/>
                <a:cs typeface="Arial"/>
              </a:defRPr>
            </a:pPr>
            <a:r>
              <a:rPr sz="2325" b="1" i="0">
                <a:solidFill>
                  <a:srgbClr val="263746"/>
                </a:solidFill>
                <a:latin typeface="Arial"/>
                <a:ea typeface="Arial"/>
                <a:cs typeface="Arial"/>
              </a:rPr>
              <a:t>Каде се губи информацијата?</a:t>
            </a:r>
          </a:p>
        </p:txBody>
      </p:sp>
      <p:sp>
        <p:nvSpPr>
          <p:cNvPr id="2" name="Rectangle 1">
            <a:extLst>
              <a:ext uri="{FF2B5EF4-FFF2-40B4-BE49-F238E27FC236}">
                <a16:creationId xmlns:a16="http://schemas.microsoft.com/office/drawing/2014/main" id="{9E1A01AF-5E90-4186-8B5A-5D7B908C0CF5}"/>
              </a:ext>
            </a:extLst>
          </p:cNvPr>
          <p:cNvSpPr>
            <a:spLocks noGrp="1"/>
          </p:cNvSpPr>
          <p:nvPr/>
        </p:nvSpPr>
        <p:spPr>
          <a:xfrm>
            <a:off x="552450" y="781050"/>
            <a:ext cx="11087100" cy="38100"/>
          </a:xfrm>
          <a:prstGeom prst="rect">
            <a:avLst/>
          </a:prstGeom>
          <a:solidFill>
            <a:srgbClr val="8064A2"/>
          </a:solidFill>
          <a:ln w="0">
            <a:noFill/>
            <a:prstDash val="solid"/>
          </a:ln>
        </p:spPr>
        <p:txBody>
          <a:bodyPr/>
          <a:lstStyle/>
          <a:p>
            <a:endParaRPr lang="en-US"/>
          </a:p>
        </p:txBody>
      </p:sp>
      <p:sp>
        <p:nvSpPr>
          <p:cNvPr id="3" name="Rectangle 2">
            <a:extLst>
              <a:ext uri="{FF2B5EF4-FFF2-40B4-BE49-F238E27FC236}">
                <a16:creationId xmlns:a16="http://schemas.microsoft.com/office/drawing/2014/main" id="{868CF4A9-3BA6-4262-AA76-D409909B72A6}"/>
              </a:ext>
            </a:extLst>
          </p:cNvPr>
          <p:cNvSpPr>
            <a:spLocks noGrp="1"/>
          </p:cNvSpPr>
          <p:nvPr/>
        </p:nvSpPr>
        <p:spPr>
          <a:xfrm>
            <a:off x="11315700" y="6486525"/>
            <a:ext cx="323850" cy="228600"/>
          </a:xfrm>
          <a:prstGeom prst="rect">
            <a:avLst/>
          </a:prstGeom>
          <a:noFill/>
          <a:ln w="0">
            <a:noFill/>
            <a:prstDash val="solid"/>
          </a:ln>
        </p:spPr>
        <p:txBody>
          <a:bodyPr wrap="square" lIns="38100" tIns="19050" rIns="38100" bIns="19050" anchor="b">
            <a:normAutofit/>
          </a:bodyPr>
          <a:lstStyle/>
          <a:p>
            <a:pPr algn="r">
              <a:defRPr sz="900" b="0" i="0">
                <a:solidFill>
                  <a:srgbClr val="617080"/>
                </a:solidFill>
                <a:latin typeface="Arial"/>
                <a:ea typeface="Arial"/>
                <a:cs typeface="Arial"/>
              </a:defRPr>
            </a:pPr>
            <a:r>
              <a:rPr sz="900" b="0" i="0">
                <a:solidFill>
                  <a:srgbClr val="617080"/>
                </a:solidFill>
                <a:latin typeface="Arial"/>
                <a:ea typeface="Arial"/>
                <a:cs typeface="Arial"/>
              </a:rPr>
              <a:t>20</a:t>
            </a:r>
          </a:p>
        </p:txBody>
      </p:sp>
      <p:pic>
        <p:nvPicPr>
          <p:cNvPr id="17" name="Picture 16"/>
          <p:cNvPicPr>
            <a:picLocks noChangeAspect="1"/>
          </p:cNvPicPr>
          <p:nvPr/>
        </p:nvPicPr>
        <p:blipFill>
          <a:blip r:embed="rId3"/>
          <a:stretch/>
        </p:blipFill>
        <p:spPr>
          <a:xfrm>
            <a:off x="333375" y="1006488"/>
            <a:ext cx="11525250" cy="4130650"/>
          </a:xfrm>
          <a:prstGeom prst="rect">
            <a:avLst/>
          </a:prstGeom>
        </p:spPr>
      </p:pic>
      <p:sp>
        <p:nvSpPr>
          <p:cNvPr id="5" name="Rectangle 4">
            <a:extLst>
              <a:ext uri="{FF2B5EF4-FFF2-40B4-BE49-F238E27FC236}">
                <a16:creationId xmlns:a16="http://schemas.microsoft.com/office/drawing/2014/main" id="{7070C766-2E59-493B-80B6-E391F9DFBD1D}"/>
              </a:ext>
            </a:extLst>
          </p:cNvPr>
          <p:cNvSpPr>
            <a:spLocks noGrp="1"/>
          </p:cNvSpPr>
          <p:nvPr/>
        </p:nvSpPr>
        <p:spPr>
          <a:xfrm>
            <a:off x="523875" y="5191125"/>
            <a:ext cx="2667000" cy="514350"/>
          </a:xfrm>
          <a:prstGeom prst="rect">
            <a:avLst/>
          </a:prstGeom>
          <a:noFill/>
          <a:ln w="0">
            <a:noFill/>
            <a:prstDash val="solid"/>
          </a:ln>
        </p:spPr>
        <p:txBody>
          <a:bodyPr wrap="square" lIns="38100" tIns="19050" rIns="38100" bIns="19050" anchor="ctr">
            <a:normAutofit/>
          </a:bodyPr>
          <a:lstStyle/>
          <a:p>
            <a:pPr algn="ctr">
              <a:defRPr sz="2100" b="1" i="0">
                <a:solidFill>
                  <a:srgbClr val="D97942"/>
                </a:solidFill>
                <a:latin typeface="Arial"/>
                <a:ea typeface="Arial"/>
                <a:cs typeface="Arial"/>
              </a:defRPr>
            </a:pPr>
            <a:r>
              <a:rPr sz="2100" b="1" i="0" dirty="0">
                <a:solidFill>
                  <a:srgbClr val="D97942"/>
                </a:solidFill>
                <a:latin typeface="Arial"/>
                <a:ea typeface="Arial"/>
                <a:cs typeface="Arial"/>
              </a:rPr>
              <a:t>0,877</a:t>
            </a:r>
          </a:p>
        </p:txBody>
      </p:sp>
      <p:sp>
        <p:nvSpPr>
          <p:cNvPr id="6" name="Rectangle 5">
            <a:extLst>
              <a:ext uri="{FF2B5EF4-FFF2-40B4-BE49-F238E27FC236}">
                <a16:creationId xmlns:a16="http://schemas.microsoft.com/office/drawing/2014/main" id="{59057453-0A05-4313-A079-1B090ED351B5}"/>
              </a:ext>
            </a:extLst>
          </p:cNvPr>
          <p:cNvSpPr>
            <a:spLocks noGrp="1"/>
          </p:cNvSpPr>
          <p:nvPr/>
        </p:nvSpPr>
        <p:spPr>
          <a:xfrm>
            <a:off x="523875" y="5648325"/>
            <a:ext cx="2667000" cy="457200"/>
          </a:xfrm>
          <a:prstGeom prst="rect">
            <a:avLst/>
          </a:prstGeom>
          <a:noFill/>
          <a:ln w="0">
            <a:noFill/>
            <a:prstDash val="solid"/>
          </a:ln>
        </p:spPr>
        <p:txBody>
          <a:bodyPr wrap="square" lIns="38100" tIns="19050" rIns="38100" bIns="19050" anchor="t">
            <a:normAutofit/>
          </a:bodyPr>
          <a:lstStyle/>
          <a:p>
            <a:pPr algn="ctr">
              <a:defRPr sz="1050" b="0" i="0">
                <a:solidFill>
                  <a:srgbClr val="617080"/>
                </a:solidFill>
                <a:latin typeface="Arial"/>
                <a:ea typeface="Arial"/>
                <a:cs typeface="Arial"/>
              </a:defRPr>
            </a:pPr>
            <a:r>
              <a:rPr sz="1050" b="0" i="0" dirty="0" err="1">
                <a:solidFill>
                  <a:srgbClr val="617080"/>
                </a:solidFill>
                <a:latin typeface="Arial"/>
                <a:ea typeface="Arial"/>
                <a:cs typeface="Arial"/>
              </a:rPr>
              <a:t>RetrievalGoldCoverage</a:t>
            </a:r>
            <a:endParaRPr lang="mk-MK" sz="1050" b="0" i="0" dirty="0">
              <a:solidFill>
                <a:srgbClr val="617080"/>
              </a:solidFill>
              <a:latin typeface="Arial"/>
              <a:ea typeface="Arial"/>
              <a:cs typeface="Arial"/>
            </a:endParaRPr>
          </a:p>
          <a:p>
            <a:pPr algn="ctr">
              <a:defRPr sz="1050" b="0" i="0">
                <a:solidFill>
                  <a:srgbClr val="617080"/>
                </a:solidFill>
                <a:latin typeface="Arial"/>
                <a:ea typeface="Arial"/>
                <a:cs typeface="Arial"/>
              </a:defRPr>
            </a:pPr>
            <a:r>
              <a:rPr lang="en-US" sz="1050" b="0" i="0" dirty="0" err="1">
                <a:solidFill>
                  <a:srgbClr val="617080"/>
                </a:solidFill>
                <a:latin typeface="Arial"/>
                <a:ea typeface="Arial"/>
                <a:cs typeface="Arial"/>
              </a:rPr>
              <a:t>NBFNet</a:t>
            </a:r>
            <a:endParaRPr sz="1050" b="0" i="0" dirty="0">
              <a:solidFill>
                <a:srgbClr val="617080"/>
              </a:solidFill>
              <a:latin typeface="Arial"/>
              <a:ea typeface="Arial"/>
              <a:cs typeface="Arial"/>
            </a:endParaRPr>
          </a:p>
        </p:txBody>
      </p:sp>
      <p:sp>
        <p:nvSpPr>
          <p:cNvPr id="7" name="Rectangle 6">
            <a:extLst>
              <a:ext uri="{FF2B5EF4-FFF2-40B4-BE49-F238E27FC236}">
                <a16:creationId xmlns:a16="http://schemas.microsoft.com/office/drawing/2014/main" id="{7F71800B-E6AE-40FC-AF17-25D547A8CC1C}"/>
              </a:ext>
            </a:extLst>
          </p:cNvPr>
          <p:cNvSpPr>
            <a:spLocks noGrp="1"/>
          </p:cNvSpPr>
          <p:nvPr/>
        </p:nvSpPr>
        <p:spPr>
          <a:xfrm>
            <a:off x="3429000" y="5191125"/>
            <a:ext cx="2667000" cy="514350"/>
          </a:xfrm>
          <a:prstGeom prst="rect">
            <a:avLst/>
          </a:prstGeom>
          <a:noFill/>
          <a:ln w="0">
            <a:noFill/>
            <a:prstDash val="solid"/>
          </a:ln>
        </p:spPr>
        <p:txBody>
          <a:bodyPr wrap="square" lIns="38100" tIns="19050" rIns="38100" bIns="19050" anchor="ctr">
            <a:normAutofit/>
          </a:bodyPr>
          <a:lstStyle/>
          <a:p>
            <a:pPr algn="ctr">
              <a:defRPr sz="2100" b="1" i="0">
                <a:solidFill>
                  <a:srgbClr val="398D84"/>
                </a:solidFill>
                <a:latin typeface="Arial"/>
                <a:ea typeface="Arial"/>
                <a:cs typeface="Arial"/>
              </a:defRPr>
            </a:pPr>
            <a:r>
              <a:rPr sz="2100" b="1" i="0" dirty="0">
                <a:solidFill>
                  <a:srgbClr val="398D84"/>
                </a:solidFill>
                <a:latin typeface="Arial"/>
                <a:ea typeface="Arial"/>
                <a:cs typeface="Arial"/>
              </a:rPr>
              <a:t>0,888</a:t>
            </a:r>
            <a:r>
              <a:rPr lang="mk-MK" sz="2100" b="1" i="0" dirty="0">
                <a:solidFill>
                  <a:srgbClr val="398D84"/>
                </a:solidFill>
                <a:latin typeface="Arial"/>
                <a:ea typeface="Arial"/>
                <a:cs typeface="Arial"/>
              </a:rPr>
              <a:t> / </a:t>
            </a:r>
            <a:r>
              <a:rPr lang="en-US" sz="2100" b="1" dirty="0">
                <a:solidFill>
                  <a:srgbClr val="398D84"/>
                </a:solidFill>
                <a:latin typeface="Arial"/>
                <a:ea typeface="Arial"/>
                <a:cs typeface="Arial"/>
              </a:rPr>
              <a:t>0,88</a:t>
            </a:r>
            <a:r>
              <a:rPr lang="mk-MK" sz="2100" b="1" dirty="0">
                <a:solidFill>
                  <a:srgbClr val="398D84"/>
                </a:solidFill>
                <a:latin typeface="Arial"/>
                <a:ea typeface="Arial"/>
                <a:cs typeface="Arial"/>
              </a:rPr>
              <a:t>1</a:t>
            </a:r>
            <a:endParaRPr sz="2100" b="1" i="0" dirty="0">
              <a:solidFill>
                <a:srgbClr val="398D84"/>
              </a:solidFill>
              <a:latin typeface="Arial"/>
              <a:ea typeface="Arial"/>
              <a:cs typeface="Arial"/>
            </a:endParaRPr>
          </a:p>
        </p:txBody>
      </p:sp>
      <p:sp>
        <p:nvSpPr>
          <p:cNvPr id="8" name="Rectangle 7">
            <a:extLst>
              <a:ext uri="{FF2B5EF4-FFF2-40B4-BE49-F238E27FC236}">
                <a16:creationId xmlns:a16="http://schemas.microsoft.com/office/drawing/2014/main" id="{46A7BA6F-BFFF-4FA6-A9A9-7CE6FCB7C92E}"/>
              </a:ext>
            </a:extLst>
          </p:cNvPr>
          <p:cNvSpPr>
            <a:spLocks noGrp="1"/>
          </p:cNvSpPr>
          <p:nvPr/>
        </p:nvSpPr>
        <p:spPr>
          <a:xfrm>
            <a:off x="3429000" y="5648325"/>
            <a:ext cx="2667000" cy="457200"/>
          </a:xfrm>
          <a:prstGeom prst="rect">
            <a:avLst/>
          </a:prstGeom>
          <a:noFill/>
          <a:ln w="0">
            <a:noFill/>
            <a:prstDash val="solid"/>
          </a:ln>
        </p:spPr>
        <p:txBody>
          <a:bodyPr wrap="square" lIns="38100" tIns="19050" rIns="38100" bIns="19050" anchor="t">
            <a:normAutofit/>
          </a:bodyPr>
          <a:lstStyle/>
          <a:p>
            <a:pPr algn="ctr">
              <a:defRPr sz="1050" b="0" i="0">
                <a:solidFill>
                  <a:srgbClr val="617080"/>
                </a:solidFill>
                <a:latin typeface="Arial"/>
                <a:ea typeface="Arial"/>
                <a:cs typeface="Arial"/>
              </a:defRPr>
            </a:pPr>
            <a:r>
              <a:rPr sz="1050" b="0" i="0" dirty="0" err="1">
                <a:solidFill>
                  <a:srgbClr val="617080"/>
                </a:solidFill>
                <a:latin typeface="Arial"/>
                <a:ea typeface="Arial"/>
                <a:cs typeface="Arial"/>
              </a:rPr>
              <a:t>ContextGoldCoverage</a:t>
            </a:r>
            <a:endParaRPr sz="1050" b="0" i="0" dirty="0">
              <a:solidFill>
                <a:srgbClr val="617080"/>
              </a:solidFill>
              <a:latin typeface="Arial"/>
              <a:ea typeface="Arial"/>
              <a:cs typeface="Arial"/>
            </a:endParaRPr>
          </a:p>
          <a:p>
            <a:pPr algn="ctr">
              <a:defRPr sz="1050" b="0" i="0">
                <a:solidFill>
                  <a:srgbClr val="617080"/>
                </a:solidFill>
                <a:latin typeface="Arial"/>
                <a:ea typeface="Arial"/>
                <a:cs typeface="Arial"/>
              </a:defRPr>
            </a:pPr>
            <a:r>
              <a:rPr sz="1050" b="0" i="0" dirty="0" err="1">
                <a:solidFill>
                  <a:srgbClr val="617080"/>
                </a:solidFill>
                <a:latin typeface="Arial"/>
                <a:ea typeface="Arial"/>
                <a:cs typeface="Arial"/>
              </a:rPr>
              <a:t>најкратки</a:t>
            </a:r>
            <a:r>
              <a:rPr sz="1050" b="0" i="0" dirty="0">
                <a:solidFill>
                  <a:srgbClr val="617080"/>
                </a:solidFill>
                <a:latin typeface="Arial"/>
                <a:ea typeface="Arial"/>
                <a:cs typeface="Arial"/>
              </a:rPr>
              <a:t> </a:t>
            </a:r>
            <a:r>
              <a:rPr sz="1050" b="0" i="0" dirty="0" err="1">
                <a:solidFill>
                  <a:srgbClr val="617080"/>
                </a:solidFill>
                <a:latin typeface="Arial"/>
                <a:ea typeface="Arial"/>
                <a:cs typeface="Arial"/>
              </a:rPr>
              <a:t>патеки</a:t>
            </a:r>
            <a:r>
              <a:rPr lang="mk-MK" sz="1050" b="0" i="0" dirty="0">
                <a:solidFill>
                  <a:srgbClr val="617080"/>
                </a:solidFill>
                <a:latin typeface="Arial"/>
                <a:ea typeface="Arial"/>
                <a:cs typeface="Arial"/>
              </a:rPr>
              <a:t> </a:t>
            </a:r>
            <a:r>
              <a:rPr lang="en-US" sz="1050" dirty="0">
                <a:solidFill>
                  <a:srgbClr val="617080"/>
                </a:solidFill>
                <a:latin typeface="Arial"/>
                <a:ea typeface="Arial"/>
                <a:cs typeface="Arial"/>
              </a:rPr>
              <a:t>·</a:t>
            </a:r>
            <a:r>
              <a:rPr lang="mk-MK" sz="1050" dirty="0">
                <a:solidFill>
                  <a:srgbClr val="617080"/>
                </a:solidFill>
                <a:latin typeface="Arial"/>
                <a:ea typeface="Arial"/>
                <a:cs typeface="Arial"/>
              </a:rPr>
              <a:t> </a:t>
            </a:r>
            <a:r>
              <a:rPr lang="en-US" sz="1050" dirty="0">
                <a:solidFill>
                  <a:srgbClr val="617080"/>
                </a:solidFill>
                <a:latin typeface="Arial"/>
                <a:ea typeface="Arial"/>
                <a:cs typeface="Arial"/>
              </a:rPr>
              <a:t>PCST</a:t>
            </a:r>
            <a:endParaRPr sz="1050" b="0" i="0" dirty="0">
              <a:solidFill>
                <a:srgbClr val="617080"/>
              </a:solidFill>
              <a:latin typeface="Arial"/>
              <a:ea typeface="Arial"/>
              <a:cs typeface="Arial"/>
            </a:endParaRPr>
          </a:p>
        </p:txBody>
      </p:sp>
      <p:sp>
        <p:nvSpPr>
          <p:cNvPr id="9" name="Rectangle 8">
            <a:extLst>
              <a:ext uri="{FF2B5EF4-FFF2-40B4-BE49-F238E27FC236}">
                <a16:creationId xmlns:a16="http://schemas.microsoft.com/office/drawing/2014/main" id="{4558D7E1-8FD7-4768-86F7-252A15D807FA}"/>
              </a:ext>
            </a:extLst>
          </p:cNvPr>
          <p:cNvSpPr>
            <a:spLocks noGrp="1"/>
          </p:cNvSpPr>
          <p:nvPr/>
        </p:nvSpPr>
        <p:spPr>
          <a:xfrm>
            <a:off x="6334125" y="5191125"/>
            <a:ext cx="2667000" cy="514350"/>
          </a:xfrm>
          <a:prstGeom prst="rect">
            <a:avLst/>
          </a:prstGeom>
          <a:noFill/>
          <a:ln w="0">
            <a:noFill/>
            <a:prstDash val="solid"/>
          </a:ln>
        </p:spPr>
        <p:txBody>
          <a:bodyPr wrap="square" lIns="38100" tIns="19050" rIns="38100" bIns="19050" anchor="ctr">
            <a:normAutofit/>
          </a:bodyPr>
          <a:lstStyle/>
          <a:p>
            <a:pPr algn="ctr">
              <a:defRPr sz="1875" b="1" i="0">
                <a:solidFill>
                  <a:srgbClr val="8064A2"/>
                </a:solidFill>
                <a:latin typeface="Arial"/>
                <a:ea typeface="Arial"/>
                <a:cs typeface="Arial"/>
              </a:defRPr>
            </a:pPr>
            <a:r>
              <a:rPr sz="1875" b="1" i="0" dirty="0">
                <a:solidFill>
                  <a:srgbClr val="8064A2"/>
                </a:solidFill>
                <a:latin typeface="Arial"/>
                <a:ea typeface="Arial"/>
                <a:cs typeface="Arial"/>
              </a:rPr>
              <a:t>0,211 / 0,237</a:t>
            </a:r>
          </a:p>
        </p:txBody>
      </p:sp>
      <p:sp>
        <p:nvSpPr>
          <p:cNvPr id="10" name="Rectangle 9">
            <a:extLst>
              <a:ext uri="{FF2B5EF4-FFF2-40B4-BE49-F238E27FC236}">
                <a16:creationId xmlns:a16="http://schemas.microsoft.com/office/drawing/2014/main" id="{DC3F3F94-C352-4D74-A322-FBA2A7E850A7}"/>
              </a:ext>
            </a:extLst>
          </p:cNvPr>
          <p:cNvSpPr>
            <a:spLocks noGrp="1"/>
          </p:cNvSpPr>
          <p:nvPr/>
        </p:nvSpPr>
        <p:spPr>
          <a:xfrm>
            <a:off x="6334125" y="5648325"/>
            <a:ext cx="2667000" cy="457200"/>
          </a:xfrm>
          <a:prstGeom prst="rect">
            <a:avLst/>
          </a:prstGeom>
          <a:noFill/>
          <a:ln w="0">
            <a:noFill/>
            <a:prstDash val="solid"/>
          </a:ln>
        </p:spPr>
        <p:txBody>
          <a:bodyPr wrap="square" lIns="38100" tIns="19050" rIns="38100" bIns="19050" anchor="t">
            <a:normAutofit/>
          </a:bodyPr>
          <a:lstStyle/>
          <a:p>
            <a:pPr algn="ctr">
              <a:defRPr sz="1050" b="0" i="0">
                <a:solidFill>
                  <a:srgbClr val="617080"/>
                </a:solidFill>
                <a:latin typeface="Arial"/>
                <a:ea typeface="Arial"/>
                <a:cs typeface="Arial"/>
              </a:defRPr>
            </a:pPr>
            <a:r>
              <a:rPr sz="1050" b="0" i="0" dirty="0">
                <a:solidFill>
                  <a:srgbClr val="617080"/>
                </a:solidFill>
                <a:latin typeface="Arial"/>
                <a:ea typeface="Arial"/>
                <a:cs typeface="Arial"/>
              </a:rPr>
              <a:t>LLM omission · DeepSeek / GPT</a:t>
            </a:r>
          </a:p>
          <a:p>
            <a:pPr algn="ctr">
              <a:defRPr sz="1050" b="0" i="0">
                <a:solidFill>
                  <a:srgbClr val="617080"/>
                </a:solidFill>
                <a:latin typeface="Arial"/>
                <a:ea typeface="Arial"/>
                <a:cs typeface="Arial"/>
              </a:defRPr>
            </a:pPr>
            <a:r>
              <a:rPr sz="1050" b="0" i="0" dirty="0" err="1">
                <a:solidFill>
                  <a:srgbClr val="617080"/>
                </a:solidFill>
                <a:latin typeface="Arial"/>
                <a:ea typeface="Arial"/>
                <a:cs typeface="Arial"/>
              </a:rPr>
              <a:t>најкратки</a:t>
            </a:r>
            <a:r>
              <a:rPr sz="1050" b="0" i="0" dirty="0">
                <a:solidFill>
                  <a:srgbClr val="617080"/>
                </a:solidFill>
                <a:latin typeface="Arial"/>
                <a:ea typeface="Arial"/>
                <a:cs typeface="Arial"/>
              </a:rPr>
              <a:t> </a:t>
            </a:r>
            <a:r>
              <a:rPr sz="1050" b="0" i="0" dirty="0" err="1">
                <a:solidFill>
                  <a:srgbClr val="617080"/>
                </a:solidFill>
                <a:latin typeface="Arial"/>
                <a:ea typeface="Arial"/>
                <a:cs typeface="Arial"/>
              </a:rPr>
              <a:t>патеки</a:t>
            </a:r>
            <a:endParaRPr sz="1050" b="0" i="0" dirty="0">
              <a:solidFill>
                <a:srgbClr val="617080"/>
              </a:solidFill>
              <a:latin typeface="Arial"/>
              <a:ea typeface="Arial"/>
              <a:cs typeface="Arial"/>
            </a:endParaRPr>
          </a:p>
        </p:txBody>
      </p:sp>
      <p:sp>
        <p:nvSpPr>
          <p:cNvPr id="11" name="Rectangle 10">
            <a:extLst>
              <a:ext uri="{FF2B5EF4-FFF2-40B4-BE49-F238E27FC236}">
                <a16:creationId xmlns:a16="http://schemas.microsoft.com/office/drawing/2014/main" id="{8E676485-5F60-4D5C-93A1-5097B34E3011}"/>
              </a:ext>
            </a:extLst>
          </p:cNvPr>
          <p:cNvSpPr>
            <a:spLocks noGrp="1"/>
          </p:cNvSpPr>
          <p:nvPr/>
        </p:nvSpPr>
        <p:spPr>
          <a:xfrm>
            <a:off x="9239250" y="5191125"/>
            <a:ext cx="2667000" cy="514350"/>
          </a:xfrm>
          <a:prstGeom prst="rect">
            <a:avLst/>
          </a:prstGeom>
          <a:noFill/>
          <a:ln w="0">
            <a:noFill/>
            <a:prstDash val="solid"/>
          </a:ln>
        </p:spPr>
        <p:txBody>
          <a:bodyPr wrap="square" lIns="38100" tIns="19050" rIns="38100" bIns="19050" anchor="ctr">
            <a:normAutofit/>
          </a:bodyPr>
          <a:lstStyle/>
          <a:p>
            <a:pPr algn="ctr">
              <a:defRPr sz="2100" b="1" i="0">
                <a:solidFill>
                  <a:srgbClr val="4E9B69"/>
                </a:solidFill>
                <a:latin typeface="Arial"/>
                <a:ea typeface="Arial"/>
                <a:cs typeface="Arial"/>
              </a:defRPr>
            </a:pPr>
            <a:r>
              <a:rPr sz="2100" b="1" i="0">
                <a:solidFill>
                  <a:srgbClr val="4E9B69"/>
                </a:solidFill>
                <a:latin typeface="Arial"/>
                <a:ea typeface="Arial"/>
                <a:cs typeface="Arial"/>
              </a:rPr>
              <a:t>≈ 0,477 / 0,477</a:t>
            </a:r>
          </a:p>
        </p:txBody>
      </p:sp>
      <p:sp>
        <p:nvSpPr>
          <p:cNvPr id="12" name="Rectangle 11">
            <a:extLst>
              <a:ext uri="{FF2B5EF4-FFF2-40B4-BE49-F238E27FC236}">
                <a16:creationId xmlns:a16="http://schemas.microsoft.com/office/drawing/2014/main" id="{0F27C378-67A7-464B-B7C6-9E8233823801}"/>
              </a:ext>
            </a:extLst>
          </p:cNvPr>
          <p:cNvSpPr>
            <a:spLocks noGrp="1"/>
          </p:cNvSpPr>
          <p:nvPr/>
        </p:nvSpPr>
        <p:spPr>
          <a:xfrm>
            <a:off x="9239250" y="5648325"/>
            <a:ext cx="2667000" cy="457200"/>
          </a:xfrm>
          <a:prstGeom prst="rect">
            <a:avLst/>
          </a:prstGeom>
          <a:noFill/>
          <a:ln w="0">
            <a:noFill/>
            <a:prstDash val="solid"/>
          </a:ln>
        </p:spPr>
        <p:txBody>
          <a:bodyPr wrap="square" lIns="38100" tIns="19050" rIns="38100" bIns="19050" anchor="t">
            <a:normAutofit/>
          </a:bodyPr>
          <a:lstStyle/>
          <a:p>
            <a:pPr algn="ctr">
              <a:defRPr sz="1050" b="0" i="0">
                <a:solidFill>
                  <a:srgbClr val="617080"/>
                </a:solidFill>
                <a:latin typeface="Arial"/>
                <a:ea typeface="Arial"/>
                <a:cs typeface="Arial"/>
              </a:defRPr>
            </a:pPr>
            <a:r>
              <a:rPr sz="1050" b="0" i="0" dirty="0">
                <a:solidFill>
                  <a:srgbClr val="617080"/>
                </a:solidFill>
                <a:latin typeface="Arial"/>
                <a:ea typeface="Arial"/>
                <a:cs typeface="Arial"/>
              </a:rPr>
              <a:t>LLM omission · DeepSeek / GPT</a:t>
            </a:r>
          </a:p>
          <a:p>
            <a:pPr algn="ctr">
              <a:defRPr sz="1050" b="0" i="0">
                <a:solidFill>
                  <a:srgbClr val="617080"/>
                </a:solidFill>
                <a:latin typeface="Arial"/>
                <a:ea typeface="Arial"/>
                <a:cs typeface="Arial"/>
              </a:defRPr>
            </a:pPr>
            <a:r>
              <a:rPr sz="1050" b="0" i="0" dirty="0" err="1">
                <a:solidFill>
                  <a:srgbClr val="617080"/>
                </a:solidFill>
                <a:latin typeface="Arial"/>
                <a:ea typeface="Arial"/>
                <a:cs typeface="Arial"/>
              </a:rPr>
              <a:t>семантички</a:t>
            </a:r>
            <a:r>
              <a:rPr sz="1050" b="0" i="0" dirty="0">
                <a:solidFill>
                  <a:srgbClr val="617080"/>
                </a:solidFill>
                <a:latin typeface="Arial"/>
                <a:ea typeface="Arial"/>
                <a:cs typeface="Arial"/>
              </a:rPr>
              <a:t> PCST</a:t>
            </a:r>
          </a:p>
        </p:txBody>
      </p:sp>
      <p:sp>
        <p:nvSpPr>
          <p:cNvPr id="13" name="Rectangle 12">
            <a:extLst>
              <a:ext uri="{FF2B5EF4-FFF2-40B4-BE49-F238E27FC236}">
                <a16:creationId xmlns:a16="http://schemas.microsoft.com/office/drawing/2014/main" id="{2CEDC55F-9C63-4911-A16F-8764B237CF25}"/>
              </a:ext>
            </a:extLst>
          </p:cNvPr>
          <p:cNvSpPr>
            <a:spLocks noGrp="1"/>
          </p:cNvSpPr>
          <p:nvPr/>
        </p:nvSpPr>
        <p:spPr>
          <a:xfrm>
            <a:off x="1000125" y="6162675"/>
            <a:ext cx="10191750" cy="342900"/>
          </a:xfrm>
          <a:prstGeom prst="rect">
            <a:avLst/>
          </a:prstGeom>
          <a:noFill/>
          <a:ln w="0">
            <a:noFill/>
            <a:prstDash val="solid"/>
          </a:ln>
        </p:spPr>
        <p:txBody>
          <a:bodyPr wrap="square" lIns="38100" tIns="19050" rIns="38100" bIns="19050" anchor="ctr">
            <a:normAutofit fontScale="99069"/>
          </a:bodyPr>
          <a:lstStyle/>
          <a:p>
            <a:pPr algn="ctr">
              <a:defRPr sz="1350" b="1" i="0">
                <a:solidFill>
                  <a:srgbClr val="263746"/>
                </a:solidFill>
                <a:latin typeface="Arial"/>
                <a:ea typeface="Arial"/>
                <a:cs typeface="Arial"/>
              </a:defRPr>
            </a:pPr>
            <a:r>
              <a:rPr sz="1350" b="1" i="0" dirty="0" err="1">
                <a:solidFill>
                  <a:srgbClr val="263746"/>
                </a:solidFill>
                <a:latin typeface="Arial"/>
                <a:ea typeface="Arial"/>
                <a:cs typeface="Arial"/>
              </a:rPr>
              <a:t>Присуството</a:t>
            </a:r>
            <a:r>
              <a:rPr sz="1350" b="1" i="0" dirty="0">
                <a:solidFill>
                  <a:srgbClr val="263746"/>
                </a:solidFill>
                <a:latin typeface="Arial"/>
                <a:ea typeface="Arial"/>
                <a:cs typeface="Arial"/>
              </a:rPr>
              <a:t> </a:t>
            </a:r>
            <a:r>
              <a:rPr sz="1350" b="1" i="0" dirty="0" err="1">
                <a:solidFill>
                  <a:srgbClr val="263746"/>
                </a:solidFill>
                <a:latin typeface="Arial"/>
                <a:ea typeface="Arial"/>
                <a:cs typeface="Arial"/>
              </a:rPr>
              <a:t>на</a:t>
            </a:r>
            <a:r>
              <a:rPr sz="1350" b="1" i="0" dirty="0">
                <a:solidFill>
                  <a:srgbClr val="263746"/>
                </a:solidFill>
                <a:latin typeface="Arial"/>
                <a:ea typeface="Arial"/>
                <a:cs typeface="Arial"/>
              </a:rPr>
              <a:t> </a:t>
            </a:r>
            <a:r>
              <a:rPr sz="1350" b="1" i="0" dirty="0" err="1">
                <a:solidFill>
                  <a:srgbClr val="263746"/>
                </a:solidFill>
                <a:latin typeface="Arial"/>
                <a:ea typeface="Arial"/>
                <a:cs typeface="Arial"/>
              </a:rPr>
              <a:t>точниот</a:t>
            </a:r>
            <a:r>
              <a:rPr sz="1350" b="1" i="0" dirty="0">
                <a:solidFill>
                  <a:srgbClr val="263746"/>
                </a:solidFill>
                <a:latin typeface="Arial"/>
                <a:ea typeface="Arial"/>
                <a:cs typeface="Arial"/>
              </a:rPr>
              <a:t> </a:t>
            </a:r>
            <a:r>
              <a:rPr sz="1350" b="1" i="0" dirty="0" err="1">
                <a:solidFill>
                  <a:srgbClr val="263746"/>
                </a:solidFill>
                <a:latin typeface="Arial"/>
                <a:ea typeface="Arial"/>
                <a:cs typeface="Arial"/>
              </a:rPr>
              <a:t>ентитет</a:t>
            </a:r>
            <a:r>
              <a:rPr sz="1350" b="1" i="0" dirty="0">
                <a:solidFill>
                  <a:srgbClr val="263746"/>
                </a:solidFill>
                <a:latin typeface="Arial"/>
                <a:ea typeface="Arial"/>
                <a:cs typeface="Arial"/>
              </a:rPr>
              <a:t> </a:t>
            </a:r>
            <a:r>
              <a:rPr sz="1350" b="1" i="0" dirty="0" err="1">
                <a:solidFill>
                  <a:srgbClr val="263746"/>
                </a:solidFill>
                <a:latin typeface="Arial"/>
                <a:ea typeface="Arial"/>
                <a:cs typeface="Arial"/>
              </a:rPr>
              <a:t>не</a:t>
            </a:r>
            <a:r>
              <a:rPr sz="1350" b="1" i="0" dirty="0">
                <a:solidFill>
                  <a:srgbClr val="263746"/>
                </a:solidFill>
                <a:latin typeface="Arial"/>
                <a:ea typeface="Arial"/>
                <a:cs typeface="Arial"/>
              </a:rPr>
              <a:t> </a:t>
            </a:r>
            <a:r>
              <a:rPr sz="1350" b="1" i="0" dirty="0" err="1">
                <a:solidFill>
                  <a:srgbClr val="263746"/>
                </a:solidFill>
                <a:latin typeface="Arial"/>
                <a:ea typeface="Arial"/>
                <a:cs typeface="Arial"/>
              </a:rPr>
              <a:t>е</a:t>
            </a:r>
            <a:r>
              <a:rPr sz="1350" b="1" i="0" dirty="0">
                <a:solidFill>
                  <a:srgbClr val="263746"/>
                </a:solidFill>
                <a:latin typeface="Arial"/>
                <a:ea typeface="Arial"/>
                <a:cs typeface="Arial"/>
              </a:rPr>
              <a:t> </a:t>
            </a:r>
            <a:r>
              <a:rPr sz="1350" b="1" i="0" dirty="0" err="1">
                <a:solidFill>
                  <a:srgbClr val="263746"/>
                </a:solidFill>
                <a:latin typeface="Arial"/>
                <a:ea typeface="Arial"/>
                <a:cs typeface="Arial"/>
              </a:rPr>
              <a:t>доволно</a:t>
            </a:r>
            <a:r>
              <a:rPr sz="1350" b="1" i="0" dirty="0">
                <a:solidFill>
                  <a:srgbClr val="263746"/>
                </a:solidFill>
                <a:latin typeface="Arial"/>
                <a:ea typeface="Arial"/>
                <a:cs typeface="Arial"/>
              </a:rPr>
              <a:t> </a:t>
            </a:r>
            <a:r>
              <a:rPr lang="en-US" sz="1350" b="1" i="0" dirty="0">
                <a:solidFill>
                  <a:srgbClr val="263746"/>
                </a:solidFill>
                <a:latin typeface="Arial"/>
                <a:ea typeface="Arial"/>
                <a:cs typeface="Arial"/>
              </a:rPr>
              <a:t>— </a:t>
            </a:r>
            <a:r>
              <a:rPr sz="1350" b="1" i="0" dirty="0" err="1">
                <a:solidFill>
                  <a:srgbClr val="263746"/>
                </a:solidFill>
                <a:latin typeface="Arial"/>
                <a:ea typeface="Arial"/>
                <a:cs typeface="Arial"/>
              </a:rPr>
              <a:t>потребни</a:t>
            </a:r>
            <a:r>
              <a:rPr sz="1350" b="1" i="0" dirty="0">
                <a:solidFill>
                  <a:srgbClr val="263746"/>
                </a:solidFill>
                <a:latin typeface="Arial"/>
                <a:ea typeface="Arial"/>
                <a:cs typeface="Arial"/>
              </a:rPr>
              <a:t> </a:t>
            </a:r>
            <a:r>
              <a:rPr sz="1350" b="1" i="0" dirty="0" err="1">
                <a:solidFill>
                  <a:srgbClr val="263746"/>
                </a:solidFill>
                <a:latin typeface="Arial"/>
                <a:ea typeface="Arial"/>
                <a:cs typeface="Arial"/>
              </a:rPr>
              <a:t>се</a:t>
            </a:r>
            <a:r>
              <a:rPr sz="1350" b="1" i="0" dirty="0">
                <a:solidFill>
                  <a:srgbClr val="263746"/>
                </a:solidFill>
                <a:latin typeface="Arial"/>
                <a:ea typeface="Arial"/>
                <a:cs typeface="Arial"/>
              </a:rPr>
              <a:t> </a:t>
            </a:r>
            <a:r>
              <a:rPr sz="1350" b="1" i="0" dirty="0" err="1">
                <a:solidFill>
                  <a:srgbClr val="263746"/>
                </a:solidFill>
                <a:latin typeface="Arial"/>
                <a:ea typeface="Arial"/>
                <a:cs typeface="Arial"/>
              </a:rPr>
              <a:t>јасни</a:t>
            </a:r>
            <a:r>
              <a:rPr sz="1350" b="1" i="0" dirty="0">
                <a:solidFill>
                  <a:srgbClr val="263746"/>
                </a:solidFill>
                <a:latin typeface="Arial"/>
                <a:ea typeface="Arial"/>
                <a:cs typeface="Arial"/>
              </a:rPr>
              <a:t> </a:t>
            </a:r>
            <a:r>
              <a:rPr sz="1350" b="1" i="0" dirty="0" err="1">
                <a:solidFill>
                  <a:srgbClr val="263746"/>
                </a:solidFill>
                <a:latin typeface="Arial"/>
                <a:ea typeface="Arial"/>
                <a:cs typeface="Arial"/>
              </a:rPr>
              <a:t>релациски</a:t>
            </a:r>
            <a:r>
              <a:rPr sz="1350" b="1" i="0" dirty="0">
                <a:solidFill>
                  <a:srgbClr val="263746"/>
                </a:solidFill>
                <a:latin typeface="Arial"/>
                <a:ea typeface="Arial"/>
                <a:cs typeface="Arial"/>
              </a:rPr>
              <a:t> </a:t>
            </a:r>
            <a:r>
              <a:rPr sz="1350" b="1" i="0" dirty="0" err="1">
                <a:solidFill>
                  <a:srgbClr val="263746"/>
                </a:solidFill>
                <a:latin typeface="Arial"/>
                <a:ea typeface="Arial"/>
                <a:cs typeface="Arial"/>
              </a:rPr>
              <a:t>тројки</a:t>
            </a:r>
            <a:r>
              <a:rPr sz="1350" b="1" i="0" dirty="0">
                <a:solidFill>
                  <a:srgbClr val="263746"/>
                </a:solidFill>
                <a:latin typeface="Arial"/>
                <a:ea typeface="Arial"/>
                <a:cs typeface="Arial"/>
              </a:rPr>
              <a:t> </a:t>
            </a:r>
            <a:r>
              <a:rPr sz="1350" b="1" i="0" dirty="0" err="1">
                <a:solidFill>
                  <a:srgbClr val="263746"/>
                </a:solidFill>
                <a:latin typeface="Arial"/>
                <a:ea typeface="Arial"/>
                <a:cs typeface="Arial"/>
              </a:rPr>
              <a:t>што</a:t>
            </a:r>
            <a:r>
              <a:rPr sz="1350" b="1" i="0" dirty="0">
                <a:solidFill>
                  <a:srgbClr val="263746"/>
                </a:solidFill>
                <a:latin typeface="Arial"/>
                <a:ea typeface="Arial"/>
                <a:cs typeface="Arial"/>
              </a:rPr>
              <a:t> </a:t>
            </a:r>
            <a:r>
              <a:rPr sz="1350" b="1" i="0" dirty="0" err="1">
                <a:solidFill>
                  <a:srgbClr val="263746"/>
                </a:solidFill>
                <a:latin typeface="Arial"/>
                <a:ea typeface="Arial"/>
                <a:cs typeface="Arial"/>
              </a:rPr>
              <a:t>го</a:t>
            </a:r>
            <a:r>
              <a:rPr sz="1350" b="1" i="0" dirty="0">
                <a:solidFill>
                  <a:srgbClr val="263746"/>
                </a:solidFill>
                <a:latin typeface="Arial"/>
                <a:ea typeface="Arial"/>
                <a:cs typeface="Arial"/>
              </a:rPr>
              <a:t> </a:t>
            </a:r>
            <a:r>
              <a:rPr sz="1350" b="1" i="0" dirty="0" err="1">
                <a:solidFill>
                  <a:srgbClr val="263746"/>
                </a:solidFill>
                <a:latin typeface="Arial"/>
                <a:ea typeface="Arial"/>
                <a:cs typeface="Arial"/>
              </a:rPr>
              <a:t>поврзуваат</a:t>
            </a:r>
            <a:r>
              <a:rPr sz="1350" b="1" i="0" dirty="0">
                <a:solidFill>
                  <a:srgbClr val="263746"/>
                </a:solidFill>
                <a:latin typeface="Arial"/>
                <a:ea typeface="Arial"/>
                <a:cs typeface="Arial"/>
              </a:rPr>
              <a:t> </a:t>
            </a:r>
            <a:r>
              <a:rPr sz="1350" b="1" i="0" dirty="0" err="1">
                <a:solidFill>
                  <a:srgbClr val="263746"/>
                </a:solidFill>
                <a:latin typeface="Arial"/>
                <a:ea typeface="Arial"/>
                <a:cs typeface="Arial"/>
              </a:rPr>
              <a:t>со</a:t>
            </a:r>
            <a:r>
              <a:rPr sz="1350" b="1" i="0" dirty="0">
                <a:solidFill>
                  <a:srgbClr val="263746"/>
                </a:solidFill>
                <a:latin typeface="Arial"/>
                <a:ea typeface="Arial"/>
                <a:cs typeface="Arial"/>
              </a:rPr>
              <a:t> </a:t>
            </a:r>
            <a:r>
              <a:rPr sz="1350" b="1" i="0" dirty="0" err="1">
                <a:solidFill>
                  <a:srgbClr val="263746"/>
                </a:solidFill>
                <a:latin typeface="Arial"/>
                <a:ea typeface="Arial"/>
                <a:cs typeface="Arial"/>
              </a:rPr>
              <a:t>прашањето</a:t>
            </a:r>
            <a:r>
              <a:rPr sz="1350" b="1" i="0" dirty="0">
                <a:solidFill>
                  <a:srgbClr val="263746"/>
                </a:solidFill>
                <a:latin typeface="Arial"/>
                <a:ea typeface="Arial"/>
                <a:cs typeface="Arial"/>
              </a:rPr>
              <a:t>.</a:t>
            </a:r>
          </a:p>
        </p:txBody>
      </p:sp>
    </p:spTree>
    <p:extLst>
      <p:ext uri="{BB962C8B-B14F-4D97-AF65-F5344CB8AC3E}">
        <p14:creationId xmlns:p14="http://schemas.microsoft.com/office/powerpoint/2010/main" val="1250928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FAE84ED9-AFAC-4C01-9B7D-EF8D644FE2F7}"/>
              </a:ext>
            </a:extLst>
          </p:cNvPr>
          <p:cNvSpPr>
            <a:spLocks noGrp="1"/>
          </p:cNvSpPr>
          <p:nvPr/>
        </p:nvSpPr>
        <p:spPr>
          <a:xfrm>
            <a:off x="552450" y="209550"/>
            <a:ext cx="10763250" cy="523875"/>
          </a:xfrm>
          <a:prstGeom prst="rect">
            <a:avLst/>
          </a:prstGeom>
          <a:noFill/>
          <a:ln w="0">
            <a:noFill/>
            <a:prstDash val="solid"/>
          </a:ln>
        </p:spPr>
        <p:txBody>
          <a:bodyPr wrap="square" lIns="38100" tIns="19050" rIns="38100" bIns="19050" anchor="ctr">
            <a:normAutofit/>
          </a:bodyPr>
          <a:lstStyle/>
          <a:p>
            <a:pPr algn="l">
              <a:defRPr sz="2325" b="1" i="0">
                <a:solidFill>
                  <a:srgbClr val="263746"/>
                </a:solidFill>
                <a:latin typeface="Arial"/>
                <a:ea typeface="Arial"/>
                <a:cs typeface="Arial"/>
              </a:defRPr>
            </a:pPr>
            <a:r>
              <a:rPr sz="2325" b="1" i="0">
                <a:solidFill>
                  <a:srgbClr val="263746"/>
                </a:solidFill>
                <a:latin typeface="Arial"/>
                <a:ea typeface="Arial"/>
                <a:cs typeface="Arial"/>
              </a:rPr>
              <a:t>Заклучоци</a:t>
            </a:r>
          </a:p>
        </p:txBody>
      </p:sp>
      <p:sp>
        <p:nvSpPr>
          <p:cNvPr id="2" name="Rectangle 1">
            <a:extLst>
              <a:ext uri="{FF2B5EF4-FFF2-40B4-BE49-F238E27FC236}">
                <a16:creationId xmlns:a16="http://schemas.microsoft.com/office/drawing/2014/main" id="{BA04C07C-361B-4446-9C05-9AFC9CA1CFC8}"/>
              </a:ext>
            </a:extLst>
          </p:cNvPr>
          <p:cNvSpPr>
            <a:spLocks noGrp="1"/>
          </p:cNvSpPr>
          <p:nvPr/>
        </p:nvSpPr>
        <p:spPr>
          <a:xfrm>
            <a:off x="552450" y="781050"/>
            <a:ext cx="11087100" cy="38100"/>
          </a:xfrm>
          <a:prstGeom prst="rect">
            <a:avLst/>
          </a:prstGeom>
          <a:solidFill>
            <a:srgbClr val="4E9B69"/>
          </a:solidFill>
          <a:ln w="0">
            <a:noFill/>
            <a:prstDash val="solid"/>
          </a:ln>
        </p:spPr>
        <p:txBody>
          <a:bodyPr/>
          <a:lstStyle/>
          <a:p>
            <a:endParaRPr lang="en-US"/>
          </a:p>
        </p:txBody>
      </p:sp>
      <p:sp>
        <p:nvSpPr>
          <p:cNvPr id="3" name="Rectangle 2">
            <a:extLst>
              <a:ext uri="{FF2B5EF4-FFF2-40B4-BE49-F238E27FC236}">
                <a16:creationId xmlns:a16="http://schemas.microsoft.com/office/drawing/2014/main" id="{C9B8FD3F-FD3A-4A1B-9348-A4EC49E522AE}"/>
              </a:ext>
            </a:extLst>
          </p:cNvPr>
          <p:cNvSpPr>
            <a:spLocks noGrp="1"/>
          </p:cNvSpPr>
          <p:nvPr/>
        </p:nvSpPr>
        <p:spPr>
          <a:xfrm>
            <a:off x="11315700" y="6486525"/>
            <a:ext cx="323850" cy="228600"/>
          </a:xfrm>
          <a:prstGeom prst="rect">
            <a:avLst/>
          </a:prstGeom>
          <a:noFill/>
          <a:ln w="0">
            <a:noFill/>
            <a:prstDash val="solid"/>
          </a:ln>
        </p:spPr>
        <p:txBody>
          <a:bodyPr wrap="square" lIns="38100" tIns="19050" rIns="38100" bIns="19050" anchor="b">
            <a:normAutofit/>
          </a:bodyPr>
          <a:lstStyle/>
          <a:p>
            <a:pPr algn="r">
              <a:defRPr sz="900" b="0" i="0">
                <a:solidFill>
                  <a:srgbClr val="617080"/>
                </a:solidFill>
                <a:latin typeface="Arial"/>
                <a:ea typeface="Arial"/>
                <a:cs typeface="Arial"/>
              </a:defRPr>
            </a:pPr>
            <a:r>
              <a:rPr sz="900" b="0" i="0">
                <a:solidFill>
                  <a:srgbClr val="617080"/>
                </a:solidFill>
                <a:latin typeface="Arial"/>
                <a:ea typeface="Arial"/>
                <a:cs typeface="Arial"/>
              </a:rPr>
              <a:t>21</a:t>
            </a:r>
          </a:p>
        </p:txBody>
      </p:sp>
      <p:sp>
        <p:nvSpPr>
          <p:cNvPr id="4" name="Rounded Rectangle 3">
            <a:extLst>
              <a:ext uri="{FF2B5EF4-FFF2-40B4-BE49-F238E27FC236}">
                <a16:creationId xmlns:a16="http://schemas.microsoft.com/office/drawing/2014/main" id="{44DE2065-3D84-48D5-B11A-30D6A8482F1C}"/>
              </a:ext>
            </a:extLst>
          </p:cNvPr>
          <p:cNvSpPr>
            <a:spLocks noGrp="1"/>
          </p:cNvSpPr>
          <p:nvPr/>
        </p:nvSpPr>
        <p:spPr>
          <a:xfrm>
            <a:off x="762000" y="1143000"/>
            <a:ext cx="10668000" cy="1285875"/>
          </a:xfrm>
          <a:prstGeom prst="roundRect">
            <a:avLst>
              <a:gd name="adj" fmla="val 10370"/>
            </a:avLst>
          </a:prstGeom>
          <a:solidFill>
            <a:srgbClr val="FBEDE5"/>
          </a:solidFill>
          <a:ln w="15240">
            <a:solidFill>
              <a:srgbClr val="D97942"/>
            </a:solidFill>
            <a:prstDash val="solid"/>
          </a:ln>
        </p:spPr>
        <p:txBody>
          <a:bodyPr/>
          <a:lstStyle/>
          <a:p>
            <a:endParaRPr lang="en-US"/>
          </a:p>
        </p:txBody>
      </p:sp>
      <p:sp>
        <p:nvSpPr>
          <p:cNvPr id="5" name="Oval 4">
            <a:extLst>
              <a:ext uri="{FF2B5EF4-FFF2-40B4-BE49-F238E27FC236}">
                <a16:creationId xmlns:a16="http://schemas.microsoft.com/office/drawing/2014/main" id="{67D4981A-2004-43BD-99D8-6B13CFE147D2}"/>
              </a:ext>
            </a:extLst>
          </p:cNvPr>
          <p:cNvSpPr>
            <a:spLocks noGrp="1"/>
          </p:cNvSpPr>
          <p:nvPr/>
        </p:nvSpPr>
        <p:spPr>
          <a:xfrm>
            <a:off x="1028700" y="1409700"/>
            <a:ext cx="742950" cy="742950"/>
          </a:xfrm>
          <a:prstGeom prst="ellipse">
            <a:avLst/>
          </a:prstGeom>
          <a:solidFill>
            <a:srgbClr val="FFFFFF"/>
          </a:solidFill>
          <a:ln w="23813">
            <a:solidFill>
              <a:srgbClr val="D97942"/>
            </a:solidFill>
            <a:prstDash val="solid"/>
          </a:ln>
        </p:spPr>
        <p:txBody>
          <a:bodyPr/>
          <a:lstStyle/>
          <a:p>
            <a:endParaRPr lang="en-US"/>
          </a:p>
        </p:txBody>
      </p:sp>
      <p:sp>
        <p:nvSpPr>
          <p:cNvPr id="6" name="Rectangle 5">
            <a:extLst>
              <a:ext uri="{FF2B5EF4-FFF2-40B4-BE49-F238E27FC236}">
                <a16:creationId xmlns:a16="http://schemas.microsoft.com/office/drawing/2014/main" id="{D13DEDCE-B812-4408-BD7C-B6CA35919920}"/>
              </a:ext>
            </a:extLst>
          </p:cNvPr>
          <p:cNvSpPr>
            <a:spLocks noGrp="1"/>
          </p:cNvSpPr>
          <p:nvPr/>
        </p:nvSpPr>
        <p:spPr>
          <a:xfrm>
            <a:off x="1028700" y="1428750"/>
            <a:ext cx="742950" cy="704850"/>
          </a:xfrm>
          <a:prstGeom prst="rect">
            <a:avLst/>
          </a:prstGeom>
          <a:noFill/>
          <a:ln w="0">
            <a:noFill/>
            <a:prstDash val="solid"/>
          </a:ln>
        </p:spPr>
        <p:txBody>
          <a:bodyPr wrap="square" lIns="38100" tIns="19050" rIns="38100" bIns="19050" anchor="ctr">
            <a:normAutofit/>
          </a:bodyPr>
          <a:lstStyle/>
          <a:p>
            <a:pPr algn="ctr">
              <a:defRPr sz="2100" b="1" i="0">
                <a:solidFill>
                  <a:srgbClr val="D97942"/>
                </a:solidFill>
                <a:latin typeface="Arial"/>
                <a:ea typeface="Arial"/>
                <a:cs typeface="Arial"/>
              </a:defRPr>
            </a:pPr>
            <a:r>
              <a:rPr sz="2100" b="1" i="0">
                <a:solidFill>
                  <a:srgbClr val="D97942"/>
                </a:solidFill>
                <a:latin typeface="Arial"/>
                <a:ea typeface="Arial"/>
                <a:cs typeface="Arial"/>
              </a:rPr>
              <a:t>1</a:t>
            </a:r>
          </a:p>
        </p:txBody>
      </p:sp>
      <p:sp>
        <p:nvSpPr>
          <p:cNvPr id="7" name="Rectangle 6">
            <a:extLst>
              <a:ext uri="{FF2B5EF4-FFF2-40B4-BE49-F238E27FC236}">
                <a16:creationId xmlns:a16="http://schemas.microsoft.com/office/drawing/2014/main" id="{D369C11A-8981-4ACE-A35F-10495C054059}"/>
              </a:ext>
            </a:extLst>
          </p:cNvPr>
          <p:cNvSpPr>
            <a:spLocks noGrp="1"/>
          </p:cNvSpPr>
          <p:nvPr/>
        </p:nvSpPr>
        <p:spPr>
          <a:xfrm>
            <a:off x="2095500" y="1314450"/>
            <a:ext cx="8763000" cy="400050"/>
          </a:xfrm>
          <a:prstGeom prst="rect">
            <a:avLst/>
          </a:prstGeom>
          <a:noFill/>
          <a:ln w="0">
            <a:noFill/>
            <a:prstDash val="solid"/>
          </a:ln>
        </p:spPr>
        <p:txBody>
          <a:bodyPr wrap="square" lIns="38100" tIns="19050" rIns="38100" bIns="19050" anchor="ctr">
            <a:normAutofit/>
          </a:bodyPr>
          <a:lstStyle/>
          <a:p>
            <a:pPr algn="l">
              <a:defRPr sz="1650" b="1" i="0">
                <a:solidFill>
                  <a:srgbClr val="D97942"/>
                </a:solidFill>
                <a:latin typeface="Arial"/>
                <a:ea typeface="Arial"/>
                <a:cs typeface="Arial"/>
              </a:defRPr>
            </a:pPr>
            <a:r>
              <a:rPr sz="1650" b="1" i="0">
                <a:solidFill>
                  <a:srgbClr val="D97942"/>
                </a:solidFill>
                <a:latin typeface="Arial"/>
                <a:ea typeface="Arial"/>
                <a:cs typeface="Arial"/>
              </a:rPr>
              <a:t>NBFNet е најуспешен и најстабилен пребарувач</a:t>
            </a:r>
          </a:p>
        </p:txBody>
      </p:sp>
      <p:sp>
        <p:nvSpPr>
          <p:cNvPr id="8" name="Rectangle 7">
            <a:extLst>
              <a:ext uri="{FF2B5EF4-FFF2-40B4-BE49-F238E27FC236}">
                <a16:creationId xmlns:a16="http://schemas.microsoft.com/office/drawing/2014/main" id="{86F99CF1-4DDA-4023-960E-4FB092B44E61}"/>
              </a:ext>
            </a:extLst>
          </p:cNvPr>
          <p:cNvSpPr>
            <a:spLocks noGrp="1"/>
          </p:cNvSpPr>
          <p:nvPr/>
        </p:nvSpPr>
        <p:spPr>
          <a:xfrm>
            <a:off x="2095500" y="1762125"/>
            <a:ext cx="8763000" cy="495300"/>
          </a:xfrm>
          <a:prstGeom prst="rect">
            <a:avLst/>
          </a:prstGeom>
          <a:noFill/>
          <a:ln w="0">
            <a:noFill/>
            <a:prstDash val="solid"/>
          </a:ln>
        </p:spPr>
        <p:txBody>
          <a:bodyPr wrap="square" lIns="38100" tIns="19050" rIns="38100" bIns="19050" anchor="ctr">
            <a:normAutofit/>
          </a:bodyPr>
          <a:lstStyle/>
          <a:p>
            <a:pPr algn="l">
              <a:defRPr sz="1350" b="0" i="0">
                <a:solidFill>
                  <a:srgbClr val="263746"/>
                </a:solidFill>
                <a:latin typeface="Arial"/>
                <a:ea typeface="Arial"/>
                <a:cs typeface="Arial"/>
              </a:defRPr>
            </a:pPr>
            <a:r>
              <a:rPr sz="1350" b="0" i="0">
                <a:solidFill>
                  <a:srgbClr val="263746"/>
                </a:solidFill>
                <a:latin typeface="Arial"/>
                <a:ea typeface="Arial"/>
                <a:cs typeface="Arial"/>
              </a:rPr>
              <a:t>Hits@10 = 0,921 ± 0,005 · nDCG@10 = 0,796 ± 0,007</a:t>
            </a:r>
          </a:p>
        </p:txBody>
      </p:sp>
      <p:sp>
        <p:nvSpPr>
          <p:cNvPr id="9" name="Rounded Rectangle 8">
            <a:extLst>
              <a:ext uri="{FF2B5EF4-FFF2-40B4-BE49-F238E27FC236}">
                <a16:creationId xmlns:a16="http://schemas.microsoft.com/office/drawing/2014/main" id="{D0EE277D-C996-4F2D-ABA2-308E3B24B933}"/>
              </a:ext>
            </a:extLst>
          </p:cNvPr>
          <p:cNvSpPr>
            <a:spLocks noGrp="1"/>
          </p:cNvSpPr>
          <p:nvPr/>
        </p:nvSpPr>
        <p:spPr>
          <a:xfrm>
            <a:off x="762000" y="2762250"/>
            <a:ext cx="10668000" cy="1285875"/>
          </a:xfrm>
          <a:prstGeom prst="roundRect">
            <a:avLst>
              <a:gd name="adj" fmla="val 10370"/>
            </a:avLst>
          </a:prstGeom>
          <a:solidFill>
            <a:srgbClr val="E8F5F3"/>
          </a:solidFill>
          <a:ln w="15240">
            <a:solidFill>
              <a:srgbClr val="398D84"/>
            </a:solidFill>
            <a:prstDash val="solid"/>
          </a:ln>
        </p:spPr>
        <p:txBody>
          <a:bodyPr/>
          <a:lstStyle/>
          <a:p>
            <a:endParaRPr lang="en-US"/>
          </a:p>
        </p:txBody>
      </p:sp>
      <p:sp>
        <p:nvSpPr>
          <p:cNvPr id="10" name="Oval 9">
            <a:extLst>
              <a:ext uri="{FF2B5EF4-FFF2-40B4-BE49-F238E27FC236}">
                <a16:creationId xmlns:a16="http://schemas.microsoft.com/office/drawing/2014/main" id="{6542A5DC-4869-4031-81C3-D5BA47ACA414}"/>
              </a:ext>
            </a:extLst>
          </p:cNvPr>
          <p:cNvSpPr>
            <a:spLocks noGrp="1"/>
          </p:cNvSpPr>
          <p:nvPr/>
        </p:nvSpPr>
        <p:spPr>
          <a:xfrm>
            <a:off x="1028700" y="3028950"/>
            <a:ext cx="742950" cy="742950"/>
          </a:xfrm>
          <a:prstGeom prst="ellipse">
            <a:avLst/>
          </a:prstGeom>
          <a:solidFill>
            <a:srgbClr val="FFFFFF"/>
          </a:solidFill>
          <a:ln w="23813">
            <a:solidFill>
              <a:srgbClr val="398D84"/>
            </a:solidFill>
            <a:prstDash val="solid"/>
          </a:ln>
        </p:spPr>
        <p:txBody>
          <a:bodyPr/>
          <a:lstStyle/>
          <a:p>
            <a:endParaRPr lang="en-US"/>
          </a:p>
        </p:txBody>
      </p:sp>
      <p:sp>
        <p:nvSpPr>
          <p:cNvPr id="11" name="Rectangle 10">
            <a:extLst>
              <a:ext uri="{FF2B5EF4-FFF2-40B4-BE49-F238E27FC236}">
                <a16:creationId xmlns:a16="http://schemas.microsoft.com/office/drawing/2014/main" id="{7BD1B0BB-1E29-40C8-9B80-08CA84CE384D}"/>
              </a:ext>
            </a:extLst>
          </p:cNvPr>
          <p:cNvSpPr>
            <a:spLocks noGrp="1"/>
          </p:cNvSpPr>
          <p:nvPr/>
        </p:nvSpPr>
        <p:spPr>
          <a:xfrm>
            <a:off x="1028700" y="3048000"/>
            <a:ext cx="742950" cy="704850"/>
          </a:xfrm>
          <a:prstGeom prst="rect">
            <a:avLst/>
          </a:prstGeom>
          <a:noFill/>
          <a:ln w="0">
            <a:noFill/>
            <a:prstDash val="solid"/>
          </a:ln>
        </p:spPr>
        <p:txBody>
          <a:bodyPr wrap="square" lIns="38100" tIns="19050" rIns="38100" bIns="19050" anchor="ctr">
            <a:normAutofit/>
          </a:bodyPr>
          <a:lstStyle/>
          <a:p>
            <a:pPr algn="ctr">
              <a:defRPr sz="2100" b="1" i="0">
                <a:solidFill>
                  <a:srgbClr val="398D84"/>
                </a:solidFill>
                <a:latin typeface="Arial"/>
                <a:ea typeface="Arial"/>
                <a:cs typeface="Arial"/>
              </a:defRPr>
            </a:pPr>
            <a:r>
              <a:rPr sz="2100" b="1" i="0">
                <a:solidFill>
                  <a:srgbClr val="398D84"/>
                </a:solidFill>
                <a:latin typeface="Arial"/>
                <a:ea typeface="Arial"/>
                <a:cs typeface="Arial"/>
              </a:rPr>
              <a:t>2</a:t>
            </a:r>
          </a:p>
        </p:txBody>
      </p:sp>
      <p:sp>
        <p:nvSpPr>
          <p:cNvPr id="12" name="Rectangle 11">
            <a:extLst>
              <a:ext uri="{FF2B5EF4-FFF2-40B4-BE49-F238E27FC236}">
                <a16:creationId xmlns:a16="http://schemas.microsoft.com/office/drawing/2014/main" id="{A806EB2C-C4EB-4E65-9368-A6A1B521792B}"/>
              </a:ext>
            </a:extLst>
          </p:cNvPr>
          <p:cNvSpPr>
            <a:spLocks noGrp="1"/>
          </p:cNvSpPr>
          <p:nvPr/>
        </p:nvSpPr>
        <p:spPr>
          <a:xfrm>
            <a:off x="2095500" y="2933700"/>
            <a:ext cx="8763000" cy="400050"/>
          </a:xfrm>
          <a:prstGeom prst="rect">
            <a:avLst/>
          </a:prstGeom>
          <a:noFill/>
          <a:ln w="0">
            <a:noFill/>
            <a:prstDash val="solid"/>
          </a:ln>
        </p:spPr>
        <p:txBody>
          <a:bodyPr wrap="square" lIns="38100" tIns="19050" rIns="38100" bIns="19050" anchor="ctr">
            <a:normAutofit/>
          </a:bodyPr>
          <a:lstStyle/>
          <a:p>
            <a:pPr algn="l">
              <a:defRPr sz="1650" b="1" i="0">
                <a:solidFill>
                  <a:srgbClr val="398D84"/>
                </a:solidFill>
                <a:latin typeface="Arial"/>
                <a:ea typeface="Arial"/>
                <a:cs typeface="Arial"/>
              </a:defRPr>
            </a:pPr>
            <a:r>
              <a:rPr sz="1650" b="1" i="0">
                <a:solidFill>
                  <a:srgbClr val="398D84"/>
                </a:solidFill>
                <a:latin typeface="Arial"/>
                <a:ea typeface="Arial"/>
                <a:cs typeface="Arial"/>
              </a:rPr>
              <a:t>Најкратките патеки го даваат највисокиот конечен квалитет</a:t>
            </a:r>
          </a:p>
        </p:txBody>
      </p:sp>
      <p:sp>
        <p:nvSpPr>
          <p:cNvPr id="13" name="Rectangle 12">
            <a:extLst>
              <a:ext uri="{FF2B5EF4-FFF2-40B4-BE49-F238E27FC236}">
                <a16:creationId xmlns:a16="http://schemas.microsoft.com/office/drawing/2014/main" id="{AD787FD6-4D7B-414D-B4B5-8F488C010F07}"/>
              </a:ext>
            </a:extLst>
          </p:cNvPr>
          <p:cNvSpPr>
            <a:spLocks noGrp="1"/>
          </p:cNvSpPr>
          <p:nvPr/>
        </p:nvSpPr>
        <p:spPr>
          <a:xfrm>
            <a:off x="2095500" y="3381375"/>
            <a:ext cx="8763000" cy="495300"/>
          </a:xfrm>
          <a:prstGeom prst="rect">
            <a:avLst/>
          </a:prstGeom>
          <a:noFill/>
          <a:ln w="0">
            <a:noFill/>
            <a:prstDash val="solid"/>
          </a:ln>
        </p:spPr>
        <p:txBody>
          <a:bodyPr wrap="square" lIns="38100" tIns="19050" rIns="38100" bIns="19050" anchor="ctr">
            <a:normAutofit/>
          </a:bodyPr>
          <a:lstStyle/>
          <a:p>
            <a:pPr algn="l">
              <a:defRPr sz="1350" b="0" i="0">
                <a:solidFill>
                  <a:srgbClr val="263746"/>
                </a:solidFill>
                <a:latin typeface="Arial"/>
                <a:ea typeface="Arial"/>
                <a:cs typeface="Arial"/>
              </a:defRPr>
            </a:pPr>
            <a:r>
              <a:rPr sz="1350" b="0" i="0" dirty="0" err="1">
                <a:solidFill>
                  <a:srgbClr val="263746"/>
                </a:solidFill>
                <a:latin typeface="Arial"/>
                <a:ea typeface="Arial"/>
                <a:cs typeface="Arial"/>
              </a:rPr>
              <a:t>Семантичкиот</a:t>
            </a:r>
            <a:r>
              <a:rPr sz="1350" b="0" i="0" dirty="0">
                <a:solidFill>
                  <a:srgbClr val="263746"/>
                </a:solidFill>
                <a:latin typeface="Arial"/>
                <a:ea typeface="Arial"/>
                <a:cs typeface="Arial"/>
              </a:rPr>
              <a:t> PCST </a:t>
            </a:r>
            <a:r>
              <a:rPr sz="1350" b="0" i="0" dirty="0" err="1">
                <a:solidFill>
                  <a:srgbClr val="263746"/>
                </a:solidFill>
                <a:latin typeface="Arial"/>
                <a:ea typeface="Arial"/>
                <a:cs typeface="Arial"/>
              </a:rPr>
              <a:t>создава</a:t>
            </a:r>
            <a:r>
              <a:rPr sz="1350" b="0" i="0" dirty="0">
                <a:solidFill>
                  <a:srgbClr val="263746"/>
                </a:solidFill>
                <a:latin typeface="Arial"/>
                <a:ea typeface="Arial"/>
                <a:cs typeface="Arial"/>
              </a:rPr>
              <a:t> ≈</a:t>
            </a:r>
            <a:r>
              <a:rPr lang="en-US" sz="1350" b="0" i="0" dirty="0">
                <a:solidFill>
                  <a:srgbClr val="263746"/>
                </a:solidFill>
                <a:latin typeface="Arial"/>
                <a:ea typeface="Arial"/>
                <a:cs typeface="Arial"/>
              </a:rPr>
              <a:t> </a:t>
            </a:r>
            <a:r>
              <a:rPr sz="1350" b="0" i="0" dirty="0">
                <a:solidFill>
                  <a:srgbClr val="263746"/>
                </a:solidFill>
                <a:latin typeface="Arial"/>
                <a:ea typeface="Arial"/>
                <a:cs typeface="Arial"/>
              </a:rPr>
              <a:t>85% </a:t>
            </a:r>
            <a:r>
              <a:rPr sz="1350" b="0" i="0" dirty="0" err="1">
                <a:solidFill>
                  <a:srgbClr val="263746"/>
                </a:solidFill>
                <a:latin typeface="Arial"/>
                <a:ea typeface="Arial"/>
                <a:cs typeface="Arial"/>
              </a:rPr>
              <a:t>помал</a:t>
            </a:r>
            <a:r>
              <a:rPr sz="1350" b="0" i="0" dirty="0">
                <a:solidFill>
                  <a:srgbClr val="263746"/>
                </a:solidFill>
                <a:latin typeface="Arial"/>
                <a:ea typeface="Arial"/>
                <a:cs typeface="Arial"/>
              </a:rPr>
              <a:t> </a:t>
            </a:r>
            <a:r>
              <a:rPr sz="1350" b="0" i="0" dirty="0" err="1">
                <a:solidFill>
                  <a:srgbClr val="263746"/>
                </a:solidFill>
                <a:latin typeface="Arial"/>
                <a:ea typeface="Arial"/>
                <a:cs typeface="Arial"/>
              </a:rPr>
              <a:t>контекст</a:t>
            </a:r>
            <a:r>
              <a:rPr sz="1350" b="0" i="0" dirty="0">
                <a:solidFill>
                  <a:srgbClr val="263746"/>
                </a:solidFill>
                <a:latin typeface="Arial"/>
                <a:ea typeface="Arial"/>
                <a:cs typeface="Arial"/>
              </a:rPr>
              <a:t> </a:t>
            </a:r>
            <a:r>
              <a:rPr sz="1350" b="0" i="0" dirty="0" err="1">
                <a:solidFill>
                  <a:srgbClr val="263746"/>
                </a:solidFill>
                <a:latin typeface="Arial"/>
                <a:ea typeface="Arial"/>
                <a:cs typeface="Arial"/>
              </a:rPr>
              <a:t>и</a:t>
            </a:r>
            <a:r>
              <a:rPr sz="1350" b="0" i="0" dirty="0">
                <a:solidFill>
                  <a:srgbClr val="263746"/>
                </a:solidFill>
                <a:latin typeface="Arial"/>
                <a:ea typeface="Arial"/>
                <a:cs typeface="Arial"/>
              </a:rPr>
              <a:t> </a:t>
            </a:r>
            <a:r>
              <a:rPr sz="1350" b="0" i="0" dirty="0" err="1">
                <a:solidFill>
                  <a:srgbClr val="263746"/>
                </a:solidFill>
                <a:latin typeface="Arial"/>
                <a:ea typeface="Arial"/>
                <a:cs typeface="Arial"/>
              </a:rPr>
              <a:t>е</a:t>
            </a:r>
            <a:r>
              <a:rPr sz="1350" b="0" i="0" dirty="0">
                <a:solidFill>
                  <a:srgbClr val="263746"/>
                </a:solidFill>
                <a:latin typeface="Arial"/>
                <a:ea typeface="Arial"/>
                <a:cs typeface="Arial"/>
              </a:rPr>
              <a:t> </a:t>
            </a:r>
            <a:r>
              <a:rPr sz="1350" b="0" i="0" dirty="0" err="1">
                <a:solidFill>
                  <a:srgbClr val="263746"/>
                </a:solidFill>
                <a:latin typeface="Arial"/>
                <a:ea typeface="Arial"/>
                <a:cs typeface="Arial"/>
              </a:rPr>
              <a:t>подобар</a:t>
            </a:r>
            <a:r>
              <a:rPr sz="1350" b="0" i="0" dirty="0">
                <a:solidFill>
                  <a:srgbClr val="263746"/>
                </a:solidFill>
                <a:latin typeface="Arial"/>
                <a:ea typeface="Arial"/>
                <a:cs typeface="Arial"/>
              </a:rPr>
              <a:t> </a:t>
            </a:r>
            <a:r>
              <a:rPr sz="1350" b="0" i="0" dirty="0" err="1">
                <a:solidFill>
                  <a:srgbClr val="263746"/>
                </a:solidFill>
                <a:latin typeface="Arial"/>
                <a:ea typeface="Arial"/>
                <a:cs typeface="Arial"/>
              </a:rPr>
              <a:t>кога</a:t>
            </a:r>
            <a:r>
              <a:rPr sz="1350" b="0" i="0" dirty="0">
                <a:solidFill>
                  <a:srgbClr val="263746"/>
                </a:solidFill>
                <a:latin typeface="Arial"/>
                <a:ea typeface="Arial"/>
                <a:cs typeface="Arial"/>
              </a:rPr>
              <a:t> </a:t>
            </a:r>
            <a:r>
              <a:rPr sz="1350" b="0" i="0" dirty="0" err="1">
                <a:solidFill>
                  <a:srgbClr val="263746"/>
                </a:solidFill>
                <a:latin typeface="Arial"/>
                <a:ea typeface="Arial"/>
                <a:cs typeface="Arial"/>
              </a:rPr>
              <a:t>компактноста</a:t>
            </a:r>
            <a:r>
              <a:rPr sz="1350" b="0" i="0" dirty="0">
                <a:solidFill>
                  <a:srgbClr val="263746"/>
                </a:solidFill>
                <a:latin typeface="Arial"/>
                <a:ea typeface="Arial"/>
                <a:cs typeface="Arial"/>
              </a:rPr>
              <a:t> </a:t>
            </a:r>
            <a:r>
              <a:rPr sz="1350" b="0" i="0" dirty="0" err="1">
                <a:solidFill>
                  <a:srgbClr val="263746"/>
                </a:solidFill>
                <a:latin typeface="Arial"/>
                <a:ea typeface="Arial"/>
                <a:cs typeface="Arial"/>
              </a:rPr>
              <a:t>е</a:t>
            </a:r>
            <a:r>
              <a:rPr sz="1350" b="0" i="0" dirty="0">
                <a:solidFill>
                  <a:srgbClr val="263746"/>
                </a:solidFill>
                <a:latin typeface="Arial"/>
                <a:ea typeface="Arial"/>
                <a:cs typeface="Arial"/>
              </a:rPr>
              <a:t> </a:t>
            </a:r>
            <a:r>
              <a:rPr sz="1350" b="0" i="0" dirty="0" err="1">
                <a:solidFill>
                  <a:srgbClr val="263746"/>
                </a:solidFill>
                <a:latin typeface="Arial"/>
                <a:ea typeface="Arial"/>
                <a:cs typeface="Arial"/>
              </a:rPr>
              <a:t>приоритет</a:t>
            </a:r>
            <a:r>
              <a:rPr sz="1350" b="0" i="0" dirty="0">
                <a:solidFill>
                  <a:srgbClr val="263746"/>
                </a:solidFill>
                <a:latin typeface="Arial"/>
                <a:ea typeface="Arial"/>
                <a:cs typeface="Arial"/>
              </a:rPr>
              <a:t>.</a:t>
            </a:r>
          </a:p>
        </p:txBody>
      </p:sp>
      <p:sp>
        <p:nvSpPr>
          <p:cNvPr id="14" name="Rounded Rectangle 13">
            <a:extLst>
              <a:ext uri="{FF2B5EF4-FFF2-40B4-BE49-F238E27FC236}">
                <a16:creationId xmlns:a16="http://schemas.microsoft.com/office/drawing/2014/main" id="{A708D3D0-2052-4CC6-9A8A-D14D23DF9D8D}"/>
              </a:ext>
            </a:extLst>
          </p:cNvPr>
          <p:cNvSpPr>
            <a:spLocks noGrp="1"/>
          </p:cNvSpPr>
          <p:nvPr/>
        </p:nvSpPr>
        <p:spPr>
          <a:xfrm>
            <a:off x="762000" y="4381500"/>
            <a:ext cx="10668000" cy="1285875"/>
          </a:xfrm>
          <a:prstGeom prst="roundRect">
            <a:avLst>
              <a:gd name="adj" fmla="val 10370"/>
            </a:avLst>
          </a:prstGeom>
          <a:solidFill>
            <a:srgbClr val="F1ECF7"/>
          </a:solidFill>
          <a:ln w="15240">
            <a:solidFill>
              <a:srgbClr val="8064A2"/>
            </a:solidFill>
            <a:prstDash val="solid"/>
          </a:ln>
        </p:spPr>
        <p:txBody>
          <a:bodyPr/>
          <a:lstStyle/>
          <a:p>
            <a:endParaRPr lang="en-US"/>
          </a:p>
        </p:txBody>
      </p:sp>
      <p:sp>
        <p:nvSpPr>
          <p:cNvPr id="15" name="Oval 14">
            <a:extLst>
              <a:ext uri="{FF2B5EF4-FFF2-40B4-BE49-F238E27FC236}">
                <a16:creationId xmlns:a16="http://schemas.microsoft.com/office/drawing/2014/main" id="{C8398315-35C0-4FFD-AA32-E75004AD0C27}"/>
              </a:ext>
            </a:extLst>
          </p:cNvPr>
          <p:cNvSpPr>
            <a:spLocks noGrp="1"/>
          </p:cNvSpPr>
          <p:nvPr/>
        </p:nvSpPr>
        <p:spPr>
          <a:xfrm>
            <a:off x="1028700" y="4648200"/>
            <a:ext cx="742950" cy="742950"/>
          </a:xfrm>
          <a:prstGeom prst="ellipse">
            <a:avLst/>
          </a:prstGeom>
          <a:solidFill>
            <a:srgbClr val="FFFFFF"/>
          </a:solidFill>
          <a:ln w="23813">
            <a:solidFill>
              <a:srgbClr val="8064A2"/>
            </a:solidFill>
            <a:prstDash val="solid"/>
          </a:ln>
        </p:spPr>
        <p:txBody>
          <a:bodyPr/>
          <a:lstStyle/>
          <a:p>
            <a:endParaRPr lang="en-US"/>
          </a:p>
        </p:txBody>
      </p:sp>
      <p:sp>
        <p:nvSpPr>
          <p:cNvPr id="16" name="Rectangle 15">
            <a:extLst>
              <a:ext uri="{FF2B5EF4-FFF2-40B4-BE49-F238E27FC236}">
                <a16:creationId xmlns:a16="http://schemas.microsoft.com/office/drawing/2014/main" id="{25D062D3-55DB-4BF1-812D-8A8024360666}"/>
              </a:ext>
            </a:extLst>
          </p:cNvPr>
          <p:cNvSpPr>
            <a:spLocks noGrp="1"/>
          </p:cNvSpPr>
          <p:nvPr/>
        </p:nvSpPr>
        <p:spPr>
          <a:xfrm>
            <a:off x="1028700" y="4667250"/>
            <a:ext cx="742950" cy="704850"/>
          </a:xfrm>
          <a:prstGeom prst="rect">
            <a:avLst/>
          </a:prstGeom>
          <a:noFill/>
          <a:ln w="0">
            <a:noFill/>
            <a:prstDash val="solid"/>
          </a:ln>
        </p:spPr>
        <p:txBody>
          <a:bodyPr wrap="square" lIns="38100" tIns="19050" rIns="38100" bIns="19050" anchor="ctr">
            <a:normAutofit/>
          </a:bodyPr>
          <a:lstStyle/>
          <a:p>
            <a:pPr algn="ctr">
              <a:defRPr sz="2100" b="1" i="0">
                <a:solidFill>
                  <a:srgbClr val="8064A2"/>
                </a:solidFill>
                <a:latin typeface="Arial"/>
                <a:ea typeface="Arial"/>
                <a:cs typeface="Arial"/>
              </a:defRPr>
            </a:pPr>
            <a:r>
              <a:rPr sz="2100" b="1" i="0">
                <a:solidFill>
                  <a:srgbClr val="8064A2"/>
                </a:solidFill>
                <a:latin typeface="Arial"/>
                <a:ea typeface="Arial"/>
                <a:cs typeface="Arial"/>
              </a:rPr>
              <a:t>3</a:t>
            </a:r>
          </a:p>
        </p:txBody>
      </p:sp>
      <p:sp>
        <p:nvSpPr>
          <p:cNvPr id="17" name="Rectangle 16">
            <a:extLst>
              <a:ext uri="{FF2B5EF4-FFF2-40B4-BE49-F238E27FC236}">
                <a16:creationId xmlns:a16="http://schemas.microsoft.com/office/drawing/2014/main" id="{DC8CFB49-306C-4627-B754-00A6AFC129A2}"/>
              </a:ext>
            </a:extLst>
          </p:cNvPr>
          <p:cNvSpPr>
            <a:spLocks noGrp="1"/>
          </p:cNvSpPr>
          <p:nvPr/>
        </p:nvSpPr>
        <p:spPr>
          <a:xfrm>
            <a:off x="2095500" y="4552950"/>
            <a:ext cx="8763000" cy="400050"/>
          </a:xfrm>
          <a:prstGeom prst="rect">
            <a:avLst/>
          </a:prstGeom>
          <a:noFill/>
          <a:ln w="0">
            <a:noFill/>
            <a:prstDash val="solid"/>
          </a:ln>
        </p:spPr>
        <p:txBody>
          <a:bodyPr wrap="square" lIns="38100" tIns="19050" rIns="38100" bIns="19050" anchor="ctr">
            <a:normAutofit/>
          </a:bodyPr>
          <a:lstStyle/>
          <a:p>
            <a:pPr algn="l">
              <a:defRPr sz="1650" b="1" i="0">
                <a:solidFill>
                  <a:srgbClr val="8064A2"/>
                </a:solidFill>
                <a:latin typeface="Arial"/>
                <a:ea typeface="Arial"/>
                <a:cs typeface="Arial"/>
              </a:defRPr>
            </a:pPr>
            <a:r>
              <a:rPr lang="mk-MK" sz="1650" b="1" i="0" dirty="0">
                <a:solidFill>
                  <a:srgbClr val="8064A2"/>
                </a:solidFill>
                <a:latin typeface="Arial"/>
                <a:ea typeface="Arial"/>
                <a:cs typeface="Arial"/>
              </a:rPr>
              <a:t>Главно тесно грло е искористувањето на достапниот контекст</a:t>
            </a:r>
            <a:endParaRPr sz="1650" b="1" i="0" dirty="0">
              <a:solidFill>
                <a:srgbClr val="8064A2"/>
              </a:solidFill>
              <a:latin typeface="Arial"/>
              <a:ea typeface="Arial"/>
              <a:cs typeface="Arial"/>
            </a:endParaRPr>
          </a:p>
        </p:txBody>
      </p:sp>
      <p:sp>
        <p:nvSpPr>
          <p:cNvPr id="18" name="Rectangle 17">
            <a:extLst>
              <a:ext uri="{FF2B5EF4-FFF2-40B4-BE49-F238E27FC236}">
                <a16:creationId xmlns:a16="http://schemas.microsoft.com/office/drawing/2014/main" id="{A09EC0A5-6FA9-43A1-AF05-978EA622DD94}"/>
              </a:ext>
            </a:extLst>
          </p:cNvPr>
          <p:cNvSpPr>
            <a:spLocks noGrp="1"/>
          </p:cNvSpPr>
          <p:nvPr/>
        </p:nvSpPr>
        <p:spPr>
          <a:xfrm>
            <a:off x="2095500" y="5000625"/>
            <a:ext cx="8763000" cy="495300"/>
          </a:xfrm>
          <a:prstGeom prst="rect">
            <a:avLst/>
          </a:prstGeom>
          <a:noFill/>
          <a:ln w="0">
            <a:noFill/>
            <a:prstDash val="solid"/>
          </a:ln>
        </p:spPr>
        <p:txBody>
          <a:bodyPr wrap="square" lIns="38100" tIns="19050" rIns="38100" bIns="19050" anchor="ctr">
            <a:normAutofit/>
          </a:bodyPr>
          <a:lstStyle/>
          <a:p>
            <a:pPr algn="l">
              <a:defRPr sz="1350" b="0" i="0">
                <a:solidFill>
                  <a:srgbClr val="263746"/>
                </a:solidFill>
                <a:latin typeface="Arial"/>
                <a:ea typeface="Arial"/>
                <a:cs typeface="Arial"/>
              </a:defRPr>
            </a:pPr>
            <a:r>
              <a:rPr lang="mk-MK" sz="1350" b="0" i="0" dirty="0">
                <a:solidFill>
                  <a:srgbClr val="263746"/>
                </a:solidFill>
                <a:latin typeface="Arial"/>
                <a:ea typeface="Arial"/>
                <a:cs typeface="Arial"/>
              </a:rPr>
              <a:t>Изборот на </a:t>
            </a:r>
            <a:r>
              <a:rPr lang="en-US" sz="1350" b="0" i="0" dirty="0">
                <a:solidFill>
                  <a:srgbClr val="263746"/>
                </a:solidFill>
                <a:latin typeface="Arial"/>
                <a:ea typeface="Arial"/>
                <a:cs typeface="Arial"/>
              </a:rPr>
              <a:t>LLM</a:t>
            </a:r>
            <a:r>
              <a:rPr lang="mk-MK" sz="1350" b="0" i="0" dirty="0">
                <a:solidFill>
                  <a:srgbClr val="263746"/>
                </a:solidFill>
                <a:latin typeface="Arial"/>
                <a:ea typeface="Arial"/>
                <a:cs typeface="Arial"/>
              </a:rPr>
              <a:t> го менува балансот меѓу </a:t>
            </a:r>
            <a:r>
              <a:rPr lang="en-US" sz="1350" b="0" i="0" dirty="0">
                <a:solidFill>
                  <a:srgbClr val="263746"/>
                </a:solidFill>
                <a:latin typeface="Arial"/>
                <a:ea typeface="Arial"/>
                <a:cs typeface="Arial"/>
              </a:rPr>
              <a:t>Hit </a:t>
            </a:r>
            <a:r>
              <a:rPr lang="mk-MK" sz="1350" b="0" i="0" dirty="0">
                <a:solidFill>
                  <a:srgbClr val="263746"/>
                </a:solidFill>
                <a:latin typeface="Arial"/>
                <a:ea typeface="Arial"/>
                <a:cs typeface="Arial"/>
              </a:rPr>
              <a:t>и </a:t>
            </a:r>
            <a:r>
              <a:rPr lang="en-US" sz="1350" b="0" i="0" dirty="0">
                <a:solidFill>
                  <a:srgbClr val="263746"/>
                </a:solidFill>
                <a:latin typeface="Arial"/>
                <a:ea typeface="Arial"/>
                <a:cs typeface="Arial"/>
              </a:rPr>
              <a:t>F1</a:t>
            </a:r>
            <a:endParaRPr sz="1350" b="0" i="0" dirty="0">
              <a:solidFill>
                <a:srgbClr val="263746"/>
              </a:solidFill>
              <a:latin typeface="Arial"/>
              <a:ea typeface="Arial"/>
              <a:cs typeface="Arial"/>
            </a:endParaRPr>
          </a:p>
        </p:txBody>
      </p:sp>
    </p:spTree>
    <p:extLst>
      <p:ext uri="{BB962C8B-B14F-4D97-AF65-F5344CB8AC3E}">
        <p14:creationId xmlns:p14="http://schemas.microsoft.com/office/powerpoint/2010/main" val="3619397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9934F354-E506-4DA2-A1F0-B0E95A0BF964}"/>
              </a:ext>
            </a:extLst>
          </p:cNvPr>
          <p:cNvSpPr>
            <a:spLocks noGrp="1"/>
          </p:cNvSpPr>
          <p:nvPr/>
        </p:nvSpPr>
        <p:spPr>
          <a:xfrm>
            <a:off x="552450" y="209550"/>
            <a:ext cx="10763250" cy="523875"/>
          </a:xfrm>
          <a:prstGeom prst="rect">
            <a:avLst/>
          </a:prstGeom>
          <a:noFill/>
          <a:ln w="0">
            <a:noFill/>
            <a:prstDash val="solid"/>
          </a:ln>
        </p:spPr>
        <p:txBody>
          <a:bodyPr wrap="square" lIns="38100" tIns="19050" rIns="38100" bIns="19050" anchor="ctr">
            <a:normAutofit/>
          </a:bodyPr>
          <a:lstStyle/>
          <a:p>
            <a:pPr algn="l">
              <a:defRPr sz="2325" b="1" i="0">
                <a:solidFill>
                  <a:srgbClr val="263746"/>
                </a:solidFill>
                <a:latin typeface="Arial"/>
                <a:ea typeface="Arial"/>
                <a:cs typeface="Arial"/>
              </a:defRPr>
            </a:pPr>
            <a:r>
              <a:rPr sz="2325" b="1" i="0">
                <a:solidFill>
                  <a:srgbClr val="263746"/>
                </a:solidFill>
                <a:latin typeface="Arial"/>
                <a:ea typeface="Arial"/>
                <a:cs typeface="Arial"/>
              </a:rPr>
              <a:t>Идни подобрувања</a:t>
            </a:r>
          </a:p>
        </p:txBody>
      </p:sp>
      <p:sp>
        <p:nvSpPr>
          <p:cNvPr id="2" name="Rectangle 1">
            <a:extLst>
              <a:ext uri="{FF2B5EF4-FFF2-40B4-BE49-F238E27FC236}">
                <a16:creationId xmlns:a16="http://schemas.microsoft.com/office/drawing/2014/main" id="{3553060B-6EBA-4B04-8950-332C41DD3743}"/>
              </a:ext>
            </a:extLst>
          </p:cNvPr>
          <p:cNvSpPr>
            <a:spLocks noGrp="1"/>
          </p:cNvSpPr>
          <p:nvPr/>
        </p:nvSpPr>
        <p:spPr>
          <a:xfrm>
            <a:off x="552450" y="781050"/>
            <a:ext cx="11087100" cy="38100"/>
          </a:xfrm>
          <a:prstGeom prst="rect">
            <a:avLst/>
          </a:prstGeom>
          <a:solidFill>
            <a:srgbClr val="4E9B69"/>
          </a:solidFill>
          <a:ln w="0">
            <a:noFill/>
            <a:prstDash val="solid"/>
          </a:ln>
        </p:spPr>
        <p:txBody>
          <a:bodyPr/>
          <a:lstStyle/>
          <a:p>
            <a:endParaRPr lang="en-US"/>
          </a:p>
        </p:txBody>
      </p:sp>
      <p:sp>
        <p:nvSpPr>
          <p:cNvPr id="3" name="Rectangle 2">
            <a:extLst>
              <a:ext uri="{FF2B5EF4-FFF2-40B4-BE49-F238E27FC236}">
                <a16:creationId xmlns:a16="http://schemas.microsoft.com/office/drawing/2014/main" id="{2D383050-2B70-44C4-9EF9-375236EE2995}"/>
              </a:ext>
            </a:extLst>
          </p:cNvPr>
          <p:cNvSpPr>
            <a:spLocks noGrp="1"/>
          </p:cNvSpPr>
          <p:nvPr/>
        </p:nvSpPr>
        <p:spPr>
          <a:xfrm>
            <a:off x="11315700" y="6486525"/>
            <a:ext cx="323850" cy="228600"/>
          </a:xfrm>
          <a:prstGeom prst="rect">
            <a:avLst/>
          </a:prstGeom>
          <a:noFill/>
          <a:ln w="0">
            <a:noFill/>
            <a:prstDash val="solid"/>
          </a:ln>
        </p:spPr>
        <p:txBody>
          <a:bodyPr wrap="square" lIns="38100" tIns="19050" rIns="38100" bIns="19050" anchor="b">
            <a:normAutofit/>
          </a:bodyPr>
          <a:lstStyle/>
          <a:p>
            <a:pPr algn="r">
              <a:defRPr sz="900" b="0" i="0">
                <a:solidFill>
                  <a:srgbClr val="617080"/>
                </a:solidFill>
                <a:latin typeface="Arial"/>
                <a:ea typeface="Arial"/>
                <a:cs typeface="Arial"/>
              </a:defRPr>
            </a:pPr>
            <a:r>
              <a:rPr sz="900" b="0" i="0">
                <a:solidFill>
                  <a:srgbClr val="617080"/>
                </a:solidFill>
                <a:latin typeface="Arial"/>
                <a:ea typeface="Arial"/>
                <a:cs typeface="Arial"/>
              </a:rPr>
              <a:t>22</a:t>
            </a:r>
          </a:p>
        </p:txBody>
      </p:sp>
      <p:sp>
        <p:nvSpPr>
          <p:cNvPr id="4" name="Rounded Rectangle 3">
            <a:extLst>
              <a:ext uri="{FF2B5EF4-FFF2-40B4-BE49-F238E27FC236}">
                <a16:creationId xmlns:a16="http://schemas.microsoft.com/office/drawing/2014/main" id="{9CDB3A42-445D-4F06-942E-537E3DB27798}"/>
              </a:ext>
            </a:extLst>
          </p:cNvPr>
          <p:cNvSpPr>
            <a:spLocks noGrp="1"/>
          </p:cNvSpPr>
          <p:nvPr/>
        </p:nvSpPr>
        <p:spPr>
          <a:xfrm>
            <a:off x="552450" y="1381125"/>
            <a:ext cx="3286125" cy="3667125"/>
          </a:xfrm>
          <a:prstGeom prst="roundRect">
            <a:avLst>
              <a:gd name="adj" fmla="val 5217"/>
            </a:avLst>
          </a:prstGeom>
          <a:solidFill>
            <a:srgbClr val="E8F5F3"/>
          </a:solidFill>
          <a:ln w="17145">
            <a:solidFill>
              <a:srgbClr val="398D84"/>
            </a:solidFill>
            <a:prstDash val="solid"/>
          </a:ln>
        </p:spPr>
        <p:txBody>
          <a:bodyPr/>
          <a:lstStyle/>
          <a:p>
            <a:endParaRPr lang="en-US"/>
          </a:p>
        </p:txBody>
      </p:sp>
      <p:sp>
        <p:nvSpPr>
          <p:cNvPr id="5" name="Rectangle 4">
            <a:extLst>
              <a:ext uri="{FF2B5EF4-FFF2-40B4-BE49-F238E27FC236}">
                <a16:creationId xmlns:a16="http://schemas.microsoft.com/office/drawing/2014/main" id="{6940F77F-823C-49A4-B379-4CF4BDFE988F}"/>
              </a:ext>
            </a:extLst>
          </p:cNvPr>
          <p:cNvSpPr>
            <a:spLocks noGrp="1"/>
          </p:cNvSpPr>
          <p:nvPr/>
        </p:nvSpPr>
        <p:spPr>
          <a:xfrm>
            <a:off x="885825" y="1695450"/>
            <a:ext cx="2619375" cy="47625"/>
          </a:xfrm>
          <a:prstGeom prst="rect">
            <a:avLst/>
          </a:prstGeom>
          <a:solidFill>
            <a:srgbClr val="398D84"/>
          </a:solidFill>
          <a:ln w="0">
            <a:noFill/>
            <a:prstDash val="solid"/>
          </a:ln>
        </p:spPr>
        <p:txBody>
          <a:bodyPr/>
          <a:lstStyle/>
          <a:p>
            <a:endParaRPr lang="en-US"/>
          </a:p>
        </p:txBody>
      </p:sp>
      <p:sp>
        <p:nvSpPr>
          <p:cNvPr id="6" name="Rectangle 5">
            <a:extLst>
              <a:ext uri="{FF2B5EF4-FFF2-40B4-BE49-F238E27FC236}">
                <a16:creationId xmlns:a16="http://schemas.microsoft.com/office/drawing/2014/main" id="{A472327B-4FE8-4D00-9817-EDBBD4E8510F}"/>
              </a:ext>
            </a:extLst>
          </p:cNvPr>
          <p:cNvSpPr>
            <a:spLocks noGrp="1"/>
          </p:cNvSpPr>
          <p:nvPr/>
        </p:nvSpPr>
        <p:spPr>
          <a:xfrm>
            <a:off x="838200" y="2047875"/>
            <a:ext cx="2714625" cy="762000"/>
          </a:xfrm>
          <a:prstGeom prst="rect">
            <a:avLst/>
          </a:prstGeom>
          <a:noFill/>
          <a:ln w="0">
            <a:noFill/>
            <a:prstDash val="solid"/>
          </a:ln>
        </p:spPr>
        <p:txBody>
          <a:bodyPr wrap="square" lIns="38100" tIns="19050" rIns="38100" bIns="19050" anchor="ctr">
            <a:normAutofit/>
          </a:bodyPr>
          <a:lstStyle/>
          <a:p>
            <a:pPr algn="ctr">
              <a:defRPr sz="1725" b="1" i="0">
                <a:solidFill>
                  <a:srgbClr val="398D84"/>
                </a:solidFill>
                <a:latin typeface="Arial"/>
                <a:ea typeface="Arial"/>
                <a:cs typeface="Arial"/>
              </a:defRPr>
            </a:pPr>
            <a:r>
              <a:rPr sz="1725" b="1" i="0">
                <a:solidFill>
                  <a:srgbClr val="398D84"/>
                </a:solidFill>
                <a:latin typeface="Arial"/>
                <a:ea typeface="Arial"/>
                <a:cs typeface="Arial"/>
              </a:rPr>
              <a:t>Хибриден доказен подграф</a:t>
            </a:r>
          </a:p>
        </p:txBody>
      </p:sp>
      <p:sp>
        <p:nvSpPr>
          <p:cNvPr id="7" name="Rectangle 6">
            <a:extLst>
              <a:ext uri="{FF2B5EF4-FFF2-40B4-BE49-F238E27FC236}">
                <a16:creationId xmlns:a16="http://schemas.microsoft.com/office/drawing/2014/main" id="{B3599FE3-C193-461F-9FEE-E50176BB7064}"/>
              </a:ext>
            </a:extLst>
          </p:cNvPr>
          <p:cNvSpPr>
            <a:spLocks noGrp="1"/>
          </p:cNvSpPr>
          <p:nvPr/>
        </p:nvSpPr>
        <p:spPr>
          <a:xfrm>
            <a:off x="885825" y="3095625"/>
            <a:ext cx="2619375" cy="1333500"/>
          </a:xfrm>
          <a:prstGeom prst="rect">
            <a:avLst/>
          </a:prstGeom>
          <a:noFill/>
          <a:ln w="0">
            <a:noFill/>
            <a:prstDash val="solid"/>
          </a:ln>
        </p:spPr>
        <p:txBody>
          <a:bodyPr wrap="square" lIns="38100" tIns="19050" rIns="38100" bIns="19050" anchor="t">
            <a:normAutofit/>
          </a:bodyPr>
          <a:lstStyle/>
          <a:p>
            <a:pPr algn="ctr">
              <a:defRPr sz="1350" b="0" i="0">
                <a:solidFill>
                  <a:srgbClr val="263746"/>
                </a:solidFill>
                <a:latin typeface="Arial"/>
                <a:ea typeface="Arial"/>
                <a:cs typeface="Arial"/>
              </a:defRPr>
            </a:pPr>
            <a:r>
              <a:rPr sz="1350" b="0" i="0">
                <a:solidFill>
                  <a:srgbClr val="263746"/>
                </a:solidFill>
                <a:latin typeface="Arial"/>
                <a:ea typeface="Arial"/>
                <a:cs typeface="Arial"/>
              </a:rPr>
              <a:t>Компактност на PCST со гарантирано зачувување на целосни и разбирливи патеки до најважните кандидати.</a:t>
            </a:r>
          </a:p>
        </p:txBody>
      </p:sp>
      <p:sp>
        <p:nvSpPr>
          <p:cNvPr id="8" name="Rounded Rectangle 7">
            <a:extLst>
              <a:ext uri="{FF2B5EF4-FFF2-40B4-BE49-F238E27FC236}">
                <a16:creationId xmlns:a16="http://schemas.microsoft.com/office/drawing/2014/main" id="{6B2DBC6E-4577-4B7B-89A1-FEF4E3C572FE}"/>
              </a:ext>
            </a:extLst>
          </p:cNvPr>
          <p:cNvSpPr>
            <a:spLocks noGrp="1"/>
          </p:cNvSpPr>
          <p:nvPr/>
        </p:nvSpPr>
        <p:spPr>
          <a:xfrm>
            <a:off x="4276725" y="1381125"/>
            <a:ext cx="3286125" cy="3667125"/>
          </a:xfrm>
          <a:prstGeom prst="roundRect">
            <a:avLst>
              <a:gd name="adj" fmla="val 5217"/>
            </a:avLst>
          </a:prstGeom>
          <a:solidFill>
            <a:srgbClr val="FBEDE5"/>
          </a:solidFill>
          <a:ln w="17145">
            <a:solidFill>
              <a:srgbClr val="D97942"/>
            </a:solidFill>
            <a:prstDash val="solid"/>
          </a:ln>
        </p:spPr>
        <p:txBody>
          <a:bodyPr/>
          <a:lstStyle/>
          <a:p>
            <a:endParaRPr lang="en-US"/>
          </a:p>
        </p:txBody>
      </p:sp>
      <p:sp>
        <p:nvSpPr>
          <p:cNvPr id="9" name="Rectangle 8">
            <a:extLst>
              <a:ext uri="{FF2B5EF4-FFF2-40B4-BE49-F238E27FC236}">
                <a16:creationId xmlns:a16="http://schemas.microsoft.com/office/drawing/2014/main" id="{62250CC2-74EC-4B3B-8472-794533BF48C3}"/>
              </a:ext>
            </a:extLst>
          </p:cNvPr>
          <p:cNvSpPr>
            <a:spLocks noGrp="1"/>
          </p:cNvSpPr>
          <p:nvPr/>
        </p:nvSpPr>
        <p:spPr>
          <a:xfrm>
            <a:off x="4610100" y="1695450"/>
            <a:ext cx="2619375" cy="47625"/>
          </a:xfrm>
          <a:prstGeom prst="rect">
            <a:avLst/>
          </a:prstGeom>
          <a:solidFill>
            <a:srgbClr val="D97942"/>
          </a:solidFill>
          <a:ln w="0">
            <a:noFill/>
            <a:prstDash val="solid"/>
          </a:ln>
        </p:spPr>
        <p:txBody>
          <a:bodyPr/>
          <a:lstStyle/>
          <a:p>
            <a:endParaRPr lang="en-US"/>
          </a:p>
        </p:txBody>
      </p:sp>
      <p:sp>
        <p:nvSpPr>
          <p:cNvPr id="10" name="Rectangle 9">
            <a:extLst>
              <a:ext uri="{FF2B5EF4-FFF2-40B4-BE49-F238E27FC236}">
                <a16:creationId xmlns:a16="http://schemas.microsoft.com/office/drawing/2014/main" id="{698F9DE6-569B-467F-BBCA-F3AFCAE959B7}"/>
              </a:ext>
            </a:extLst>
          </p:cNvPr>
          <p:cNvSpPr>
            <a:spLocks noGrp="1"/>
          </p:cNvSpPr>
          <p:nvPr/>
        </p:nvSpPr>
        <p:spPr>
          <a:xfrm>
            <a:off x="4562475" y="2047875"/>
            <a:ext cx="2714625" cy="762000"/>
          </a:xfrm>
          <a:prstGeom prst="rect">
            <a:avLst/>
          </a:prstGeom>
          <a:noFill/>
          <a:ln w="0">
            <a:noFill/>
            <a:prstDash val="solid"/>
          </a:ln>
        </p:spPr>
        <p:txBody>
          <a:bodyPr wrap="square" lIns="38100" tIns="19050" rIns="38100" bIns="19050" anchor="ctr">
            <a:normAutofit/>
          </a:bodyPr>
          <a:lstStyle/>
          <a:p>
            <a:pPr algn="ctr">
              <a:defRPr sz="1725" b="1" i="0">
                <a:solidFill>
                  <a:srgbClr val="D97942"/>
                </a:solidFill>
                <a:latin typeface="Arial"/>
                <a:ea typeface="Arial"/>
                <a:cs typeface="Arial"/>
              </a:defRPr>
            </a:pPr>
            <a:r>
              <a:rPr sz="1725" b="1" i="0">
                <a:solidFill>
                  <a:srgbClr val="D97942"/>
                </a:solidFill>
                <a:latin typeface="Arial"/>
                <a:ea typeface="Arial"/>
                <a:cs typeface="Arial"/>
              </a:rPr>
              <a:t>Заедничка оптимизација</a:t>
            </a:r>
          </a:p>
        </p:txBody>
      </p:sp>
      <p:sp>
        <p:nvSpPr>
          <p:cNvPr id="11" name="Rectangle 10">
            <a:extLst>
              <a:ext uri="{FF2B5EF4-FFF2-40B4-BE49-F238E27FC236}">
                <a16:creationId xmlns:a16="http://schemas.microsoft.com/office/drawing/2014/main" id="{F43C6C3A-6DB5-41A2-820F-D33AFB7AB9A3}"/>
              </a:ext>
            </a:extLst>
          </p:cNvPr>
          <p:cNvSpPr>
            <a:spLocks noGrp="1"/>
          </p:cNvSpPr>
          <p:nvPr/>
        </p:nvSpPr>
        <p:spPr>
          <a:xfrm>
            <a:off x="4610100" y="3095625"/>
            <a:ext cx="2619375" cy="1333500"/>
          </a:xfrm>
          <a:prstGeom prst="rect">
            <a:avLst/>
          </a:prstGeom>
          <a:noFill/>
          <a:ln w="0">
            <a:noFill/>
            <a:prstDash val="solid"/>
          </a:ln>
        </p:spPr>
        <p:txBody>
          <a:bodyPr wrap="square" lIns="38100" tIns="19050" rIns="38100" bIns="19050" anchor="t">
            <a:normAutofit/>
          </a:bodyPr>
          <a:lstStyle/>
          <a:p>
            <a:pPr algn="ctr">
              <a:defRPr sz="1350" b="0" i="0">
                <a:solidFill>
                  <a:srgbClr val="263746"/>
                </a:solidFill>
                <a:latin typeface="Arial"/>
                <a:ea typeface="Arial"/>
                <a:cs typeface="Arial"/>
              </a:defRPr>
            </a:pPr>
            <a:r>
              <a:rPr sz="1350" b="0" i="0">
                <a:solidFill>
                  <a:srgbClr val="263746"/>
                </a:solidFill>
                <a:latin typeface="Arial"/>
                <a:ea typeface="Arial"/>
                <a:cs typeface="Arial"/>
              </a:rPr>
              <a:t>Пребарувачот и конструкцијата на подграфот заеднички да учат кои патеки се најкорисни за јазичниот модел.</a:t>
            </a:r>
          </a:p>
        </p:txBody>
      </p:sp>
      <p:sp>
        <p:nvSpPr>
          <p:cNvPr id="12" name="Rounded Rectangle 11">
            <a:extLst>
              <a:ext uri="{FF2B5EF4-FFF2-40B4-BE49-F238E27FC236}">
                <a16:creationId xmlns:a16="http://schemas.microsoft.com/office/drawing/2014/main" id="{A877418F-B27D-4C92-B337-F5E6626EE28B}"/>
              </a:ext>
            </a:extLst>
          </p:cNvPr>
          <p:cNvSpPr>
            <a:spLocks noGrp="1"/>
          </p:cNvSpPr>
          <p:nvPr/>
        </p:nvSpPr>
        <p:spPr>
          <a:xfrm>
            <a:off x="8001000" y="1381125"/>
            <a:ext cx="3286125" cy="3667125"/>
          </a:xfrm>
          <a:prstGeom prst="roundRect">
            <a:avLst>
              <a:gd name="adj" fmla="val 5217"/>
            </a:avLst>
          </a:prstGeom>
          <a:solidFill>
            <a:srgbClr val="F1ECF7"/>
          </a:solidFill>
          <a:ln w="17145">
            <a:solidFill>
              <a:srgbClr val="8064A2"/>
            </a:solidFill>
            <a:prstDash val="solid"/>
          </a:ln>
        </p:spPr>
        <p:txBody>
          <a:bodyPr/>
          <a:lstStyle/>
          <a:p>
            <a:endParaRPr lang="en-US"/>
          </a:p>
        </p:txBody>
      </p:sp>
      <p:sp>
        <p:nvSpPr>
          <p:cNvPr id="13" name="Rectangle 12">
            <a:extLst>
              <a:ext uri="{FF2B5EF4-FFF2-40B4-BE49-F238E27FC236}">
                <a16:creationId xmlns:a16="http://schemas.microsoft.com/office/drawing/2014/main" id="{FF1E70AF-4395-4EA0-94B3-7A565B03FCD2}"/>
              </a:ext>
            </a:extLst>
          </p:cNvPr>
          <p:cNvSpPr>
            <a:spLocks noGrp="1"/>
          </p:cNvSpPr>
          <p:nvPr/>
        </p:nvSpPr>
        <p:spPr>
          <a:xfrm>
            <a:off x="8334375" y="1695450"/>
            <a:ext cx="2619375" cy="47625"/>
          </a:xfrm>
          <a:prstGeom prst="rect">
            <a:avLst/>
          </a:prstGeom>
          <a:solidFill>
            <a:srgbClr val="8064A2"/>
          </a:solidFill>
          <a:ln w="0">
            <a:noFill/>
            <a:prstDash val="solid"/>
          </a:ln>
        </p:spPr>
        <p:txBody>
          <a:bodyPr/>
          <a:lstStyle/>
          <a:p>
            <a:endParaRPr lang="en-US"/>
          </a:p>
        </p:txBody>
      </p:sp>
      <p:sp>
        <p:nvSpPr>
          <p:cNvPr id="14" name="Rectangle 13">
            <a:extLst>
              <a:ext uri="{FF2B5EF4-FFF2-40B4-BE49-F238E27FC236}">
                <a16:creationId xmlns:a16="http://schemas.microsoft.com/office/drawing/2014/main" id="{64EB6239-F772-4612-9346-5C02E9684706}"/>
              </a:ext>
            </a:extLst>
          </p:cNvPr>
          <p:cNvSpPr>
            <a:spLocks noGrp="1"/>
          </p:cNvSpPr>
          <p:nvPr/>
        </p:nvSpPr>
        <p:spPr>
          <a:xfrm>
            <a:off x="8286750" y="2047875"/>
            <a:ext cx="2714625" cy="762000"/>
          </a:xfrm>
          <a:prstGeom prst="rect">
            <a:avLst/>
          </a:prstGeom>
          <a:noFill/>
          <a:ln w="0">
            <a:noFill/>
            <a:prstDash val="solid"/>
          </a:ln>
        </p:spPr>
        <p:txBody>
          <a:bodyPr wrap="square" lIns="38100" tIns="19050" rIns="38100" bIns="19050" anchor="ctr">
            <a:normAutofit/>
          </a:bodyPr>
          <a:lstStyle/>
          <a:p>
            <a:pPr algn="ctr">
              <a:defRPr sz="1725" b="1" i="0">
                <a:solidFill>
                  <a:srgbClr val="8064A2"/>
                </a:solidFill>
                <a:latin typeface="Arial"/>
                <a:ea typeface="Arial"/>
                <a:cs typeface="Arial"/>
              </a:defRPr>
            </a:pPr>
            <a:r>
              <a:rPr sz="1725" b="1" i="0">
                <a:solidFill>
                  <a:srgbClr val="8064A2"/>
                </a:solidFill>
                <a:latin typeface="Arial"/>
                <a:ea typeface="Arial"/>
                <a:cs typeface="Arial"/>
              </a:rPr>
              <a:t>Поширока евалуација</a:t>
            </a:r>
          </a:p>
        </p:txBody>
      </p:sp>
      <p:sp>
        <p:nvSpPr>
          <p:cNvPr id="15" name="Rectangle 14">
            <a:extLst>
              <a:ext uri="{FF2B5EF4-FFF2-40B4-BE49-F238E27FC236}">
                <a16:creationId xmlns:a16="http://schemas.microsoft.com/office/drawing/2014/main" id="{FD3521BB-46E3-445C-A92D-5E7E2D2990CD}"/>
              </a:ext>
            </a:extLst>
          </p:cNvPr>
          <p:cNvSpPr>
            <a:spLocks noGrp="1"/>
          </p:cNvSpPr>
          <p:nvPr/>
        </p:nvSpPr>
        <p:spPr>
          <a:xfrm>
            <a:off x="8334375" y="3095625"/>
            <a:ext cx="2619375" cy="1333500"/>
          </a:xfrm>
          <a:prstGeom prst="rect">
            <a:avLst/>
          </a:prstGeom>
          <a:noFill/>
          <a:ln w="0">
            <a:noFill/>
            <a:prstDash val="solid"/>
          </a:ln>
        </p:spPr>
        <p:txBody>
          <a:bodyPr wrap="square" lIns="38100" tIns="19050" rIns="38100" bIns="19050" anchor="t">
            <a:normAutofit/>
          </a:bodyPr>
          <a:lstStyle/>
          <a:p>
            <a:pPr algn="ctr">
              <a:defRPr sz="1350" b="0" i="0">
                <a:solidFill>
                  <a:srgbClr val="263746"/>
                </a:solidFill>
                <a:latin typeface="Arial"/>
                <a:ea typeface="Arial"/>
                <a:cs typeface="Arial"/>
              </a:defRPr>
            </a:pPr>
            <a:r>
              <a:rPr sz="1350" b="0" i="0">
                <a:solidFill>
                  <a:srgbClr val="263746"/>
                </a:solidFill>
                <a:latin typeface="Arial"/>
                <a:ea typeface="Arial"/>
                <a:cs typeface="Arial"/>
              </a:rPr>
              <a:t>Дополнителни податочни множества, подолги патеки на расудување, повеќе извршувања и други јазични модели.</a:t>
            </a:r>
          </a:p>
        </p:txBody>
      </p:sp>
      <p:sp>
        <p:nvSpPr>
          <p:cNvPr id="16" name="Rectangle 15">
            <a:extLst>
              <a:ext uri="{FF2B5EF4-FFF2-40B4-BE49-F238E27FC236}">
                <a16:creationId xmlns:a16="http://schemas.microsoft.com/office/drawing/2014/main" id="{A75216AD-5F41-47AB-AE6B-AF920363D512}"/>
              </a:ext>
            </a:extLst>
          </p:cNvPr>
          <p:cNvSpPr>
            <a:spLocks noGrp="1"/>
          </p:cNvSpPr>
          <p:nvPr/>
        </p:nvSpPr>
        <p:spPr>
          <a:xfrm>
            <a:off x="1285875" y="5505450"/>
            <a:ext cx="9620250" cy="571500"/>
          </a:xfrm>
          <a:prstGeom prst="rect">
            <a:avLst/>
          </a:prstGeom>
          <a:noFill/>
          <a:ln w="0">
            <a:noFill/>
            <a:prstDash val="solid"/>
          </a:ln>
        </p:spPr>
        <p:txBody>
          <a:bodyPr wrap="square" lIns="38100" tIns="19050" rIns="38100" bIns="19050" anchor="ctr">
            <a:normAutofit/>
          </a:bodyPr>
          <a:lstStyle/>
          <a:p>
            <a:pPr algn="ctr">
              <a:defRPr sz="1650" b="1" i="0">
                <a:solidFill>
                  <a:srgbClr val="4E9B69"/>
                </a:solidFill>
                <a:latin typeface="Arial"/>
                <a:ea typeface="Arial"/>
                <a:cs typeface="Arial"/>
              </a:defRPr>
            </a:pPr>
            <a:endParaRPr sz="1650" b="1" i="0" dirty="0">
              <a:solidFill>
                <a:srgbClr val="4E9B69"/>
              </a:solidFill>
              <a:latin typeface="Arial"/>
              <a:ea typeface="Arial"/>
              <a:cs typeface="Arial"/>
            </a:endParaRPr>
          </a:p>
        </p:txBody>
      </p:sp>
    </p:spTree>
    <p:extLst>
      <p:ext uri="{BB962C8B-B14F-4D97-AF65-F5344CB8AC3E}">
        <p14:creationId xmlns:p14="http://schemas.microsoft.com/office/powerpoint/2010/main" val="19083708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CACBFD7-60F2-4806-AE0C-479E3800E177}"/>
              </a:ext>
            </a:extLst>
          </p:cNvPr>
          <p:cNvSpPr>
            <a:spLocks noGrp="1"/>
          </p:cNvSpPr>
          <p:nvPr/>
        </p:nvSpPr>
        <p:spPr>
          <a:xfrm>
            <a:off x="0" y="0"/>
            <a:ext cx="12192000" cy="114300"/>
          </a:xfrm>
          <a:prstGeom prst="rect">
            <a:avLst/>
          </a:prstGeom>
          <a:solidFill>
            <a:srgbClr val="4E9B69"/>
          </a:solidFill>
          <a:ln w="0">
            <a:noFill/>
            <a:prstDash val="solid"/>
          </a:ln>
        </p:spPr>
        <p:txBody>
          <a:bodyPr/>
          <a:lstStyle/>
          <a:p>
            <a:endParaRPr lang="en-US"/>
          </a:p>
        </p:txBody>
      </p:sp>
      <p:sp>
        <p:nvSpPr>
          <p:cNvPr id="2" name="Rectangle 1">
            <a:extLst>
              <a:ext uri="{FF2B5EF4-FFF2-40B4-BE49-F238E27FC236}">
                <a16:creationId xmlns:a16="http://schemas.microsoft.com/office/drawing/2014/main" id="{A041B029-F14B-4208-A05E-9C715893E921}"/>
              </a:ext>
            </a:extLst>
          </p:cNvPr>
          <p:cNvSpPr>
            <a:spLocks noGrp="1"/>
          </p:cNvSpPr>
          <p:nvPr/>
        </p:nvSpPr>
        <p:spPr>
          <a:xfrm>
            <a:off x="1143000" y="1619250"/>
            <a:ext cx="9906000" cy="857250"/>
          </a:xfrm>
          <a:prstGeom prst="rect">
            <a:avLst/>
          </a:prstGeom>
          <a:noFill/>
          <a:ln w="0">
            <a:noFill/>
            <a:prstDash val="solid"/>
          </a:ln>
        </p:spPr>
        <p:txBody>
          <a:bodyPr wrap="square" lIns="38100" tIns="19050" rIns="38100" bIns="19050" anchor="ctr">
            <a:normAutofit/>
          </a:bodyPr>
          <a:lstStyle/>
          <a:p>
            <a:pPr algn="ctr">
              <a:defRPr sz="3525" b="1" i="0">
                <a:solidFill>
                  <a:srgbClr val="263746"/>
                </a:solidFill>
                <a:latin typeface="Arial"/>
                <a:ea typeface="Arial"/>
                <a:cs typeface="Arial"/>
              </a:defRPr>
            </a:pPr>
            <a:r>
              <a:rPr sz="3525" b="1" i="0">
                <a:solidFill>
                  <a:srgbClr val="263746"/>
                </a:solidFill>
                <a:latin typeface="Arial"/>
                <a:ea typeface="Arial"/>
                <a:cs typeface="Arial"/>
              </a:rPr>
              <a:t>Ви благодарам</a:t>
            </a:r>
          </a:p>
        </p:txBody>
      </p:sp>
      <p:sp>
        <p:nvSpPr>
          <p:cNvPr id="3" name="Rectangle 2">
            <a:extLst>
              <a:ext uri="{FF2B5EF4-FFF2-40B4-BE49-F238E27FC236}">
                <a16:creationId xmlns:a16="http://schemas.microsoft.com/office/drawing/2014/main" id="{6F69CC65-6074-4014-BC9B-3E35E07FB613}"/>
              </a:ext>
            </a:extLst>
          </p:cNvPr>
          <p:cNvSpPr>
            <a:spLocks noGrp="1"/>
          </p:cNvSpPr>
          <p:nvPr/>
        </p:nvSpPr>
        <p:spPr>
          <a:xfrm>
            <a:off x="1143000" y="2686050"/>
            <a:ext cx="9906000" cy="781050"/>
          </a:xfrm>
          <a:prstGeom prst="rect">
            <a:avLst/>
          </a:prstGeom>
          <a:noFill/>
          <a:ln w="0">
            <a:noFill/>
            <a:prstDash val="solid"/>
          </a:ln>
        </p:spPr>
        <p:txBody>
          <a:bodyPr wrap="square" lIns="38100" tIns="19050" rIns="38100" bIns="19050" anchor="ctr">
            <a:normAutofit/>
          </a:bodyPr>
          <a:lstStyle/>
          <a:p>
            <a:pPr algn="ctr">
              <a:defRPr sz="2850" b="1" i="0">
                <a:solidFill>
                  <a:srgbClr val="4E9B69"/>
                </a:solidFill>
                <a:latin typeface="Arial"/>
                <a:ea typeface="Arial"/>
                <a:cs typeface="Arial"/>
              </a:defRPr>
            </a:pPr>
            <a:r>
              <a:rPr sz="2850" b="1" i="0">
                <a:solidFill>
                  <a:srgbClr val="4E9B69"/>
                </a:solidFill>
                <a:latin typeface="Arial"/>
                <a:ea typeface="Arial"/>
                <a:cs typeface="Arial"/>
              </a:rPr>
              <a:t>Прашања?</a:t>
            </a:r>
          </a:p>
        </p:txBody>
      </p:sp>
      <p:sp>
        <p:nvSpPr>
          <p:cNvPr id="4" name="Rectangle 3">
            <a:extLst>
              <a:ext uri="{FF2B5EF4-FFF2-40B4-BE49-F238E27FC236}">
                <a16:creationId xmlns:a16="http://schemas.microsoft.com/office/drawing/2014/main" id="{DD3CD4BE-9CE5-44E4-9129-AF745E752B24}"/>
              </a:ext>
            </a:extLst>
          </p:cNvPr>
          <p:cNvSpPr>
            <a:spLocks noGrp="1"/>
          </p:cNvSpPr>
          <p:nvPr/>
        </p:nvSpPr>
        <p:spPr>
          <a:xfrm>
            <a:off x="4000500" y="3771900"/>
            <a:ext cx="4191000" cy="19050"/>
          </a:xfrm>
          <a:prstGeom prst="rect">
            <a:avLst/>
          </a:prstGeom>
          <a:solidFill>
            <a:srgbClr val="DDE3E8"/>
          </a:solidFill>
          <a:ln w="0">
            <a:noFill/>
            <a:prstDash val="solid"/>
          </a:ln>
        </p:spPr>
        <p:txBody>
          <a:bodyPr/>
          <a:lstStyle/>
          <a:p>
            <a:endParaRPr lang="en-US"/>
          </a:p>
        </p:txBody>
      </p:sp>
      <p:sp>
        <p:nvSpPr>
          <p:cNvPr id="5" name="Rectangle 4">
            <a:extLst>
              <a:ext uri="{FF2B5EF4-FFF2-40B4-BE49-F238E27FC236}">
                <a16:creationId xmlns:a16="http://schemas.microsoft.com/office/drawing/2014/main" id="{51C7E9DD-BD9D-4768-A1A1-E1CFA5375F07}"/>
              </a:ext>
            </a:extLst>
          </p:cNvPr>
          <p:cNvSpPr>
            <a:spLocks noGrp="1"/>
          </p:cNvSpPr>
          <p:nvPr/>
        </p:nvSpPr>
        <p:spPr>
          <a:xfrm>
            <a:off x="1143000" y="4095750"/>
            <a:ext cx="9906000" cy="361950"/>
          </a:xfrm>
          <a:prstGeom prst="rect">
            <a:avLst/>
          </a:prstGeom>
          <a:noFill/>
          <a:ln w="0">
            <a:noFill/>
            <a:prstDash val="solid"/>
          </a:ln>
        </p:spPr>
        <p:txBody>
          <a:bodyPr wrap="square" lIns="38100" tIns="19050" rIns="38100" bIns="19050" anchor="ctr">
            <a:normAutofit/>
          </a:bodyPr>
          <a:lstStyle/>
          <a:p>
            <a:pPr algn="ctr">
              <a:defRPr sz="1500" b="0" i="0">
                <a:solidFill>
                  <a:srgbClr val="263746"/>
                </a:solidFill>
                <a:latin typeface="Arial"/>
                <a:ea typeface="Arial"/>
                <a:cs typeface="Arial"/>
              </a:defRPr>
            </a:pPr>
            <a:endParaRPr lang="mk-MK" sz="1500" b="0" i="0" dirty="0">
              <a:solidFill>
                <a:srgbClr val="263746"/>
              </a:solidFill>
              <a:latin typeface="Arial"/>
              <a:ea typeface="Arial"/>
              <a:cs typeface="Arial"/>
            </a:endParaRPr>
          </a:p>
        </p:txBody>
      </p:sp>
      <p:sp>
        <p:nvSpPr>
          <p:cNvPr id="6" name="Rectangle 5">
            <a:extLst>
              <a:ext uri="{FF2B5EF4-FFF2-40B4-BE49-F238E27FC236}">
                <a16:creationId xmlns:a16="http://schemas.microsoft.com/office/drawing/2014/main" id="{52D0CA7F-9C67-42A8-8095-A0751D355276}"/>
              </a:ext>
            </a:extLst>
          </p:cNvPr>
          <p:cNvSpPr>
            <a:spLocks noGrp="1"/>
          </p:cNvSpPr>
          <p:nvPr/>
        </p:nvSpPr>
        <p:spPr>
          <a:xfrm>
            <a:off x="1143000" y="4095750"/>
            <a:ext cx="9906000" cy="333375"/>
          </a:xfrm>
          <a:prstGeom prst="rect">
            <a:avLst/>
          </a:prstGeom>
          <a:noFill/>
          <a:ln w="0">
            <a:noFill/>
            <a:prstDash val="solid"/>
          </a:ln>
        </p:spPr>
        <p:txBody>
          <a:bodyPr wrap="square" lIns="38100" tIns="19050" rIns="38100" bIns="19050" anchor="ctr">
            <a:normAutofit/>
          </a:bodyPr>
          <a:lstStyle/>
          <a:p>
            <a:pPr algn="ctr">
              <a:defRPr sz="1275" b="0" i="0">
                <a:solidFill>
                  <a:srgbClr val="4F86C6"/>
                </a:solidFill>
                <a:latin typeface="Arial"/>
                <a:ea typeface="Arial"/>
                <a:cs typeface="Arial"/>
              </a:defRPr>
            </a:pPr>
            <a:r>
              <a:rPr sz="1275" b="0" i="0" dirty="0" err="1">
                <a:solidFill>
                  <a:srgbClr val="4F86C6"/>
                </a:solidFill>
                <a:latin typeface="Arial"/>
                <a:ea typeface="Arial"/>
                <a:cs typeface="Arial"/>
              </a:rPr>
              <a:t>github.com</a:t>
            </a:r>
            <a:r>
              <a:rPr sz="1275" b="0" i="0" dirty="0">
                <a:solidFill>
                  <a:srgbClr val="4F86C6"/>
                </a:solidFill>
                <a:latin typeface="Arial"/>
                <a:ea typeface="Arial"/>
                <a:cs typeface="Arial"/>
              </a:rPr>
              <a:t>/</a:t>
            </a:r>
            <a:r>
              <a:rPr sz="1275" b="0" i="0" dirty="0" err="1">
                <a:solidFill>
                  <a:srgbClr val="4F86C6"/>
                </a:solidFill>
                <a:latin typeface="Arial"/>
                <a:ea typeface="Arial"/>
                <a:cs typeface="Arial"/>
              </a:rPr>
              <a:t>Itonkdong</a:t>
            </a:r>
            <a:r>
              <a:rPr sz="1275" b="0" i="0" dirty="0">
                <a:solidFill>
                  <a:srgbClr val="4F86C6"/>
                </a:solidFill>
                <a:latin typeface="Arial"/>
                <a:ea typeface="Arial"/>
                <a:cs typeface="Arial"/>
              </a:rPr>
              <a:t>/</a:t>
            </a:r>
            <a:r>
              <a:rPr sz="1275" b="0" i="0" dirty="0" err="1">
                <a:solidFill>
                  <a:srgbClr val="4F86C6"/>
                </a:solidFill>
                <a:latin typeface="Arial"/>
                <a:ea typeface="Arial"/>
                <a:cs typeface="Arial"/>
              </a:rPr>
              <a:t>graphragx</a:t>
            </a:r>
            <a:endParaRPr sz="1275" b="0" i="0" dirty="0">
              <a:solidFill>
                <a:srgbClr val="4F86C6"/>
              </a:solidFill>
              <a:latin typeface="Arial"/>
              <a:ea typeface="Arial"/>
              <a:cs typeface="Arial"/>
            </a:endParaRPr>
          </a:p>
        </p:txBody>
      </p:sp>
    </p:spTree>
    <p:extLst>
      <p:ext uri="{BB962C8B-B14F-4D97-AF65-F5344CB8AC3E}">
        <p14:creationId xmlns:p14="http://schemas.microsoft.com/office/powerpoint/2010/main" val="851978157"/>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765</TotalTime>
  <Words>3340</Words>
  <Application>Microsoft Macintosh PowerPoint</Application>
  <DocSecurity>0</DocSecurity>
  <PresentationFormat>Widescreen</PresentationFormat>
  <Paragraphs>379</Paragraphs>
  <Slides>23</Slides>
  <Notes>23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Arial</vt:lpstr>
      <vt:lpstr>Calibri</vt:lpstr>
      <vt:lpstr>Cambria Math</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Костадиноски Виктор</cp:lastModifiedBy>
  <cp:revision>25</cp:revision>
  <dcterms:created xsi:type="dcterms:W3CDTF">2026-09-08T09:48:03Z</dcterms:created>
  <dcterms:modified xsi:type="dcterms:W3CDTF">2026-10-01T06:20:51Z</dcterms:modified>
</cp:coreProperties>
</file>