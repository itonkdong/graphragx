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bf83163f89464a" /><Relationship Type="http://schemas.openxmlformats.org/officeDocument/2006/relationships/extended-properties" Target="/docProps/app.xml" Id="R9fb99acb24144283" /><Relationship Type="http://schemas.openxmlformats.org/officeDocument/2006/relationships/officeDocument" Target="/ppt/presentation.xml" Id="R6378d1f8119b49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d9e0ae52e64587"/>
  </p:sldMasterIdLst>
  <p:notesMasterIdLst>
    <p:notesMasterId xmlns:r="http://schemas.openxmlformats.org/officeDocument/2006/relationships" r:id="Rdae01c8f3666423b"/>
  </p:notesMasterIdLst>
  <p:sldIdLst>
    <p:sldId xmlns:r="http://schemas.openxmlformats.org/officeDocument/2006/relationships" id="256" r:id="R6abe579b07f84a2c"/>
    <p:sldId xmlns:r="http://schemas.openxmlformats.org/officeDocument/2006/relationships" id="257" r:id="Re4b42252e7334a29"/>
    <p:sldId xmlns:r="http://schemas.openxmlformats.org/officeDocument/2006/relationships" id="258" r:id="R20471403471745a0"/>
    <p:sldId xmlns:r="http://schemas.openxmlformats.org/officeDocument/2006/relationships" id="259" r:id="Re80cde8d96c84c5e"/>
    <p:sldId xmlns:r="http://schemas.openxmlformats.org/officeDocument/2006/relationships" id="260" r:id="R84060dfc541347f2"/>
    <p:sldId xmlns:r="http://schemas.openxmlformats.org/officeDocument/2006/relationships" id="261" r:id="R2d4b90199e734f63"/>
    <p:sldId xmlns:r="http://schemas.openxmlformats.org/officeDocument/2006/relationships" id="262" r:id="Rcd18fe310eaa472e"/>
    <p:sldId xmlns:r="http://schemas.openxmlformats.org/officeDocument/2006/relationships" id="263" r:id="R428f0687645f4ced"/>
    <p:sldId xmlns:r="http://schemas.openxmlformats.org/officeDocument/2006/relationships" id="264" r:id="R2c670cd8def74836"/>
    <p:sldId xmlns:r="http://schemas.openxmlformats.org/officeDocument/2006/relationships" id="265" r:id="R07264d94f21a4c01"/>
    <p:sldId xmlns:r="http://schemas.openxmlformats.org/officeDocument/2006/relationships" id="266" r:id="Rb010fd45b90a4692"/>
    <p:sldId xmlns:r="http://schemas.openxmlformats.org/officeDocument/2006/relationships" id="267" r:id="R806f1ebece9c41b9"/>
    <p:sldId xmlns:r="http://schemas.openxmlformats.org/officeDocument/2006/relationships" id="268" r:id="R8ae7316fd6f24edd"/>
    <p:sldId xmlns:r="http://schemas.openxmlformats.org/officeDocument/2006/relationships" id="269" r:id="R55cc5172cb1b43f4"/>
    <p:sldId xmlns:r="http://schemas.openxmlformats.org/officeDocument/2006/relationships" id="270" r:id="Re58ec307961443fb"/>
    <p:sldId xmlns:r="http://schemas.openxmlformats.org/officeDocument/2006/relationships" id="271" r:id="Re6b152d27791407b"/>
    <p:sldId xmlns:r="http://schemas.openxmlformats.org/officeDocument/2006/relationships" id="272" r:id="R052dfe9a351e472b"/>
    <p:sldId xmlns:r="http://schemas.openxmlformats.org/officeDocument/2006/relationships" id="273" r:id="Rc2f506b2d16140d7"/>
    <p:sldId xmlns:r="http://schemas.openxmlformats.org/officeDocument/2006/relationships" id="274" r:id="R7f1d266e0b5840df"/>
    <p:sldId xmlns:r="http://schemas.openxmlformats.org/officeDocument/2006/relationships" id="275" r:id="R34676e58a1f44d7d"/>
    <p:sldId xmlns:r="http://schemas.openxmlformats.org/officeDocument/2006/relationships" id="276" r:id="R5746ca4d11b74503"/>
    <p:sldId xmlns:r="http://schemas.openxmlformats.org/officeDocument/2006/relationships" id="277" r:id="Rf90e103b74284e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6b5ed0a7b4e8f" /><Relationship Type="http://schemas.openxmlformats.org/officeDocument/2006/relationships/slideMaster" Target="/ppt/slideMasters/slideMaster1.xml" Id="Re8d9e0ae52e64587" /><Relationship Type="http://schemas.openxmlformats.org/officeDocument/2006/relationships/notesMaster" Target="/ppt/notesMasters/notesMaster1.xml" Id="Rdae01c8f3666423b" /><Relationship Type="http://schemas.openxmlformats.org/officeDocument/2006/relationships/presProps" Target="/ppt/presProps.xml" Id="R52eadc8dd9de45f8" /><Relationship Type="http://schemas.openxmlformats.org/officeDocument/2006/relationships/viewProps" Target="/ppt/viewProps.xml" Id="Rf9cc375621ac45ea" /><Relationship Type="http://schemas.openxmlformats.org/officeDocument/2006/relationships/tableStyles" Target="/ppt/tableStyles.xml" Id="Rd1afbce4a50f4470" /><Relationship Type="http://schemas.openxmlformats.org/officeDocument/2006/relationships/slide" Target="/ppt/slides/slide1.xml" Id="R6abe579b07f84a2c" /><Relationship Type="http://schemas.openxmlformats.org/officeDocument/2006/relationships/slide" Target="/ppt/slides/slide2.xml" Id="Re4b42252e7334a29" /><Relationship Type="http://schemas.openxmlformats.org/officeDocument/2006/relationships/slide" Target="/ppt/slides/slide3.xml" Id="R20471403471745a0" /><Relationship Type="http://schemas.openxmlformats.org/officeDocument/2006/relationships/slide" Target="/ppt/slides/slide4.xml" Id="Re80cde8d96c84c5e" /><Relationship Type="http://schemas.openxmlformats.org/officeDocument/2006/relationships/slide" Target="/ppt/slides/slide5.xml" Id="R84060dfc541347f2" /><Relationship Type="http://schemas.openxmlformats.org/officeDocument/2006/relationships/slide" Target="/ppt/slides/slide6.xml" Id="R2d4b90199e734f63" /><Relationship Type="http://schemas.openxmlformats.org/officeDocument/2006/relationships/slide" Target="/ppt/slides/slide7.xml" Id="Rcd18fe310eaa472e" /><Relationship Type="http://schemas.openxmlformats.org/officeDocument/2006/relationships/slide" Target="/ppt/slides/slide8.xml" Id="R428f0687645f4ced" /><Relationship Type="http://schemas.openxmlformats.org/officeDocument/2006/relationships/slide" Target="/ppt/slides/slide9.xml" Id="R2c670cd8def74836" /><Relationship Type="http://schemas.openxmlformats.org/officeDocument/2006/relationships/slide" Target="/ppt/slides/slide10.xml" Id="R07264d94f21a4c01" /><Relationship Type="http://schemas.openxmlformats.org/officeDocument/2006/relationships/slide" Target="/ppt/slides/slide11.xml" Id="Rb010fd45b90a4692" /><Relationship Type="http://schemas.openxmlformats.org/officeDocument/2006/relationships/slide" Target="/ppt/slides/slide12.xml" Id="R806f1ebece9c41b9" /><Relationship Type="http://schemas.openxmlformats.org/officeDocument/2006/relationships/slide" Target="/ppt/slides/slide13.xml" Id="R8ae7316fd6f24edd" /><Relationship Type="http://schemas.openxmlformats.org/officeDocument/2006/relationships/slide" Target="/ppt/slides/slide14.xml" Id="R55cc5172cb1b43f4" /><Relationship Type="http://schemas.openxmlformats.org/officeDocument/2006/relationships/slide" Target="/ppt/slides/slide15.xml" Id="Re58ec307961443fb" /><Relationship Type="http://schemas.openxmlformats.org/officeDocument/2006/relationships/slide" Target="/ppt/slides/slide16.xml" Id="Re6b152d27791407b" /><Relationship Type="http://schemas.openxmlformats.org/officeDocument/2006/relationships/slide" Target="/ppt/slides/slide17.xml" Id="R052dfe9a351e472b" /><Relationship Type="http://schemas.openxmlformats.org/officeDocument/2006/relationships/slide" Target="/ppt/slides/slide18.xml" Id="Rc2f506b2d16140d7" /><Relationship Type="http://schemas.openxmlformats.org/officeDocument/2006/relationships/slide" Target="/ppt/slides/slide19.xml" Id="R7f1d266e0b5840df" /><Relationship Type="http://schemas.openxmlformats.org/officeDocument/2006/relationships/slide" Target="/ppt/slides/slide20.xml" Id="R34676e58a1f44d7d" /><Relationship Type="http://schemas.openxmlformats.org/officeDocument/2006/relationships/slide" Target="/ppt/slides/slide21.xml" Id="R5746ca4d11b74503" /><Relationship Type="http://schemas.openxmlformats.org/officeDocument/2006/relationships/slide" Target="/ppt/slides/slide22.xml" Id="Rf90e103b74284e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f004fcaff44b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9d26e37e4454e" /><Relationship Type="http://schemas.openxmlformats.org/officeDocument/2006/relationships/notesMaster" Target="/ppt/notesMasters/notesMaster1.xml" Id="Rc5a1c9f108104b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c908685914d9f" /><Relationship Type="http://schemas.openxmlformats.org/officeDocument/2006/relationships/notesMaster" Target="/ppt/notesMasters/notesMaster1.xml" Id="R886e9988685e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03ecdf95f494d" /><Relationship Type="http://schemas.openxmlformats.org/officeDocument/2006/relationships/notesMaster" Target="/ppt/notesMasters/notesMaster1.xml" Id="Rfabaa5b187dd4f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a7b48c82a047da" /><Relationship Type="http://schemas.openxmlformats.org/officeDocument/2006/relationships/notesMaster" Target="/ppt/notesMasters/notesMaster1.xml" Id="Rf46e7eec4506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8f580773054b9c" /><Relationship Type="http://schemas.openxmlformats.org/officeDocument/2006/relationships/notesMaster" Target="/ppt/notesMasters/notesMaster1.xml" Id="Rb0bba948eb5742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fca161ac9d4d3f" /><Relationship Type="http://schemas.openxmlformats.org/officeDocument/2006/relationships/notesMaster" Target="/ppt/notesMasters/notesMaster1.xml" Id="Rdd43a16d7889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d25d65cf864f11" /><Relationship Type="http://schemas.openxmlformats.org/officeDocument/2006/relationships/notesMaster" Target="/ppt/notesMasters/notesMaster1.xml" Id="Ra00e62b9e5ef41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2bab3e14dc4f38" /><Relationship Type="http://schemas.openxmlformats.org/officeDocument/2006/relationships/notesMaster" Target="/ppt/notesMasters/notesMaster1.xml" Id="R03f93580c04c4d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71fdf5af1f4f12" /><Relationship Type="http://schemas.openxmlformats.org/officeDocument/2006/relationships/notesMaster" Target="/ppt/notesMasters/notesMaster1.xml" Id="Rea79b7e1cc4a4d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bbefa0bd914b55" /><Relationship Type="http://schemas.openxmlformats.org/officeDocument/2006/relationships/notesMaster" Target="/ppt/notesMasters/notesMaster1.xml" Id="R41e9ae51461048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b8fcc252ee45f5" /><Relationship Type="http://schemas.openxmlformats.org/officeDocument/2006/relationships/notesMaster" Target="/ppt/notesMasters/notesMaster1.xml" Id="R0a663a74fbbe4a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f673b295b54762" /><Relationship Type="http://schemas.openxmlformats.org/officeDocument/2006/relationships/notesMaster" Target="/ppt/notesMasters/notesMaster1.xml" Id="Rc75b0b1185a741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9aaf86247f4404" /><Relationship Type="http://schemas.openxmlformats.org/officeDocument/2006/relationships/notesMaster" Target="/ppt/notesMasters/notesMaster1.xml" Id="R4952148e7abf49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1ff4e029bf4251" /><Relationship Type="http://schemas.openxmlformats.org/officeDocument/2006/relationships/notesMaster" Target="/ppt/notesMasters/notesMaster1.xml" Id="R1807b55c303e45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2e2042600547e6" /><Relationship Type="http://schemas.openxmlformats.org/officeDocument/2006/relationships/notesMaster" Target="/ppt/notesMasters/notesMaster1.xml" Id="R9dcd3182087542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628b0dc3f942d8" /><Relationship Type="http://schemas.openxmlformats.org/officeDocument/2006/relationships/notesMaster" Target="/ppt/notesMasters/notesMaster1.xml" Id="R0f7a17f91cdd49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8d08271ad44b80" /><Relationship Type="http://schemas.openxmlformats.org/officeDocument/2006/relationships/notesMaster" Target="/ppt/notesMasters/notesMaster1.xml" Id="Rb2b9d2abed8443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a804441e914aba" /><Relationship Type="http://schemas.openxmlformats.org/officeDocument/2006/relationships/notesMaster" Target="/ppt/notesMasters/notesMaster1.xml" Id="R0396e441b4714f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8c6a9851954e4c" /><Relationship Type="http://schemas.openxmlformats.org/officeDocument/2006/relationships/notesMaster" Target="/ppt/notesMasters/notesMaster1.xml" Id="R2f826b54e2b64e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ad039346244246" /><Relationship Type="http://schemas.openxmlformats.org/officeDocument/2006/relationships/notesMaster" Target="/ppt/notesMasters/notesMaster1.xml" Id="R9d83d944344048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6ca66c419441f9" /><Relationship Type="http://schemas.openxmlformats.org/officeDocument/2006/relationships/notesMaster" Target="/ppt/notesMasters/notesMaster1.xml" Id="Rebdde0d8d0b749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abcf79b606482f" /><Relationship Type="http://schemas.openxmlformats.org/officeDocument/2006/relationships/notesMaster" Target="/ppt/notesMasters/notesMaster1.xml" Id="Rbe447ec5f998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88b20ec7b4b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c8a2890934963" /><Relationship Type="http://schemas.openxmlformats.org/officeDocument/2006/relationships/slideLayout" Target="/ppt/slideLayouts/slideLayout1.xml" Id="Rb61389bfa6264d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89bfa6264d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26711786e4992" /><Relationship Type="http://schemas.openxmlformats.org/officeDocument/2006/relationships/notesSlide" Target="/ppt/notesSlides/notesSlide1.xml" Id="Raa7817b25b0245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5dfaf96fc4de4" /><Relationship Type="http://schemas.openxmlformats.org/officeDocument/2006/relationships/image" Target="/ppt/media/image.png" Id="R1ca4acb7daef4b3b" /><Relationship Type="http://schemas.openxmlformats.org/officeDocument/2006/relationships/notesSlide" Target="/ppt/notesSlides/notesSlide2.xml" Id="R34b326faf257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8583efefb441c" /><Relationship Type="http://schemas.openxmlformats.org/officeDocument/2006/relationships/notesSlide" Target="/ppt/notesSlides/notesSlide3.xml" Id="R6a3dabab0e95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77bd018f44780" /><Relationship Type="http://schemas.openxmlformats.org/officeDocument/2006/relationships/image" Target="/ppt/media/image2.png" Id="R0321fa36c9f9432b" /><Relationship Type="http://schemas.openxmlformats.org/officeDocument/2006/relationships/notesSlide" Target="/ppt/notesSlides/notesSlide4.xml" Id="R779b0dcb270041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7a7c6ac0b407a" /><Relationship Type="http://schemas.openxmlformats.org/officeDocument/2006/relationships/notesSlide" Target="/ppt/notesSlides/notesSlide5.xml" Id="Rb570e4b859d5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248360790405c" /><Relationship Type="http://schemas.openxmlformats.org/officeDocument/2006/relationships/notesSlide" Target="/ppt/notesSlides/notesSlide6.xml" Id="Rd84b95977aef4a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a7f520e54404f" /><Relationship Type="http://schemas.openxmlformats.org/officeDocument/2006/relationships/image" Target="/ppt/media/image3.png" Id="Ra0448d8a61794eb0" /><Relationship Type="http://schemas.openxmlformats.org/officeDocument/2006/relationships/notesSlide" Target="/ppt/notesSlides/notesSlide7.xml" Id="Ra3a4f85b44f347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acb0f724b43ed" /><Relationship Type="http://schemas.openxmlformats.org/officeDocument/2006/relationships/image" Target="/ppt/media/image4.png" Id="R059ec8d1fe7241dd" /><Relationship Type="http://schemas.openxmlformats.org/officeDocument/2006/relationships/notesSlide" Target="/ppt/notesSlides/notesSlide8.xml" Id="R4202dcacb26a49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56e3d0cc54a00" /><Relationship Type="http://schemas.openxmlformats.org/officeDocument/2006/relationships/image" Target="/ppt/media/image5.png" Id="R5a5dd3c0182946a1" /><Relationship Type="http://schemas.openxmlformats.org/officeDocument/2006/relationships/notesSlide" Target="/ppt/notesSlides/notesSlide9.xml" Id="R387aa3b448ed46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238ce7f894d60" /><Relationship Type="http://schemas.openxmlformats.org/officeDocument/2006/relationships/image" Target="/ppt/media/image6.png" Id="R467a75a358e747c2" /><Relationship Type="http://schemas.openxmlformats.org/officeDocument/2006/relationships/notesSlide" Target="/ppt/notesSlides/notesSlide10.xml" Id="R31f95ed99d3b4e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ea5c763d4aad" /><Relationship Type="http://schemas.openxmlformats.org/officeDocument/2006/relationships/image" Target="/ppt/media/image7.png" Id="R582df3f8d90c4c81" /><Relationship Type="http://schemas.openxmlformats.org/officeDocument/2006/relationships/notesSlide" Target="/ppt/notesSlides/notesSlide11.xml" Id="Rcf393c42956c4e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5369f7972454c" /><Relationship Type="http://schemas.openxmlformats.org/officeDocument/2006/relationships/notesSlide" Target="/ppt/notesSlides/notesSlide12.xml" Id="R6f9b0e0a4b6643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cbfb9b5b46ef" /><Relationship Type="http://schemas.openxmlformats.org/officeDocument/2006/relationships/image" Target="/ppt/media/image8.png" Id="Re42ca54f624f4d20" /><Relationship Type="http://schemas.openxmlformats.org/officeDocument/2006/relationships/notesSlide" Target="/ppt/notesSlides/notesSlide13.xml" Id="R3cde6b5402d341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0cf8539ed475f" /><Relationship Type="http://schemas.openxmlformats.org/officeDocument/2006/relationships/image" Target="/ppt/media/image9.png" Id="R18e00503c12c421f" /><Relationship Type="http://schemas.openxmlformats.org/officeDocument/2006/relationships/notesSlide" Target="/ppt/notesSlides/notesSlide14.xml" Id="Rc3c65c464c034d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986d37b384936" /><Relationship Type="http://schemas.openxmlformats.org/officeDocument/2006/relationships/notesSlide" Target="/ppt/notesSlides/notesSlide15.xml" Id="Rc0ef333ab6194e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080473c74366" /><Relationship Type="http://schemas.openxmlformats.org/officeDocument/2006/relationships/image" Target="/ppt/media/image10.png" Id="R84021b77708c43f9" /><Relationship Type="http://schemas.openxmlformats.org/officeDocument/2006/relationships/notesSlide" Target="/ppt/notesSlides/notesSlide16.xml" Id="R34732be68b1848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b9833de714eac" /><Relationship Type="http://schemas.openxmlformats.org/officeDocument/2006/relationships/notesSlide" Target="/ppt/notesSlides/notesSlide17.xml" Id="R35524d53567149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2cbee089f4a97" /><Relationship Type="http://schemas.openxmlformats.org/officeDocument/2006/relationships/image" Target="/ppt/media/image11.png" Id="R3e079434f03e464c" /><Relationship Type="http://schemas.openxmlformats.org/officeDocument/2006/relationships/notesSlide" Target="/ppt/notesSlides/notesSlide18.xml" Id="Rb3eb812dc2af42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043f228354928" /><Relationship Type="http://schemas.openxmlformats.org/officeDocument/2006/relationships/image" Target="/ppt/media/image12.png" Id="R5cc9679b2d0c45aa" /><Relationship Type="http://schemas.openxmlformats.org/officeDocument/2006/relationships/notesSlide" Target="/ppt/notesSlides/notesSlide19.xml" Id="R32ce7820ddc4462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dc92657204633" /><Relationship Type="http://schemas.openxmlformats.org/officeDocument/2006/relationships/notesSlide" Target="/ppt/notesSlides/notesSlide20.xml" Id="R3ab7894f6c6a46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7776a15e04bf7" /><Relationship Type="http://schemas.openxmlformats.org/officeDocument/2006/relationships/notesSlide" Target="/ppt/notesSlides/notesSlide21.xml" Id="R8745fb5049524c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091042f5145f9" /><Relationship Type="http://schemas.openxmlformats.org/officeDocument/2006/relationships/notesSlide" Target="/ppt/notesSlides/notesSlide22.xml" Id="R120e773cf4ab4f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6389AF-E398-4865-B3A1-73701CBA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Универзитет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„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Св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.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Кирил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и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Методиј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“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-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Скопје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1B371A-8F62-439C-A1DE-13861532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Факултет за информатички науки и компјутерско инженерство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5E962A-2F16-4EDE-8E73-AAF2FC51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71A606-1B5F-4767-A3AF-C477C0D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52600"/>
            <a:ext cx="10001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Напредни архитектури на граф невронски мрежи за пребарување и расудување над графови при одговарање на прашања над графови на знаење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3546335-4866-42CE-81A2-7F4C99F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Ментор: проф. д-р Соња Гиевска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089A6C-A514-418A-859B-4DB4D713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Виктор Костадиноски · 226009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00896EC-DE7B-4E1D-A622-9F1FAEEE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B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7CF861-C097-46A0-9B08-1B615CC9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Септември 2026</a:t>
            </a:r>
          </a:p>
        </p:txBody>
      </p:sp>
    </p:spTree>
    <p:extLst>
      <p:ext uri="{BB962C8B-B14F-4D97-AF65-F5344CB8AC3E}">
        <p14:creationId xmlns:p14="http://schemas.microsoft.com/office/powerpoint/2010/main" val="380699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4D6C56-A4D5-44CD-8CAE-89551DA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 прашање до одговор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F9236A-1A57-49AA-AE22-28EE1ABB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298470-6FB1-4D1E-AFC2-D9C5133E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4acb7daef4b3b"/>
          <a:stretch xmlns:a="http://schemas.openxmlformats.org/drawingml/2006/main"/>
        </p:blipFill>
        <p:spPr>
          <a:xfrm xmlns:a="http://schemas.openxmlformats.org/drawingml/2006/main">
            <a:off x="1100667" y="857250"/>
            <a:ext cx="9990667" cy="561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92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CBB127C-53C4-469F-9C55-5A539A9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Сродни пристапи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B4D0CED-F486-41CC-A2E1-BC2C15E7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20D0A1-10D3-451D-8633-F84B1703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Mavromatis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and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Karypis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, 2025 ·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He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et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al</a:t>
            </a: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., 2024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A267D98-DEE9-4DFF-9A0C-35D1C13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FEDAF4-12AF-462A-9B57-9E487C3D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GNN-RAG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8DC981F-4AEF-44F3-9E0B-E8DA257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GNN-пребарување  →  најкратки патеки  →  LLM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9A32267C-BE96-431C-AF0E-987954DF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26B7EF2-56E4-4D25-9881-358099CE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GNN ги рангира ентитетите-кандидати.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095336C-FEC7-402F-B8F0-23E119F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0CDBB6C-0380-4C22-87DD-E0C24E3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Најкратките патеки го формираат доказниот контекст.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251C30-0B80-4226-BAC4-FF088D6D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23950"/>
            <a:ext cx="190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B1D1C4D-1EAD-4381-9603-F192DC01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066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G-Retriever</a:t>
            </a:r>
            <a:endParaRPr sz="1125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5B9C1A7-BCF5-454D-B614-ACF4B2AD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811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Кодер на графови  →  PCST  →  LLM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073CAC9A-AE75-40B0-9183-927614F1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05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DF926F4-E196-4ADC-9A45-5957F7B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00250"/>
            <a:ext cx="4448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Кодерот на графови ги оценува јазлите.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A5F2894-68B1-407C-81CC-51A3630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76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41A9BE1-4D42-4935-9A4D-10B3550A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71750"/>
            <a:ext cx="4448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PCST избира компактен доказен подграф.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C0CA12A-71B7-4776-92A3-1C0973A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1066800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C1B97B6-BF67-45EF-A3ED-55105AD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Истражувачка празнина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36B9E60-11E9-4B0B-80E7-1661573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85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Недостига контролирана споредба на различни GNN-архитектури, стратегии за доказен подграф и јазични модели во една заедничка рамка.</a:t>
            </a:r>
          </a:p>
        </p:txBody>
      </p:sp>
    </p:spTree>
    <p:extLst>
      <p:ext uri="{BB962C8B-B14F-4D97-AF65-F5344CB8AC3E}">
        <p14:creationId xmlns:p14="http://schemas.microsoft.com/office/powerpoint/2010/main" val="1679459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59C785E-FE15-4769-9CC4-3DD959CB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Архитектура на системот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DF2084-8F86-465C-8305-6860EB8D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88E5FD-9F50-4CA0-93F9-580A5DAE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1fa36c9f9432b"/>
          <a:stretch xmlns:a="http://schemas.openxmlformats.org/drawingml/2006/main"/>
        </p:blipFill>
        <p:spPr>
          <a:xfrm xmlns:a="http://schemas.openxmlformats.org/drawingml/2006/main">
            <a:off x="431800" y="1000125"/>
            <a:ext cx="11328400" cy="4248150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704B55B-4A06-4CE6-B77B-6120FA08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95925"/>
            <a:ext cx="9429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524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BDE4016-E3D2-4E01-8F15-C083DFA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102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Резултатите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секоја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фаза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следат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одделно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да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утврди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каде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губи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потребната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информација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9294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938D00C-2FE1-4D48-94BD-09A7F7A5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Истражувачки прашања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8FBEA9-D2C2-4914-98E2-ED685002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0E0FA6-42C2-49C8-84D9-6451502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304219F-AD08-4DFD-BFD7-5A2C6815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3286125" cy="4095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905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AD89C1E-5EF7-4B66-8254-C93C61C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007DB2-6C52-4BC7-8ED6-E9E062B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43075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D66464F-2929-4D91-95BB-82242CD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Архитектура за пребарување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D61D6D4-684D-4C53-BB70-C502D239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676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изборот на GNN-архитектура влијае врз рангирањето и опфатеноста на точните одговори?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BE16631-DF2B-4B51-80DC-0027554B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3286125" cy="4095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EE8C8DC-611F-4CE8-9167-0F1CFF3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14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E23EA2-50A5-48B6-919C-88E918B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43075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015294-0353-4F31-B6FC-6EB15FE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Доказен подграф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53DF4BA-78AC-4DCE-9F27-F96D72AD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38550"/>
            <a:ext cx="2676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конструкцијата на доказниот подграф влијае врз компактноста и зачувувањето на релевантните информации?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7583A76-9F44-4FD8-A7C7-BA75177B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286125" cy="4095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905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AF2DCE8-8EC6-474B-9304-0F616F0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14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2C371C-792B-4C81-8822-E800E1B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43075"/>
            <a:ext cx="85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4AE5C0D-47AB-415B-8E69-4A533DDB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Јазичен модел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379C12B-7F1B-45E3-9D31-7418E8DF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765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изборот на LLM влијае врз конечната точност и искористувањето на достапниот доказен контекст?</a:t>
            </a:r>
          </a:p>
        </p:txBody>
      </p:sp>
    </p:spTree>
    <p:extLst>
      <p:ext uri="{BB962C8B-B14F-4D97-AF65-F5344CB8AC3E}">
        <p14:creationId xmlns:p14="http://schemas.microsoft.com/office/powerpoint/2010/main" val="1103904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3B8B409-9F74-4583-9D64-3347786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Податочно множество и експериментална поставеност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C19361-C0C6-4BFD-979C-246A3C9D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6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18DB0E-475F-4B11-B97C-62CA6BE3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WebQSP: Yih et al., 2016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3201915-D21E-4A2C-B5D5-9DA95FD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F979789-B5F5-4152-990E-D14BAE93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238625" cy="4667250"/>
          </a:xfrm>
          <a:prstGeom xmlns:a="http://schemas.openxmlformats.org/drawingml/2006/main" prst="roundRect">
            <a:avLst>
              <a:gd name="adj" fmla="val 3146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7145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5E262D2-E960-4E02-ACBB-748E0EBD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WebQuestionsSP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36342984-F701-4369-9B93-EC40C985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1962B11-F6F8-47DE-9C6B-4E0590B7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3305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Прашања на природен јазик поврзани со Freebase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8977199-09BF-4D42-8E9D-621EE2C9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EAE5FA-532A-4951-ACA7-67B23E9B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05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Локален граф за секое прашање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F9720E9-BAA2-4F9F-B283-C7A16AF9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1813C66-B241-40F3-A7FA-1C0D7C4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3305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Познати почетни ентитети и точни одговори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584CA23-938F-468F-9120-7273716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Поделба на податоците</a:t>
            </a:r>
            <a:endParaRPr sz="1500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F40BA68-DEB3-4EC3-92CE-4A5F7B2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366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Трени</a:t>
            </a:r>
            <a:r>
              <a:rPr sz="1350">
                <a:solidFill>
                  <a:srgbClr val="617080"/>
                </a:solidFill>
                <a:latin typeface="Arial"/>
                <a:ea typeface="Arial"/>
                <a:cs typeface="Arial"/>
              </a:rPr>
              <a:t>рање: 2.848</a:t>
            </a:r>
          </a:p>
          <a:p xmlns:a="http://schemas.openxmlformats.org/drawingml/2006/main">
            <a:pPr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Валидација: </a:t>
            </a:r>
            <a:r>
              <a:rPr sz="1350">
                <a:solidFill>
                  <a:srgbClr val="617080"/>
                </a:solidFill>
                <a:latin typeface="Arial"/>
                <a:ea typeface="Arial"/>
                <a:cs typeface="Arial"/>
              </a:rPr>
              <a:t>250 · Тест: 1639</a:t>
            </a:r>
            <a:endParaRPr sz="13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25FCA7-CBAB-4E51-8753-A7F60FD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001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Заедничка конфигурација</a:t>
            </a:r>
            <a:endParaRPr sz="1725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37A5762-7714-4D9F-BC39-0D409D0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999" y="1809750"/>
            <a:ext cx="1807029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3EEBBA1-38E5-44D0-BB1B-0473C74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738" y="2025287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7942"/>
                </a:solidFill>
                <a:latin typeface="Arial"/>
                <a:ea typeface="Arial"/>
                <a:cs typeface="Arial"/>
              </a:rPr>
              <a:t>Извршувања</a:t>
            </a:r>
            <a:endParaRPr sz="2400" b="1" i="0">
              <a:solidFill>
                <a:srgbClr val="D9794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12A8DDF-3CEF-4973-A4D0-0B6B8639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860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3, независни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3C0C236-23CD-4454-B531-66127A59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73355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5D20705-240E-467F-8D87-AAA5916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28825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Праг</a:t>
            </a:r>
            <a:endParaRPr sz="2400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8A7AA4E-FBAB-4E25-BF50-B0B54701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860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0.7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1FE4B530-1D84-4439-8130-FACDB68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73355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05A3CC8-2C75-4962-94B8-D5DBDD4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28825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Кандидати</a:t>
            </a:r>
            <a:endParaRPr sz="2400" b="1" i="0">
              <a:solidFill>
                <a:srgbClr val="8064A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E66D3D6-DF14-4961-8E5F-ACCEAE36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860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10-15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D3616D8-BC9C-4A79-AB8B-89118D0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57340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3335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0A33165-F378-4047-B45F-39727844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19401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617080"/>
                </a:solidFill>
                <a:latin typeface="Arial"/>
                <a:ea typeface="Arial"/>
                <a:cs typeface="Arial"/>
              </a:rPr>
              <a:t>2.848</a:t>
            </a:r>
            <a:r>
              <a:rPr sz="30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 /</a:t>
            </a:r>
            <a:r>
              <a:rPr sz="3000" b="1">
                <a:solidFill>
                  <a:srgbClr val="4F86C6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1.889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0F283B-F608-4B04-AB97-AE3E32F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29125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примероци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за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тренирање </a:t>
            </a:r>
            <a:r>
              <a:rPr sz="1350">
                <a:solidFill>
                  <a:srgbClr val="617080"/>
                </a:solidFill>
                <a:latin typeface="Arial"/>
                <a:ea typeface="Arial"/>
                <a:cs typeface="Arial"/>
              </a:rPr>
              <a:t>·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>
                <a:solidFill>
                  <a:srgbClr val="4F86C6"/>
                </a:solidFill>
                <a:latin typeface="Arial"/>
                <a:ea typeface="Arial"/>
                <a:cs typeface="Arial"/>
              </a:rPr>
              <a:t>примероци за</a:t>
            </a:r>
            <a:r>
              <a:rPr sz="1350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евалуација</a:t>
            </a:r>
            <a:endParaRPr sz="1350" b="0" i="0">
              <a:solidFill>
                <a:srgbClr val="4F86C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6244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6F59FAA-75F4-4A83-A953-45A208FE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Архитектури за пребарување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12EA6-4384-442C-917D-6C40E4BA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61FE3F-3664-4DFD-A7E1-85414CD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48d8a61794eb0"/>
          <a:stretch xmlns:a="http://schemas.openxmlformats.org/drawingml/2006/main"/>
        </p:blipFill>
        <p:spPr>
          <a:xfrm xmlns:a="http://schemas.openxmlformats.org/drawingml/2006/main">
            <a:off x="1100667" y="857250"/>
            <a:ext cx="9990667" cy="5619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7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1A15A17-40D3-4EDB-B249-7E5849D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GraphSAGE и Advance GraphSAGE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B9DEF3-18C8-492C-9CAB-CFC10502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D3329D6-120A-4743-B040-C174063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Hamilton et al., 2017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D6641D-2EE3-4635-ADFF-9B667AA4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ec8d1fe7241dd"/>
          <a:stretch xmlns:a="http://schemas.openxmlformats.org/drawingml/2006/main"/>
        </p:blipFill>
        <p:spPr>
          <a:xfrm xmlns:a="http://schemas.openxmlformats.org/drawingml/2006/main">
            <a:off x="270404" y="1028700"/>
            <a:ext cx="7755467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E95825-7586-455F-B853-33B8129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04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Клучна разлика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738F8F7-83CA-4123-B33C-C3C3EB91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8" name="Rectangle 7">
                <a:extLst xmlns:a="http://schemas.openxmlformats.org/drawingml/2006/main">
                  <a:ext uri="{FF2B5EF4-FFF2-40B4-BE49-F238E27FC236}">
                    <a16:creationId xmlns:a16="http://schemas.microsoft.com/office/drawing/2014/main" id="{C375E428-001D-4C0F-882D-AFAD46B59E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53425" y="1638300"/>
                <a:ext cx="3105150" cy="5524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t>α</m:t>
                      </m:r>
                      <m:r>
                        <m:t>(</m:t>
                      </m:r>
                      <m:r>
                        <m:t>q</m:t>
                      </m:r>
                      <m:r>
                        <m:t>,</m:t>
                      </m:r>
                      <m:r>
                        <m:t>r</m:t>
                      </m:r>
                      <m:r>
                        <m:t>)</m:t>
                      </m:r>
                      <m:r>
                        <m:t>=</m:t>
                      </m:r>
                      <m:r>
                        <m:t>cos</m:t>
                      </m:r>
                      <m:r>
                        <m:t>(</m:t>
                      </m:r>
                      <m:r>
                        <m:t>q</m:t>
                      </m:r>
                      <m:r>
                        <m:t>,</m:t>
                      </m:r>
                      <m:r>
                        <m:t>r</m:t>
                      </m:r>
                      <m: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75E428-001D-4C0F-882D-AFAD46B59EC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53425" y="1638300"/>
                <a:ext cx="3105150" cy="5524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725" b="0" i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725" b="0" i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α(q,r) = cos(q,r)</a:t>
                </a:r>
              </a:p>
            </p:txBody>
          </p:sp>
        </mc:Fallback>
      </mc:AlternateContent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3CC135A-69B4-4EBC-9FBA-DCD38D61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57450"/>
            <a:ext cx="3333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143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0" name="Rectangle 9">
                <a:extLst xmlns:a="http://schemas.openxmlformats.org/drawingml/2006/main">
                  <a:ext uri="{FF2B5EF4-FFF2-40B4-BE49-F238E27FC236}">
                    <a16:creationId xmlns:a16="http://schemas.microsoft.com/office/drawing/2014/main" id="{9B5FB2B3-D4F2-4852-8592-5B1E09D372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53425" y="2524125"/>
                <a:ext cx="3105150" cy="838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t>α</m:t>
                      </m:r>
                      <m:r>
                        <m:t>(</m:t>
                      </m:r>
                      <m:r>
                        <m:t>q</m:t>
                      </m:r>
                      <m:r>
                        <m:t>,</m:t>
                      </m:r>
                      <m:r>
                        <m:t>r</m:t>
                      </m:r>
                      <m:r>
                        <m:t>)</m:t>
                      </m:r>
                      <m:r>
                        <m:t>=</m:t>
                      </m:r>
                      <m:r>
                        <m:rPr>
                          <m:nor/>
                          <m:sty m:val="p"/>
                        </m:rPr>
                        <m:t>sigmoid</m:t>
                      </m:r>
                      <m:r>
                        <m:t>(</m:t>
                      </m:r>
                      <m:r>
                        <m:rPr>
                          <m:nor/>
                          <m:sty m:val="p"/>
                        </m:rPr>
                        <m:t>MLP</m:t>
                      </m:r>
                      <m:r>
                        <m:t>[</m:t>
                      </m:r>
                      <m:r>
                        <m:t>q</m:t>
                      </m:r>
                      <m:r>
                        <m:t>̃</m:t>
                      </m:r>
                      <m:r>
                        <m:t>∥</m:t>
                      </m:r>
                      <m:r>
                        <m:t>r</m:t>
                      </m:r>
                      <m:r>
                        <m:t>̃</m:t>
                      </m:r>
                      <m:r>
                        <m:t>∥</m:t>
                      </m:r>
                      <m:r>
                        <m:t>q</m:t>
                      </m:r>
                      <m:r>
                        <m:t>̃</m:t>
                      </m:r>
                      <m:r>
                        <m:t>⊙</m:t>
                      </m:r>
                      <m:r>
                        <m:t>r</m:t>
                      </m:r>
                      <m:r>
                        <m:t>̃</m:t>
                      </m:r>
                      <m:r>
                        <m:t>]</m:t>
                      </m:r>
                      <m: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5FB2B3-D4F2-4852-8592-5B1E09D372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53425" y="2524125"/>
                <a:ext cx="3105150" cy="838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D9794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0" i="0">
                    <a:solidFill>
                      <a:srgbClr val="D97942"/>
                    </a:solidFill>
                    <a:latin typeface="Arial"/>
                    <a:ea typeface="Arial"/>
                    <a:cs typeface="Arial"/>
                  </a:rPr>
                  <a:t>α(q,r) = sigmoid(MLP[q̃ ∥ r̃ ∥ q̃⊙r̃])</a:t>
                </a:r>
              </a:p>
            </p:txBody>
          </p:sp>
        </mc:Fallback>
      </mc:AlternateContent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34D01FB-5572-4B2F-A467-FBE0FD70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95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37FAB3A-822B-4A38-A556-30BB8DE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90950"/>
            <a:ext cx="2924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Обратни рабови и резидуални врски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92B892A-5CB5-4B59-8F0E-1DBD5212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67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DF7D290-BFCC-4CCD-9A0D-C1DB2D6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362450"/>
            <a:ext cx="2924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Нормализација и оценка условена од прашањето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CD8A6B6-BCCA-4F15-AC3E-08160849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2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фиксно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семантичко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пондерирање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научен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gate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конкретното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</a:t>
            </a: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4095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1214F9F-97BC-4A9B-A227-F5B1F86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R-GCN и HGT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8F9FD8-B586-458C-B74E-D248C7C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849C3F-4E4C-48CD-89A4-51D811D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Schlichtkrull et al., 2018 · Hu et al., 2020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EAC1E0-3E54-432C-BAA2-6432C98D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d3c0182946a1"/>
          <a:stretch xmlns:a="http://schemas.openxmlformats.org/drawingml/2006/main"/>
        </p:blipFill>
        <p:spPr>
          <a:xfrm xmlns:a="http://schemas.openxmlformats.org/drawingml/2006/main">
            <a:off x="238125" y="1069777"/>
            <a:ext cx="7524750" cy="423267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72816F-11A2-4CDC-87D6-991CC1CB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04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R-GCN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64CE06-C239-475C-95C7-ADBE0B0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619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143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8" name="Rectangle 7">
                <a:extLst xmlns:a="http://schemas.openxmlformats.org/drawingml/2006/main">
                  <a:ext uri="{FF2B5EF4-FFF2-40B4-BE49-F238E27FC236}">
                    <a16:creationId xmlns:a16="http://schemas.microsoft.com/office/drawing/2014/main" id="{E2F94A42-518C-46EC-8722-B3CA240EA09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15300" y="1571625"/>
                <a:ext cx="3390900" cy="8191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Sup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t>(</m:t>
                          </m:r>
                          <m:r>
                            <m:t>l</m:t>
                          </m:r>
                          <m:r>
                            <m:t>+</m:t>
                          </m:r>
                          <m:r>
                            <m:t>1</m:t>
                          </m:r>
                          <m:r>
                            <m:t>)</m:t>
                          </m:r>
                        </m:sup>
                      </m:sSubSup>
                      <m:r>
                        <m:t>=</m:t>
                      </m:r>
                      <m:r>
                        <m:t>σ</m:t>
                      </m:r>
                      <m:r>
                        <m:t>(</m:t>
                      </m:r>
                      <m:sSubSup>
                        <m:e>
                          <m:r>
                            <m:t>W</m:t>
                          </m:r>
                        </m:e>
                        <m:sub>
                          <m:r>
                            <m:t>0</m:t>
                          </m:r>
                        </m:sub>
                        <m:sup>
                          <m:r>
                            <m:t>(</m:t>
                          </m:r>
                          <m:r>
                            <m:t>l</m:t>
                          </m:r>
                          <m:r>
                            <m:t>)</m:t>
                          </m:r>
                        </m:sup>
                      </m:sSubSup>
                      <m:sSubSup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t>(</m:t>
                          </m:r>
                          <m:r>
                            <m:t>l</m:t>
                          </m:r>
                          <m:r>
                            <m:t>)</m:t>
                          </m:r>
                        </m:sup>
                      </m:sSubSup>
                      <m: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r</m:t>
                          </m:r>
                          <m:r>
                            <m:t>∈</m:t>
                          </m:r>
                          <m:r>
                            <m:t>ℛ</m:t>
                          </m:r>
                        </m:sub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u</m:t>
                              </m:r>
                              <m:r>
                                <m:t>∈</m:t>
                              </m:r>
                              <m:sSubSup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  <m:sup>
                                  <m:r>
                                    <m:t>r</m:t>
                                  </m:r>
                                </m:sup>
                              </m:sSubSup>
                            </m:sub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v</m:t>
                                      </m:r>
                                      <m:r>
                                        <m:t>,</m:t>
                                      </m:r>
                                      <m:r>
                                        <m:t>r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  <m:sup>
                                  <m:r>
                                    <m:t>(</m:t>
                                  </m:r>
                                  <m:r>
                                    <m:t>l</m:t>
                                  </m:r>
                                  <m:r>
                                    <m:t>)</m:t>
                                  </m:r>
                                </m:sup>
                              </m:sSubSup>
                              <m:sSubSup>
                                <m:e>
                                  <m:r>
                                    <m:t>h</m:t>
                                  </m:r>
                                </m:e>
                                <m:sub>
                                  <m:r>
                                    <m:t>u</m:t>
                                  </m:r>
                                </m:sub>
                                <m:sup>
                                  <m:r>
                                    <m:t>(</m:t>
                                  </m:r>
                                  <m:r>
                                    <m:t>l</m:t>
                                  </m:r>
                                  <m:r>
                                    <m:t>)</m:t>
                                  </m:r>
                                </m:sup>
                              </m:sSubSup>
                              <m: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2F94A42-518C-46EC-8722-B3CA240EA0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15300" y="1571625"/>
                <a:ext cx="3390900" cy="819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350" b="0" i="0">
                    <a:solidFill>
                      <a:srgbClr val="D9794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D97942"/>
                    </a:solidFill>
                    <a:latin typeface="Arial"/>
                    <a:ea typeface="Arial"/>
                    <a:cs typeface="Arial"/>
                  </a:rPr>
                  <a:t>hᵥ⁽ˡ⁺¹⁾ = σ(W₀⁽ˡ⁾hᵥ⁽ˡ⁾ + Σᵣ Σᵤ 1/cᵥ,ᵣ · Wᵣ⁽ˡ⁾hᵤ⁽ˡ⁾)</a:t>
                </a:r>
              </a:p>
            </p:txBody>
          </p:sp>
        </mc:Fallback>
      </mc:AlternateContent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FF46108-00A0-4226-9060-CBE3B9CB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1FD1E2-11CE-4DAE-9452-1376646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Различна трансформација за секој тип релација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5D3B59A-C912-4E6C-83E3-51D0116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HGT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331E24-8995-4DC4-ADE2-BEA978F8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619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143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3" name="Rectangle 12">
                <a:extLst xmlns:a="http://schemas.openxmlformats.org/drawingml/2006/main">
                  <a:ext uri="{FF2B5EF4-FFF2-40B4-BE49-F238E27FC236}">
                    <a16:creationId xmlns:a16="http://schemas.microsoft.com/office/drawing/2014/main" id="{6031BF66-9EC0-48D9-AC39-868C70B8741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15300" y="3990975"/>
                <a:ext cx="3390900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Sup>
                        <m:e>
                          <m:r>
                            <m:t>α</m:t>
                          </m:r>
                        </m:e>
                        <m:sub>
                          <m:r>
                            <m:t>uv</m:t>
                          </m:r>
                        </m:sub>
                        <m:sup>
                          <m:r>
                            <m:t>r</m:t>
                          </m:r>
                          <m:r>
                            <m:t>,</m:t>
                          </m:r>
                          <m:r>
                            <m:t>j</m:t>
                          </m:r>
                        </m:sup>
                      </m:sSubSup>
                      <m:r>
                        <m:t>=</m:t>
                      </m:r>
                      <m:r>
                        <m:rPr>
                          <m:nor/>
                          <m:sty m:val="p"/>
                        </m:rPr>
                        <m:t>softmax</m:t>
                      </m:r>
                      <m:r>
                        <m:t>(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uv</m:t>
                          </m:r>
                        </m:sub>
                        <m:sup>
                          <m:r>
                            <m:t>r</m:t>
                          </m:r>
                          <m:r>
                            <m:t>,</m:t>
                          </m:r>
                          <m:r>
                            <m:t>j</m:t>
                          </m:r>
                        </m:sup>
                      </m:sSubSup>
                      <m: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31BF66-9EC0-48D9-AC39-868C70B874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15300" y="3990975"/>
                <a:ext cx="3390900" cy="590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650" b="0" i="0">
                    <a:solidFill>
                      <a:srgbClr val="8064A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0" i="0">
                    <a:solidFill>
                      <a:srgbClr val="8064A2"/>
                    </a:solidFill>
                    <a:latin typeface="Arial"/>
                    <a:ea typeface="Arial"/>
                    <a:cs typeface="Arial"/>
                  </a:rPr>
                  <a:t>αᵣ,ʲᵤᵥ = softmax(eᵣ,ʲᵤᵥ)</a:t>
                </a:r>
              </a:p>
            </p:txBody>
          </p:sp>
        </mc:Fallback>
      </mc:AlternateContent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7815CA0-7362-4887-9332-C3B8BD7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949DDA8-9B01-463F-B7A4-AFB33009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3209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Релациски зависен attention за соседите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536A29F-2883-4018-AF16-3B246E59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 двете архитектури ја задржуваат релациската структура, но ја моделираат на различен начин.</a:t>
            </a:r>
          </a:p>
        </p:txBody>
      </p:sp>
    </p:spTree>
    <p:extLst>
      <p:ext uri="{BB962C8B-B14F-4D97-AF65-F5344CB8AC3E}">
        <p14:creationId xmlns:p14="http://schemas.microsoft.com/office/powerpoint/2010/main" val="625376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DC3116-E27C-4D62-A2F2-91A0C7C3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7E67DC-197D-4D52-A9AA-1ECB77F2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D886A8-476D-42AF-AADA-867D703D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Mavromatis and Karypis, 2022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4257D3-EE98-48F7-8C32-EF9812E7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a75a358e747c2"/>
          <a:stretch xmlns:a="http://schemas.openxmlformats.org/drawingml/2006/main"/>
        </p:blipFill>
        <p:spPr>
          <a:xfrm xmlns:a="http://schemas.openxmlformats.org/drawingml/2006/main">
            <a:off x="241829" y="1028700"/>
            <a:ext cx="7755467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A6C4C42-9E4D-4990-A66B-F245FCC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Приспособливо расудување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DF5D94DF-9B7E-4D12-B245-F35CA915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BF9AB62-D673-4419-AC43-4B305875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95450"/>
            <a:ext cx="2924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 прашањето се извлекуваат повеќе инструкции</a:t>
            </a:r>
            <a:endParaRPr sz="1275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DC87FAE-1EEB-4E20-9835-C603E3E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2C69956-54DE-4C5C-82E5-CE3C27F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28875"/>
            <a:ext cx="2924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Инструкциите го насочуваат преносот на пораки.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624EDB0-9C5C-42B4-B6B9-9A572DCA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916FE0-107B-4CB6-A81C-9235B2E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62300"/>
            <a:ext cx="2924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Собраната информација ги ревидира инструкциите.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A7417E-1267-4331-AACF-8FEA57E9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524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143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4" name="Rectangle 13">
                <a:extLst xmlns:a="http://schemas.openxmlformats.org/drawingml/2006/main">
                  <a:ext uri="{FF2B5EF4-FFF2-40B4-BE49-F238E27FC236}">
                    <a16:creationId xmlns:a16="http://schemas.microsoft.com/office/drawing/2014/main" id="{D9A12149-A317-43C9-A7BA-868EB4FBB23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10550" y="4257675"/>
                <a:ext cx="329565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Sup>
                        <m:e>
                          <m:r>
                            <m:t>m</m:t>
                          </m:r>
                        </m:e>
                        <m:sub>
                          <m:r>
                            <m:t>u</m:t>
                          </m:r>
                          <m:r>
                            <m:t>,</m:t>
                          </m:r>
                          <m:r>
                            <m:t>r</m:t>
                          </m:r>
                        </m:sub>
                        <m:sup>
                          <m:r>
                            <m:t>(</m:t>
                          </m:r>
                          <m:r>
                            <m:t>k</m:t>
                          </m:r>
                          <m:r>
                            <m:t>,</m:t>
                          </m:r>
                          <m:r>
                            <m:t>t</m:t>
                          </m:r>
                          <m:r>
                            <m:t>)</m:t>
                          </m:r>
                        </m:sup>
                      </m:sSubSup>
                      <m:r>
                        <m:t>=</m:t>
                      </m:r>
                      <m:sSubSup>
                        <m:e>
                          <m:r>
                            <m:t>p</m:t>
                          </m:r>
                        </m:e>
                        <m:sub>
                          <m:r>
                            <m:t>u</m:t>
                          </m:r>
                        </m:sub>
                        <m:sup>
                          <m:r>
                            <m:t>(</m:t>
                          </m:r>
                          <m:r>
                            <m:t>t</m:t>
                          </m:r>
                          <m:r>
                            <m:t>)</m:t>
                          </m:r>
                        </m:sup>
                      </m:sSubSup>
                      <m:r>
                        <m:rPr>
                          <m:nor/>
                          <m:sty m:val="p"/>
                        </m:rPr>
                        <m:t>ReLU</m:t>
                      </m:r>
                      <m:r>
                        <m:t>(</m:t>
                      </m:r>
                      <m:sSubSup>
                        <m:e>
                          <m:r>
                            <m:t>W</m:t>
                          </m:r>
                        </m:e>
                        <m:sub>
                          <m:r>
                            <m:t>r</m:t>
                          </m:r>
                        </m:sub>
                        <m:sup>
                          <m:r>
                            <m:t>(</m:t>
                          </m:r>
                          <m:r>
                            <m:t>t</m:t>
                          </m:r>
                          <m:r>
                            <m:t>)</m:t>
                          </m:r>
                        </m:sup>
                      </m:sSubSup>
                      <m:r>
                        <m:t>r</m:t>
                      </m:r>
                      <m:r>
                        <m:t>⊙</m:t>
                      </m:r>
                      <m:sSup>
                        <m:e>
                          <m:r>
                            <m:t>i</m:t>
                          </m:r>
                        </m:e>
                        <m:sup>
                          <m:r>
                            <m:t>(</m:t>
                          </m:r>
                          <m:r>
                            <m:t>k</m:t>
                          </m:r>
                          <m:r>
                            <m:t>)</m:t>
                          </m:r>
                        </m:sup>
                      </m:sSup>
                      <m: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9A12149-A317-43C9-A7BA-868EB4FBB2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10550" y="4257675"/>
                <a:ext cx="3295650" cy="685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8064A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0" i="0">
                    <a:solidFill>
                      <a:srgbClr val="8064A2"/>
                    </a:solidFill>
                    <a:latin typeface="Arial"/>
                    <a:ea typeface="Arial"/>
                    <a:cs typeface="Arial"/>
                  </a:rPr>
                  <a:t>mᵏ,ᵗᵤ,ᵣ = pᵗᵤ ReLU(Wᵗᵣr ⊙ iᵏ)</a:t>
                </a:r>
              </a:p>
            </p:txBody>
          </p:sp>
        </mc:Fallback>
      </mc:AlternateContent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381212B-808D-48CD-B39A-BE31CD78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245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 го менува толкувањето на прашањето според информацијата откриена во графот.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8EA2F7D-04C6-C46E-5C8A-CEC7C3B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9383"/>
            <a:ext cx="6309904" cy="53176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428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22C8946-042D-4A4F-ACAE-FBBACE52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A2FDC4-CC3E-4A51-984F-796A6EFB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74FAA5-5405-4F8A-9715-562B36E6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Zhu et al., 2021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A0FB13E-F2F0-40B4-A5A1-AAEFFD7B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df3f8d90c4c81"/>
          <a:stretch xmlns:a="http://schemas.openxmlformats.org/drawingml/2006/main"/>
        </p:blipFill>
        <p:spPr>
          <a:xfrm xmlns:a="http://schemas.openxmlformats.org/drawingml/2006/main">
            <a:off x="241829" y="1028700"/>
            <a:ext cx="7755467" cy="436245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47B439F-734E-4F88-BCBD-78BFA31A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049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Научена Bellman–Ford постапка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27E239C-5787-45B3-9579-0F0DF07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24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8" name="Rectangle 7">
                <a:extLst xmlns:a="http://schemas.openxmlformats.org/drawingml/2006/main">
                  <a:ext uri="{FF2B5EF4-FFF2-40B4-BE49-F238E27FC236}">
                    <a16:creationId xmlns:a16="http://schemas.microsoft.com/office/drawing/2014/main" id="{92D156DB-6D7A-4A70-B937-20855F8A99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10550" y="1743075"/>
                <a:ext cx="3295650" cy="609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Sup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t>(</m:t>
                          </m:r>
                          <m:r>
                            <m:t>0</m:t>
                          </m:r>
                          <m:r>
                            <m:t>)</m:t>
                          </m:r>
                        </m:sup>
                      </m:sSubSup>
                      <m:r>
                        <m:t>=</m:t>
                      </m:r>
                      <m:r>
                        <m:t>q</m:t>
                      </m:r>
                      <m:r>
                        <m:t>;</m:t>
                      </m:r>
                      <m:r>
                        <m:t>(</m:t>
                      </m:r>
                      <m:r>
                        <m:t>v</m:t>
                      </m:r>
                      <m:r>
                        <m:t>∈</m:t>
                      </m:r>
                      <m:r>
                        <m:t>S</m:t>
                      </m:r>
                      <m:r>
                        <m:t>)</m:t>
                      </m:r>
                      <m:r>
                        <m:t>;</m:t>
                      </m:r>
                      <m:r>
                        <m:t>;</m:t>
                      </m:r>
                      <m:r>
                        <m:t>0</m:t>
                      </m:r>
                      <m:r>
                        <m:t>;</m:t>
                      </m:r>
                      <m:r>
                        <m:t>(</m:t>
                      </m:r>
                      <m:r>
                        <m:t>v</m:t>
                      </m:r>
                      <m:r>
                        <m:t>∉</m:t>
                      </m:r>
                      <m:r>
                        <m:t>S</m:t>
                      </m:r>
                      <m: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2D156DB-6D7A-4A70-B937-20855F8A99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10550" y="1743075"/>
                <a:ext cx="329565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398D84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0" i="0">
                    <a:solidFill>
                      <a:srgbClr val="398D84"/>
                    </a:solidFill>
                    <a:latin typeface="Arial"/>
                    <a:ea typeface="Arial"/>
                    <a:cs typeface="Arial"/>
                  </a:rPr>
                  <a:t>hᵥ⁽⁰⁾ = q  ако v∈S;  0 во спротивно</a:t>
                </a:r>
              </a:p>
            </p:txBody>
          </p:sp>
        </mc:Fallback>
      </mc:AlternateContent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518678-4F3F-44BC-8516-C824E1A5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3524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0" name="Rectangle 9">
                <a:extLst xmlns:a="http://schemas.openxmlformats.org/drawingml/2006/main">
                  <a:ext uri="{FF2B5EF4-FFF2-40B4-BE49-F238E27FC236}">
                    <a16:creationId xmlns:a16="http://schemas.microsoft.com/office/drawing/2014/main" id="{CB06B04D-B807-4847-A770-CC9E62F47E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10550" y="2667000"/>
                <a:ext cx="3295650" cy="609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Sup>
                        <m:e>
                          <m:r>
                            <m:t>m</m:t>
                          </m:r>
                        </m:e>
                        <m:sub>
                          <m:r>
                            <m:t>u</m:t>
                          </m:r>
                          <m:r>
                            <m:t>,</m:t>
                          </m:r>
                          <m:r>
                            <m:t>r</m:t>
                          </m:r>
                          <m:r>
                            <m:t>,</m:t>
                          </m:r>
                          <m:r>
                            <m:t>v</m:t>
                          </m:r>
                        </m:sub>
                        <m:sup>
                          <m:r>
                            <m:t>(</m:t>
                          </m:r>
                          <m:r>
                            <m:t>l</m:t>
                          </m:r>
                          <m:r>
                            <m:t>)</m:t>
                          </m:r>
                        </m:sup>
                      </m:sSubSup>
                      <m:r>
                        <m:t>=</m:t>
                      </m:r>
                      <m:sSubSup>
                        <m:e>
                          <m:r>
                            <m:t>h</m:t>
                          </m:r>
                        </m:e>
                        <m:sub>
                          <m:r>
                            <m:t>u</m:t>
                          </m:r>
                        </m:sub>
                        <m:sup>
                          <m:r>
                            <m:t>(</m:t>
                          </m:r>
                          <m:r>
                            <m:t>l</m:t>
                          </m:r>
                          <m:r>
                            <m:t>)</m:t>
                          </m:r>
                        </m:sup>
                      </m:sSubSup>
                      <m:r>
                        <m:t>⊙</m:t>
                      </m:r>
                      <m:sSubSup>
                        <m:e>
                          <m:r>
                            <m:t>w</m:t>
                          </m:r>
                        </m:e>
                        <m:sub>
                          <m:r>
                            <m:t>r</m:t>
                          </m:r>
                        </m:sub>
                        <m:sup>
                          <m:r>
                            <m:t>(</m:t>
                          </m:r>
                          <m:r>
                            <m:t>l</m:t>
                          </m:r>
                          <m:r>
                            <m:t>)</m:t>
                          </m:r>
                        </m:sup>
                      </m:sSubSup>
                      <m:r>
                        <m:t>(</m:t>
                      </m:r>
                      <m:r>
                        <m:t>q</m:t>
                      </m:r>
                      <m: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B06B04D-B807-4847-A770-CC9E62F47ED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210550" y="2667000"/>
                <a:ext cx="3295650" cy="609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500" b="0" i="0">
                    <a:solidFill>
                      <a:srgbClr val="398D84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398D84"/>
                    </a:solidFill>
                    <a:latin typeface="Arial"/>
                    <a:ea typeface="Arial"/>
                    <a:cs typeface="Arial"/>
                  </a:rPr>
                  <a:t>m⁽ˡ⁾ᵤ,ᵣ,ᵥ = hᵤ⁽ˡ⁾ ⊙ wᵣ⁽ˡ⁾(q)</a:t>
                </a:r>
              </a:p>
            </p:txBody>
          </p:sp>
        </mc:Fallback>
      </mc:AlternateContent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2F9C99-9986-4334-ACEC-D539AEB9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161AE30-2D90-4E0F-B38D-80131396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766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Патеките и релациите се условени од прашањето.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1AB3D91-E1E6-4F30-949E-DB978481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E1E4875-2A43-430F-B04E-04C0E3E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0075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Поддржани се повеќе почетни ентитети.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31D4BA5-7095-4A49-B8E8-9759F5EA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Репрезентацијата на кандидатот опишува како тој се достигнува преку патеки релевантни за прашањето.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9A2899-8BE1-78E1-B211-95ACB6B3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10" y="4731612"/>
            <a:ext cx="6309904" cy="53176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51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EEDE8CA-5EB9-4DF7-A7FF-22DB529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пребарување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B5306A-DE08-4502-8C97-6B8CDD17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6FA5F2-EB61-4C86-87A2-4D97466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nDCG: Järvelin and Kekäläinen, 2002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9D1437-9C52-4EAE-920F-17E5B0A4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A3BC85-1B3C-489A-950A-84A5EBC6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Рангирање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85738EF-AA1C-4553-9D4D-48AC386C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4288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8961D1B3-8A4C-4675-BCB8-6264250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A66C8C-B1A7-45F8-88EC-ABF0A70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4257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/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Hits@10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барем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еден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одговор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првите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1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, односно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10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кандидати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80939DA-F14A-41ED-9BDC-E98FE689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2F2CA1B-2F81-4C10-8B01-E88BB768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257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nDCG@10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позицијата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бројот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точни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одговори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првите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10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кандидати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5DAC87-449D-4CAA-BDD2-435BE76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Покриеност на точните одговори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4239560-36C6-4C55-B6CE-1F7ACD0A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3" name="Rectangle 12">
                <a:extLst xmlns:a="http://schemas.openxmlformats.org/drawingml/2006/main">
                  <a:ext uri="{FF2B5EF4-FFF2-40B4-BE49-F238E27FC236}">
                    <a16:creationId xmlns:a16="http://schemas.microsoft.com/office/drawing/2014/main" id="{3F9EAFCD-45E4-44A3-92FC-4AD025B6C89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05550" y="1685925"/>
                <a:ext cx="51054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nor/>
                          <m:sty m:val="p"/>
                        </m:rPr>
                        <m:t>RetrievalGoldCoverage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|</m:t>
                          </m:r>
                          <m:r>
                            <m:t>Q</m:t>
                          </m:r>
                          <m: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q</m:t>
                          </m:r>
                          <m:r>
                            <m:t>∈</m:t>
                          </m:r>
                          <m:r>
                            <m:t>Q</m:t>
                          </m:r>
                        </m:sub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|</m:t>
                              </m:r>
                              <m:sSub>
                                <m:e>
                                  <m:r>
                                    <m:t>G</m:t>
                                  </m:r>
                                </m:e>
                                <m:sub>
                                  <m:r>
                                    <m:t>q</m:t>
                                  </m:r>
                                </m:sub>
                              </m:sSub>
                              <m:r>
                                <m:t>∩</m:t>
                              </m:r>
                              <m:sSub>
                                <m:e>
                                  <m:r>
                                    <m:t>R</m:t>
                                  </m:r>
                                </m:e>
                                <m:sub>
                                  <m:r>
                                    <m:t>q</m:t>
                                  </m:r>
                                </m:sub>
                              </m:sSub>
                              <m:r>
                                <m:t>|</m:t>
                              </m:r>
                            </m:num>
                            <m:den>
                              <m:r>
                                <m:t>|</m:t>
                              </m:r>
                              <m:sSub>
                                <m:e>
                                  <m:r>
                                    <m:t>G</m:t>
                                  </m:r>
                                </m:e>
                                <m:sub>
                                  <m:r>
                                    <m:t>q</m:t>
                                  </m:r>
                                </m:sub>
                              </m:sSub>
                              <m: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F9EAFCD-45E4-44A3-92FC-4AD025B6C8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05550" y="1685925"/>
                <a:ext cx="51054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1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RetrievalGoldCoverage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 = (1/|Q|) </a:t>
                </a:r>
                <a:r>
                  <a:rPr sz="1425" b="0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Σq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 |</a:t>
                </a:r>
                <a:r>
                  <a:rPr sz="1425" b="0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Gq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 ∩ </a:t>
                </a:r>
                <a:r>
                  <a:rPr sz="1425" b="0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Rq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| / |</a:t>
                </a:r>
                <a:r>
                  <a:rPr sz="1425" b="0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Gq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|</a:t>
                </a:r>
              </a:p>
            </p:txBody>
          </p:sp>
        </mc:Fallback>
      </mc:AlternateContent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2402969-3CA4-4B41-AFD3-77ACCF3A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334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5" name="Rectangle 14">
                <a:extLst xmlns:a="http://schemas.openxmlformats.org/drawingml/2006/main">
                  <a:ext uri="{FF2B5EF4-FFF2-40B4-BE49-F238E27FC236}">
                    <a16:creationId xmlns:a16="http://schemas.microsoft.com/office/drawing/2014/main" id="{FCC69469-9344-44CD-AAFF-56B264A0FD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05550" y="2638425"/>
                <a:ext cx="51054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nor/>
                          <m:sty m:val="p"/>
                        </m:rPr>
                        <m:t>RetrievalFullGoldCoverage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|</m:t>
                          </m:r>
                          <m:r>
                            <m:t>Q</m:t>
                          </m:r>
                          <m: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q</m:t>
                          </m:r>
                          <m:r>
                            <m:t>∈</m:t>
                          </m:r>
                          <m:r>
                            <m:t>Q</m:t>
                          </m:r>
                        </m:sub>
                        <m:e>
                          <m:r>
                            <m:rPr>
                              <m:nor/>
                              <m:sty m:val="p"/>
                            </m:rPr>
                            <m:t>I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⊆</m:t>
                          </m:r>
                          <m:sSub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)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CC69469-9344-44CD-AAFF-56B264A0FD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05550" y="2638425"/>
                <a:ext cx="5105400" cy="628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1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RetrievalFullGoldCoverage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 = (1/|Q|) </a:t>
                </a:r>
                <a:r>
                  <a:rPr sz="1425" b="0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Σq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 𝕀(</a:t>
                </a:r>
                <a:r>
                  <a:rPr sz="1425" b="0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Gq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 ⊆ </a:t>
                </a:r>
                <a:r>
                  <a:rPr sz="1425" b="0" i="0" dirty="0" err="1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Rq</a:t>
                </a:r>
                <a:r>
                  <a:rPr sz="1425" b="0" i="0" dirty="0">
                    <a:solidFill>
                      <a:srgbClr val="4F86C6"/>
                    </a:solidFill>
                    <a:latin typeface="Arial"/>
                    <a:ea typeface="Arial"/>
                    <a:cs typeface="Arial"/>
                  </a:rPr>
                  <a:t>)</a:t>
                </a:r>
              </a:p>
            </p:txBody>
          </p:sp>
        </mc:Fallback>
      </mc:AlternateContent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716B5F8-CEA5-4551-B217-B9C18422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988" y="3981450"/>
            <a:ext cx="6418761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383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76DA4AC-91C7-474C-BCE6-39753987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4231684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Пример</a:t>
            </a:r>
            <a:endParaRPr sz="1500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430FAFC-FA48-49FD-8E07-C7F0E8B9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424638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2 / 3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354D322-60E7-45B1-8A5B-70FC5FAE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657" y="4717868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пронајдени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точни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одговори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EEC1E5F-7C9F-4C6C-9A6F-7A61DAE7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1684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BEBACF5-1589-4799-BD6B-237CA5FB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4703172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целосна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покриеност</a:t>
            </a:r>
            <a:endParaRPr sz="12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7166D4E-21A3-4784-A420-247905E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Gq — точни одговори · Rq — пребарани кандидати</a:t>
            </a:r>
          </a:p>
        </p:txBody>
      </p:sp>
    </p:spTree>
    <p:extLst>
      <p:ext uri="{BB962C8B-B14F-4D97-AF65-F5344CB8AC3E}">
        <p14:creationId xmlns:p14="http://schemas.microsoft.com/office/powerpoint/2010/main" val="18939431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28EAF0-1EC2-412A-B52B-9FF0E168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Резултати од пребарувањето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05E6DA-20C8-45B8-92F0-7FF7AD9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359488-DCAE-43C2-B477-8B1F3AD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ca54f624f4d20"/>
          <a:stretch xmlns:a="http://schemas.openxmlformats.org/drawingml/2006/main"/>
        </p:blipFill>
        <p:spPr>
          <a:xfrm xmlns:a="http://schemas.openxmlformats.org/drawingml/2006/main">
            <a:off x="400050" y="1067515"/>
            <a:ext cx="8286750" cy="3808569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3132804-446E-462D-B5A3-915426A2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62050"/>
            <a:ext cx="2667000" cy="3638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6193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0D9212-DF51-48E2-8BCF-07CAC137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3C1FFF-C837-4026-9134-9FB67024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0,692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C6195FB-0D1D-4A18-BD08-A3F3FC34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98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Hits@1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2E20F21-18A0-496C-B5D4-AE39436B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0,921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2813A14-14B5-40F3-B290-8EBF010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Hits@10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090F63C-558F-497D-93C3-410211B8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09975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0,796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641CC1-81A9-430A-B153-D380F86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671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nDCG@10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DA11785-DAE3-4EA0-BA42-AF47189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9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средна вредност од 3 извршувања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C07EFEE-6758-495E-9373-40486E0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0763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899750-EEE5-4225-BF68-8E3169A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Условувањето со прашањето и експлицитното моделирање на релациските патеки даваат најдобри резултати. Advance GraphSAGE е силен едноставен компромис.</a:t>
            </a:r>
          </a:p>
        </p:txBody>
      </p:sp>
    </p:spTree>
    <p:extLst>
      <p:ext uri="{BB962C8B-B14F-4D97-AF65-F5344CB8AC3E}">
        <p14:creationId xmlns:p14="http://schemas.microsoft.com/office/powerpoint/2010/main" val="503190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42EF028-B971-4D6E-9C21-52703C1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Конструкција на доказниот подграф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30C4C8-10EF-4975-B12F-63D0568E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C816E8-700D-467B-AE64-75109A06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Goemans and Williamson, 1995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FA0E94-7425-4B5D-AA08-BE5C4C4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00503c12c421f"/>
          <a:stretch xmlns:a="http://schemas.openxmlformats.org/drawingml/2006/main"/>
        </p:blipFill>
        <p:spPr>
          <a:xfrm xmlns:a="http://schemas.openxmlformats.org/drawingml/2006/main">
            <a:off x="308504" y="1047750"/>
            <a:ext cx="6993467" cy="3933825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3F525B-9FD3-484B-8E88-9B9CBE09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95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PCST: награда на јазлите наспроти трошок на рабовите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F03D113-8AE5-4CB5-B4F8-EE205F5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3905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8" name="Rectangle 7">
                <a:extLst xmlns:a="http://schemas.openxmlformats.org/drawingml/2006/main">
                  <a:ext uri="{FF2B5EF4-FFF2-40B4-BE49-F238E27FC236}">
                    <a16:creationId xmlns:a16="http://schemas.microsoft.com/office/drawing/2014/main" id="{48EB749D-2A41-42BE-99A0-18847B0087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81925" y="1857375"/>
                <a:ext cx="3676650" cy="704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p>
                        <m:e>
                          <m:r>
                            <m:t>T</m:t>
                          </m:r>
                        </m:e>
                        <m:sup>
                          <m:r>
                            <m:t>*</m:t>
                          </m:r>
                        </m:sup>
                      </m:sSup>
                      <m:r>
                        <m:t>=</m:t>
                      </m:r>
                      <m:r>
                        <m:t>arg</m:t>
                      </m:r>
                      <m:sSub>
                        <m:e>
                          <m:r>
                            <m:t>max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t>[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v</m:t>
                          </m:r>
                          <m:r>
                            <m:t>∈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sub>
                        <m:e>
                          <m:r>
                            <m:t>p</m:t>
                          </m:r>
                          <m:r>
                            <m:t>(</m:t>
                          </m:r>
                          <m:r>
                            <m:t>v</m:t>
                          </m:r>
                          <m:r>
                            <m:t>)</m:t>
                          </m:r>
                          <m:r>
                            <m:t>-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e</m:t>
                              </m:r>
                              <m:r>
                                <m:t>∈</m:t>
                              </m:r>
                              <m:sSub>
                                <m:e>
                                  <m:r>
                                    <m:t>E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sub>
                            <m:e>
                              <m:r>
                                <m:t>c</m:t>
                              </m:r>
                              <m:r>
                                <m:t>(</m:t>
                              </m:r>
                              <m:r>
                                <m:t>e</m:t>
                              </m:r>
                              <m:r>
                                <m:t>)</m:t>
                              </m:r>
                              <m: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EB749D-2A41-42BE-99A0-18847B0087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81925" y="1857375"/>
                <a:ext cx="3676650" cy="7048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398D84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0" i="0">
                    <a:solidFill>
                      <a:srgbClr val="398D84"/>
                    </a:solidFill>
                    <a:latin typeface="Arial"/>
                    <a:ea typeface="Arial"/>
                    <a:cs typeface="Arial"/>
                  </a:rPr>
                  <a:t>T* = arg maxT [Σv∈VT p(v) − Σe∈ET c(e)]</a:t>
                </a:r>
              </a:p>
            </p:txBody>
          </p:sp>
        </mc:Fallback>
      </mc:AlternateContent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5055CE5-2E03-4219-84F3-ED4DECB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19400"/>
            <a:ext cx="39052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0" name="Rectangle 9">
                <a:extLst xmlns:a="http://schemas.openxmlformats.org/drawingml/2006/main">
                  <a:ext uri="{FF2B5EF4-FFF2-40B4-BE49-F238E27FC236}">
                    <a16:creationId xmlns:a16="http://schemas.microsoft.com/office/drawing/2014/main" id="{4361A3B3-A02B-47F2-82E0-51A77AA2CC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81925" y="2886075"/>
                <a:ext cx="3676650" cy="4857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const</m:t>
                          </m:r>
                        </m:sub>
                      </m:sSub>
                      <m:r>
                        <m:t>(</m:t>
                      </m:r>
                      <m:r>
                        <m:t>e</m:t>
                      </m:r>
                      <m:r>
                        <m:t>)</m:t>
                      </m:r>
                      <m:r>
                        <m:t>=</m:t>
                      </m:r>
                      <m:r>
                        <m:t>λ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61A3B3-A02B-47F2-82E0-51A77AA2CC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81925" y="2886075"/>
                <a:ext cx="3676650" cy="4857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500" b="0" i="0">
                    <a:solidFill>
                      <a:srgbClr val="263746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63746"/>
                    </a:solidFill>
                    <a:latin typeface="Arial"/>
                    <a:ea typeface="Arial"/>
                    <a:cs typeface="Arial"/>
                  </a:rPr>
                  <a:t>cconst(e) = λ</a:t>
                </a:r>
              </a:p>
            </p:txBody>
          </p:sp>
        </mc:Fallback>
      </mc:AlternateContent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522A186-ED0E-4FAB-8400-1AE1BF0B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29025"/>
            <a:ext cx="39052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2" name="Rectangle 11">
                <a:extLst xmlns:a="http://schemas.openxmlformats.org/drawingml/2006/main">
                  <a:ext uri="{FF2B5EF4-FFF2-40B4-BE49-F238E27FC236}">
                    <a16:creationId xmlns:a16="http://schemas.microsoft.com/office/drawing/2014/main" id="{60CF3868-47C7-4439-BC95-B4214DAA62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81925" y="3695700"/>
                <a:ext cx="3676650" cy="6000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sem</m:t>
                          </m:r>
                        </m:sub>
                      </m:sSub>
                      <m:r>
                        <m:t>(</m:t>
                      </m:r>
                      <m:r>
                        <m:t>e</m:t>
                      </m:r>
                      <m:r>
                        <m:t>)</m:t>
                      </m:r>
                      <m:r>
                        <m:t>=</m:t>
                      </m:r>
                      <m:r>
                        <m:t>max</m:t>
                      </m:r>
                      <m:r>
                        <m:t>(</m:t>
                      </m:r>
                      <m:r>
                        <m:t>ε</m:t>
                      </m:r>
                      <m:r>
                        <m:t>,</m:t>
                      </m:r>
                      <m:r>
                        <m:t>λ</m:t>
                      </m:r>
                      <m:r>
                        <m:t>[</m:t>
                      </m:r>
                      <m:r>
                        <m:t>1</m:t>
                      </m:r>
                      <m:r>
                        <m:t>-</m:t>
                      </m:r>
                      <m:r>
                        <m:t>cos</m:t>
                      </m:r>
                      <m:r>
                        <m:t>(</m:t>
                      </m:r>
                      <m:r>
                        <m:t>q</m:t>
                      </m:r>
                      <m:r>
                        <m:t>,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e</m:t>
                          </m:r>
                        </m:sub>
                      </m:sSub>
                      <m:r>
                        <m:t>)</m:t>
                      </m:r>
                      <m:r>
                        <m:t>]</m:t>
                      </m:r>
                      <m: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0CF3868-47C7-4439-BC95-B4214DAA62C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81925" y="3695700"/>
                <a:ext cx="3676650" cy="6000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263746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0" i="0">
                    <a:solidFill>
                      <a:srgbClr val="263746"/>
                    </a:solidFill>
                    <a:latin typeface="Arial"/>
                    <a:ea typeface="Arial"/>
                    <a:cs typeface="Arial"/>
                  </a:rPr>
                  <a:t>csem(e) = max(ε, λ[1 − cos(q,re)])</a:t>
                </a:r>
              </a:p>
            </p:txBody>
          </p:sp>
        </mc:Fallback>
      </mc:AlternateContent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0007323-A5F6-4E56-8888-FBB1BC66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14950"/>
            <a:ext cx="100012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1D79A3A-BCA3-4897-9D50-CD510D5E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Најкратките патеки гарантираат поврзаност до секој кандидат; PCST може да отфрли кандидат кога поврзувањето е прескапо.</a:t>
            </a:r>
          </a:p>
        </p:txBody>
      </p:sp>
    </p:spTree>
    <p:extLst>
      <p:ext uri="{BB962C8B-B14F-4D97-AF65-F5344CB8AC3E}">
        <p14:creationId xmlns:p14="http://schemas.microsoft.com/office/powerpoint/2010/main" val="11788406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93BDBA-A14F-4170-82A6-6F8E1D7D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доказниот контекст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294223-85A7-4740-9A38-38B43869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1F84B1-7965-4DC6-BD3E-29B7759E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528BF3F-120F-4C60-B36E-B2B2B19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Компактност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D44D4A8-C788-41F1-B500-B8BFF47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3162300"/>
          </a:xfrm>
          <a:prstGeom xmlns:a="http://schemas.openxmlformats.org/drawingml/2006/main" prst="roundRect">
            <a:avLst>
              <a:gd name="adj" fmla="val 421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06F7B49-16FB-46C5-91B7-7A7133E0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AverageTriples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708864-B23D-4CA0-8676-B5D42429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просечен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број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тројки</a:t>
            </a:r>
            <a:endParaRPr sz="1275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2271A5-0C71-465E-B702-1938A35C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ContextCandidateCoverage</a:t>
            </a:r>
            <a:endParaRPr sz="1425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9BAFF09-DAFE-48DA-840B-5A91D8C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удел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задржани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кандидати</a:t>
            </a:r>
            <a:endParaRPr sz="1275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7F2DE4-5C4E-4CE3-8E56-9725873A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CandidateReduction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8492749-515E-458B-9257-419C0526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процент отфрлени кандидати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9D069B-BB57-45AC-9749-823ADB1E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Зачувана информација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DEDEE46-3DC3-45D2-965D-9851C2A3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1430">
            <a:solidFill>
              <a:srgbClr val="4E9B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4" name="Rectangle 13">
                <a:extLst xmlns:a="http://schemas.openxmlformats.org/drawingml/2006/main">
                  <a:ext uri="{FF2B5EF4-FFF2-40B4-BE49-F238E27FC236}">
                    <a16:creationId xmlns:a16="http://schemas.microsoft.com/office/drawing/2014/main" id="{0FB3DEAD-1989-4618-A996-43F927C5861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05550" y="1685925"/>
                <a:ext cx="510540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nor/>
                          <m:sty m:val="p"/>
                        </m:rPr>
                        <m:t>ContextGoldCoverage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|</m:t>
                          </m:r>
                          <m:r>
                            <m:t>Q</m:t>
                          </m:r>
                          <m: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q</m:t>
                          </m:r>
                          <m:r>
                            <m:t>∈</m:t>
                          </m:r>
                          <m:r>
                            <m:t>Q</m:t>
                          </m:r>
                        </m:sub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|</m:t>
                              </m:r>
                              <m:sSub>
                                <m:e>
                                  <m:r>
                                    <m:t>G</m:t>
                                  </m:r>
                                </m:e>
                                <m:sub>
                                  <m:r>
                                    <m:t>q</m:t>
                                  </m:r>
                                </m:sub>
                              </m:sSub>
                              <m:r>
                                <m:t>∩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r>
                                    <m:t>q</m:t>
                                  </m:r>
                                </m:sub>
                              </m:sSub>
                              <m:r>
                                <m:t>|</m:t>
                              </m:r>
                            </m:num>
                            <m:den>
                              <m:r>
                                <m:t>|</m:t>
                              </m:r>
                              <m:sSub>
                                <m:e>
                                  <m:r>
                                    <m:t>G</m:t>
                                  </m:r>
                                </m:e>
                                <m:sub>
                                  <m:r>
                                    <m:t>q</m:t>
                                  </m:r>
                                </m:sub>
                              </m:sSub>
                              <m: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FB3DEAD-1989-4618-A996-43F927C586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05550" y="1685925"/>
                <a:ext cx="5105400" cy="762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1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ContextGoldCoverage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 = (1/|Q|) </a:t>
                </a:r>
                <a:r>
                  <a:rPr sz="1425" b="0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Σq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 |</a:t>
                </a:r>
                <a:r>
                  <a:rPr sz="1425" b="0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Gq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 ∩ </a:t>
                </a:r>
                <a:r>
                  <a:rPr sz="1425" b="0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Cq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| / |</a:t>
                </a:r>
                <a:r>
                  <a:rPr sz="1425" b="0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Gq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|</a:t>
                </a:r>
              </a:p>
            </p:txBody>
          </p:sp>
        </mc:Fallback>
      </mc:AlternateContent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7DDF38B-EA8E-4627-B71D-48B75158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33675"/>
            <a:ext cx="5334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1430">
            <a:solidFill>
              <a:srgbClr val="4E9B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6" name="Rectangle 15">
                <a:extLst xmlns:a="http://schemas.openxmlformats.org/drawingml/2006/main">
                  <a:ext uri="{FF2B5EF4-FFF2-40B4-BE49-F238E27FC236}">
                    <a16:creationId xmlns:a16="http://schemas.microsoft.com/office/drawing/2014/main" id="{DE9A8BB8-9D49-47DB-BC82-BCA199D4308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05550" y="2800350"/>
                <a:ext cx="510540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nor/>
                          <m:sty m:val="p"/>
                        </m:rPr>
                        <m:t>ContextFullGoldCoverage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|</m:t>
                          </m:r>
                          <m:r>
                            <m:t>Q</m:t>
                          </m:r>
                          <m: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q</m:t>
                          </m:r>
                          <m:r>
                            <m:t>∈</m:t>
                          </m:r>
                          <m:r>
                            <m:t>Q</m:t>
                          </m:r>
                        </m:sub>
                        <m:e>
                          <m:r>
                            <m:rPr>
                              <m:nor/>
                              <m:sty m:val="p"/>
                            </m:rPr>
                            <m:t>I</m:t>
                          </m:r>
                          <m:r>
                            <m:t>(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⊆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)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E9A8BB8-9D49-47DB-BC82-BCA199D430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05550" y="2800350"/>
                <a:ext cx="5105400" cy="762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425" b="0" i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1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ContextFullGoldCoverage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 = (1/|Q|) </a:t>
                </a:r>
                <a:r>
                  <a:rPr sz="1425" b="0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Σq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 𝕀(</a:t>
                </a:r>
                <a:r>
                  <a:rPr sz="1425" b="0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Gq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 ⊆ </a:t>
                </a:r>
                <a:r>
                  <a:rPr sz="1425" b="0" i="0" dirty="0" err="1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Cq</a:t>
                </a:r>
                <a:r>
                  <a:rPr sz="1425" b="0" i="0" dirty="0">
                    <a:solidFill>
                      <a:srgbClr val="4E9B69"/>
                    </a:solidFill>
                    <a:latin typeface="Arial"/>
                    <a:ea typeface="Arial"/>
                    <a:cs typeface="Arial"/>
                  </a:rPr>
                  <a:t>)</a:t>
                </a:r>
              </a:p>
            </p:txBody>
          </p:sp>
        </mc:Fallback>
      </mc:AlternateContent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2749C4-FB37-424E-97F2-107B14AB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Cq — ентитети присутни во тројките од доказниот контекст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0DBE70F-1C8C-405D-B9CC-AA358E9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CF7D9E8-AD3E-4654-9296-2E31B0D7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4352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Компактноста се оценува заедно со информацијата што останува достапна за јазичниот модел.</a:t>
            </a:r>
          </a:p>
        </p:txBody>
      </p:sp>
    </p:spTree>
    <p:extLst>
      <p:ext uri="{BB962C8B-B14F-4D97-AF65-F5344CB8AC3E}">
        <p14:creationId xmlns:p14="http://schemas.microsoft.com/office/powerpoint/2010/main" val="13831470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EDA72E-DC92-4A14-ABD7-FFD78CB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 и зачувување на точните одговори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2C463-FA36-4A26-B1F9-33D13D73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70FCC5-B80F-4869-BC82-1C27A2F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21b77708c43f9"/>
          <a:stretch xmlns:a="http://schemas.openxmlformats.org/drawingml/2006/main"/>
        </p:blipFill>
        <p:spPr>
          <a:xfrm xmlns:a="http://schemas.openxmlformats.org/drawingml/2006/main">
            <a:off x="342900" y="1068625"/>
            <a:ext cx="7239000" cy="4996976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970FB69-1DEA-4398-B61D-FA08BC1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7" y="2638425"/>
            <a:ext cx="3667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714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EF82E2-E87F-406B-90B4-298342FD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499" y="2995613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≈ 85%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442E009-49FF-4CED-ACD8-1EC7DFC1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1" y="3509963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помал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доказен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контекст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со</a:t>
            </a: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PCST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CE092B-7A5B-4FD8-AD94-A8D8757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00162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Просечен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број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тројки</a:t>
            </a:r>
            <a:endParaRPr sz="1500" b="1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4256D2-ED36-4D73-B79A-887C1D47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9737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94,47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402BD-8109-442F-A292-E7AC161D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66937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патеки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25DDDA6-C177-4E76-820D-690D6B17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09737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13,50–14,45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362CF92-4010-402E-91FF-AF75527C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66937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PCST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3BD3296-B5B9-48D1-BAC9-A543950A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577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DA28FBD-B2ED-4F5B-80BC-91AF81F1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Покриеноста се намалува минимално: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943580D-829D-4680-95ED-6E61AD06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96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ContextGoldCoverage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 0,888 → ≈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0,881</a:t>
            </a:r>
          </a:p>
          <a:p xmlns:a="http://schemas.openxmlformats.org/drawingml/2006/main">
            <a:pPr algn="ctr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ContextFullGoldCoverage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 0,838 → ≈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0,830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A8B5DB2-5D8E-430E-92DF-88F0F021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29300"/>
            <a:ext cx="357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Стратегијата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трошок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има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поголемо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влијание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од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промени</a:t>
            </a:r>
            <a:r>
              <a:rPr sz="12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те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λ</a:t>
            </a: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02881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A01D29D-9111-4E60-9564-30069BCB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конечниот одговор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4A934E-AE1F-4A5D-B14A-5E99C94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BB44C81-1537-46E2-A589-831F7BA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BF945A-81AE-4913-BE02-1298096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Квалитет на одговорот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8AAD01E-F090-4BF9-95BB-AD0F14DD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4288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4CC37F0-B9A4-4450-94F5-149BD99D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28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8D1C017-103C-42DB-9393-4065095C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24050"/>
            <a:ext cx="421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вратен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барем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еден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точен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одговор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54B7ABC-A030-4E86-AD76-B25C9C02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95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B31B75-29CB-49E4-AE64-CF5E0F30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90800"/>
            <a:ext cx="421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ExactMatch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целосно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совпаѓање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множествата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82A031F-3448-4442-8325-23FAF572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948E7FE-46A6-45B4-AADC-98E26C8A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57550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Precision · Recall · F1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—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квалитет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генерираното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множество</a:t>
            </a:r>
            <a:endParaRPr sz="135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27F998-8ACB-49FA-8FE8-13AF3A5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Искористување на контекстот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32C47A0-2BA1-4C98-B549-A1CC4005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2428875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4288">
            <a:solidFill>
              <a:srgbClr val="4E9B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71E8E00-1B49-4342-8EF5-3EB3347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145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FullContextCompleteAnswer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08435CD-C610-47B9-9C8A-E98BFA41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288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Контекстот ги содржи сите точни одговори и моделот ги враќа сите.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45FF87A-A883-417D-AF28-F79FBE31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813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FullContextLLMOmission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3B6E04-4DAD-4A39-AB6C-7EE92DE6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56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Контекстот е целосен, но моделот испушта најмалку еден точен одговор.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111BB8B-F315-4335-9521-F0D2247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572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1430">
            <a:solidFill>
              <a:srgbClr val="A9B4B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19" name="Rectangle 18">
                <a:extLst xmlns:a="http://schemas.openxmlformats.org/drawingml/2006/main">
                  <a:ext uri="{FF2B5EF4-FFF2-40B4-BE49-F238E27FC236}">
                    <a16:creationId xmlns:a16="http://schemas.microsoft.com/office/drawing/2014/main" id="{3565FFE0-BB95-4060-A3E9-DF782C23D71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24050" y="4619625"/>
                <a:ext cx="834390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38100" tIns="19050" rIns="38100" bIns="19050" anchor="ctr">
                <a:normAutofit fontScale="100000"/>
              </a:bodyPr>
              <a:lstStyle xmlns:a="http://schemas.openxmlformats.org/drawingml/2006/main"/>
              <a:p xmlns:a="http://schemas.openxmlformats.org/drawingml/2006/main">
                <a:pPr algn="ctr"/>
                <a14:m xmlns:a14="http://schemas.microsoft.com/office/drawing/2010/main"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nor/>
                          <m:sty m:val="p"/>
                        </m:rPr>
                        <m:t>LLMOmissionGivenFullContext</m:t>
                      </m:r>
                      <m: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#</m:t>
                          </m:r>
                          <m:r>
                            <m:t>{</m:t>
                          </m:r>
                          <m:r>
                            <m:t>q</m:t>
                          </m:r>
                          <m:r>
                            <m:t>: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⊆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∧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⊄</m:t>
                          </m:r>
                          <m:sSub>
                            <m:e>
                              <m:r>
                                <m:t>P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}</m:t>
                          </m:r>
                        </m:num>
                        <m:den>
                          <m:r>
                            <m:t>#</m:t>
                          </m:r>
                          <m:r>
                            <m:t>{</m:t>
                          </m:r>
                          <m:r>
                            <m:t>q</m:t>
                          </m:r>
                          <m:r>
                            <m:t>:</m:t>
                          </m:r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⊆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r>
                            <m:t>}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5FFE0-BB95-4060-A3E9-DF782C23D7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24050" y="4619625"/>
                <a:ext cx="8343900" cy="685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500" b="0" i="0">
                    <a:solidFill>
                      <a:srgbClr val="263746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63746"/>
                    </a:solidFill>
                    <a:latin typeface="Arial"/>
                    <a:ea typeface="Arial"/>
                    <a:cs typeface="Arial"/>
                  </a:rPr>
                  <a:t>LLMOmissionGivenFullContext = #{q: Gq⊆Cq ∧ Gq⊄Pq} / #{q: Gq⊆Cq}</a:t>
                </a:r>
              </a:p>
            </p:txBody>
          </p:sp>
        </mc:Fallback>
      </mc:AlternateContent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FE5266B-F406-40A0-B9DD-1615044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Метриката го изолира пропустот на јазичниот модел од загубата во претходните фази.</a:t>
            </a:r>
          </a:p>
        </p:txBody>
      </p:sp>
    </p:spTree>
    <p:extLst>
      <p:ext uri="{BB962C8B-B14F-4D97-AF65-F5344CB8AC3E}">
        <p14:creationId xmlns:p14="http://schemas.microsoft.com/office/powerpoint/2010/main" val="9452288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CFBA19-D509-4280-9129-639F8202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Квалитет и потрошувачка на токени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B885FE-F30F-4348-B3F7-29C6FF1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00464B-1275-4EBE-A25F-9B479A0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79434f03e464c"/>
          <a:stretch xmlns:a="http://schemas.openxmlformats.org/drawingml/2006/main"/>
        </p:blipFill>
        <p:spPr>
          <a:xfrm xmlns:a="http://schemas.openxmlformats.org/drawingml/2006/main">
            <a:off x="428625" y="1019864"/>
            <a:ext cx="11334750" cy="3522872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5ADEB02-BCB7-43E8-B0D6-0D9F36E8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191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4288">
            <a:solidFill>
              <a:srgbClr val="4F8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5A862D6-FE89-4C25-882F-9EF3599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339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Унија на најкратки патеки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98E3F20-FBB2-4B97-A316-90BA77C4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0,802 / 0,804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2F6321E-E6D2-425A-ABF0-9A809B10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 · DeepSeek / GPT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35A8276-40A7-43A8-AADB-1F6ECA2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0,627 / 0,613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2FC6AAA-37B0-4A76-93FD-7C09FC40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F1 · DeepSeek / GPT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2A9EF80-F130-41A9-B005-171851E2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3,42 / 3,07 M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741351D-F43E-4126-9334-46E72FE1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токени</a:t>
            </a: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· DeepSeek / GPT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63A3EB2-A9CF-49E0-A51A-F7925D4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191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FA5216A-839A-41F2-9FCD-6125BC3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Семантички PCST, λ=1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6E72E37-F983-4556-A1F6-1FF8872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0,689 / 0,728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09A0ABF-C1F3-46F4-9235-AF36E5F8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 · DeepSeek / GPT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F36BC57-7632-4D6D-BB6E-F8FD5407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0,492 / 0,477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6ABFF4D-F7E0-40FB-ABF0-8036F83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F1 · DeepSeek / GPT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EED459C-496A-43E6-936B-62CB172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05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0,69 / 0,66 M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E28770A-CC0E-4D04-97BB-70744DDD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626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токени</a:t>
            </a: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· 78–80% </a:t>
            </a: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помалку</a:t>
            </a:r>
            <a:endParaRPr sz="90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89406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ABAACA-A7A8-470E-B2A7-257FDC1A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Каде се губи информацијата?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1A01AF-5E90-4186-8B5A-5D7B908C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8CF4A9-3BA6-4262-AA76-D409909B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1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9679b2d0c45aa"/>
          <a:stretch xmlns:a="http://schemas.openxmlformats.org/drawingml/2006/main"/>
        </p:blipFill>
        <p:spPr>
          <a:xfrm xmlns:a="http://schemas.openxmlformats.org/drawingml/2006/main">
            <a:off x="333375" y="1006488"/>
            <a:ext cx="11525250" cy="413065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70C766-2E59-493B-80B6-E391F9D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0,877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9057453-0A05-4313-A079-1B090ED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RetrievalGoldCoverage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NBFNet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71800B-E6AE-40FC-AF17-25D547A8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0,888</a:t>
            </a: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 / </a:t>
            </a:r>
            <a:r>
              <a:rPr sz="21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0,88</a:t>
            </a:r>
            <a:r>
              <a:rPr sz="2100" b="1">
                <a:solidFill>
                  <a:srgbClr val="398D84"/>
                </a:solidFill>
                <a:latin typeface="Arial"/>
                <a:ea typeface="Arial"/>
                <a:cs typeface="Arial"/>
              </a:rPr>
              <a:t>1</a:t>
            </a:r>
            <a:endParaRPr sz="2100" b="1" i="0">
              <a:solidFill>
                <a:srgbClr val="398D8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A7BA6F-BFFF-4FA6-A9A9-7CE6FCB7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ContextGoldCoverage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патеки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>
                <a:solidFill>
                  <a:srgbClr val="617080"/>
                </a:solidFill>
                <a:latin typeface="Arial"/>
                <a:ea typeface="Arial"/>
                <a:cs typeface="Arial"/>
              </a:rPr>
              <a:t>·</a:t>
            </a:r>
            <a:r>
              <a:rPr sz="105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>
                <a:solidFill>
                  <a:srgbClr val="617080"/>
                </a:solidFill>
                <a:latin typeface="Arial"/>
                <a:ea typeface="Arial"/>
                <a:cs typeface="Arial"/>
              </a:rPr>
              <a:t>PCST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558D7E1-8FD7-4768-86F7-252A15D8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0,211 / 0,237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3F3F94-C352-4D74-A322-FBA2A7E8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LLM omission · DeepSeek / GPT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патеки</a:t>
            </a:r>
            <a:endParaRPr sz="1050" b="0" i="0">
              <a:solidFill>
                <a:srgbClr val="61708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E676485-5F60-4D5C-93A1-5097B34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≈ 0,477 / 0,477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F27C378-67A7-464B-B7C6-9E823382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483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LLM omission · DeepSeek / GPT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семантички</a:t>
            </a: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 PCST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EDC55F-9C63-4911-A16F-8764B237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341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906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Присуството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точниот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ентитет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не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е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доволно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—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потребни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јасни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релациски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тројки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што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поврзуваат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прашањето</a:t>
            </a: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0928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AE84ED9-AFAC-4C01-9B7D-EF8D644F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Заклучоци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04C07C-361B-4446-9C05-9AFC9CA1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B8FD3F-FD3A-4A1B-9348-A4EC49E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4DE2065-3D84-48D5-B11A-30D6A84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5240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7D4981A-2004-43BD-99D8-6B13CFE1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097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13DEDCE-B812-4408-BD7C-B6CA3591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742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369C11A-8981-4ACE-A35F-10495C05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144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NBFNet е најуспешен и најстабилен пребарувач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6F99CF1-4DDA-4023-960E-4FB092B4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621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Hits@10 = 0,921 ± 0,005 · nDCG@10 = 0,796 ± 0,007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0EE277D-C996-4F2D-ABA2-308E3B24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66800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5240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542A5DC-4869-4031-81C3-D5BA47A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D1B0BB-1E29-40C8-9B80-08CA84C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742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06EB2C-C4EB-4E65-9368-A6A1B52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33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Најкратките патеки го даваат највисокиот конечен квалитет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D787FD6-4D7B-414D-B4B5-8F488C01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813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Семантичкиот PCST создава ≈85% помал контекст и е подобар кога компактноста е приоритет.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708D3D0-2052-4CC6-9A8A-D14D23D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66800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5240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C8398315-35C0-4FFD-AA32-E75004A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5D062D3-55DB-4BF1-812D-8A802436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742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C8CFB49-306C-4627-B754-00A6AFC1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529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Изборот на LLM го менува балансот меѓу Hit и F1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09EC0A5-6FA9-43A1-AF05-978EA622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Главното тесно грло е искористувањето на достапниот релациски контекст.</a:t>
            </a:r>
          </a:p>
        </p:txBody>
      </p:sp>
    </p:spTree>
    <p:extLst>
      <p:ext uri="{BB962C8B-B14F-4D97-AF65-F5344CB8AC3E}">
        <p14:creationId xmlns:p14="http://schemas.microsoft.com/office/powerpoint/2010/main" val="3619397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934F354-E506-4DA2-A1F0-B0E95A0B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Идни подобрувања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53060B-6EBA-4B04-8950-332C41D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D383050-2B70-44C4-9EF9-375236E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86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b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CDB3A42-445D-4F06-942E-537E3DB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3286125" cy="3667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7145">
            <a:solidFill>
              <a:srgbClr val="398D8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940F77F-823C-49A4-B379-4CF4BDFE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954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D8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72327B-4FE8-4D00-9817-EDBBD4E8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Хибриден доказен подграф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599FE3-C193-461F-9FEE-E50176BB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95625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 на PCST со гарантирано зачувување на целосни и разбирливи патеки до најважните кандидати.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B2DBC6E-4577-4B7B-89A1-FEF4E3C5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3286125" cy="3667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7145">
            <a:solidFill>
              <a:srgbClr val="D9794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2250CC2-74EC-4B3B-8472-794533BF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98F9DE6-569B-467F-BBCA-F3AFCAE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47875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Заедничка оптимизација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43C6C3A-6DB5-41A2-820F-D33AFB7A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95625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Пребарувачот и конструкцијата на подграфот заеднички да учат кои патеки се најкорисни за јазичниот модел.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877418F-B27D-4C92-B337-F5E6626E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286125" cy="36671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ECF7"/>
          </a:solidFill>
          <a:ln xmlns:a="http://schemas.openxmlformats.org/drawingml/2006/main" w="17145">
            <a:solidFill>
              <a:srgbClr val="8064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F1E70AF-4395-4EA0-94B3-7A565B0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4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4EB6239-F772-4612-9346-5C02E968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Поширока евалуација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D3521BB-46E3-445C-A92D-5E7E2D2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261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Дополнителни податочни множества, подолги патеки на расудување, повеќе извршувања и други јазични модели.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75216AD-5F41-47AB-AE6B-AF920363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054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Целта е доказниот контекст истовремено да биде компактен и доволно јасен за јазичниот модел.</a:t>
            </a:r>
          </a:p>
        </p:txBody>
      </p:sp>
    </p:spTree>
    <p:extLst>
      <p:ext uri="{BB962C8B-B14F-4D97-AF65-F5344CB8AC3E}">
        <p14:creationId xmlns:p14="http://schemas.microsoft.com/office/powerpoint/2010/main" val="19083708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ACBFD7-60F2-4806-AE0C-479E3800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41B029-F14B-4208-A05E-9C715893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Ви благодарам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69CC65-6074-4014-BC9B-3E35E07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Прашања?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3CD4BE-9CE5-44E4-9129-AF745E7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C7E9DD-BD9D-4768-A1A1-E1CFA53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endParaRPr sz="1500" b="0" i="0">
              <a:solidFill>
                <a:srgbClr val="2637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D0CA7F-9C67-42A8-8095-A0751D35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github.com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/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Itonkdong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/</a:t>
            </a: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graphragx</a:t>
            </a:r>
            <a:endParaRPr sz="1275" b="0" i="0">
              <a:solidFill>
                <a:srgbClr val="4F86C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1978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2026-09-08T16:11:13.4990000Z</dcterms:created>
  <dcterms:modified xsi:type="dcterms:W3CDTF">2026-09-08T16:11:13.4990000Z</dcterms:modified>
</coreProperties>
</file>