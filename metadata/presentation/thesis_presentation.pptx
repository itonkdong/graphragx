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6C6"/>
    <a:srgbClr val="617080"/>
    <a:srgbClr val="2637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07"/>
    <p:restoredTop sz="70983"/>
  </p:normalViewPr>
  <p:slideViewPr>
    <p:cSldViewPr snapToGrid="0">
      <p:cViewPr varScale="1">
        <p:scale>
          <a:sx n="91" d="100"/>
          <a:sy n="91" d="100"/>
        </p:scale>
        <p:origin x="1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Да започнеме со едноставен пример. Прашањето е: „На кој континент се наоѓа Колосеумот?“</a:t>
            </a:r>
          </a:p>
          <a:p>
            <a:endParaRPr lang="mk-MK" dirty="0"/>
          </a:p>
          <a:p>
            <a:r>
              <a:rPr lang="mk-MK" dirty="0"/>
              <a:t>Во прашањето го препознаваме Колосеумот како почетен ентитет. Сепак, одговорот Европа не е непосредно поврзан со него. До него стигнуваме преку Рим и Италија. Локалниот граф содржи и други врски, како гранката кон италијанскиот јазик, кои не се потребни за конкретниот одговор.</a:t>
            </a:r>
          </a:p>
          <a:p>
            <a:endParaRPr lang="mk-MK" dirty="0"/>
          </a:p>
          <a:p>
            <a:r>
              <a:rPr lang="mk-MK" dirty="0"/>
              <a:t>Задачата на системот е да го пронајде точниот ентитет меѓу голем број можности и да ги зачува релациите што објаснуваат зошто тој е точниот одговор.</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Оваа дипломска се надоврзува на две важни насоки.</a:t>
            </a:r>
          </a:p>
          <a:p>
            <a:endParaRPr lang="mk-MK" dirty="0"/>
          </a:p>
          <a:p>
            <a:r>
              <a:rPr lang="en-US" dirty="0"/>
              <a:t>GNN-RAG </a:t>
            </a:r>
            <a:r>
              <a:rPr lang="mk-MK" dirty="0"/>
              <a:t>користи граф </a:t>
            </a:r>
            <a:r>
              <a:rPr lang="mk-MK" dirty="0" err="1"/>
              <a:t>невронска</a:t>
            </a:r>
            <a:r>
              <a:rPr lang="mk-MK" dirty="0"/>
              <a:t> мрежа за рангирање на ентитетите, а потоа ги користи најкратките патеки како доказен контекст за јазичниот модел.</a:t>
            </a:r>
          </a:p>
          <a:p>
            <a:endParaRPr lang="mk-MK" dirty="0"/>
          </a:p>
          <a:p>
            <a:r>
              <a:rPr lang="en-US" dirty="0"/>
              <a:t>G-Retriever, </a:t>
            </a:r>
            <a:r>
              <a:rPr lang="mk-MK" dirty="0"/>
              <a:t>од друга страна, користи </a:t>
            </a:r>
            <a:r>
              <a:rPr lang="en-US" dirty="0"/>
              <a:t>PCST </a:t>
            </a:r>
            <a:r>
              <a:rPr lang="mk-MK" dirty="0"/>
              <a:t>за избор на покомпактен подграф.</a:t>
            </a:r>
          </a:p>
          <a:p>
            <a:endParaRPr lang="mk-MK" dirty="0"/>
          </a:p>
          <a:p>
            <a:r>
              <a:rPr lang="mk-MK" dirty="0"/>
              <a:t>Сепак, недостига контролирана споредба во која различни архитектури за пребарување, стратегии за конструкција на докази и јазични модели се оценуваат во иста рамка. Токму тоа е просторот што го испитува оваа дипломска.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Системот е организиран во три главни фази.</a:t>
            </a:r>
          </a:p>
          <a:p>
            <a:endParaRPr lang="mk-MK" dirty="0"/>
          </a:p>
          <a:p>
            <a:r>
              <a:rPr lang="mk-MK" dirty="0"/>
              <a:t>Најпрво, граф </a:t>
            </a:r>
            <a:r>
              <a:rPr lang="mk-MK" dirty="0" err="1"/>
              <a:t>невронската</a:t>
            </a:r>
            <a:r>
              <a:rPr lang="mk-MK" dirty="0"/>
              <a:t> мрежа го обработува локалниот граф и ги рангира ентитетите според веројатноста да бидат одговори. Потоа, од избраните ентитети-кандидати се конструира доказен подграф преку најкратки патеки или </a:t>
            </a:r>
            <a:r>
              <a:rPr lang="en-US" dirty="0"/>
              <a:t>PCST. </a:t>
            </a:r>
            <a:r>
              <a:rPr lang="mk-MK" dirty="0"/>
              <a:t>На крај, </a:t>
            </a:r>
            <a:r>
              <a:rPr lang="mk-MK" dirty="0" err="1"/>
              <a:t>подграфот</a:t>
            </a:r>
            <a:r>
              <a:rPr lang="mk-MK" dirty="0"/>
              <a:t> се </a:t>
            </a:r>
            <a:r>
              <a:rPr lang="mk-MK" dirty="0" err="1"/>
              <a:t>текстуализира</a:t>
            </a:r>
            <a:r>
              <a:rPr lang="mk-MK" dirty="0"/>
              <a:t> и се доставува до јазичниот модел, кој го генерира конечниот одговор.</a:t>
            </a:r>
          </a:p>
          <a:p>
            <a:endParaRPr lang="mk-MK" dirty="0"/>
          </a:p>
          <a:p>
            <a:r>
              <a:rPr lang="mk-MK" dirty="0" err="1"/>
              <a:t>Метриките</a:t>
            </a:r>
            <a:r>
              <a:rPr lang="mk-MK" dirty="0"/>
              <a:t> се следат одделно во секоја фаза. На тој начин можеме да утврдиме дали информацијата се губи при пребарувањето, при конструкцијата на контекстот или при генерирањето.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Експериментите се организирани околу три истражувачки прашања.</a:t>
            </a:r>
          </a:p>
          <a:p>
            <a:endParaRPr lang="mk-MK" dirty="0"/>
          </a:p>
          <a:p>
            <a:r>
              <a:rPr lang="mk-MK" dirty="0"/>
              <a:t>Првото е како изборот на </a:t>
            </a:r>
            <a:r>
              <a:rPr lang="en-US" dirty="0"/>
              <a:t>GNN-</a:t>
            </a:r>
            <a:r>
              <a:rPr lang="mk-MK" dirty="0"/>
              <a:t>архитектура влијае врз рангирањето и покриеноста на точните одговори.</a:t>
            </a:r>
          </a:p>
          <a:p>
            <a:endParaRPr lang="mk-MK" dirty="0"/>
          </a:p>
          <a:p>
            <a:r>
              <a:rPr lang="mk-MK" dirty="0"/>
              <a:t>Второто е колку може да се намали доказниот подграф без да се изгубат релевантните информации.</a:t>
            </a:r>
          </a:p>
          <a:p>
            <a:endParaRPr lang="mk-MK" dirty="0"/>
          </a:p>
          <a:p>
            <a:r>
              <a:rPr lang="mk-MK" dirty="0"/>
              <a:t>Третото е како изборот на јазичен модел влијае врз конечната точност и врз искористувањето на информациите што веќе се присутни во контекстот.</a:t>
            </a:r>
          </a:p>
          <a:p>
            <a:endParaRPr lang="mk-MK" dirty="0"/>
          </a:p>
          <a:p>
            <a:r>
              <a:rPr lang="mk-MK" dirty="0"/>
              <a:t>На овие три прашања ќе се вратам во заклучокот.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Евалуацијата е направена врз </a:t>
            </a:r>
            <a:r>
              <a:rPr lang="en-US" dirty="0" err="1"/>
              <a:t>WebQuestionsSP</a:t>
            </a:r>
            <a:r>
              <a:rPr lang="en-US" dirty="0"/>
              <a:t>, </a:t>
            </a:r>
            <a:r>
              <a:rPr lang="mk-MK" dirty="0"/>
              <a:t>односно </a:t>
            </a:r>
            <a:r>
              <a:rPr lang="en-US" dirty="0" err="1"/>
              <a:t>WebQSP</a:t>
            </a:r>
            <a:r>
              <a:rPr lang="en-US" dirty="0"/>
              <a:t>. </a:t>
            </a:r>
            <a:r>
              <a:rPr lang="mk-MK" dirty="0"/>
              <a:t>Податочното множество содржи прашања на природен јазик поврзани со ентитети и релации од </a:t>
            </a:r>
            <a:r>
              <a:rPr lang="en-US" dirty="0"/>
              <a:t>Freebase.</a:t>
            </a:r>
          </a:p>
          <a:p>
            <a:endParaRPr lang="en-US" dirty="0"/>
          </a:p>
          <a:p>
            <a:r>
              <a:rPr lang="mk-MK" dirty="0"/>
              <a:t>Користени се 2.848 примероци за тренирање, 250 за валидација и 1.639 за тестирање. </a:t>
            </a:r>
            <a:r>
              <a:rPr lang="mk-MK" dirty="0" err="1"/>
              <a:t>Валидациското</a:t>
            </a:r>
            <a:r>
              <a:rPr lang="mk-MK" dirty="0"/>
              <a:t> и тест-множеството се обединети за конечната евалуација.</a:t>
            </a:r>
          </a:p>
          <a:p>
            <a:endParaRPr lang="mk-MK" dirty="0"/>
          </a:p>
          <a:p>
            <a:r>
              <a:rPr lang="mk-MK" dirty="0"/>
              <a:t>Секоја архитектура е извршена со три почетни вредности: 42, 1337 и 2026. Се користи праг од 0,7, со најмалку 10 и најмногу 15 ентитети-кандидати. Со задржување на иста постапка за сите модели, споредбата го изолира влијанието на самата архитектура.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Споредени се шест архитектури, распоредени според нивната главна идеја.</a:t>
            </a:r>
          </a:p>
          <a:p>
            <a:endParaRPr lang="mk-MK" dirty="0"/>
          </a:p>
          <a:p>
            <a:r>
              <a:rPr lang="en-US" dirty="0" err="1"/>
              <a:t>GraphSAGE</a:t>
            </a:r>
            <a:r>
              <a:rPr lang="en-US" dirty="0"/>
              <a:t> </a:t>
            </a:r>
            <a:r>
              <a:rPr lang="mk-MK" dirty="0"/>
              <a:t>се заснова на </a:t>
            </a:r>
            <a:r>
              <a:rPr lang="mk-MK" dirty="0" err="1"/>
              <a:t>агрегација</a:t>
            </a:r>
            <a:r>
              <a:rPr lang="mk-MK" dirty="0"/>
              <a:t> на соседството. </a:t>
            </a:r>
            <a:r>
              <a:rPr lang="en-US" dirty="0"/>
              <a:t>Advance </a:t>
            </a:r>
            <a:r>
              <a:rPr lang="en-US" dirty="0" err="1"/>
              <a:t>GraphSAGE</a:t>
            </a:r>
            <a:r>
              <a:rPr lang="en-US" dirty="0"/>
              <a:t>, R-GCN </a:t>
            </a:r>
            <a:r>
              <a:rPr lang="mk-MK" dirty="0"/>
              <a:t>и </a:t>
            </a:r>
            <a:r>
              <a:rPr lang="en-US" dirty="0"/>
              <a:t>HGT </a:t>
            </a:r>
            <a:r>
              <a:rPr lang="mk-MK" dirty="0"/>
              <a:t>подетално ги моделираат типовите на релациите. </a:t>
            </a:r>
            <a:r>
              <a:rPr lang="en-US" dirty="0" err="1"/>
              <a:t>ReaRev</a:t>
            </a:r>
            <a:r>
              <a:rPr lang="en-US" dirty="0"/>
              <a:t> </a:t>
            </a:r>
            <a:r>
              <a:rPr lang="mk-MK" dirty="0"/>
              <a:t>и </a:t>
            </a:r>
            <a:r>
              <a:rPr lang="en-US" dirty="0" err="1"/>
              <a:t>NBFNet</a:t>
            </a:r>
            <a:r>
              <a:rPr lang="en-US" dirty="0"/>
              <a:t> </a:t>
            </a:r>
            <a:r>
              <a:rPr lang="mk-MK" dirty="0"/>
              <a:t>се насочени кон </a:t>
            </a:r>
            <a:r>
              <a:rPr lang="mk-MK" dirty="0" err="1"/>
              <a:t>повеќечекорно</a:t>
            </a:r>
            <a:r>
              <a:rPr lang="mk-MK" dirty="0"/>
              <a:t> расудување условено од прашањето.</a:t>
            </a:r>
          </a:p>
          <a:p>
            <a:endParaRPr lang="mk-MK" dirty="0"/>
          </a:p>
          <a:p>
            <a:r>
              <a:rPr lang="mk-MK" dirty="0"/>
              <a:t>Сите архитектури се приспособени на истата задача: на секој јазол да му доделат веројатност дека претставува можен одговор.</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GraphSAGE</a:t>
            </a:r>
            <a:r>
              <a:rPr lang="en-US" dirty="0"/>
              <a:t> </a:t>
            </a:r>
            <a:r>
              <a:rPr lang="mk-MK" dirty="0"/>
              <a:t>ги создава репрезентациите на јазлите преку </a:t>
            </a:r>
            <a:r>
              <a:rPr lang="mk-MK" dirty="0" err="1"/>
              <a:t>агрегација</a:t>
            </a:r>
            <a:r>
              <a:rPr lang="mk-MK" dirty="0"/>
              <a:t> на информациите од нивните соседи. Во нашата варијанта, пораките по рабовите се пондерираат според </a:t>
            </a:r>
            <a:r>
              <a:rPr lang="mk-MK" dirty="0" err="1"/>
              <a:t>косинусната</a:t>
            </a:r>
            <a:r>
              <a:rPr lang="mk-MK" dirty="0"/>
              <a:t> сличност меѓу прашањето и релацијата.</a:t>
            </a:r>
          </a:p>
          <a:p>
            <a:endParaRPr lang="mk-MK" dirty="0"/>
          </a:p>
          <a:p>
            <a:r>
              <a:rPr lang="en-US" dirty="0"/>
              <a:t>Advance </a:t>
            </a:r>
            <a:r>
              <a:rPr lang="en-US" dirty="0" err="1"/>
              <a:t>GraphSAGE</a:t>
            </a:r>
            <a:r>
              <a:rPr lang="en-US" dirty="0"/>
              <a:t> </a:t>
            </a:r>
            <a:r>
              <a:rPr lang="mk-MK" dirty="0"/>
              <a:t>го заменува ова фиксно пондерирање со научен </a:t>
            </a:r>
            <a:r>
              <a:rPr lang="en-US" dirty="0"/>
              <a:t>gate. </a:t>
            </a:r>
            <a:r>
              <a:rPr lang="mk-MK" dirty="0"/>
              <a:t>Тој ја комбинира репрезентацијата на прашањето со репрезентацијата на релацијата и учи колкаво влијание треба да има конкретната врска.</a:t>
            </a:r>
          </a:p>
          <a:p>
            <a:endParaRPr lang="mk-MK" dirty="0"/>
          </a:p>
          <a:p>
            <a:r>
              <a:rPr lang="mk-MK" dirty="0"/>
              <a:t>Дополнително се користат обратни рабови, резидуални врски, нормализација и класификатор условен од прашањето. Значи, главниот премин е од фиксна семантичка сличност кон научено пондерирање за конкретното прашање.</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R-GCN </a:t>
            </a:r>
            <a:r>
              <a:rPr lang="mk-MK" dirty="0"/>
              <a:t>и </a:t>
            </a:r>
            <a:r>
              <a:rPr lang="en-US" dirty="0"/>
              <a:t>HGT </a:t>
            </a:r>
            <a:r>
              <a:rPr lang="mk-MK" dirty="0"/>
              <a:t>ја задржуваат </a:t>
            </a:r>
            <a:r>
              <a:rPr lang="mk-MK" dirty="0" err="1"/>
              <a:t>релациската</a:t>
            </a:r>
            <a:r>
              <a:rPr lang="mk-MK" dirty="0"/>
              <a:t> структура, но ја моделираат на различен начин.</a:t>
            </a:r>
          </a:p>
          <a:p>
            <a:endParaRPr lang="mk-MK" dirty="0"/>
          </a:p>
          <a:p>
            <a:r>
              <a:rPr lang="mk-MK" dirty="0"/>
              <a:t>Кај </a:t>
            </a:r>
            <a:r>
              <a:rPr lang="en-US" dirty="0"/>
              <a:t>R-GCN, </a:t>
            </a:r>
            <a:r>
              <a:rPr lang="mk-MK" dirty="0"/>
              <a:t>секој тип релација има сопствена трансформација. Пораките што пристигнуваат преку различни релации затоа не се обработуваат идентично. Базната декомпозиција го ограничува бројот параметри.</a:t>
            </a:r>
          </a:p>
          <a:p>
            <a:endParaRPr lang="mk-MK" dirty="0"/>
          </a:p>
          <a:p>
            <a:r>
              <a:rPr lang="en-US" dirty="0"/>
              <a:t>HGT </a:t>
            </a:r>
            <a:r>
              <a:rPr lang="mk-MK" dirty="0"/>
              <a:t>наместо тоа користи </a:t>
            </a:r>
            <a:r>
              <a:rPr lang="mk-MK" dirty="0" err="1"/>
              <a:t>релациски</a:t>
            </a:r>
            <a:r>
              <a:rPr lang="mk-MK" dirty="0"/>
              <a:t> зависен </a:t>
            </a:r>
            <a:r>
              <a:rPr lang="en-US" dirty="0"/>
              <a:t>attention. </a:t>
            </a:r>
            <a:r>
              <a:rPr lang="mk-MK" dirty="0"/>
              <a:t>Моделот учи кои соседи и релации треба да имаат поголемо влијание врз ажурирањето на јазолот.</a:t>
            </a:r>
          </a:p>
          <a:p>
            <a:endParaRPr lang="mk-MK" dirty="0"/>
          </a:p>
          <a:p>
            <a:r>
              <a:rPr lang="mk-MK" dirty="0"/>
              <a:t>Во системот, двете архитектури се приспособени да произведуваат директни оценки за ентитетите-кандидати.</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ReaRev</a:t>
            </a:r>
            <a:r>
              <a:rPr lang="en-US" dirty="0"/>
              <a:t> </a:t>
            </a:r>
            <a:r>
              <a:rPr lang="mk-MK" dirty="0"/>
              <a:t>воведува приспособлив циклус на расудување.</a:t>
            </a:r>
          </a:p>
          <a:p>
            <a:endParaRPr lang="mk-MK" dirty="0"/>
          </a:p>
          <a:p>
            <a:r>
              <a:rPr lang="mk-MK" dirty="0"/>
              <a:t>Од прашањето најпрво се извлекуваат повеќе инструкции, насочени кон различни негови делови. Овие инструкции го контролираат преносот на пораки низ графот. Собраната информација потоа се користи за ревизија на инструкциите пред следната итерација.</a:t>
            </a:r>
          </a:p>
          <a:p>
            <a:endParaRPr lang="mk-MK" dirty="0"/>
          </a:p>
          <a:p>
            <a:r>
              <a:rPr lang="mk-MK" dirty="0"/>
              <a:t>Во формулата, веројатноста на почетниот јазол, релацијата и тековната инструкција заеднички ја определуваат пораката.</a:t>
            </a:r>
          </a:p>
          <a:p>
            <a:endParaRPr lang="mk-MK" dirty="0"/>
          </a:p>
          <a:p>
            <a:r>
              <a:rPr lang="mk-MK" dirty="0"/>
              <a:t>Главната идеја е дека моделот не мора да го толкува прашањето на ист начин во сите чекори. Тој може да го менува својот фокус според информацијата што веќе ја открил.</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NBFNet</a:t>
            </a:r>
            <a:r>
              <a:rPr lang="en-US" dirty="0"/>
              <a:t> </a:t>
            </a:r>
            <a:r>
              <a:rPr lang="mk-MK" dirty="0"/>
              <a:t>може да се разбере како научена варијанта на алгоритамот </a:t>
            </a:r>
            <a:r>
              <a:rPr lang="en-US" dirty="0"/>
              <a:t>Bellman–Ford.</a:t>
            </a:r>
          </a:p>
          <a:p>
            <a:endParaRPr lang="en-US" dirty="0"/>
          </a:p>
          <a:p>
            <a:r>
              <a:rPr lang="mk-MK" dirty="0"/>
              <a:t>Репрезентацијата на прашањето прво се поставува во почетните ентитети, додека другите јазли започнуваат од нулта состојба. Потоа информацијата се пренесува по различни </a:t>
            </a:r>
            <a:r>
              <a:rPr lang="mk-MK" dirty="0" err="1"/>
              <a:t>релациски</a:t>
            </a:r>
            <a:r>
              <a:rPr lang="mk-MK" dirty="0"/>
              <a:t> патеки.</a:t>
            </a:r>
          </a:p>
          <a:p>
            <a:endParaRPr lang="mk-MK" dirty="0"/>
          </a:p>
          <a:p>
            <a:r>
              <a:rPr lang="mk-MK" dirty="0"/>
              <a:t>За разлика од класичната верзија на </a:t>
            </a:r>
            <a:r>
              <a:rPr lang="en-US" dirty="0" err="1"/>
              <a:t>NBFNet</a:t>
            </a:r>
            <a:r>
              <a:rPr lang="en-US" dirty="0"/>
              <a:t>, </a:t>
            </a:r>
            <a:r>
              <a:rPr lang="mk-MK" dirty="0"/>
              <a:t>познатата релација од задачата за предвидување врски е заменета со репрезентација на </a:t>
            </a:r>
            <a:r>
              <a:rPr lang="mk-MK" dirty="0" err="1"/>
              <a:t>природнојазичното</a:t>
            </a:r>
            <a:r>
              <a:rPr lang="mk-MK" dirty="0"/>
              <a:t> прашање. Поддржани се и повеќе почетни ентитети.</a:t>
            </a:r>
          </a:p>
          <a:p>
            <a:endParaRPr lang="mk-MK" dirty="0"/>
          </a:p>
          <a:p>
            <a:r>
              <a:rPr lang="mk-MK" dirty="0"/>
              <a:t>Затоа, конечната репрезентација на кандидатот опишува како тој може да се достигне преку патеки релевантни за прашањето.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Квалитетот на пребарувањето се оценува од два аспекта.</a:t>
            </a:r>
          </a:p>
          <a:p>
            <a:endParaRPr lang="mk-MK" dirty="0"/>
          </a:p>
          <a:p>
            <a:r>
              <a:rPr lang="en-US" dirty="0"/>
              <a:t>Hits@1 </a:t>
            </a:r>
            <a:r>
              <a:rPr lang="mk-MK" dirty="0"/>
              <a:t>и </a:t>
            </a:r>
            <a:r>
              <a:rPr lang="en-US" dirty="0"/>
              <a:t>Hits@10 </a:t>
            </a:r>
            <a:r>
              <a:rPr lang="mk-MK" dirty="0"/>
              <a:t>покажуваат дали барем еден точен одговор се наоѓа меѓу првите еден или десет кандидати. </a:t>
            </a:r>
            <a:r>
              <a:rPr lang="en-US" dirty="0"/>
              <a:t>nDCG@10 </a:t>
            </a:r>
            <a:r>
              <a:rPr lang="mk-MK" dirty="0"/>
              <a:t>дополнително ја зема предвид позицијата на точните одговори и нивниот број.</a:t>
            </a:r>
          </a:p>
          <a:p>
            <a:endParaRPr lang="mk-MK" dirty="0"/>
          </a:p>
          <a:p>
            <a:r>
              <a:rPr lang="en-US" dirty="0" err="1"/>
              <a:t>RetrievalGoldCoverage</a:t>
            </a:r>
            <a:r>
              <a:rPr lang="en-US" dirty="0"/>
              <a:t> </a:t>
            </a:r>
            <a:r>
              <a:rPr lang="mk-MK" dirty="0"/>
              <a:t>го мери просечниот удел на пронајдени точни одговори. </a:t>
            </a:r>
            <a:r>
              <a:rPr lang="en-US" dirty="0" err="1"/>
              <a:t>RetrievalFullGoldCoverage</a:t>
            </a:r>
            <a:r>
              <a:rPr lang="en-US" dirty="0"/>
              <a:t> </a:t>
            </a:r>
            <a:r>
              <a:rPr lang="mk-MK" dirty="0"/>
              <a:t>е построга метрика и бара да бидат пронајдени сите точни одговори за прашањето.</a:t>
            </a:r>
          </a:p>
          <a:p>
            <a:endParaRPr lang="mk-MK" dirty="0"/>
          </a:p>
          <a:p>
            <a:r>
              <a:rPr lang="mk-MK" dirty="0"/>
              <a:t>На пример, ако се пронајдат два од три точни одговори, покриеноста е две третини, но примерокот не се смета за целосно покриен.</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NBFNet</a:t>
            </a:r>
            <a:r>
              <a:rPr lang="en-US" dirty="0"/>
              <a:t> </a:t>
            </a:r>
            <a:r>
              <a:rPr lang="mk-MK" dirty="0"/>
              <a:t>постигнува најдобар резултат кај секоја главна метрика.</a:t>
            </a:r>
          </a:p>
          <a:p>
            <a:endParaRPr lang="mk-MK" dirty="0"/>
          </a:p>
          <a:p>
            <a:r>
              <a:rPr lang="en-US" dirty="0"/>
              <a:t>Hits@1 </a:t>
            </a:r>
            <a:r>
              <a:rPr lang="mk-MK" dirty="0"/>
              <a:t>изнесува 0,692, </a:t>
            </a:r>
            <a:r>
              <a:rPr lang="en-US" dirty="0"/>
              <a:t>Hits@10 </a:t>
            </a:r>
            <a:r>
              <a:rPr lang="mk-MK" dirty="0"/>
              <a:t>е 0,921, а </a:t>
            </a:r>
            <a:r>
              <a:rPr lang="en-US" dirty="0"/>
              <a:t>nDCG@10 </a:t>
            </a:r>
            <a:r>
              <a:rPr lang="mk-MK" dirty="0"/>
              <a:t>е 0,796. </a:t>
            </a:r>
            <a:r>
              <a:rPr lang="en-US" dirty="0" err="1"/>
              <a:t>RetrievalGoldCoverage</a:t>
            </a:r>
            <a:r>
              <a:rPr lang="en-US" dirty="0"/>
              <a:t> </a:t>
            </a:r>
            <a:r>
              <a:rPr lang="mk-MK" dirty="0"/>
              <a:t>достигнува 0,877, додека целосната покриеност е 0,827. Малите стандардни девијации покажуваат дека резултатите се стабилни меѓу трите извршувања.</a:t>
            </a:r>
          </a:p>
          <a:p>
            <a:endParaRPr lang="mk-MK" dirty="0"/>
          </a:p>
          <a:p>
            <a:r>
              <a:rPr lang="en-US" dirty="0" err="1"/>
              <a:t>ReaRev</a:t>
            </a:r>
            <a:r>
              <a:rPr lang="en-US" dirty="0"/>
              <a:t> </a:t>
            </a:r>
            <a:r>
              <a:rPr lang="mk-MK" dirty="0"/>
              <a:t>е второрангиран, но покажува поголема варијабилност. </a:t>
            </a:r>
            <a:r>
              <a:rPr lang="en-US" dirty="0"/>
              <a:t>Advance </a:t>
            </a:r>
            <a:r>
              <a:rPr lang="en-US" dirty="0" err="1"/>
              <a:t>GraphSAGE</a:t>
            </a:r>
            <a:r>
              <a:rPr lang="en-US" dirty="0"/>
              <a:t>, </a:t>
            </a:r>
            <a:r>
              <a:rPr lang="mk-MK" dirty="0"/>
              <a:t>иако не е најдобар, значително го надминува основниот </a:t>
            </a:r>
            <a:r>
              <a:rPr lang="en-US" dirty="0" err="1"/>
              <a:t>GraphSAGE</a:t>
            </a:r>
            <a:r>
              <a:rPr lang="en-US" dirty="0"/>
              <a:t>. </a:t>
            </a:r>
            <a:r>
              <a:rPr lang="mk-MK" dirty="0"/>
              <a:t>Во практичните извршувања се тренира и многу брзо, па нуди добар однос меѓу едноставноста и резултатите.</a:t>
            </a:r>
          </a:p>
          <a:p>
            <a:endParaRPr lang="mk-MK" dirty="0"/>
          </a:p>
          <a:p>
            <a:r>
              <a:rPr lang="mk-MK" dirty="0"/>
              <a:t>Овие резултати покажуваат дека условувањето со прашањето и експлицитното моделирање на </a:t>
            </a:r>
            <a:r>
              <a:rPr lang="mk-MK" dirty="0" err="1"/>
              <a:t>релациските</a:t>
            </a:r>
            <a:r>
              <a:rPr lang="mk-MK" dirty="0"/>
              <a:t> патеки се особено корисни за оваа задача.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Откако ќе се изберат кандидатите, треба да се конструира доказниот контекст.</a:t>
            </a:r>
          </a:p>
          <a:p>
            <a:endParaRPr lang="mk-MK" dirty="0"/>
          </a:p>
          <a:p>
            <a:r>
              <a:rPr lang="mk-MK" dirty="0"/>
              <a:t>Првиот пристап ја зема унијата на најкратките патеки од почетните ентитети до секој достижен кандидат. Така се гарантира поврзаност до кандидатите, но унијата може да содржи многу дополнителни тројки.</a:t>
            </a:r>
          </a:p>
          <a:p>
            <a:endParaRPr lang="mk-MK" dirty="0"/>
          </a:p>
          <a:p>
            <a:r>
              <a:rPr lang="en-US" dirty="0"/>
              <a:t>PCST </a:t>
            </a:r>
            <a:r>
              <a:rPr lang="mk-MK" dirty="0"/>
              <a:t>го формулира изборот како рамнотежа меѓу наградите на јазлите и трошоците на рабовите. </a:t>
            </a:r>
            <a:r>
              <a:rPr lang="mk-MK" dirty="0" err="1"/>
              <a:t>Високорангираните</a:t>
            </a:r>
            <a:r>
              <a:rPr lang="mk-MK" dirty="0"/>
              <a:t> кандидати имаат поголеми награди, но кандидат може да биде отфрлен ако неговото поврзување е прескапо.</a:t>
            </a:r>
          </a:p>
          <a:p>
            <a:endParaRPr lang="mk-MK" dirty="0"/>
          </a:p>
          <a:p>
            <a:r>
              <a:rPr lang="mk-MK" dirty="0"/>
              <a:t>Разгледани се константен трошок и семантички трошок, кај кој релациите послични на прашањето се поевтини.</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Кај доказниот контекст не е доволно да се измери само неговата големина.</a:t>
            </a:r>
          </a:p>
          <a:p>
            <a:endParaRPr lang="mk-MK" dirty="0"/>
          </a:p>
          <a:p>
            <a:r>
              <a:rPr lang="en-US" dirty="0" err="1"/>
              <a:t>AverageTriples</a:t>
            </a:r>
            <a:r>
              <a:rPr lang="en-US" dirty="0"/>
              <a:t> </a:t>
            </a:r>
            <a:r>
              <a:rPr lang="mk-MK" dirty="0"/>
              <a:t>го мери просечниот број тројки. </a:t>
            </a:r>
            <a:r>
              <a:rPr lang="en-US" dirty="0" err="1"/>
              <a:t>ContextCandidateCoverage</a:t>
            </a:r>
            <a:r>
              <a:rPr lang="en-US" dirty="0"/>
              <a:t> </a:t>
            </a:r>
            <a:r>
              <a:rPr lang="mk-MK" dirty="0"/>
              <a:t>покажува колкав дел од </a:t>
            </a:r>
            <a:r>
              <a:rPr lang="mk-MK" dirty="0" err="1"/>
              <a:t>пребараните</a:t>
            </a:r>
            <a:r>
              <a:rPr lang="mk-MK" dirty="0"/>
              <a:t> кандидати останале присутни, а </a:t>
            </a:r>
            <a:r>
              <a:rPr lang="en-US" dirty="0" err="1"/>
              <a:t>CandidateReduction</a:t>
            </a:r>
            <a:r>
              <a:rPr lang="en-US" dirty="0"/>
              <a:t> </a:t>
            </a:r>
            <a:r>
              <a:rPr lang="mk-MK" dirty="0"/>
              <a:t>колкав дел бил отфрлен.</a:t>
            </a:r>
          </a:p>
          <a:p>
            <a:endParaRPr lang="mk-MK" dirty="0"/>
          </a:p>
          <a:p>
            <a:r>
              <a:rPr lang="en-US" dirty="0" err="1"/>
              <a:t>ContextGoldCoverage</a:t>
            </a:r>
            <a:r>
              <a:rPr lang="en-US" dirty="0"/>
              <a:t> </a:t>
            </a:r>
            <a:r>
              <a:rPr lang="mk-MK" dirty="0"/>
              <a:t>го мери уделот на точните одговори што останале достапни во контекстот. </a:t>
            </a:r>
            <a:r>
              <a:rPr lang="en-US" dirty="0" err="1"/>
              <a:t>ContextFullGoldCoverage</a:t>
            </a:r>
            <a:r>
              <a:rPr lang="en-US" dirty="0"/>
              <a:t> </a:t>
            </a:r>
            <a:r>
              <a:rPr lang="mk-MK" dirty="0"/>
              <a:t>бара контекстот да ги содржи сите точни одговори.</a:t>
            </a:r>
          </a:p>
          <a:p>
            <a:endParaRPr lang="mk-MK" dirty="0"/>
          </a:p>
          <a:p>
            <a:r>
              <a:rPr lang="mk-MK" dirty="0"/>
              <a:t>Според тоа, компактноста секогаш се разгледува заедно со зачуваната информација. Мал подграф не е корисен ако ги отстрани доказите потребни за одговорот.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Разликата во големината на контекстот е значителна.</a:t>
            </a:r>
          </a:p>
          <a:p>
            <a:endParaRPr lang="mk-MK" dirty="0"/>
          </a:p>
          <a:p>
            <a:r>
              <a:rPr lang="mk-MK" dirty="0"/>
              <a:t>Унијата на најкратки патеки содржи просечно 94,47 тројки. </a:t>
            </a:r>
            <a:r>
              <a:rPr lang="en-US" dirty="0"/>
              <a:t>PCST-</a:t>
            </a:r>
            <a:r>
              <a:rPr lang="mk-MK" dirty="0"/>
              <a:t>конфигурациите содржат само околу 13,5 до 14,5 тројки. Тоа претставува намалување од приближно 85 проценти.</a:t>
            </a:r>
          </a:p>
          <a:p>
            <a:endParaRPr lang="mk-MK" dirty="0"/>
          </a:p>
          <a:p>
            <a:r>
              <a:rPr lang="mk-MK" dirty="0"/>
              <a:t>Наспроти ова големо намалување, покриеноста на точните одговори се менува многу малку. </a:t>
            </a:r>
            <a:r>
              <a:rPr lang="en-US" dirty="0" err="1"/>
              <a:t>ContextGoldCoverage</a:t>
            </a:r>
            <a:r>
              <a:rPr lang="en-US" dirty="0"/>
              <a:t> </a:t>
            </a:r>
            <a:r>
              <a:rPr lang="mk-MK" dirty="0"/>
              <a:t>се намалува од 0,888 на приближно 0,881, а целосната покриеност од 0,838 на околу 0,830.</a:t>
            </a:r>
          </a:p>
          <a:p>
            <a:endParaRPr lang="mk-MK" dirty="0"/>
          </a:p>
          <a:p>
            <a:r>
              <a:rPr lang="mk-MK" dirty="0"/>
              <a:t>Промените на параметарот ламбда имаат ограничено влијание во најголем дел од </a:t>
            </a:r>
            <a:r>
              <a:rPr lang="mk-MK" dirty="0" err="1"/>
              <a:t>испитаниот</a:t>
            </a:r>
            <a:r>
              <a:rPr lang="mk-MK" dirty="0"/>
              <a:t> интервал. Поголемо влијание има изборот меѓу константен и семантички трошок. </a:t>
            </a:r>
            <a:r>
              <a:rPr lang="mk-MK" dirty="0" err="1"/>
              <a:t>Семантичката</a:t>
            </a:r>
            <a:r>
              <a:rPr lang="mk-MK" dirty="0"/>
              <a:t> варијанта подобро ги зачувува кандидатите при повисок трошок.</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Конечниот одговор се оценува преку </a:t>
            </a:r>
            <a:r>
              <a:rPr lang="en-US" dirty="0"/>
              <a:t>Hit, </a:t>
            </a:r>
            <a:r>
              <a:rPr lang="en-US" dirty="0" err="1"/>
              <a:t>ExactMatch</a:t>
            </a:r>
            <a:r>
              <a:rPr lang="en-US" dirty="0"/>
              <a:t>, Precision, Recall </a:t>
            </a:r>
            <a:r>
              <a:rPr lang="mk-MK" dirty="0"/>
              <a:t>и </a:t>
            </a:r>
            <a:r>
              <a:rPr lang="en-US" dirty="0"/>
              <a:t>F1.</a:t>
            </a:r>
          </a:p>
          <a:p>
            <a:endParaRPr lang="en-US" dirty="0"/>
          </a:p>
          <a:p>
            <a:r>
              <a:rPr lang="en-US" dirty="0"/>
              <a:t>Hit </a:t>
            </a:r>
            <a:r>
              <a:rPr lang="mk-MK" dirty="0"/>
              <a:t>бара моделот да врати барем еден точен одговор. </a:t>
            </a:r>
            <a:r>
              <a:rPr lang="en-US" dirty="0" err="1"/>
              <a:t>ExactMatch</a:t>
            </a:r>
            <a:r>
              <a:rPr lang="en-US" dirty="0"/>
              <a:t> </a:t>
            </a:r>
            <a:r>
              <a:rPr lang="mk-MK" dirty="0"/>
              <a:t>бара целосно совпаѓање меѓу предвиденото и точното множество, додека </a:t>
            </a:r>
            <a:r>
              <a:rPr lang="en-US" dirty="0"/>
              <a:t>Precision, Recall </a:t>
            </a:r>
            <a:r>
              <a:rPr lang="mk-MK" dirty="0"/>
              <a:t>и </a:t>
            </a:r>
            <a:r>
              <a:rPr lang="en-US" dirty="0"/>
              <a:t>F1 </a:t>
            </a:r>
            <a:r>
              <a:rPr lang="mk-MK" dirty="0"/>
              <a:t>го оценуваат квалитетот на целото </a:t>
            </a:r>
            <a:r>
              <a:rPr lang="mk-MK" dirty="0" err="1"/>
              <a:t>генерирано</a:t>
            </a:r>
            <a:r>
              <a:rPr lang="mk-MK" dirty="0"/>
              <a:t> множество.</a:t>
            </a:r>
          </a:p>
          <a:p>
            <a:endParaRPr lang="mk-MK" dirty="0"/>
          </a:p>
          <a:p>
            <a:r>
              <a:rPr lang="mk-MK" dirty="0"/>
              <a:t>Дополнително го следиме искористувањето на контекстот. </a:t>
            </a:r>
            <a:r>
              <a:rPr lang="en-US" dirty="0" err="1"/>
              <a:t>FullContextCompleteAnswer</a:t>
            </a:r>
            <a:r>
              <a:rPr lang="en-US" dirty="0"/>
              <a:t> </a:t>
            </a:r>
            <a:r>
              <a:rPr lang="mk-MK" dirty="0"/>
              <a:t>означува дека контекстот и одговорот се целосни. </a:t>
            </a:r>
            <a:r>
              <a:rPr lang="en-US" dirty="0" err="1"/>
              <a:t>FullContextLLMOmission</a:t>
            </a:r>
            <a:r>
              <a:rPr lang="en-US" dirty="0"/>
              <a:t> </a:t>
            </a:r>
            <a:r>
              <a:rPr lang="mk-MK" dirty="0"/>
              <a:t>означува дека контекстот ги содржел сите точни одговори, но моделот испуштил најмалку еден.</a:t>
            </a:r>
          </a:p>
          <a:p>
            <a:endParaRPr lang="mk-MK" dirty="0"/>
          </a:p>
          <a:p>
            <a:r>
              <a:rPr lang="en-US" dirty="0" err="1"/>
              <a:t>LLMOmissionGivenFullContext</a:t>
            </a:r>
            <a:r>
              <a:rPr lang="en-US" dirty="0"/>
              <a:t> </a:t>
            </a:r>
            <a:r>
              <a:rPr lang="mk-MK" dirty="0"/>
              <a:t>го мери уделот на ваквите пропусти само кај прашањата со целосен контекст. Така не го казнуваме јазичниот модел за информација што претходните фази не му ја доставиле.</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Со најкратките патеки двата јазични модели постигнуваат речиси идентичен </a:t>
            </a:r>
            <a:r>
              <a:rPr lang="en-US" dirty="0"/>
              <a:t>Hit: 0,802 </a:t>
            </a:r>
            <a:r>
              <a:rPr lang="mk-MK" dirty="0"/>
              <a:t>кај </a:t>
            </a:r>
            <a:r>
              <a:rPr lang="en-US" dirty="0"/>
              <a:t>DeepSeek </a:t>
            </a:r>
            <a:r>
              <a:rPr lang="mk-MK" dirty="0"/>
              <a:t>и 0,804 кај </a:t>
            </a:r>
            <a:r>
              <a:rPr lang="en-US" dirty="0"/>
              <a:t>GPT. DeepSeek </a:t>
            </a:r>
            <a:r>
              <a:rPr lang="mk-MK" dirty="0"/>
              <a:t>има повисок </a:t>
            </a:r>
            <a:r>
              <a:rPr lang="en-US" dirty="0"/>
              <a:t>F1, </a:t>
            </a:r>
            <a:r>
              <a:rPr lang="mk-MK" dirty="0"/>
              <a:t>односно 0,627 наспроти 0,613.</a:t>
            </a:r>
          </a:p>
          <a:p>
            <a:endParaRPr lang="mk-MK" dirty="0"/>
          </a:p>
          <a:p>
            <a:r>
              <a:rPr lang="mk-MK" dirty="0"/>
              <a:t>Цената на овој квалитет е поголем контекст: околу 3,42 милиони </a:t>
            </a:r>
            <a:r>
              <a:rPr lang="mk-MK" dirty="0" err="1"/>
              <a:t>токени</a:t>
            </a:r>
            <a:r>
              <a:rPr lang="mk-MK" dirty="0"/>
              <a:t> кај </a:t>
            </a:r>
            <a:r>
              <a:rPr lang="en-US" dirty="0"/>
              <a:t>DeepSeek </a:t>
            </a:r>
            <a:r>
              <a:rPr lang="mk-MK" dirty="0"/>
              <a:t>и 3,07 милиони кај </a:t>
            </a:r>
            <a:r>
              <a:rPr lang="en-US" dirty="0"/>
              <a:t>GPT.</a:t>
            </a:r>
          </a:p>
          <a:p>
            <a:endParaRPr lang="en-US" dirty="0"/>
          </a:p>
          <a:p>
            <a:r>
              <a:rPr lang="mk-MK" dirty="0"/>
              <a:t>Со семантички </a:t>
            </a:r>
            <a:r>
              <a:rPr lang="en-US" dirty="0"/>
              <a:t>PCST </a:t>
            </a:r>
            <a:r>
              <a:rPr lang="mk-MK" dirty="0"/>
              <a:t>и ламбда една, бројот </a:t>
            </a:r>
            <a:r>
              <a:rPr lang="mk-MK" dirty="0" err="1"/>
              <a:t>токени</a:t>
            </a:r>
            <a:r>
              <a:rPr lang="mk-MK" dirty="0"/>
              <a:t> се намалува на околу 0,69 и 0,66 милиони. Тоа е намалување од приближно 78 до 80 проценти. Истовремено, </a:t>
            </a:r>
            <a:r>
              <a:rPr lang="en-US" dirty="0"/>
              <a:t>Hit </a:t>
            </a:r>
            <a:r>
              <a:rPr lang="mk-MK" dirty="0"/>
              <a:t>се намалува на 0,689 кај </a:t>
            </a:r>
            <a:r>
              <a:rPr lang="en-US" dirty="0"/>
              <a:t>DeepSeek </a:t>
            </a:r>
            <a:r>
              <a:rPr lang="mk-MK" dirty="0"/>
              <a:t>и 0,728 кај </a:t>
            </a:r>
            <a:r>
              <a:rPr lang="en-US" dirty="0"/>
              <a:t>GPT.</a:t>
            </a:r>
          </a:p>
          <a:p>
            <a:endParaRPr lang="en-US" dirty="0"/>
          </a:p>
          <a:p>
            <a:r>
              <a:rPr lang="mk-MK" dirty="0"/>
              <a:t>Затоа, најкратките патеки го даваат највисокиот квалитет, додека семантичкиот </a:t>
            </a:r>
            <a:r>
              <a:rPr lang="en-US" dirty="0"/>
              <a:t>PCST </a:t>
            </a:r>
            <a:r>
              <a:rPr lang="mk-MK" dirty="0"/>
              <a:t>нуди подобар компромис кога компактноста и трошокот се приоритет.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Ова е централната анализа на целиот систем.</a:t>
            </a:r>
          </a:p>
          <a:p>
            <a:endParaRPr lang="mk-MK" dirty="0"/>
          </a:p>
          <a:p>
            <a:r>
              <a:rPr lang="en-US" dirty="0" err="1"/>
              <a:t>NBFNet</a:t>
            </a:r>
            <a:r>
              <a:rPr lang="en-US" dirty="0"/>
              <a:t> </a:t>
            </a:r>
            <a:r>
              <a:rPr lang="mk-MK" dirty="0"/>
              <a:t>постигнува </a:t>
            </a:r>
            <a:r>
              <a:rPr lang="en-US" dirty="0" err="1"/>
              <a:t>RetrievalGoldCoverage</a:t>
            </a:r>
            <a:r>
              <a:rPr lang="en-US" dirty="0"/>
              <a:t> </a:t>
            </a:r>
            <a:r>
              <a:rPr lang="mk-MK" dirty="0"/>
              <a:t>од 0,877. По конструкцијата со најкратки патеки, </a:t>
            </a:r>
            <a:r>
              <a:rPr lang="en-US" dirty="0" err="1"/>
              <a:t>ContextGoldCoverage</a:t>
            </a:r>
            <a:r>
              <a:rPr lang="en-US" dirty="0"/>
              <a:t> </a:t>
            </a:r>
            <a:r>
              <a:rPr lang="mk-MK" dirty="0"/>
              <a:t>е дури малку повисок, 0,888. Причината е што точен ентитет може да се појави како посреден јазол во патеката иако не бил директно избран како кандидат.</a:t>
            </a:r>
          </a:p>
          <a:p>
            <a:endParaRPr lang="mk-MK" dirty="0"/>
          </a:p>
          <a:p>
            <a:r>
              <a:rPr lang="mk-MK" dirty="0"/>
              <a:t>Сепак, присуството на точниот ентитет не гарантира дека јазичниот модел ќе го врати. Со најкратките патеки, условната стапка на испуштање е 0,211 кај </a:t>
            </a:r>
            <a:r>
              <a:rPr lang="en-US" dirty="0"/>
              <a:t>DeepSeek </a:t>
            </a:r>
            <a:r>
              <a:rPr lang="mk-MK" dirty="0"/>
              <a:t>и 0,237 кај </a:t>
            </a:r>
            <a:r>
              <a:rPr lang="en-US" dirty="0"/>
              <a:t>GPT. </a:t>
            </a:r>
            <a:r>
              <a:rPr lang="mk-MK" dirty="0"/>
              <a:t>Со семантички </a:t>
            </a:r>
            <a:r>
              <a:rPr lang="en-US" dirty="0"/>
              <a:t>PCST </a:t>
            </a:r>
            <a:r>
              <a:rPr lang="mk-MK" dirty="0"/>
              <a:t>таа се зголемува на приближно 0,477 кај двата модела.</a:t>
            </a:r>
          </a:p>
          <a:p>
            <a:endParaRPr lang="mk-MK" dirty="0"/>
          </a:p>
          <a:p>
            <a:r>
              <a:rPr lang="mk-MK" dirty="0"/>
              <a:t>Ова укажува дека компресијата може да зачува ентитет, но да отстрани </a:t>
            </a:r>
            <a:r>
              <a:rPr lang="mk-MK" dirty="0" err="1"/>
              <a:t>релациски</a:t>
            </a:r>
            <a:r>
              <a:rPr lang="mk-MK" dirty="0"/>
              <a:t> тројки што ја прават неговата врска со прашањето јасна. Главниот проблем затоа не е само присуството на одговорот, туку и употребливоста на доказите околу него.</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Од резултатите може да се издвојат три главни заклучоци.</a:t>
            </a:r>
          </a:p>
          <a:p>
            <a:endParaRPr lang="mk-MK" dirty="0"/>
          </a:p>
          <a:p>
            <a:r>
              <a:rPr lang="en-US" dirty="0" err="1"/>
              <a:t>NBFNet</a:t>
            </a:r>
            <a:r>
              <a:rPr lang="en-US" dirty="0"/>
              <a:t> </a:t>
            </a:r>
            <a:r>
              <a:rPr lang="mk-MK" dirty="0"/>
              <a:t>е најуспешната и </a:t>
            </a:r>
            <a:r>
              <a:rPr lang="mk-MK" dirty="0" err="1"/>
              <a:t>најстабилната</a:t>
            </a:r>
            <a:r>
              <a:rPr lang="mk-MK" dirty="0"/>
              <a:t> архитектура за пребарување. Нејзината предност произлегува од директното моделирање на </a:t>
            </a:r>
            <a:r>
              <a:rPr lang="mk-MK" dirty="0" err="1"/>
              <a:t>релациски</a:t>
            </a:r>
            <a:r>
              <a:rPr lang="mk-MK" dirty="0"/>
              <a:t> патеки условени од прашањето.</a:t>
            </a:r>
          </a:p>
          <a:p>
            <a:endParaRPr lang="mk-MK" dirty="0"/>
          </a:p>
          <a:p>
            <a:r>
              <a:rPr lang="mk-MK" dirty="0"/>
              <a:t>Кај доказниот подграф, најкратките патеки го даваат највисокиот конечен квалитет. Семантичкиот </a:t>
            </a:r>
            <a:r>
              <a:rPr lang="en-US" dirty="0"/>
              <a:t>PCST </a:t>
            </a:r>
            <a:r>
              <a:rPr lang="mk-MK" dirty="0"/>
              <a:t>создава приближно 85 проценти помал контекст и е подобар избор кога компактноста и потрошувачката се поважни.</a:t>
            </a:r>
          </a:p>
          <a:p>
            <a:endParaRPr lang="mk-MK" dirty="0"/>
          </a:p>
          <a:p>
            <a:r>
              <a:rPr lang="mk-MK" dirty="0"/>
              <a:t>Изборот на јазичен модел го менува балансот меѓу </a:t>
            </a:r>
            <a:r>
              <a:rPr lang="en-US" dirty="0"/>
              <a:t>Hit </a:t>
            </a:r>
            <a:r>
              <a:rPr lang="mk-MK" dirty="0"/>
              <a:t>и </a:t>
            </a:r>
            <a:r>
              <a:rPr lang="en-US" dirty="0"/>
              <a:t>F1, </a:t>
            </a:r>
            <a:r>
              <a:rPr lang="mk-MK" dirty="0"/>
              <a:t>но разликата меѓу моделите е помала од влијанието на доказниот контекст.</a:t>
            </a:r>
          </a:p>
          <a:p>
            <a:endParaRPr lang="mk-MK" dirty="0"/>
          </a:p>
          <a:p>
            <a:r>
              <a:rPr lang="mk-MK" dirty="0"/>
              <a:t>Главниот заклучок е дека успешното одговарање не зависи само од </a:t>
            </a:r>
            <a:r>
              <a:rPr lang="mk-MK" dirty="0" err="1"/>
              <a:t>пронаоѓањето</a:t>
            </a:r>
            <a:r>
              <a:rPr lang="mk-MK" dirty="0"/>
              <a:t> на точниот ентитет. Потребно е да се зачуваат и правилно да се искористат релациите што објаснуваат зошто тој ентитет е одговорот.</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mk-MK" dirty="0"/>
              <a:t>Како идна насока, најинтересна е хибридна конструкција на доказниот подграф. Таа би ја задржала компактноста на </a:t>
            </a:r>
            <a:r>
              <a:rPr lang="en-US" dirty="0"/>
              <a:t>PCST, </a:t>
            </a:r>
            <a:r>
              <a:rPr lang="mk-MK" dirty="0"/>
              <a:t>но би гарантирала целосни и разбирливи патеки до најважните кандидати.</a:t>
            </a:r>
          </a:p>
          <a:p>
            <a:endParaRPr lang="mk-MK" dirty="0"/>
          </a:p>
          <a:p>
            <a:r>
              <a:rPr lang="mk-MK" dirty="0"/>
              <a:t>Дополнително, пребарувачот и конструкцијата на </a:t>
            </a:r>
            <a:r>
              <a:rPr lang="mk-MK" dirty="0" err="1"/>
              <a:t>подграфот</a:t>
            </a:r>
            <a:r>
              <a:rPr lang="mk-MK" dirty="0"/>
              <a:t> би можеле заеднички да учат кои патеки се најкорисни за јазичниот модел.</a:t>
            </a:r>
          </a:p>
          <a:p>
            <a:endParaRPr lang="mk-MK" dirty="0"/>
          </a:p>
          <a:p>
            <a:r>
              <a:rPr lang="mk-MK" dirty="0"/>
              <a:t>Поширока евалуација врз други податочни множества, подолги патеки и дополнителни јазични модели би покажала колку добро заклучоците се пренесуваат надвор од </a:t>
            </a:r>
            <a:r>
              <a:rPr lang="en-US" dirty="0" err="1"/>
              <a:t>WebQSP</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6389AF-E398-4865-B3A1-73701CBAD7E1}"/>
              </a:ext>
            </a:extLst>
          </p:cNvPr>
          <p:cNvSpPr>
            <a:spLocks noGrp="1"/>
          </p:cNvSpPr>
          <p:nvPr/>
        </p:nvSpPr>
        <p:spPr>
          <a:xfrm>
            <a:off x="762000" y="457200"/>
            <a:ext cx="10668000" cy="30480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Универзитет</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Св</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Кирил</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Методиј</a:t>
            </a:r>
            <a:r>
              <a:rPr sz="1200" b="0" i="0" dirty="0">
                <a:solidFill>
                  <a:srgbClr val="617080"/>
                </a:solidFill>
                <a:latin typeface="Arial"/>
                <a:ea typeface="Arial"/>
                <a:cs typeface="Arial"/>
              </a:rPr>
              <a:t>“</a:t>
            </a:r>
            <a:r>
              <a:rPr lang="mk-MK" sz="1200" b="0" i="0" dirty="0">
                <a:solidFill>
                  <a:srgbClr val="617080"/>
                </a:solidFill>
                <a:latin typeface="Arial"/>
                <a:ea typeface="Arial"/>
                <a:cs typeface="Arial"/>
              </a:rPr>
              <a:t> - </a:t>
            </a:r>
            <a:r>
              <a:rPr sz="1200" b="0" i="0" dirty="0" err="1">
                <a:solidFill>
                  <a:srgbClr val="617080"/>
                </a:solidFill>
                <a:latin typeface="Arial"/>
                <a:ea typeface="Arial"/>
                <a:cs typeface="Arial"/>
              </a:rPr>
              <a:t>Скопје</a:t>
            </a:r>
            <a:endParaRPr sz="1200" b="0" i="0" dirty="0">
              <a:solidFill>
                <a:srgbClr val="617080"/>
              </a:solidFill>
              <a:latin typeface="Arial"/>
              <a:ea typeface="Arial"/>
              <a:cs typeface="Arial"/>
            </a:endParaRPr>
          </a:p>
        </p:txBody>
      </p:sp>
      <p:sp>
        <p:nvSpPr>
          <p:cNvPr id="2" name="Rectangle 1">
            <a:extLst>
              <a:ext uri="{FF2B5EF4-FFF2-40B4-BE49-F238E27FC236}">
                <a16:creationId xmlns:a16="http://schemas.microsoft.com/office/drawing/2014/main" id="{DB1B371A-8F62-439C-A1DE-138615320F83}"/>
              </a:ext>
            </a:extLst>
          </p:cNvPr>
          <p:cNvSpPr>
            <a:spLocks noGrp="1"/>
          </p:cNvSpPr>
          <p:nvPr/>
        </p:nvSpPr>
        <p:spPr>
          <a:xfrm>
            <a:off x="762000" y="752475"/>
            <a:ext cx="10668000" cy="323850"/>
          </a:xfrm>
          <a:prstGeom prst="rect">
            <a:avLst/>
          </a:prstGeom>
          <a:noFill/>
          <a:ln w="0">
            <a:noFill/>
            <a:prstDash val="solid"/>
          </a:ln>
        </p:spPr>
        <p:txBody>
          <a:bodyPr wrap="square" lIns="38100" tIns="19050" rIns="38100" bIns="19050" anchor="ctr">
            <a:normAutofit/>
          </a:bodyPr>
          <a:lstStyle/>
          <a:p>
            <a:pPr algn="ctr">
              <a:defRPr sz="1275" b="1" i="0">
                <a:solidFill>
                  <a:srgbClr val="263746"/>
                </a:solidFill>
                <a:latin typeface="Arial"/>
                <a:ea typeface="Arial"/>
                <a:cs typeface="Arial"/>
              </a:defRPr>
            </a:pPr>
            <a:r>
              <a:rPr sz="1275" b="1" i="0">
                <a:solidFill>
                  <a:srgbClr val="263746"/>
                </a:solidFill>
                <a:latin typeface="Arial"/>
                <a:ea typeface="Arial"/>
                <a:cs typeface="Arial"/>
              </a:rPr>
              <a:t>Факултет за информатички науки и компјутерско инженерство</a:t>
            </a:r>
          </a:p>
        </p:txBody>
      </p:sp>
      <p:sp>
        <p:nvSpPr>
          <p:cNvPr id="3" name="Rectangle 2">
            <a:extLst>
              <a:ext uri="{FF2B5EF4-FFF2-40B4-BE49-F238E27FC236}">
                <a16:creationId xmlns:a16="http://schemas.microsoft.com/office/drawing/2014/main" id="{0C5E962A-2F16-4EDE-8E73-AAF2FC51C097}"/>
              </a:ext>
            </a:extLst>
          </p:cNvPr>
          <p:cNvSpPr>
            <a:spLocks noGrp="1"/>
          </p:cNvSpPr>
          <p:nvPr/>
        </p:nvSpPr>
        <p:spPr>
          <a:xfrm>
            <a:off x="3143250" y="1257300"/>
            <a:ext cx="5905500" cy="47625"/>
          </a:xfrm>
          <a:prstGeom prst="rect">
            <a:avLst/>
          </a:prstGeom>
          <a:solidFill>
            <a:srgbClr val="4F86C6"/>
          </a:solidFill>
          <a:ln w="0">
            <a:noFill/>
            <a:prstDash val="solid"/>
          </a:ln>
        </p:spPr>
        <p:txBody>
          <a:bodyPr/>
          <a:lstStyle/>
          <a:p>
            <a:endParaRPr lang="en-US"/>
          </a:p>
        </p:txBody>
      </p:sp>
      <p:sp>
        <p:nvSpPr>
          <p:cNvPr id="4" name="Rectangle 3">
            <a:extLst>
              <a:ext uri="{FF2B5EF4-FFF2-40B4-BE49-F238E27FC236}">
                <a16:creationId xmlns:a16="http://schemas.microsoft.com/office/drawing/2014/main" id="{6371A606-1B5F-4767-A3AF-C477C0DBB232}"/>
              </a:ext>
            </a:extLst>
          </p:cNvPr>
          <p:cNvSpPr>
            <a:spLocks noGrp="1"/>
          </p:cNvSpPr>
          <p:nvPr/>
        </p:nvSpPr>
        <p:spPr>
          <a:xfrm>
            <a:off x="1095375" y="1752600"/>
            <a:ext cx="10001250" cy="2019300"/>
          </a:xfrm>
          <a:prstGeom prst="rect">
            <a:avLst/>
          </a:prstGeom>
          <a:noFill/>
          <a:ln w="0">
            <a:noFill/>
            <a:prstDash val="solid"/>
          </a:ln>
        </p:spPr>
        <p:txBody>
          <a:bodyPr wrap="square" lIns="38100" tIns="19050" rIns="38100" bIns="19050" anchor="ctr">
            <a:normAutofit/>
          </a:bodyPr>
          <a:lstStyle/>
          <a:p>
            <a:pPr algn="ctr">
              <a:defRPr sz="2625" b="1" i="0">
                <a:solidFill>
                  <a:srgbClr val="263746"/>
                </a:solidFill>
                <a:latin typeface="Arial"/>
                <a:ea typeface="Arial"/>
                <a:cs typeface="Arial"/>
              </a:defRPr>
            </a:pPr>
            <a:r>
              <a:rPr lang="mk-MK" sz="2625" b="1" i="0" noProof="0" dirty="0">
                <a:solidFill>
                  <a:srgbClr val="263746"/>
                </a:solidFill>
                <a:latin typeface="Arial"/>
                <a:ea typeface="Arial"/>
                <a:cs typeface="Arial"/>
              </a:rPr>
              <a:t>Напредни архитектури на граф невронски мрежи за пребарување и расудување над графови при одговарање на прашања над графови на знаење</a:t>
            </a:r>
          </a:p>
        </p:txBody>
      </p:sp>
      <p:sp>
        <p:nvSpPr>
          <p:cNvPr id="7" name="Rectangle 6">
            <a:extLst>
              <a:ext uri="{FF2B5EF4-FFF2-40B4-BE49-F238E27FC236}">
                <a16:creationId xmlns:a16="http://schemas.microsoft.com/office/drawing/2014/main" id="{D3546335-4866-42CE-81A2-7F4C99F4E654}"/>
              </a:ext>
            </a:extLst>
          </p:cNvPr>
          <p:cNvSpPr>
            <a:spLocks noGrp="1"/>
          </p:cNvSpPr>
          <p:nvPr/>
        </p:nvSpPr>
        <p:spPr>
          <a:xfrm>
            <a:off x="1047750" y="4953000"/>
            <a:ext cx="4762500" cy="361950"/>
          </a:xfrm>
          <a:prstGeom prst="rect">
            <a:avLst/>
          </a:prstGeom>
          <a:noFill/>
          <a:ln w="0">
            <a:noFill/>
            <a:prstDash val="solid"/>
          </a:ln>
        </p:spPr>
        <p:txBody>
          <a:bodyPr wrap="square" lIns="38100" tIns="19050" rIns="38100" bIns="19050" anchor="ctr">
            <a:normAutofit/>
          </a:bodyPr>
          <a:lstStyle/>
          <a:p>
            <a:pPr>
              <a:defRPr sz="1575" b="1" i="0">
                <a:solidFill>
                  <a:srgbClr val="263746"/>
                </a:solidFill>
                <a:latin typeface="Arial"/>
                <a:ea typeface="Arial"/>
                <a:cs typeface="Arial"/>
              </a:defRPr>
            </a:pPr>
            <a:r>
              <a:rPr lang="mk-MK" sz="1575" b="1" dirty="0">
                <a:solidFill>
                  <a:srgbClr val="263746"/>
                </a:solidFill>
                <a:latin typeface="Arial"/>
                <a:ea typeface="Arial"/>
                <a:cs typeface="Arial"/>
              </a:rPr>
              <a:t>Ментор: проф. д-р Соња Гиевска</a:t>
            </a:r>
          </a:p>
        </p:txBody>
      </p:sp>
      <p:sp>
        <p:nvSpPr>
          <p:cNvPr id="8" name="Rectangle 7">
            <a:extLst>
              <a:ext uri="{FF2B5EF4-FFF2-40B4-BE49-F238E27FC236}">
                <a16:creationId xmlns:a16="http://schemas.microsoft.com/office/drawing/2014/main" id="{A0089A6C-A514-418A-859B-4DB4D713029F}"/>
              </a:ext>
            </a:extLst>
          </p:cNvPr>
          <p:cNvSpPr>
            <a:spLocks noGrp="1"/>
          </p:cNvSpPr>
          <p:nvPr/>
        </p:nvSpPr>
        <p:spPr>
          <a:xfrm>
            <a:off x="6381750" y="4953000"/>
            <a:ext cx="4762500" cy="361950"/>
          </a:xfrm>
          <a:prstGeom prst="rect">
            <a:avLst/>
          </a:prstGeom>
          <a:noFill/>
          <a:ln w="0">
            <a:noFill/>
            <a:prstDash val="solid"/>
          </a:ln>
        </p:spPr>
        <p:txBody>
          <a:bodyPr wrap="square" lIns="38100" tIns="19050" rIns="38100" bIns="19050" anchor="ctr">
            <a:normAutofit/>
          </a:bodyPr>
          <a:lstStyle/>
          <a:p>
            <a:pPr algn="r">
              <a:defRPr sz="1575" b="1" i="0">
                <a:solidFill>
                  <a:srgbClr val="263746"/>
                </a:solidFill>
                <a:latin typeface="Arial"/>
                <a:ea typeface="Arial"/>
                <a:cs typeface="Arial"/>
              </a:defRPr>
            </a:pPr>
            <a:r>
              <a:rPr lang="mk-MK" sz="1575" b="1" dirty="0">
                <a:solidFill>
                  <a:srgbClr val="263746"/>
                </a:solidFill>
                <a:latin typeface="Arial"/>
                <a:ea typeface="Arial"/>
                <a:cs typeface="Arial"/>
              </a:rPr>
              <a:t>Виктор Костадиноски · 226009</a:t>
            </a:r>
          </a:p>
        </p:txBody>
      </p:sp>
      <p:sp>
        <p:nvSpPr>
          <p:cNvPr id="9" name="Rectangle 8">
            <a:extLst>
              <a:ext uri="{FF2B5EF4-FFF2-40B4-BE49-F238E27FC236}">
                <a16:creationId xmlns:a16="http://schemas.microsoft.com/office/drawing/2014/main" id="{200896EC-DE7B-4E1D-A622-9F1FAEEE9481}"/>
              </a:ext>
            </a:extLst>
          </p:cNvPr>
          <p:cNvSpPr>
            <a:spLocks noGrp="1"/>
          </p:cNvSpPr>
          <p:nvPr/>
        </p:nvSpPr>
        <p:spPr>
          <a:xfrm>
            <a:off x="1047750" y="5619750"/>
            <a:ext cx="10096500" cy="14288"/>
          </a:xfrm>
          <a:prstGeom prst="rect">
            <a:avLst/>
          </a:prstGeom>
          <a:solidFill>
            <a:srgbClr val="A9B4BE"/>
          </a:solidFill>
          <a:ln w="0">
            <a:noFill/>
            <a:prstDash val="solid"/>
          </a:ln>
        </p:spPr>
        <p:txBody>
          <a:bodyPr/>
          <a:lstStyle/>
          <a:p>
            <a:endParaRPr lang="en-US"/>
          </a:p>
        </p:txBody>
      </p:sp>
      <p:sp>
        <p:nvSpPr>
          <p:cNvPr id="10" name="Rectangle 9">
            <a:extLst>
              <a:ext uri="{FF2B5EF4-FFF2-40B4-BE49-F238E27FC236}">
                <a16:creationId xmlns:a16="http://schemas.microsoft.com/office/drawing/2014/main" id="{7C7CF861-C097-46A0-9B08-1B615CC949C5}"/>
              </a:ext>
            </a:extLst>
          </p:cNvPr>
          <p:cNvSpPr>
            <a:spLocks noGrp="1"/>
          </p:cNvSpPr>
          <p:nvPr/>
        </p:nvSpPr>
        <p:spPr>
          <a:xfrm>
            <a:off x="1047750" y="5810250"/>
            <a:ext cx="10096500" cy="28575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lang="mk-MK" sz="1200" b="0" i="0" dirty="0" err="1">
                <a:solidFill>
                  <a:srgbClr val="617080"/>
                </a:solidFill>
                <a:latin typeface="Arial"/>
                <a:ea typeface="Arial"/>
                <a:cs typeface="Arial"/>
              </a:rPr>
              <a:t>с</a:t>
            </a:r>
            <a:r>
              <a:rPr sz="1200" b="0" i="0" dirty="0" err="1">
                <a:solidFill>
                  <a:srgbClr val="617080"/>
                </a:solidFill>
                <a:latin typeface="Arial"/>
                <a:ea typeface="Arial"/>
                <a:cs typeface="Arial"/>
              </a:rPr>
              <a:t>ептември</a:t>
            </a:r>
            <a:r>
              <a:rPr sz="1200" b="0" i="0" dirty="0">
                <a:solidFill>
                  <a:srgbClr val="617080"/>
                </a:solidFill>
                <a:latin typeface="Arial"/>
                <a:ea typeface="Arial"/>
                <a:cs typeface="Arial"/>
              </a:rPr>
              <a:t> 2026</a:t>
            </a:r>
          </a:p>
        </p:txBody>
      </p:sp>
    </p:spTree>
    <p:extLst>
      <p:ext uri="{BB962C8B-B14F-4D97-AF65-F5344CB8AC3E}">
        <p14:creationId xmlns:p14="http://schemas.microsoft.com/office/powerpoint/2010/main" val="380699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4D6C56-A4D5-44CD-8CAE-89551DA1AF33}"/>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Од прашање до одговор</a:t>
            </a:r>
          </a:p>
        </p:txBody>
      </p:sp>
      <p:sp>
        <p:nvSpPr>
          <p:cNvPr id="2" name="Rectangle 1">
            <a:extLst>
              <a:ext uri="{FF2B5EF4-FFF2-40B4-BE49-F238E27FC236}">
                <a16:creationId xmlns:a16="http://schemas.microsoft.com/office/drawing/2014/main" id="{25F9236A-1A57-49AA-AE22-28EE1ABB9A57}"/>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80298470-6FB1-4D1E-AFC2-D9C5133ED5B1}"/>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a:t>
            </a:r>
          </a:p>
        </p:txBody>
      </p:sp>
      <p:pic>
        <p:nvPicPr>
          <p:cNvPr id="8" name="Picture 7"/>
          <p:cNvPicPr>
            <a:picLocks noChangeAspect="1"/>
          </p:cNvPicPr>
          <p:nvPr/>
        </p:nvPicPr>
        <p:blipFill>
          <a:blip r:embed="rId3"/>
          <a:stretch/>
        </p:blipFill>
        <p:spPr>
          <a:xfrm>
            <a:off x="1100667" y="857250"/>
            <a:ext cx="9990667" cy="5619750"/>
          </a:xfrm>
          <a:prstGeom prst="rect">
            <a:avLst/>
          </a:prstGeom>
        </p:spPr>
      </p:pic>
    </p:spTree>
    <p:extLst>
      <p:ext uri="{BB962C8B-B14F-4D97-AF65-F5344CB8AC3E}">
        <p14:creationId xmlns:p14="http://schemas.microsoft.com/office/powerpoint/2010/main" val="984992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CBB127C-53C4-469F-9C55-5A539A99E00B}"/>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lang="mk-MK" sz="2325" b="1" i="0" noProof="0" dirty="0">
                <a:solidFill>
                  <a:srgbClr val="263746"/>
                </a:solidFill>
                <a:latin typeface="Arial"/>
                <a:ea typeface="Arial"/>
                <a:cs typeface="Arial"/>
              </a:rPr>
              <a:t>Сродни истражувања</a:t>
            </a:r>
          </a:p>
        </p:txBody>
      </p:sp>
      <p:sp>
        <p:nvSpPr>
          <p:cNvPr id="2" name="Rectangle 1">
            <a:extLst>
              <a:ext uri="{FF2B5EF4-FFF2-40B4-BE49-F238E27FC236}">
                <a16:creationId xmlns:a16="http://schemas.microsoft.com/office/drawing/2014/main" id="{EB4D0CED-F486-41CC-A2E1-BC2C15E742D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mk-MK" noProof="0" dirty="0"/>
          </a:p>
        </p:txBody>
      </p:sp>
      <p:sp>
        <p:nvSpPr>
          <p:cNvPr id="3" name="Rectangle 2">
            <a:extLst>
              <a:ext uri="{FF2B5EF4-FFF2-40B4-BE49-F238E27FC236}">
                <a16:creationId xmlns:a16="http://schemas.microsoft.com/office/drawing/2014/main" id="{AA20D0A1-10D3-451D-8633-F84B1703C2B3}"/>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lang="mk-MK" sz="825" b="0" i="0" noProof="0" dirty="0" err="1">
                <a:solidFill>
                  <a:srgbClr val="617080"/>
                </a:solidFill>
                <a:latin typeface="Arial"/>
                <a:ea typeface="Arial"/>
                <a:cs typeface="Arial"/>
              </a:rPr>
              <a:t>Mavromatis</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and</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Karypis</a:t>
            </a:r>
            <a:r>
              <a:rPr lang="mk-MK" sz="825" b="0" i="0" noProof="0" dirty="0">
                <a:solidFill>
                  <a:srgbClr val="617080"/>
                </a:solidFill>
                <a:latin typeface="Arial"/>
                <a:ea typeface="Arial"/>
                <a:cs typeface="Arial"/>
              </a:rPr>
              <a:t>, 2025 · </a:t>
            </a:r>
            <a:r>
              <a:rPr lang="mk-MK" sz="825" b="0" i="0" noProof="0" dirty="0" err="1">
                <a:solidFill>
                  <a:srgbClr val="617080"/>
                </a:solidFill>
                <a:latin typeface="Arial"/>
                <a:ea typeface="Arial"/>
                <a:cs typeface="Arial"/>
              </a:rPr>
              <a:t>He</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et</a:t>
            </a:r>
            <a:r>
              <a:rPr lang="mk-MK" sz="825" b="0" i="0" noProof="0" dirty="0">
                <a:solidFill>
                  <a:srgbClr val="617080"/>
                </a:solidFill>
                <a:latin typeface="Arial"/>
                <a:ea typeface="Arial"/>
                <a:cs typeface="Arial"/>
              </a:rPr>
              <a:t> </a:t>
            </a:r>
            <a:r>
              <a:rPr lang="mk-MK" sz="825" b="0" i="0" noProof="0" dirty="0" err="1">
                <a:solidFill>
                  <a:srgbClr val="617080"/>
                </a:solidFill>
                <a:latin typeface="Arial"/>
                <a:ea typeface="Arial"/>
                <a:cs typeface="Arial"/>
              </a:rPr>
              <a:t>al</a:t>
            </a:r>
            <a:r>
              <a:rPr lang="mk-MK" sz="825" b="0" i="0" noProof="0" dirty="0">
                <a:solidFill>
                  <a:srgbClr val="617080"/>
                </a:solidFill>
                <a:latin typeface="Arial"/>
                <a:ea typeface="Arial"/>
                <a:cs typeface="Arial"/>
              </a:rPr>
              <a:t>., 2024</a:t>
            </a:r>
          </a:p>
        </p:txBody>
      </p:sp>
      <p:sp>
        <p:nvSpPr>
          <p:cNvPr id="4" name="Rectangle 3">
            <a:extLst>
              <a:ext uri="{FF2B5EF4-FFF2-40B4-BE49-F238E27FC236}">
                <a16:creationId xmlns:a16="http://schemas.microsoft.com/office/drawing/2014/main" id="{EA267D98-DEE9-4DFF-9A0C-35D1C13779B0}"/>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lang="mk-MK" sz="900" b="0" i="0" noProof="0" dirty="0">
                <a:solidFill>
                  <a:srgbClr val="617080"/>
                </a:solidFill>
                <a:latin typeface="Arial"/>
                <a:ea typeface="Arial"/>
                <a:cs typeface="Arial"/>
              </a:rPr>
              <a:t>3</a:t>
            </a:r>
          </a:p>
        </p:txBody>
      </p:sp>
      <p:sp>
        <p:nvSpPr>
          <p:cNvPr id="5" name="Rectangle 4">
            <a:extLst>
              <a:ext uri="{FF2B5EF4-FFF2-40B4-BE49-F238E27FC236}">
                <a16:creationId xmlns:a16="http://schemas.microsoft.com/office/drawing/2014/main" id="{34FEDAF4-12AF-462A-9B57-9E487C3D9758}"/>
              </a:ext>
            </a:extLst>
          </p:cNvPr>
          <p:cNvSpPr>
            <a:spLocks noGrp="1"/>
          </p:cNvSpPr>
          <p:nvPr/>
        </p:nvSpPr>
        <p:spPr>
          <a:xfrm>
            <a:off x="742950" y="1066800"/>
            <a:ext cx="4762500" cy="285750"/>
          </a:xfrm>
          <a:prstGeom prst="rect">
            <a:avLst/>
          </a:prstGeom>
          <a:noFill/>
          <a:ln w="0">
            <a:noFill/>
            <a:prstDash val="solid"/>
          </a:ln>
        </p:spPr>
        <p:txBody>
          <a:bodyPr wrap="square" lIns="38100" tIns="19050" rIns="38100" bIns="19050" anchor="b">
            <a:normAutofit/>
          </a:bodyPr>
          <a:lstStyle/>
          <a:p>
            <a:pPr algn="l">
              <a:defRPr sz="1125" b="1" i="0">
                <a:solidFill>
                  <a:srgbClr val="4F86C6"/>
                </a:solidFill>
                <a:latin typeface="Arial"/>
                <a:ea typeface="Arial"/>
                <a:cs typeface="Arial"/>
              </a:defRPr>
            </a:pPr>
            <a:r>
              <a:rPr lang="mk-MK" sz="1125" b="1" i="0" noProof="0" dirty="0">
                <a:solidFill>
                  <a:srgbClr val="4F86C6"/>
                </a:solidFill>
                <a:latin typeface="Arial"/>
                <a:ea typeface="Arial"/>
                <a:cs typeface="Arial"/>
              </a:rPr>
              <a:t>GNN-RAG</a:t>
            </a:r>
          </a:p>
        </p:txBody>
      </p:sp>
      <p:sp>
        <p:nvSpPr>
          <p:cNvPr id="6" name="Rectangle 5">
            <a:extLst>
              <a:ext uri="{FF2B5EF4-FFF2-40B4-BE49-F238E27FC236}">
                <a16:creationId xmlns:a16="http://schemas.microsoft.com/office/drawing/2014/main" id="{D8DC981F-4AEF-44F3-9E0B-E8DA25737DAC}"/>
              </a:ext>
            </a:extLst>
          </p:cNvPr>
          <p:cNvSpPr>
            <a:spLocks noGrp="1"/>
          </p:cNvSpPr>
          <p:nvPr/>
        </p:nvSpPr>
        <p:spPr>
          <a:xfrm>
            <a:off x="742950" y="1381125"/>
            <a:ext cx="4857750" cy="400050"/>
          </a:xfrm>
          <a:prstGeom prst="rect">
            <a:avLst/>
          </a:prstGeom>
          <a:noFill/>
          <a:ln w="0">
            <a:noFill/>
            <a:prstDash val="solid"/>
          </a:ln>
        </p:spPr>
        <p:txBody>
          <a:bodyPr wrap="square" lIns="38100" tIns="19050" rIns="38100" bIns="19050" anchor="ctr">
            <a:normAutofit/>
          </a:bodyPr>
          <a:lstStyle/>
          <a:p>
            <a:pPr algn="l">
              <a:defRPr sz="1575" b="1" i="0">
                <a:solidFill>
                  <a:srgbClr val="4F86C6"/>
                </a:solidFill>
                <a:latin typeface="Arial"/>
                <a:ea typeface="Arial"/>
                <a:cs typeface="Arial"/>
              </a:defRPr>
            </a:pPr>
            <a:r>
              <a:rPr lang="mk-MK" sz="1575" b="1" i="0" noProof="0" dirty="0">
                <a:solidFill>
                  <a:srgbClr val="4F86C6"/>
                </a:solidFill>
                <a:latin typeface="Arial"/>
                <a:ea typeface="Arial"/>
                <a:cs typeface="Arial"/>
              </a:rPr>
              <a:t>GNN-пребарување  →  најкратки патеки  →  LLM</a:t>
            </a:r>
          </a:p>
        </p:txBody>
      </p:sp>
      <p:sp>
        <p:nvSpPr>
          <p:cNvPr id="7" name="Oval 6">
            <a:extLst>
              <a:ext uri="{FF2B5EF4-FFF2-40B4-BE49-F238E27FC236}">
                <a16:creationId xmlns:a16="http://schemas.microsoft.com/office/drawing/2014/main" id="{9A32267C-BE96-431C-AF0E-987954DF7CD7}"/>
              </a:ext>
            </a:extLst>
          </p:cNvPr>
          <p:cNvSpPr>
            <a:spLocks noGrp="1"/>
          </p:cNvSpPr>
          <p:nvPr/>
        </p:nvSpPr>
        <p:spPr>
          <a:xfrm>
            <a:off x="781050" y="2105025"/>
            <a:ext cx="66675" cy="66675"/>
          </a:xfrm>
          <a:prstGeom prst="ellipse">
            <a:avLst/>
          </a:prstGeom>
          <a:solidFill>
            <a:srgbClr val="263746"/>
          </a:solidFill>
          <a:ln w="0">
            <a:noFill/>
            <a:prstDash val="solid"/>
          </a:ln>
        </p:spPr>
        <p:txBody>
          <a:bodyPr/>
          <a:lstStyle/>
          <a:p>
            <a:endParaRPr lang="mk-MK" noProof="0" dirty="0"/>
          </a:p>
        </p:txBody>
      </p:sp>
      <p:sp>
        <p:nvSpPr>
          <p:cNvPr id="8" name="Rectangle 7">
            <a:extLst>
              <a:ext uri="{FF2B5EF4-FFF2-40B4-BE49-F238E27FC236}">
                <a16:creationId xmlns:a16="http://schemas.microsoft.com/office/drawing/2014/main" id="{426B7EF2-56E4-4D25-9881-358099CEAABD}"/>
              </a:ext>
            </a:extLst>
          </p:cNvPr>
          <p:cNvSpPr>
            <a:spLocks noGrp="1"/>
          </p:cNvSpPr>
          <p:nvPr/>
        </p:nvSpPr>
        <p:spPr>
          <a:xfrm>
            <a:off x="952500" y="2000250"/>
            <a:ext cx="4495800"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GNN ги рангира ентитетите-кандидати.</a:t>
            </a:r>
          </a:p>
        </p:txBody>
      </p:sp>
      <p:sp>
        <p:nvSpPr>
          <p:cNvPr id="9" name="Oval 8">
            <a:extLst>
              <a:ext uri="{FF2B5EF4-FFF2-40B4-BE49-F238E27FC236}">
                <a16:creationId xmlns:a16="http://schemas.microsoft.com/office/drawing/2014/main" id="{3095336C-FEC7-402F-B8F0-23E119F28836}"/>
              </a:ext>
            </a:extLst>
          </p:cNvPr>
          <p:cNvSpPr>
            <a:spLocks noGrp="1"/>
          </p:cNvSpPr>
          <p:nvPr/>
        </p:nvSpPr>
        <p:spPr>
          <a:xfrm>
            <a:off x="781050" y="2676525"/>
            <a:ext cx="66675" cy="66675"/>
          </a:xfrm>
          <a:prstGeom prst="ellipse">
            <a:avLst/>
          </a:prstGeom>
          <a:solidFill>
            <a:srgbClr val="263746"/>
          </a:solidFill>
          <a:ln w="0">
            <a:noFill/>
            <a:prstDash val="solid"/>
          </a:ln>
        </p:spPr>
        <p:txBody>
          <a:bodyPr/>
          <a:lstStyle/>
          <a:p>
            <a:endParaRPr lang="mk-MK" noProof="0" dirty="0"/>
          </a:p>
        </p:txBody>
      </p:sp>
      <p:sp>
        <p:nvSpPr>
          <p:cNvPr id="10" name="Rectangle 9">
            <a:extLst>
              <a:ext uri="{FF2B5EF4-FFF2-40B4-BE49-F238E27FC236}">
                <a16:creationId xmlns:a16="http://schemas.microsoft.com/office/drawing/2014/main" id="{30CDBB6C-0380-4C22-87DD-E0C24E39EFE8}"/>
              </a:ext>
            </a:extLst>
          </p:cNvPr>
          <p:cNvSpPr>
            <a:spLocks noGrp="1"/>
          </p:cNvSpPr>
          <p:nvPr/>
        </p:nvSpPr>
        <p:spPr>
          <a:xfrm>
            <a:off x="952500" y="2571750"/>
            <a:ext cx="4495800"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Најкратките патеки го формираат доказниот контекст.</a:t>
            </a:r>
          </a:p>
        </p:txBody>
      </p:sp>
      <p:sp>
        <p:nvSpPr>
          <p:cNvPr id="11" name="Rectangle 10">
            <a:extLst>
              <a:ext uri="{FF2B5EF4-FFF2-40B4-BE49-F238E27FC236}">
                <a16:creationId xmlns:a16="http://schemas.microsoft.com/office/drawing/2014/main" id="{EF251C30-0B80-4226-BAC4-FF088D6DAC92}"/>
              </a:ext>
            </a:extLst>
          </p:cNvPr>
          <p:cNvSpPr>
            <a:spLocks noGrp="1"/>
          </p:cNvSpPr>
          <p:nvPr/>
        </p:nvSpPr>
        <p:spPr>
          <a:xfrm>
            <a:off x="6048375" y="1123950"/>
            <a:ext cx="19050" cy="2143125"/>
          </a:xfrm>
          <a:prstGeom prst="rect">
            <a:avLst/>
          </a:prstGeom>
          <a:solidFill>
            <a:srgbClr val="DDE3E8"/>
          </a:solidFill>
          <a:ln w="0">
            <a:noFill/>
            <a:prstDash val="solid"/>
          </a:ln>
        </p:spPr>
        <p:txBody>
          <a:bodyPr/>
          <a:lstStyle/>
          <a:p>
            <a:endParaRPr lang="mk-MK" noProof="0" dirty="0"/>
          </a:p>
        </p:txBody>
      </p:sp>
      <p:sp>
        <p:nvSpPr>
          <p:cNvPr id="12" name="Rectangle 11">
            <a:extLst>
              <a:ext uri="{FF2B5EF4-FFF2-40B4-BE49-F238E27FC236}">
                <a16:creationId xmlns:a16="http://schemas.microsoft.com/office/drawing/2014/main" id="{6B1D1C4D-1EAD-4381-9603-F192DC016F92}"/>
              </a:ext>
            </a:extLst>
          </p:cNvPr>
          <p:cNvSpPr>
            <a:spLocks noGrp="1"/>
          </p:cNvSpPr>
          <p:nvPr/>
        </p:nvSpPr>
        <p:spPr>
          <a:xfrm>
            <a:off x="6524625" y="1066800"/>
            <a:ext cx="4762500" cy="285750"/>
          </a:xfrm>
          <a:prstGeom prst="rect">
            <a:avLst/>
          </a:prstGeom>
          <a:noFill/>
          <a:ln w="0">
            <a:noFill/>
            <a:prstDash val="solid"/>
          </a:ln>
        </p:spPr>
        <p:txBody>
          <a:bodyPr wrap="square" lIns="38100" tIns="19050" rIns="38100" bIns="19050" anchor="b">
            <a:normAutofit/>
          </a:bodyPr>
          <a:lstStyle/>
          <a:p>
            <a:pPr algn="l">
              <a:defRPr sz="1125" b="1" i="0">
                <a:solidFill>
                  <a:srgbClr val="398D84"/>
                </a:solidFill>
                <a:latin typeface="Arial"/>
                <a:ea typeface="Arial"/>
                <a:cs typeface="Arial"/>
              </a:defRPr>
            </a:pPr>
            <a:r>
              <a:rPr lang="mk-MK" sz="1125" b="1" i="0" noProof="0" dirty="0" err="1">
                <a:solidFill>
                  <a:srgbClr val="398D84"/>
                </a:solidFill>
                <a:latin typeface="Arial"/>
                <a:ea typeface="Arial"/>
                <a:cs typeface="Arial"/>
              </a:rPr>
              <a:t>G-Retriever</a:t>
            </a:r>
            <a:endParaRPr lang="mk-MK" sz="1125" b="1" i="0" noProof="0" dirty="0">
              <a:solidFill>
                <a:srgbClr val="398D84"/>
              </a:solidFill>
              <a:latin typeface="Arial"/>
              <a:ea typeface="Arial"/>
              <a:cs typeface="Arial"/>
            </a:endParaRPr>
          </a:p>
        </p:txBody>
      </p:sp>
      <p:sp>
        <p:nvSpPr>
          <p:cNvPr id="13" name="Rectangle 12">
            <a:extLst>
              <a:ext uri="{FF2B5EF4-FFF2-40B4-BE49-F238E27FC236}">
                <a16:creationId xmlns:a16="http://schemas.microsoft.com/office/drawing/2014/main" id="{C5B9C1A7-BCF5-454D-B614-ACF4B2ADE9CE}"/>
              </a:ext>
            </a:extLst>
          </p:cNvPr>
          <p:cNvSpPr>
            <a:spLocks noGrp="1"/>
          </p:cNvSpPr>
          <p:nvPr/>
        </p:nvSpPr>
        <p:spPr>
          <a:xfrm>
            <a:off x="6524625" y="1381125"/>
            <a:ext cx="4857750" cy="400050"/>
          </a:xfrm>
          <a:prstGeom prst="rect">
            <a:avLst/>
          </a:prstGeom>
          <a:noFill/>
          <a:ln w="0">
            <a:noFill/>
            <a:prstDash val="solid"/>
          </a:ln>
        </p:spPr>
        <p:txBody>
          <a:bodyPr wrap="square" lIns="38100" tIns="19050" rIns="38100" bIns="19050" anchor="ctr">
            <a:normAutofit/>
          </a:bodyPr>
          <a:lstStyle/>
          <a:p>
            <a:pPr algn="l">
              <a:defRPr sz="1575" b="1" i="0">
                <a:solidFill>
                  <a:srgbClr val="398D84"/>
                </a:solidFill>
                <a:latin typeface="Arial"/>
                <a:ea typeface="Arial"/>
                <a:cs typeface="Arial"/>
              </a:defRPr>
            </a:pPr>
            <a:r>
              <a:rPr lang="mk-MK" sz="1575" b="1" i="0" noProof="0" dirty="0" err="1">
                <a:solidFill>
                  <a:srgbClr val="398D84"/>
                </a:solidFill>
                <a:latin typeface="Arial"/>
                <a:ea typeface="Arial"/>
                <a:cs typeface="Arial"/>
              </a:rPr>
              <a:t>Енкодер</a:t>
            </a:r>
            <a:r>
              <a:rPr lang="mk-MK" sz="1575" b="1" i="0" noProof="0" dirty="0">
                <a:solidFill>
                  <a:srgbClr val="398D84"/>
                </a:solidFill>
                <a:latin typeface="Arial"/>
                <a:ea typeface="Arial"/>
                <a:cs typeface="Arial"/>
              </a:rPr>
              <a:t> на графови  →  PCST  →  LLM</a:t>
            </a:r>
          </a:p>
        </p:txBody>
      </p:sp>
      <p:sp>
        <p:nvSpPr>
          <p:cNvPr id="14" name="Oval 13">
            <a:extLst>
              <a:ext uri="{FF2B5EF4-FFF2-40B4-BE49-F238E27FC236}">
                <a16:creationId xmlns:a16="http://schemas.microsoft.com/office/drawing/2014/main" id="{073CAC9A-AE75-40B0-9183-927614F172D6}"/>
              </a:ext>
            </a:extLst>
          </p:cNvPr>
          <p:cNvSpPr>
            <a:spLocks noGrp="1"/>
          </p:cNvSpPr>
          <p:nvPr/>
        </p:nvSpPr>
        <p:spPr>
          <a:xfrm>
            <a:off x="6562725" y="2105025"/>
            <a:ext cx="66675" cy="66675"/>
          </a:xfrm>
          <a:prstGeom prst="ellipse">
            <a:avLst/>
          </a:prstGeom>
          <a:solidFill>
            <a:srgbClr val="263746"/>
          </a:solidFill>
          <a:ln w="0">
            <a:noFill/>
            <a:prstDash val="solid"/>
          </a:ln>
        </p:spPr>
        <p:txBody>
          <a:bodyPr/>
          <a:lstStyle/>
          <a:p>
            <a:endParaRPr lang="mk-MK" noProof="0" dirty="0"/>
          </a:p>
        </p:txBody>
      </p:sp>
      <p:sp>
        <p:nvSpPr>
          <p:cNvPr id="15" name="Rectangle 14">
            <a:extLst>
              <a:ext uri="{FF2B5EF4-FFF2-40B4-BE49-F238E27FC236}">
                <a16:creationId xmlns:a16="http://schemas.microsoft.com/office/drawing/2014/main" id="{0DF926F4-E196-4ADC-9A45-5957F7B37B49}"/>
              </a:ext>
            </a:extLst>
          </p:cNvPr>
          <p:cNvSpPr>
            <a:spLocks noGrp="1"/>
          </p:cNvSpPr>
          <p:nvPr/>
        </p:nvSpPr>
        <p:spPr>
          <a:xfrm>
            <a:off x="6734175" y="2000250"/>
            <a:ext cx="4448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err="1">
                <a:solidFill>
                  <a:srgbClr val="263746"/>
                </a:solidFill>
                <a:latin typeface="Arial"/>
                <a:ea typeface="Arial"/>
                <a:cs typeface="Arial"/>
              </a:rPr>
              <a:t>Енкодерот</a:t>
            </a:r>
            <a:r>
              <a:rPr lang="mk-MK" sz="1425" b="0" i="0" noProof="0" dirty="0">
                <a:solidFill>
                  <a:srgbClr val="263746"/>
                </a:solidFill>
                <a:latin typeface="Arial"/>
                <a:ea typeface="Arial"/>
                <a:cs typeface="Arial"/>
              </a:rPr>
              <a:t> на графови ги оценува јазлите.</a:t>
            </a:r>
          </a:p>
        </p:txBody>
      </p:sp>
      <p:sp>
        <p:nvSpPr>
          <p:cNvPr id="16" name="Oval 15">
            <a:extLst>
              <a:ext uri="{FF2B5EF4-FFF2-40B4-BE49-F238E27FC236}">
                <a16:creationId xmlns:a16="http://schemas.microsoft.com/office/drawing/2014/main" id="{9A5F2894-68B1-407C-81CC-51A36300A3AA}"/>
              </a:ext>
            </a:extLst>
          </p:cNvPr>
          <p:cNvSpPr>
            <a:spLocks noGrp="1"/>
          </p:cNvSpPr>
          <p:nvPr/>
        </p:nvSpPr>
        <p:spPr>
          <a:xfrm>
            <a:off x="6562725" y="2676525"/>
            <a:ext cx="66675" cy="66675"/>
          </a:xfrm>
          <a:prstGeom prst="ellipse">
            <a:avLst/>
          </a:prstGeom>
          <a:solidFill>
            <a:srgbClr val="263746"/>
          </a:solidFill>
          <a:ln w="0">
            <a:noFill/>
            <a:prstDash val="solid"/>
          </a:ln>
        </p:spPr>
        <p:txBody>
          <a:bodyPr/>
          <a:lstStyle/>
          <a:p>
            <a:endParaRPr lang="mk-MK" noProof="0" dirty="0"/>
          </a:p>
        </p:txBody>
      </p:sp>
      <p:sp>
        <p:nvSpPr>
          <p:cNvPr id="17" name="Rectangle 16">
            <a:extLst>
              <a:ext uri="{FF2B5EF4-FFF2-40B4-BE49-F238E27FC236}">
                <a16:creationId xmlns:a16="http://schemas.microsoft.com/office/drawing/2014/main" id="{341A9BE1-4D42-4935-9A4D-10B3550A6DE6}"/>
              </a:ext>
            </a:extLst>
          </p:cNvPr>
          <p:cNvSpPr>
            <a:spLocks noGrp="1"/>
          </p:cNvSpPr>
          <p:nvPr/>
        </p:nvSpPr>
        <p:spPr>
          <a:xfrm>
            <a:off x="6734175" y="2571750"/>
            <a:ext cx="4448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lang="mk-MK" sz="1425" b="0" i="0" noProof="0" dirty="0">
                <a:solidFill>
                  <a:srgbClr val="263746"/>
                </a:solidFill>
                <a:latin typeface="Arial"/>
                <a:ea typeface="Arial"/>
                <a:cs typeface="Arial"/>
              </a:rPr>
              <a:t>PCST избира компактен доказен подграф.</a:t>
            </a:r>
          </a:p>
        </p:txBody>
      </p:sp>
      <p:sp>
        <p:nvSpPr>
          <p:cNvPr id="18" name="Rounded Rectangle 17">
            <a:extLst>
              <a:ext uri="{FF2B5EF4-FFF2-40B4-BE49-F238E27FC236}">
                <a16:creationId xmlns:a16="http://schemas.microsoft.com/office/drawing/2014/main" id="{4C0CA12A-71B7-4776-92A3-1C0973A58E73}"/>
              </a:ext>
            </a:extLst>
          </p:cNvPr>
          <p:cNvSpPr>
            <a:spLocks noGrp="1"/>
          </p:cNvSpPr>
          <p:nvPr/>
        </p:nvSpPr>
        <p:spPr>
          <a:xfrm>
            <a:off x="742950" y="3667125"/>
            <a:ext cx="10668000" cy="1952625"/>
          </a:xfrm>
          <a:prstGeom prst="roundRect">
            <a:avLst>
              <a:gd name="adj" fmla="val 6829"/>
            </a:avLst>
          </a:prstGeom>
          <a:solidFill>
            <a:srgbClr val="F7F9FB"/>
          </a:solidFill>
          <a:ln w="19050">
            <a:solidFill>
              <a:srgbClr val="4F86C6"/>
            </a:solidFill>
            <a:prstDash val="solid"/>
          </a:ln>
        </p:spPr>
        <p:txBody>
          <a:bodyPr/>
          <a:lstStyle/>
          <a:p>
            <a:endParaRPr lang="mk-MK" noProof="0" dirty="0"/>
          </a:p>
        </p:txBody>
      </p:sp>
      <p:sp>
        <p:nvSpPr>
          <p:cNvPr id="19" name="Rectangle 18">
            <a:extLst>
              <a:ext uri="{FF2B5EF4-FFF2-40B4-BE49-F238E27FC236}">
                <a16:creationId xmlns:a16="http://schemas.microsoft.com/office/drawing/2014/main" id="{4C1B97B6-BF67-45EF-A3ED-55105AD6538D}"/>
              </a:ext>
            </a:extLst>
          </p:cNvPr>
          <p:cNvSpPr>
            <a:spLocks noGrp="1"/>
          </p:cNvSpPr>
          <p:nvPr/>
        </p:nvSpPr>
        <p:spPr>
          <a:xfrm>
            <a:off x="1047750" y="3905250"/>
            <a:ext cx="4000500" cy="361950"/>
          </a:xfrm>
          <a:prstGeom prst="rect">
            <a:avLst/>
          </a:prstGeom>
          <a:noFill/>
          <a:ln w="0">
            <a:noFill/>
            <a:prstDash val="solid"/>
          </a:ln>
        </p:spPr>
        <p:txBody>
          <a:bodyPr wrap="square" lIns="38100" tIns="19050" rIns="38100" bIns="19050" anchor="ctr">
            <a:normAutofit/>
          </a:bodyPr>
          <a:lstStyle/>
          <a:p>
            <a:pPr algn="l">
              <a:defRPr sz="1800" b="1" i="0">
                <a:solidFill>
                  <a:srgbClr val="4F86C6"/>
                </a:solidFill>
                <a:latin typeface="Arial"/>
                <a:ea typeface="Arial"/>
                <a:cs typeface="Arial"/>
              </a:defRPr>
            </a:pPr>
            <a:r>
              <a:rPr lang="mk-MK" sz="1800" b="1" i="0" noProof="0" dirty="0">
                <a:solidFill>
                  <a:srgbClr val="4F86C6"/>
                </a:solidFill>
                <a:latin typeface="Arial"/>
                <a:ea typeface="Arial"/>
                <a:cs typeface="Arial"/>
              </a:rPr>
              <a:t>Истражувачка празнина</a:t>
            </a:r>
          </a:p>
        </p:txBody>
      </p:sp>
      <p:sp>
        <p:nvSpPr>
          <p:cNvPr id="20" name="Rectangle 19">
            <a:extLst>
              <a:ext uri="{FF2B5EF4-FFF2-40B4-BE49-F238E27FC236}">
                <a16:creationId xmlns:a16="http://schemas.microsoft.com/office/drawing/2014/main" id="{436B9E60-11E9-4B0B-80E7-1661573F7EC9}"/>
              </a:ext>
            </a:extLst>
          </p:cNvPr>
          <p:cNvSpPr>
            <a:spLocks noGrp="1"/>
          </p:cNvSpPr>
          <p:nvPr/>
        </p:nvSpPr>
        <p:spPr>
          <a:xfrm>
            <a:off x="1047750" y="4410075"/>
            <a:ext cx="9858375" cy="781050"/>
          </a:xfrm>
          <a:prstGeom prst="rect">
            <a:avLst/>
          </a:prstGeom>
          <a:noFill/>
          <a:ln w="0">
            <a:noFill/>
            <a:prstDash val="solid"/>
          </a:ln>
        </p:spPr>
        <p:txBody>
          <a:bodyPr wrap="square" lIns="38100" tIns="19050" rIns="38100" bIns="19050" anchor="ctr">
            <a:normAutofit/>
          </a:bodyPr>
          <a:lstStyle/>
          <a:p>
            <a:pPr algn="l">
              <a:defRPr sz="1800" b="1" i="0">
                <a:solidFill>
                  <a:srgbClr val="263746"/>
                </a:solidFill>
                <a:latin typeface="Arial"/>
                <a:ea typeface="Arial"/>
                <a:cs typeface="Arial"/>
              </a:defRPr>
            </a:pPr>
            <a:r>
              <a:rPr lang="mk-MK" sz="1800" b="1" i="0" noProof="0" dirty="0">
                <a:solidFill>
                  <a:srgbClr val="263746"/>
                </a:solidFill>
                <a:latin typeface="Arial"/>
                <a:ea typeface="Arial"/>
                <a:cs typeface="Arial"/>
              </a:rPr>
              <a:t>Недостига контролирана споредба на различни GNN-архитектури, стратегии за доказен подграф и јазични модели во една заедничка рамка.</a:t>
            </a:r>
          </a:p>
        </p:txBody>
      </p:sp>
    </p:spTree>
    <p:extLst>
      <p:ext uri="{BB962C8B-B14F-4D97-AF65-F5344CB8AC3E}">
        <p14:creationId xmlns:p14="http://schemas.microsoft.com/office/powerpoint/2010/main" val="1679459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59C785E-FE15-4769-9CC4-3DD959CB4BAF}"/>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Архитектура на системот</a:t>
            </a:r>
          </a:p>
        </p:txBody>
      </p:sp>
      <p:sp>
        <p:nvSpPr>
          <p:cNvPr id="2" name="Rectangle 1">
            <a:extLst>
              <a:ext uri="{FF2B5EF4-FFF2-40B4-BE49-F238E27FC236}">
                <a16:creationId xmlns:a16="http://schemas.microsoft.com/office/drawing/2014/main" id="{9CDF2084-8F86-465C-8305-6860EB8DCC5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EA88E5FD-9F50-4CA0-93F9-580A5DAE2307}"/>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4</a:t>
            </a:r>
          </a:p>
        </p:txBody>
      </p:sp>
      <p:pic>
        <p:nvPicPr>
          <p:cNvPr id="10" name="Picture 9"/>
          <p:cNvPicPr>
            <a:picLocks noChangeAspect="1"/>
          </p:cNvPicPr>
          <p:nvPr/>
        </p:nvPicPr>
        <p:blipFill>
          <a:blip r:embed="rId3"/>
          <a:stretch/>
        </p:blipFill>
        <p:spPr>
          <a:xfrm>
            <a:off x="431800" y="1000125"/>
            <a:ext cx="11328400" cy="4248150"/>
          </a:xfrm>
          <a:prstGeom prst="rect">
            <a:avLst/>
          </a:prstGeom>
        </p:spPr>
      </p:pic>
      <p:sp>
        <p:nvSpPr>
          <p:cNvPr id="5" name="Rounded Rectangle 4">
            <a:extLst>
              <a:ext uri="{FF2B5EF4-FFF2-40B4-BE49-F238E27FC236}">
                <a16:creationId xmlns:a16="http://schemas.microsoft.com/office/drawing/2014/main" id="{4704B55B-4A06-4CE6-B77B-6120FA080572}"/>
              </a:ext>
            </a:extLst>
          </p:cNvPr>
          <p:cNvSpPr>
            <a:spLocks noGrp="1"/>
          </p:cNvSpPr>
          <p:nvPr/>
        </p:nvSpPr>
        <p:spPr>
          <a:xfrm>
            <a:off x="1381125" y="5495925"/>
            <a:ext cx="9429750" cy="685800"/>
          </a:xfrm>
          <a:prstGeom prst="roundRect">
            <a:avLst>
              <a:gd name="adj" fmla="val 19444"/>
            </a:avLst>
          </a:prstGeom>
          <a:solidFill>
            <a:srgbClr val="EAF2FB"/>
          </a:solidFill>
          <a:ln w="15240">
            <a:solidFill>
              <a:srgbClr val="4F86C6"/>
            </a:solidFill>
            <a:prstDash val="solid"/>
          </a:ln>
        </p:spPr>
        <p:txBody>
          <a:bodyPr/>
          <a:lstStyle/>
          <a:p>
            <a:endParaRPr lang="en-US"/>
          </a:p>
        </p:txBody>
      </p:sp>
      <p:sp>
        <p:nvSpPr>
          <p:cNvPr id="6" name="Rectangle 5">
            <a:extLst>
              <a:ext uri="{FF2B5EF4-FFF2-40B4-BE49-F238E27FC236}">
                <a16:creationId xmlns:a16="http://schemas.microsoft.com/office/drawing/2014/main" id="{5BDE4016-E3D2-4E01-8F15-C083DFA4BF67}"/>
              </a:ext>
            </a:extLst>
          </p:cNvPr>
          <p:cNvSpPr>
            <a:spLocks noGrp="1"/>
          </p:cNvSpPr>
          <p:nvPr/>
        </p:nvSpPr>
        <p:spPr>
          <a:xfrm>
            <a:off x="1666875" y="5610225"/>
            <a:ext cx="8858250" cy="457200"/>
          </a:xfrm>
          <a:prstGeom prst="rect">
            <a:avLst/>
          </a:prstGeom>
          <a:noFill/>
          <a:ln w="0">
            <a:noFill/>
            <a:prstDash val="solid"/>
          </a:ln>
        </p:spPr>
        <p:txBody>
          <a:bodyPr wrap="square" lIns="38100" tIns="19050" rIns="38100" bIns="19050" anchor="ctr">
            <a:normAutofit fontScale="91667" lnSpcReduction="10000"/>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Резултатите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секоја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фаза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следат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одделно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утврди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каде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губи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потребната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информација</a:t>
            </a:r>
            <a:r>
              <a:rPr sz="1500" b="1" i="0" dirty="0">
                <a:solidFill>
                  <a:srgbClr val="263746"/>
                </a:solidFill>
                <a:latin typeface="Arial"/>
                <a:ea typeface="Arial"/>
                <a:cs typeface="Arial"/>
              </a:rPr>
              <a:t>.</a:t>
            </a:r>
          </a:p>
        </p:txBody>
      </p:sp>
    </p:spTree>
    <p:extLst>
      <p:ext uri="{BB962C8B-B14F-4D97-AF65-F5344CB8AC3E}">
        <p14:creationId xmlns:p14="http://schemas.microsoft.com/office/powerpoint/2010/main" val="2109294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938D00C-2FE1-4D48-94BD-09A7F7A55D23}"/>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Истражувачки прашања</a:t>
            </a:r>
          </a:p>
        </p:txBody>
      </p:sp>
      <p:sp>
        <p:nvSpPr>
          <p:cNvPr id="2" name="Rectangle 1">
            <a:extLst>
              <a:ext uri="{FF2B5EF4-FFF2-40B4-BE49-F238E27FC236}">
                <a16:creationId xmlns:a16="http://schemas.microsoft.com/office/drawing/2014/main" id="{E18FBEA9-D2C2-4914-98E2-ED685002A092}"/>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CE0E0FA6-42C2-49C8-84D9-64515022A6A4}"/>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5</a:t>
            </a:r>
          </a:p>
        </p:txBody>
      </p:sp>
      <p:sp>
        <p:nvSpPr>
          <p:cNvPr id="4" name="Rounded Rectangle 3">
            <a:extLst>
              <a:ext uri="{FF2B5EF4-FFF2-40B4-BE49-F238E27FC236}">
                <a16:creationId xmlns:a16="http://schemas.microsoft.com/office/drawing/2014/main" id="{3304219F-AD08-4DFD-BFD7-5A2C681505BD}"/>
              </a:ext>
            </a:extLst>
          </p:cNvPr>
          <p:cNvSpPr>
            <a:spLocks noGrp="1"/>
          </p:cNvSpPr>
          <p:nvPr/>
        </p:nvSpPr>
        <p:spPr>
          <a:xfrm>
            <a:off x="552450" y="1381125"/>
            <a:ext cx="3286125" cy="4095750"/>
          </a:xfrm>
          <a:prstGeom prst="roundRect">
            <a:avLst>
              <a:gd name="adj" fmla="val 5217"/>
            </a:avLst>
          </a:prstGeom>
          <a:solidFill>
            <a:srgbClr val="FBEDE5"/>
          </a:solidFill>
          <a:ln w="19050">
            <a:solidFill>
              <a:srgbClr val="D97942"/>
            </a:solidFill>
            <a:prstDash val="solid"/>
          </a:ln>
        </p:spPr>
        <p:txBody>
          <a:bodyPr/>
          <a:lstStyle/>
          <a:p>
            <a:endParaRPr lang="en-US"/>
          </a:p>
        </p:txBody>
      </p:sp>
      <p:sp>
        <p:nvSpPr>
          <p:cNvPr id="5" name="Oval 4">
            <a:extLst>
              <a:ext uri="{FF2B5EF4-FFF2-40B4-BE49-F238E27FC236}">
                <a16:creationId xmlns:a16="http://schemas.microsoft.com/office/drawing/2014/main" id="{0AD89C1E-5EF7-4B66-8254-C93C61C8652D}"/>
              </a:ext>
            </a:extLst>
          </p:cNvPr>
          <p:cNvSpPr>
            <a:spLocks noGrp="1"/>
          </p:cNvSpPr>
          <p:nvPr/>
        </p:nvSpPr>
        <p:spPr>
          <a:xfrm>
            <a:off x="1762125" y="1714500"/>
            <a:ext cx="857250" cy="857250"/>
          </a:xfrm>
          <a:prstGeom prst="ellipse">
            <a:avLst/>
          </a:prstGeom>
          <a:solidFill>
            <a:srgbClr val="FFFFFF"/>
          </a:solidFill>
          <a:ln w="28575">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DE007DB2-6C52-4BC7-8ED6-E9E062B21624}"/>
              </a:ext>
            </a:extLst>
          </p:cNvPr>
          <p:cNvSpPr>
            <a:spLocks noGrp="1"/>
          </p:cNvSpPr>
          <p:nvPr/>
        </p:nvSpPr>
        <p:spPr>
          <a:xfrm>
            <a:off x="1762125"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D97942"/>
                </a:solidFill>
                <a:latin typeface="Arial"/>
                <a:ea typeface="Arial"/>
                <a:cs typeface="Arial"/>
              </a:defRPr>
            </a:pPr>
            <a:r>
              <a:rPr sz="2550" b="1" i="0">
                <a:solidFill>
                  <a:srgbClr val="D97942"/>
                </a:solidFill>
                <a:latin typeface="Arial"/>
                <a:ea typeface="Arial"/>
                <a:cs typeface="Arial"/>
              </a:rPr>
              <a:t>1</a:t>
            </a:r>
          </a:p>
        </p:txBody>
      </p:sp>
      <p:sp>
        <p:nvSpPr>
          <p:cNvPr id="7" name="Rectangle 6">
            <a:extLst>
              <a:ext uri="{FF2B5EF4-FFF2-40B4-BE49-F238E27FC236}">
                <a16:creationId xmlns:a16="http://schemas.microsoft.com/office/drawing/2014/main" id="{0D66464F-2929-4D91-95BB-82242CDE4A62}"/>
              </a:ext>
            </a:extLst>
          </p:cNvPr>
          <p:cNvSpPr>
            <a:spLocks noGrp="1"/>
          </p:cNvSpPr>
          <p:nvPr/>
        </p:nvSpPr>
        <p:spPr>
          <a:xfrm>
            <a:off x="838200"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D97942"/>
                </a:solidFill>
                <a:latin typeface="Arial"/>
                <a:ea typeface="Arial"/>
                <a:cs typeface="Arial"/>
              </a:defRPr>
            </a:pPr>
            <a:r>
              <a:rPr sz="1725" b="1" i="0">
                <a:solidFill>
                  <a:srgbClr val="D97942"/>
                </a:solidFill>
                <a:latin typeface="Arial"/>
                <a:ea typeface="Arial"/>
                <a:cs typeface="Arial"/>
              </a:rPr>
              <a:t>Архитектура за пребарување</a:t>
            </a:r>
          </a:p>
        </p:txBody>
      </p:sp>
      <p:sp>
        <p:nvSpPr>
          <p:cNvPr id="8" name="Rectangle 7">
            <a:extLst>
              <a:ext uri="{FF2B5EF4-FFF2-40B4-BE49-F238E27FC236}">
                <a16:creationId xmlns:a16="http://schemas.microsoft.com/office/drawing/2014/main" id="{AD61D6D4-684D-4C53-BB70-C502D2393E80}"/>
              </a:ext>
            </a:extLst>
          </p:cNvPr>
          <p:cNvSpPr>
            <a:spLocks noGrp="1"/>
          </p:cNvSpPr>
          <p:nvPr/>
        </p:nvSpPr>
        <p:spPr>
          <a:xfrm>
            <a:off x="857250"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изборот на GNN-архитектура влијае врз рангирањето и опфатеноста на точните одговори?</a:t>
            </a:r>
          </a:p>
        </p:txBody>
      </p:sp>
      <p:sp>
        <p:nvSpPr>
          <p:cNvPr id="9" name="Rounded Rectangle 8">
            <a:extLst>
              <a:ext uri="{FF2B5EF4-FFF2-40B4-BE49-F238E27FC236}">
                <a16:creationId xmlns:a16="http://schemas.microsoft.com/office/drawing/2014/main" id="{ABE16631-DF2B-4B51-80DC-0027554B554F}"/>
              </a:ext>
            </a:extLst>
          </p:cNvPr>
          <p:cNvSpPr>
            <a:spLocks noGrp="1"/>
          </p:cNvSpPr>
          <p:nvPr/>
        </p:nvSpPr>
        <p:spPr>
          <a:xfrm>
            <a:off x="4276725" y="1381125"/>
            <a:ext cx="3286125" cy="4095750"/>
          </a:xfrm>
          <a:prstGeom prst="roundRect">
            <a:avLst>
              <a:gd name="adj" fmla="val 5217"/>
            </a:avLst>
          </a:prstGeom>
          <a:solidFill>
            <a:srgbClr val="E8F5F3"/>
          </a:solidFill>
          <a:ln w="19050">
            <a:solidFill>
              <a:srgbClr val="398D84"/>
            </a:solidFill>
            <a:prstDash val="solid"/>
          </a:ln>
        </p:spPr>
        <p:txBody>
          <a:bodyPr/>
          <a:lstStyle/>
          <a:p>
            <a:endParaRPr lang="en-US"/>
          </a:p>
        </p:txBody>
      </p:sp>
      <p:sp>
        <p:nvSpPr>
          <p:cNvPr id="10" name="Oval 9">
            <a:extLst>
              <a:ext uri="{FF2B5EF4-FFF2-40B4-BE49-F238E27FC236}">
                <a16:creationId xmlns:a16="http://schemas.microsoft.com/office/drawing/2014/main" id="{0EE8C8DC-611F-4CE8-9167-0F1CFF35EB6B}"/>
              </a:ext>
            </a:extLst>
          </p:cNvPr>
          <p:cNvSpPr>
            <a:spLocks noGrp="1"/>
          </p:cNvSpPr>
          <p:nvPr/>
        </p:nvSpPr>
        <p:spPr>
          <a:xfrm>
            <a:off x="5486400" y="1714500"/>
            <a:ext cx="857250" cy="857250"/>
          </a:xfrm>
          <a:prstGeom prst="ellipse">
            <a:avLst/>
          </a:prstGeom>
          <a:solidFill>
            <a:srgbClr val="FFFFFF"/>
          </a:solidFill>
          <a:ln w="28575">
            <a:solidFill>
              <a:srgbClr val="398D84"/>
            </a:solidFill>
            <a:prstDash val="solid"/>
          </a:ln>
        </p:spPr>
        <p:txBody>
          <a:bodyPr/>
          <a:lstStyle/>
          <a:p>
            <a:endParaRPr lang="en-US"/>
          </a:p>
        </p:txBody>
      </p:sp>
      <p:sp>
        <p:nvSpPr>
          <p:cNvPr id="11" name="Rectangle 10">
            <a:extLst>
              <a:ext uri="{FF2B5EF4-FFF2-40B4-BE49-F238E27FC236}">
                <a16:creationId xmlns:a16="http://schemas.microsoft.com/office/drawing/2014/main" id="{F2E23EA2-50A5-48B6-919C-88E918B63FC3}"/>
              </a:ext>
            </a:extLst>
          </p:cNvPr>
          <p:cNvSpPr>
            <a:spLocks noGrp="1"/>
          </p:cNvSpPr>
          <p:nvPr/>
        </p:nvSpPr>
        <p:spPr>
          <a:xfrm>
            <a:off x="5486400"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398D84"/>
                </a:solidFill>
                <a:latin typeface="Arial"/>
                <a:ea typeface="Arial"/>
                <a:cs typeface="Arial"/>
              </a:defRPr>
            </a:pPr>
            <a:r>
              <a:rPr sz="2550" b="1" i="0">
                <a:solidFill>
                  <a:srgbClr val="398D84"/>
                </a:solidFill>
                <a:latin typeface="Arial"/>
                <a:ea typeface="Arial"/>
                <a:cs typeface="Arial"/>
              </a:rPr>
              <a:t>2</a:t>
            </a:r>
          </a:p>
        </p:txBody>
      </p:sp>
      <p:sp>
        <p:nvSpPr>
          <p:cNvPr id="12" name="Rectangle 11">
            <a:extLst>
              <a:ext uri="{FF2B5EF4-FFF2-40B4-BE49-F238E27FC236}">
                <a16:creationId xmlns:a16="http://schemas.microsoft.com/office/drawing/2014/main" id="{C6015294-0353-4F31-B6FC-6EB15FEF190C}"/>
              </a:ext>
            </a:extLst>
          </p:cNvPr>
          <p:cNvSpPr>
            <a:spLocks noGrp="1"/>
          </p:cNvSpPr>
          <p:nvPr/>
        </p:nvSpPr>
        <p:spPr>
          <a:xfrm>
            <a:off x="4562475"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398D84"/>
                </a:solidFill>
                <a:latin typeface="Arial"/>
                <a:ea typeface="Arial"/>
                <a:cs typeface="Arial"/>
              </a:defRPr>
            </a:pPr>
            <a:r>
              <a:rPr sz="1725" b="1" i="0">
                <a:solidFill>
                  <a:srgbClr val="398D84"/>
                </a:solidFill>
                <a:latin typeface="Arial"/>
                <a:ea typeface="Arial"/>
                <a:cs typeface="Arial"/>
              </a:rPr>
              <a:t>Доказен подграф</a:t>
            </a:r>
          </a:p>
        </p:txBody>
      </p:sp>
      <p:sp>
        <p:nvSpPr>
          <p:cNvPr id="13" name="Rectangle 12">
            <a:extLst>
              <a:ext uri="{FF2B5EF4-FFF2-40B4-BE49-F238E27FC236}">
                <a16:creationId xmlns:a16="http://schemas.microsoft.com/office/drawing/2014/main" id="{453DF4BA-78AC-4DCE-9F27-F96D72AD65A5}"/>
              </a:ext>
            </a:extLst>
          </p:cNvPr>
          <p:cNvSpPr>
            <a:spLocks noGrp="1"/>
          </p:cNvSpPr>
          <p:nvPr/>
        </p:nvSpPr>
        <p:spPr>
          <a:xfrm>
            <a:off x="4581525"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конструкцијата на доказниот подграф влијае врз компактноста и зачувувањето на релевантните информации?</a:t>
            </a:r>
          </a:p>
        </p:txBody>
      </p:sp>
      <p:sp>
        <p:nvSpPr>
          <p:cNvPr id="14" name="Rounded Rectangle 13">
            <a:extLst>
              <a:ext uri="{FF2B5EF4-FFF2-40B4-BE49-F238E27FC236}">
                <a16:creationId xmlns:a16="http://schemas.microsoft.com/office/drawing/2014/main" id="{57583A76-9F44-4FD8-A7C7-BA75177B8FE2}"/>
              </a:ext>
            </a:extLst>
          </p:cNvPr>
          <p:cNvSpPr>
            <a:spLocks noGrp="1"/>
          </p:cNvSpPr>
          <p:nvPr/>
        </p:nvSpPr>
        <p:spPr>
          <a:xfrm>
            <a:off x="8001000" y="1381125"/>
            <a:ext cx="3286125" cy="4095750"/>
          </a:xfrm>
          <a:prstGeom prst="roundRect">
            <a:avLst>
              <a:gd name="adj" fmla="val 5217"/>
            </a:avLst>
          </a:prstGeom>
          <a:solidFill>
            <a:srgbClr val="F1ECF7"/>
          </a:solidFill>
          <a:ln w="19050">
            <a:solidFill>
              <a:srgbClr val="8064A2"/>
            </a:solidFill>
            <a:prstDash val="solid"/>
          </a:ln>
        </p:spPr>
        <p:txBody>
          <a:bodyPr/>
          <a:lstStyle/>
          <a:p>
            <a:endParaRPr lang="en-US"/>
          </a:p>
        </p:txBody>
      </p:sp>
      <p:sp>
        <p:nvSpPr>
          <p:cNvPr id="15" name="Oval 14">
            <a:extLst>
              <a:ext uri="{FF2B5EF4-FFF2-40B4-BE49-F238E27FC236}">
                <a16:creationId xmlns:a16="http://schemas.microsoft.com/office/drawing/2014/main" id="{DAF2DCE8-8EC6-474B-9304-0F616F02ECCF}"/>
              </a:ext>
            </a:extLst>
          </p:cNvPr>
          <p:cNvSpPr>
            <a:spLocks noGrp="1"/>
          </p:cNvSpPr>
          <p:nvPr/>
        </p:nvSpPr>
        <p:spPr>
          <a:xfrm>
            <a:off x="9210675" y="1714500"/>
            <a:ext cx="857250" cy="857250"/>
          </a:xfrm>
          <a:prstGeom prst="ellipse">
            <a:avLst/>
          </a:prstGeom>
          <a:solidFill>
            <a:srgbClr val="FFFFFF"/>
          </a:solidFill>
          <a:ln w="28575">
            <a:solidFill>
              <a:srgbClr val="8064A2"/>
            </a:solidFill>
            <a:prstDash val="solid"/>
          </a:ln>
        </p:spPr>
        <p:txBody>
          <a:bodyPr/>
          <a:lstStyle/>
          <a:p>
            <a:endParaRPr lang="en-US"/>
          </a:p>
        </p:txBody>
      </p:sp>
      <p:sp>
        <p:nvSpPr>
          <p:cNvPr id="16" name="Rectangle 15">
            <a:extLst>
              <a:ext uri="{FF2B5EF4-FFF2-40B4-BE49-F238E27FC236}">
                <a16:creationId xmlns:a16="http://schemas.microsoft.com/office/drawing/2014/main" id="{B62C371C-792B-4C81-8822-E800E1B9BA11}"/>
              </a:ext>
            </a:extLst>
          </p:cNvPr>
          <p:cNvSpPr>
            <a:spLocks noGrp="1"/>
          </p:cNvSpPr>
          <p:nvPr/>
        </p:nvSpPr>
        <p:spPr>
          <a:xfrm>
            <a:off x="9210675" y="1743075"/>
            <a:ext cx="857250" cy="800100"/>
          </a:xfrm>
          <a:prstGeom prst="rect">
            <a:avLst/>
          </a:prstGeom>
          <a:noFill/>
          <a:ln w="0">
            <a:noFill/>
            <a:prstDash val="solid"/>
          </a:ln>
        </p:spPr>
        <p:txBody>
          <a:bodyPr wrap="square" lIns="38100" tIns="19050" rIns="38100" bIns="19050" anchor="ctr">
            <a:normAutofit/>
          </a:bodyPr>
          <a:lstStyle/>
          <a:p>
            <a:pPr algn="ctr">
              <a:defRPr sz="2550" b="1" i="0">
                <a:solidFill>
                  <a:srgbClr val="8064A2"/>
                </a:solidFill>
                <a:latin typeface="Arial"/>
                <a:ea typeface="Arial"/>
                <a:cs typeface="Arial"/>
              </a:defRPr>
            </a:pPr>
            <a:r>
              <a:rPr sz="2550" b="1" i="0">
                <a:solidFill>
                  <a:srgbClr val="8064A2"/>
                </a:solidFill>
                <a:latin typeface="Arial"/>
                <a:ea typeface="Arial"/>
                <a:cs typeface="Arial"/>
              </a:rPr>
              <a:t>3</a:t>
            </a:r>
          </a:p>
        </p:txBody>
      </p:sp>
      <p:sp>
        <p:nvSpPr>
          <p:cNvPr id="17" name="Rectangle 16">
            <a:extLst>
              <a:ext uri="{FF2B5EF4-FFF2-40B4-BE49-F238E27FC236}">
                <a16:creationId xmlns:a16="http://schemas.microsoft.com/office/drawing/2014/main" id="{A4AE5C0D-47AB-415B-8E69-4A533DDB7371}"/>
              </a:ext>
            </a:extLst>
          </p:cNvPr>
          <p:cNvSpPr>
            <a:spLocks noGrp="1"/>
          </p:cNvSpPr>
          <p:nvPr/>
        </p:nvSpPr>
        <p:spPr>
          <a:xfrm>
            <a:off x="8286750" y="2857500"/>
            <a:ext cx="2714625" cy="666750"/>
          </a:xfrm>
          <a:prstGeom prst="rect">
            <a:avLst/>
          </a:prstGeom>
          <a:noFill/>
          <a:ln w="0">
            <a:noFill/>
            <a:prstDash val="solid"/>
          </a:ln>
        </p:spPr>
        <p:txBody>
          <a:bodyPr wrap="square" lIns="38100" tIns="19050" rIns="38100" bIns="19050" anchor="ctr">
            <a:normAutofit/>
          </a:bodyPr>
          <a:lstStyle/>
          <a:p>
            <a:pPr algn="ctr">
              <a:defRPr sz="1725" b="1" i="0">
                <a:solidFill>
                  <a:srgbClr val="8064A2"/>
                </a:solidFill>
                <a:latin typeface="Arial"/>
                <a:ea typeface="Arial"/>
                <a:cs typeface="Arial"/>
              </a:defRPr>
            </a:pPr>
            <a:r>
              <a:rPr sz="1725" b="1" i="0">
                <a:solidFill>
                  <a:srgbClr val="8064A2"/>
                </a:solidFill>
                <a:latin typeface="Arial"/>
                <a:ea typeface="Arial"/>
                <a:cs typeface="Arial"/>
              </a:rPr>
              <a:t>Јазичен модел</a:t>
            </a:r>
          </a:p>
        </p:txBody>
      </p:sp>
      <p:sp>
        <p:nvSpPr>
          <p:cNvPr id="18" name="Rectangle 17">
            <a:extLst>
              <a:ext uri="{FF2B5EF4-FFF2-40B4-BE49-F238E27FC236}">
                <a16:creationId xmlns:a16="http://schemas.microsoft.com/office/drawing/2014/main" id="{E379C12B-7F1B-45E3-9D31-7418E8DFC9C2}"/>
              </a:ext>
            </a:extLst>
          </p:cNvPr>
          <p:cNvSpPr>
            <a:spLocks noGrp="1"/>
          </p:cNvSpPr>
          <p:nvPr/>
        </p:nvSpPr>
        <p:spPr>
          <a:xfrm>
            <a:off x="8305800" y="3638550"/>
            <a:ext cx="2676525" cy="1285875"/>
          </a:xfrm>
          <a:prstGeom prst="rect">
            <a:avLst/>
          </a:prstGeom>
          <a:noFill/>
          <a:ln w="0">
            <a:noFill/>
            <a:prstDash val="solid"/>
          </a:ln>
        </p:spPr>
        <p:txBody>
          <a:bodyPr wrap="square" lIns="38100" tIns="19050" rIns="38100" bIns="19050" anchor="t">
            <a:normAutofit/>
          </a:bodyPr>
          <a:lstStyle/>
          <a:p>
            <a:pPr algn="ctr">
              <a:defRPr sz="1425" b="0" i="0">
                <a:solidFill>
                  <a:srgbClr val="263746"/>
                </a:solidFill>
                <a:latin typeface="Arial"/>
                <a:ea typeface="Arial"/>
                <a:cs typeface="Arial"/>
              </a:defRPr>
            </a:pPr>
            <a:r>
              <a:rPr sz="1425" b="0" i="0">
                <a:solidFill>
                  <a:srgbClr val="263746"/>
                </a:solidFill>
                <a:latin typeface="Arial"/>
                <a:ea typeface="Arial"/>
                <a:cs typeface="Arial"/>
              </a:rPr>
              <a:t>Како изборот на LLM влијае врз конечната точност и искористувањето на достапниот доказен контекст?</a:t>
            </a:r>
          </a:p>
        </p:txBody>
      </p:sp>
    </p:spTree>
    <p:extLst>
      <p:ext uri="{BB962C8B-B14F-4D97-AF65-F5344CB8AC3E}">
        <p14:creationId xmlns:p14="http://schemas.microsoft.com/office/powerpoint/2010/main" val="1103904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83B8B409-9F74-4583-9D64-33477865012F}"/>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Податочно множество и експериментална поставеност</a:t>
            </a:r>
          </a:p>
        </p:txBody>
      </p:sp>
      <p:sp>
        <p:nvSpPr>
          <p:cNvPr id="2" name="Rectangle 1">
            <a:extLst>
              <a:ext uri="{FF2B5EF4-FFF2-40B4-BE49-F238E27FC236}">
                <a16:creationId xmlns:a16="http://schemas.microsoft.com/office/drawing/2014/main" id="{A2C19361-C0C6-4BFD-979C-246A3C9DBB15}"/>
              </a:ext>
            </a:extLst>
          </p:cNvPr>
          <p:cNvSpPr>
            <a:spLocks noGrp="1"/>
          </p:cNvSpPr>
          <p:nvPr/>
        </p:nvSpPr>
        <p:spPr>
          <a:xfrm>
            <a:off x="552450" y="781050"/>
            <a:ext cx="11087100" cy="38100"/>
          </a:xfrm>
          <a:prstGeom prst="rect">
            <a:avLst/>
          </a:prstGeom>
          <a:solidFill>
            <a:srgbClr val="4F86C6"/>
          </a:solidFill>
          <a:ln w="0">
            <a:noFill/>
            <a:prstDash val="solid"/>
          </a:ln>
        </p:spPr>
        <p:txBody>
          <a:bodyPr/>
          <a:lstStyle/>
          <a:p>
            <a:endParaRPr lang="en-US"/>
          </a:p>
        </p:txBody>
      </p:sp>
      <p:sp>
        <p:nvSpPr>
          <p:cNvPr id="3" name="Rectangle 2">
            <a:extLst>
              <a:ext uri="{FF2B5EF4-FFF2-40B4-BE49-F238E27FC236}">
                <a16:creationId xmlns:a16="http://schemas.microsoft.com/office/drawing/2014/main" id="{6E18DB0E-475F-4B11-B97C-62CA6BE3F8F2}"/>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WebQSP: Yih et al., 2016</a:t>
            </a:r>
          </a:p>
        </p:txBody>
      </p:sp>
      <p:sp>
        <p:nvSpPr>
          <p:cNvPr id="4" name="Rectangle 3">
            <a:extLst>
              <a:ext uri="{FF2B5EF4-FFF2-40B4-BE49-F238E27FC236}">
                <a16:creationId xmlns:a16="http://schemas.microsoft.com/office/drawing/2014/main" id="{13201915-D21E-4A2C-B5D5-9DA95FD9C052}"/>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6</a:t>
            </a:r>
          </a:p>
        </p:txBody>
      </p:sp>
      <p:sp>
        <p:nvSpPr>
          <p:cNvPr id="5" name="Rounded Rectangle 4">
            <a:extLst>
              <a:ext uri="{FF2B5EF4-FFF2-40B4-BE49-F238E27FC236}">
                <a16:creationId xmlns:a16="http://schemas.microsoft.com/office/drawing/2014/main" id="{CF979789-B5F5-4152-990E-D14BAE93EAD0}"/>
              </a:ext>
            </a:extLst>
          </p:cNvPr>
          <p:cNvSpPr>
            <a:spLocks noGrp="1"/>
          </p:cNvSpPr>
          <p:nvPr/>
        </p:nvSpPr>
        <p:spPr>
          <a:xfrm>
            <a:off x="552450" y="1104900"/>
            <a:ext cx="4238625" cy="4667250"/>
          </a:xfrm>
          <a:prstGeom prst="roundRect">
            <a:avLst>
              <a:gd name="adj" fmla="val 3146"/>
            </a:avLst>
          </a:prstGeom>
          <a:solidFill>
            <a:srgbClr val="EAF2FB"/>
          </a:solidFill>
          <a:ln w="17145">
            <a:solidFill>
              <a:srgbClr val="4F86C6"/>
            </a:solidFill>
            <a:prstDash val="solid"/>
          </a:ln>
        </p:spPr>
        <p:txBody>
          <a:bodyPr/>
          <a:lstStyle/>
          <a:p>
            <a:endParaRPr lang="en-US" dirty="0"/>
          </a:p>
        </p:txBody>
      </p:sp>
      <p:sp>
        <p:nvSpPr>
          <p:cNvPr id="6" name="Rectangle 5">
            <a:extLst>
              <a:ext uri="{FF2B5EF4-FFF2-40B4-BE49-F238E27FC236}">
                <a16:creationId xmlns:a16="http://schemas.microsoft.com/office/drawing/2014/main" id="{B5E262D2-E960-4E02-ACBB-748E0EBD5881}"/>
              </a:ext>
            </a:extLst>
          </p:cNvPr>
          <p:cNvSpPr>
            <a:spLocks noGrp="1"/>
          </p:cNvSpPr>
          <p:nvPr/>
        </p:nvSpPr>
        <p:spPr>
          <a:xfrm>
            <a:off x="838200" y="1333500"/>
            <a:ext cx="3667125" cy="457200"/>
          </a:xfrm>
          <a:prstGeom prst="rect">
            <a:avLst/>
          </a:prstGeom>
          <a:noFill/>
          <a:ln w="0">
            <a:noFill/>
            <a:prstDash val="solid"/>
          </a:ln>
        </p:spPr>
        <p:txBody>
          <a:bodyPr wrap="square" lIns="38100" tIns="19050" rIns="38100" bIns="19050" anchor="ctr">
            <a:normAutofit/>
          </a:bodyPr>
          <a:lstStyle/>
          <a:p>
            <a:pPr algn="l">
              <a:defRPr sz="2025" b="1" i="0">
                <a:solidFill>
                  <a:srgbClr val="4F86C6"/>
                </a:solidFill>
                <a:latin typeface="Arial"/>
                <a:ea typeface="Arial"/>
                <a:cs typeface="Arial"/>
              </a:defRPr>
            </a:pPr>
            <a:r>
              <a:rPr sz="2025" b="1" i="0">
                <a:solidFill>
                  <a:srgbClr val="4F86C6"/>
                </a:solidFill>
                <a:latin typeface="Arial"/>
                <a:ea typeface="Arial"/>
                <a:cs typeface="Arial"/>
              </a:rPr>
              <a:t>WebQuestionsSP</a:t>
            </a:r>
          </a:p>
        </p:txBody>
      </p:sp>
      <p:sp>
        <p:nvSpPr>
          <p:cNvPr id="7" name="Oval 6">
            <a:extLst>
              <a:ext uri="{FF2B5EF4-FFF2-40B4-BE49-F238E27FC236}">
                <a16:creationId xmlns:a16="http://schemas.microsoft.com/office/drawing/2014/main" id="{36342984-F701-4369-9B93-EC40C9856DBF}"/>
              </a:ext>
            </a:extLst>
          </p:cNvPr>
          <p:cNvSpPr>
            <a:spLocks noGrp="1"/>
          </p:cNvSpPr>
          <p:nvPr/>
        </p:nvSpPr>
        <p:spPr>
          <a:xfrm>
            <a:off x="876300" y="2152650"/>
            <a:ext cx="66675" cy="66675"/>
          </a:xfrm>
          <a:prstGeom prst="ellipse">
            <a:avLst/>
          </a:prstGeom>
          <a:solidFill>
            <a:srgbClr val="263746"/>
          </a:solidFill>
          <a:ln w="0">
            <a:noFill/>
            <a:prstDash val="solid"/>
          </a:ln>
        </p:spPr>
        <p:txBody>
          <a:bodyPr/>
          <a:lstStyle/>
          <a:p>
            <a:endParaRPr lang="en-US"/>
          </a:p>
        </p:txBody>
      </p:sp>
      <p:sp>
        <p:nvSpPr>
          <p:cNvPr id="8" name="Rectangle 7">
            <a:extLst>
              <a:ext uri="{FF2B5EF4-FFF2-40B4-BE49-F238E27FC236}">
                <a16:creationId xmlns:a16="http://schemas.microsoft.com/office/drawing/2014/main" id="{71962B11-F6F8-47DE-9C6B-4E0590B7AF94}"/>
              </a:ext>
            </a:extLst>
          </p:cNvPr>
          <p:cNvSpPr>
            <a:spLocks noGrp="1"/>
          </p:cNvSpPr>
          <p:nvPr/>
        </p:nvSpPr>
        <p:spPr>
          <a:xfrm>
            <a:off x="1047750" y="2047875"/>
            <a:ext cx="3305175" cy="60960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Прашања на природен јазик поврзани со Freebase</a:t>
            </a:r>
          </a:p>
        </p:txBody>
      </p:sp>
      <p:sp>
        <p:nvSpPr>
          <p:cNvPr id="9" name="Oval 8">
            <a:extLst>
              <a:ext uri="{FF2B5EF4-FFF2-40B4-BE49-F238E27FC236}">
                <a16:creationId xmlns:a16="http://schemas.microsoft.com/office/drawing/2014/main" id="{18977199-09BF-4D42-8E9D-621EE2C90C47}"/>
              </a:ext>
            </a:extLst>
          </p:cNvPr>
          <p:cNvSpPr>
            <a:spLocks noGrp="1"/>
          </p:cNvSpPr>
          <p:nvPr/>
        </p:nvSpPr>
        <p:spPr>
          <a:xfrm>
            <a:off x="876300" y="2962275"/>
            <a:ext cx="66675" cy="66675"/>
          </a:xfrm>
          <a:prstGeom prst="ellipse">
            <a:avLst/>
          </a:prstGeom>
          <a:solidFill>
            <a:srgbClr val="263746"/>
          </a:solidFill>
          <a:ln w="0">
            <a:noFill/>
            <a:prstDash val="solid"/>
          </a:ln>
        </p:spPr>
        <p:txBody>
          <a:bodyPr/>
          <a:lstStyle/>
          <a:p>
            <a:endParaRPr lang="en-US"/>
          </a:p>
        </p:txBody>
      </p:sp>
      <p:sp>
        <p:nvSpPr>
          <p:cNvPr id="10" name="Rectangle 9">
            <a:extLst>
              <a:ext uri="{FF2B5EF4-FFF2-40B4-BE49-F238E27FC236}">
                <a16:creationId xmlns:a16="http://schemas.microsoft.com/office/drawing/2014/main" id="{93EAE5FA-532A-4951-ACA7-67B23E9B4564}"/>
              </a:ext>
            </a:extLst>
          </p:cNvPr>
          <p:cNvSpPr>
            <a:spLocks noGrp="1"/>
          </p:cNvSpPr>
          <p:nvPr/>
        </p:nvSpPr>
        <p:spPr>
          <a:xfrm>
            <a:off x="1047750" y="2857500"/>
            <a:ext cx="3305175" cy="47625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Локален граф за секое прашање</a:t>
            </a:r>
          </a:p>
        </p:txBody>
      </p:sp>
      <p:sp>
        <p:nvSpPr>
          <p:cNvPr id="11" name="Oval 10">
            <a:extLst>
              <a:ext uri="{FF2B5EF4-FFF2-40B4-BE49-F238E27FC236}">
                <a16:creationId xmlns:a16="http://schemas.microsoft.com/office/drawing/2014/main" id="{CF9720E9-BAA2-4F9F-B283-C7A16AF9A71A}"/>
              </a:ext>
            </a:extLst>
          </p:cNvPr>
          <p:cNvSpPr>
            <a:spLocks noGrp="1"/>
          </p:cNvSpPr>
          <p:nvPr/>
        </p:nvSpPr>
        <p:spPr>
          <a:xfrm>
            <a:off x="876300" y="3581400"/>
            <a:ext cx="66675" cy="66675"/>
          </a:xfrm>
          <a:prstGeom prst="ellipse">
            <a:avLst/>
          </a:prstGeom>
          <a:solidFill>
            <a:srgbClr val="263746"/>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F1813C66-B241-40F3-A7FA-1C0D7C4BD743}"/>
              </a:ext>
            </a:extLst>
          </p:cNvPr>
          <p:cNvSpPr>
            <a:spLocks noGrp="1"/>
          </p:cNvSpPr>
          <p:nvPr/>
        </p:nvSpPr>
        <p:spPr>
          <a:xfrm>
            <a:off x="1047750" y="3476625"/>
            <a:ext cx="3305175" cy="609600"/>
          </a:xfrm>
          <a:prstGeom prst="rect">
            <a:avLst/>
          </a:prstGeom>
          <a:noFill/>
          <a:ln w="0">
            <a:noFill/>
            <a:prstDash val="solid"/>
          </a:ln>
        </p:spPr>
        <p:txBody>
          <a:bodyPr wrap="square" lIns="38100" tIns="19050" rIns="38100" bIns="19050" anchor="t">
            <a:normAutofit/>
          </a:bodyPr>
          <a:lstStyle/>
          <a:p>
            <a:pPr algn="l">
              <a:defRPr sz="1425" b="0" i="0">
                <a:solidFill>
                  <a:srgbClr val="263746"/>
                </a:solidFill>
                <a:latin typeface="Arial"/>
                <a:ea typeface="Arial"/>
                <a:cs typeface="Arial"/>
              </a:defRPr>
            </a:pPr>
            <a:r>
              <a:rPr sz="1425" b="0" i="0">
                <a:solidFill>
                  <a:srgbClr val="263746"/>
                </a:solidFill>
                <a:latin typeface="Arial"/>
                <a:ea typeface="Arial"/>
                <a:cs typeface="Arial"/>
              </a:rPr>
              <a:t>Познати почетни ентитети и точни одговори</a:t>
            </a:r>
          </a:p>
        </p:txBody>
      </p:sp>
      <p:sp>
        <p:nvSpPr>
          <p:cNvPr id="13" name="Rectangle 12">
            <a:extLst>
              <a:ext uri="{FF2B5EF4-FFF2-40B4-BE49-F238E27FC236}">
                <a16:creationId xmlns:a16="http://schemas.microsoft.com/office/drawing/2014/main" id="{9584CA23-938F-468F-9120-7273716863E0}"/>
              </a:ext>
            </a:extLst>
          </p:cNvPr>
          <p:cNvSpPr>
            <a:spLocks noGrp="1"/>
          </p:cNvSpPr>
          <p:nvPr/>
        </p:nvSpPr>
        <p:spPr>
          <a:xfrm>
            <a:off x="838200" y="4429125"/>
            <a:ext cx="3667125" cy="342900"/>
          </a:xfrm>
          <a:prstGeom prst="rect">
            <a:avLst/>
          </a:prstGeom>
          <a:noFill/>
          <a:ln w="0">
            <a:noFill/>
            <a:prstDash val="solid"/>
          </a:ln>
        </p:spPr>
        <p:txBody>
          <a:bodyPr wrap="square" lIns="38100" tIns="19050" rIns="38100" bIns="19050" anchor="ctr">
            <a:normAutofit/>
          </a:bodyPr>
          <a:lstStyle/>
          <a:p>
            <a:pPr>
              <a:defRPr sz="1500" b="1" i="0">
                <a:solidFill>
                  <a:srgbClr val="263746"/>
                </a:solidFill>
                <a:latin typeface="Arial"/>
                <a:ea typeface="Arial"/>
                <a:cs typeface="Arial"/>
              </a:defRPr>
            </a:pPr>
            <a:r>
              <a:rPr lang="mk-MK" sz="1600" b="1" dirty="0">
                <a:solidFill>
                  <a:srgbClr val="263746"/>
                </a:solidFill>
                <a:latin typeface="Arial"/>
                <a:ea typeface="Arial"/>
                <a:cs typeface="Arial"/>
              </a:rPr>
              <a:t>Поделба на податоците</a:t>
            </a:r>
            <a:endParaRPr sz="1500" b="1" i="0" dirty="0">
              <a:solidFill>
                <a:srgbClr val="263746"/>
              </a:solidFill>
              <a:latin typeface="Arial"/>
              <a:ea typeface="Arial"/>
              <a:cs typeface="Arial"/>
            </a:endParaRPr>
          </a:p>
        </p:txBody>
      </p:sp>
      <p:sp>
        <p:nvSpPr>
          <p:cNvPr id="14" name="Rectangle 13">
            <a:extLst>
              <a:ext uri="{FF2B5EF4-FFF2-40B4-BE49-F238E27FC236}">
                <a16:creationId xmlns:a16="http://schemas.microsoft.com/office/drawing/2014/main" id="{CF40BA68-DEB3-4EC3-92CE-4A5F7B27712B}"/>
              </a:ext>
            </a:extLst>
          </p:cNvPr>
          <p:cNvSpPr>
            <a:spLocks noGrp="1"/>
          </p:cNvSpPr>
          <p:nvPr/>
        </p:nvSpPr>
        <p:spPr>
          <a:xfrm>
            <a:off x="838200" y="4810125"/>
            <a:ext cx="3667125" cy="590550"/>
          </a:xfrm>
          <a:prstGeom prst="rect">
            <a:avLst/>
          </a:prstGeom>
          <a:noFill/>
          <a:ln w="0">
            <a:noFill/>
            <a:prstDash val="solid"/>
          </a:ln>
        </p:spPr>
        <p:txBody>
          <a:bodyPr wrap="square" lIns="38100" tIns="19050" rIns="38100" bIns="19050" anchor="ctr">
            <a:normAutofit/>
          </a:bodyPr>
          <a:lstStyle/>
          <a:p>
            <a:pPr algn="l">
              <a:defRPr sz="1350" b="0" i="0">
                <a:solidFill>
                  <a:srgbClr val="617080"/>
                </a:solidFill>
                <a:latin typeface="Arial"/>
                <a:ea typeface="Arial"/>
                <a:cs typeface="Arial"/>
              </a:defRPr>
            </a:pPr>
            <a:r>
              <a:rPr lang="mk-MK" sz="1350" b="0" i="0" dirty="0">
                <a:solidFill>
                  <a:srgbClr val="617080"/>
                </a:solidFill>
                <a:latin typeface="Arial"/>
                <a:ea typeface="Arial"/>
                <a:cs typeface="Arial"/>
              </a:rPr>
              <a:t>Трени</a:t>
            </a:r>
            <a:r>
              <a:rPr lang="mk-MK" sz="1350" dirty="0">
                <a:solidFill>
                  <a:srgbClr val="617080"/>
                </a:solidFill>
                <a:latin typeface="Arial"/>
                <a:ea typeface="Arial"/>
                <a:cs typeface="Arial"/>
              </a:rPr>
              <a:t>рање: 2.848</a:t>
            </a:r>
          </a:p>
          <a:p>
            <a:pPr>
              <a:defRPr sz="1350" b="0" i="0">
                <a:solidFill>
                  <a:srgbClr val="617080"/>
                </a:solidFill>
                <a:latin typeface="Arial"/>
                <a:ea typeface="Arial"/>
                <a:cs typeface="Arial"/>
              </a:defRPr>
            </a:pPr>
            <a:r>
              <a:rPr lang="mk-MK" sz="1350" b="0" i="0" dirty="0">
                <a:solidFill>
                  <a:srgbClr val="617080"/>
                </a:solidFill>
                <a:latin typeface="Arial"/>
                <a:ea typeface="Arial"/>
                <a:cs typeface="Arial"/>
              </a:rPr>
              <a:t>Валидација: </a:t>
            </a:r>
            <a:r>
              <a:rPr lang="mk-MK" sz="1350" dirty="0">
                <a:solidFill>
                  <a:srgbClr val="617080"/>
                </a:solidFill>
                <a:latin typeface="Arial"/>
                <a:ea typeface="Arial"/>
                <a:cs typeface="Arial"/>
              </a:rPr>
              <a:t>250 · Тест: 1639</a:t>
            </a:r>
            <a:endParaRPr lang="mk-MK" sz="1350" b="0" i="0" dirty="0">
              <a:solidFill>
                <a:srgbClr val="617080"/>
              </a:solidFill>
              <a:latin typeface="Arial"/>
              <a:ea typeface="Arial"/>
              <a:cs typeface="Arial"/>
            </a:endParaRPr>
          </a:p>
        </p:txBody>
      </p:sp>
      <p:sp>
        <p:nvSpPr>
          <p:cNvPr id="15" name="Rectangle 14">
            <a:extLst>
              <a:ext uri="{FF2B5EF4-FFF2-40B4-BE49-F238E27FC236}">
                <a16:creationId xmlns:a16="http://schemas.microsoft.com/office/drawing/2014/main" id="{2825FCA7-CBAB-4E51-8753-A7F60FD36E2F}"/>
              </a:ext>
            </a:extLst>
          </p:cNvPr>
          <p:cNvSpPr>
            <a:spLocks noGrp="1"/>
          </p:cNvSpPr>
          <p:nvPr/>
        </p:nvSpPr>
        <p:spPr>
          <a:xfrm>
            <a:off x="5334000" y="1200150"/>
            <a:ext cx="6096000" cy="361950"/>
          </a:xfrm>
          <a:prstGeom prst="rect">
            <a:avLst/>
          </a:prstGeom>
          <a:noFill/>
          <a:ln w="0">
            <a:noFill/>
            <a:prstDash val="solid"/>
          </a:ln>
        </p:spPr>
        <p:txBody>
          <a:bodyPr wrap="square" lIns="38100" tIns="19050" rIns="38100" bIns="19050" anchor="ctr">
            <a:normAutofit/>
          </a:bodyPr>
          <a:lstStyle/>
          <a:p>
            <a:pPr>
              <a:defRPr sz="1725" b="1" i="0">
                <a:solidFill>
                  <a:srgbClr val="263746"/>
                </a:solidFill>
                <a:latin typeface="Arial"/>
                <a:ea typeface="Arial"/>
                <a:cs typeface="Arial"/>
              </a:defRPr>
            </a:pPr>
            <a:r>
              <a:rPr lang="mk-MK" b="1" dirty="0">
                <a:solidFill>
                  <a:srgbClr val="263746"/>
                </a:solidFill>
                <a:latin typeface="Arial"/>
                <a:ea typeface="Arial"/>
                <a:cs typeface="Arial"/>
              </a:rPr>
              <a:t>Заедничка конфигурација</a:t>
            </a:r>
            <a:endParaRPr sz="1725" b="1" i="0" dirty="0">
              <a:solidFill>
                <a:srgbClr val="263746"/>
              </a:solidFill>
              <a:latin typeface="Arial"/>
              <a:ea typeface="Arial"/>
              <a:cs typeface="Arial"/>
            </a:endParaRPr>
          </a:p>
        </p:txBody>
      </p:sp>
      <p:sp>
        <p:nvSpPr>
          <p:cNvPr id="16" name="Rounded Rectangle 15">
            <a:extLst>
              <a:ext uri="{FF2B5EF4-FFF2-40B4-BE49-F238E27FC236}">
                <a16:creationId xmlns:a16="http://schemas.microsoft.com/office/drawing/2014/main" id="{737A5762-7714-4D9F-BC39-0D409D0E4A5E}"/>
              </a:ext>
            </a:extLst>
          </p:cNvPr>
          <p:cNvSpPr>
            <a:spLocks noGrp="1"/>
          </p:cNvSpPr>
          <p:nvPr/>
        </p:nvSpPr>
        <p:spPr>
          <a:xfrm>
            <a:off x="5333999" y="1809750"/>
            <a:ext cx="1807029" cy="1285875"/>
          </a:xfrm>
          <a:prstGeom prst="roundRect">
            <a:avLst>
              <a:gd name="adj" fmla="val 10370"/>
            </a:avLst>
          </a:prstGeom>
          <a:solidFill>
            <a:srgbClr val="FFFFFF"/>
          </a:solidFill>
          <a:ln w="17145">
            <a:solidFill>
              <a:srgbClr val="D97942"/>
            </a:solidFill>
            <a:prstDash val="solid"/>
          </a:ln>
        </p:spPr>
        <p:txBody>
          <a:bodyPr/>
          <a:lstStyle/>
          <a:p>
            <a:endParaRPr lang="en-US"/>
          </a:p>
        </p:txBody>
      </p:sp>
      <p:sp>
        <p:nvSpPr>
          <p:cNvPr id="17" name="Rectangle 16">
            <a:extLst>
              <a:ext uri="{FF2B5EF4-FFF2-40B4-BE49-F238E27FC236}">
                <a16:creationId xmlns:a16="http://schemas.microsoft.com/office/drawing/2014/main" id="{B3EEBBA1-38E5-44D0-BB1B-0473C7429B37}"/>
              </a:ext>
            </a:extLst>
          </p:cNvPr>
          <p:cNvSpPr>
            <a:spLocks noGrp="1"/>
          </p:cNvSpPr>
          <p:nvPr/>
        </p:nvSpPr>
        <p:spPr>
          <a:xfrm>
            <a:off x="5370738" y="2025287"/>
            <a:ext cx="1733550" cy="514350"/>
          </a:xfrm>
          <a:prstGeom prst="rect">
            <a:avLst/>
          </a:prstGeom>
          <a:noFill/>
          <a:ln w="0">
            <a:noFill/>
            <a:prstDash val="solid"/>
          </a:ln>
        </p:spPr>
        <p:txBody>
          <a:bodyPr wrap="square" lIns="38100" tIns="19050" rIns="38100" bIns="19050" anchor="ctr">
            <a:normAutofit fontScale="85000" lnSpcReduction="10000"/>
          </a:bodyPr>
          <a:lstStyle/>
          <a:p>
            <a:pPr algn="ctr">
              <a:defRPr sz="2400" b="1" i="0">
                <a:solidFill>
                  <a:srgbClr val="D97942"/>
                </a:solidFill>
                <a:latin typeface="Arial"/>
                <a:ea typeface="Arial"/>
                <a:cs typeface="Arial"/>
              </a:defRPr>
            </a:pPr>
            <a:r>
              <a:rPr lang="mk-MK" sz="2400" b="1" dirty="0">
                <a:solidFill>
                  <a:srgbClr val="D97942"/>
                </a:solidFill>
                <a:latin typeface="Arial"/>
                <a:ea typeface="Arial"/>
                <a:cs typeface="Arial"/>
              </a:rPr>
              <a:t>Извршувања</a:t>
            </a:r>
            <a:endParaRPr sz="2400" b="1" i="0" dirty="0">
              <a:solidFill>
                <a:srgbClr val="D97942"/>
              </a:solidFill>
              <a:latin typeface="Arial"/>
              <a:ea typeface="Arial"/>
              <a:cs typeface="Arial"/>
            </a:endParaRPr>
          </a:p>
        </p:txBody>
      </p:sp>
      <p:sp>
        <p:nvSpPr>
          <p:cNvPr id="18" name="Rectangle 17">
            <a:extLst>
              <a:ext uri="{FF2B5EF4-FFF2-40B4-BE49-F238E27FC236}">
                <a16:creationId xmlns:a16="http://schemas.microsoft.com/office/drawing/2014/main" id="{012A8DDF-3CEF-4973-A4D0-0B6B8639DDF1}"/>
              </a:ext>
            </a:extLst>
          </p:cNvPr>
          <p:cNvSpPr>
            <a:spLocks noGrp="1"/>
          </p:cNvSpPr>
          <p:nvPr/>
        </p:nvSpPr>
        <p:spPr>
          <a:xfrm>
            <a:off x="544830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3, независни</a:t>
            </a:r>
            <a:endParaRPr sz="1200" b="0" i="0" dirty="0">
              <a:solidFill>
                <a:srgbClr val="617080"/>
              </a:solidFill>
              <a:latin typeface="Arial"/>
              <a:ea typeface="Arial"/>
              <a:cs typeface="Arial"/>
            </a:endParaRPr>
          </a:p>
        </p:txBody>
      </p:sp>
      <p:sp>
        <p:nvSpPr>
          <p:cNvPr id="19" name="Rounded Rectangle 18">
            <a:extLst>
              <a:ext uri="{FF2B5EF4-FFF2-40B4-BE49-F238E27FC236}">
                <a16:creationId xmlns:a16="http://schemas.microsoft.com/office/drawing/2014/main" id="{D3C0C236-23CD-4454-B531-66127A597C36}"/>
              </a:ext>
            </a:extLst>
          </p:cNvPr>
          <p:cNvSpPr>
            <a:spLocks noGrp="1"/>
          </p:cNvSpPr>
          <p:nvPr/>
        </p:nvSpPr>
        <p:spPr>
          <a:xfrm>
            <a:off x="7334250" y="1809750"/>
            <a:ext cx="1733550" cy="1285875"/>
          </a:xfrm>
          <a:prstGeom prst="roundRect">
            <a:avLst>
              <a:gd name="adj" fmla="val 10370"/>
            </a:avLst>
          </a:prstGeom>
          <a:solidFill>
            <a:srgbClr val="FFFFFF"/>
          </a:solidFill>
          <a:ln w="17145">
            <a:solidFill>
              <a:srgbClr val="398D84"/>
            </a:solidFill>
            <a:prstDash val="solid"/>
          </a:ln>
        </p:spPr>
        <p:txBody>
          <a:bodyPr/>
          <a:lstStyle/>
          <a:p>
            <a:endParaRPr lang="en-US"/>
          </a:p>
        </p:txBody>
      </p:sp>
      <p:sp>
        <p:nvSpPr>
          <p:cNvPr id="20" name="Rectangle 19">
            <a:extLst>
              <a:ext uri="{FF2B5EF4-FFF2-40B4-BE49-F238E27FC236}">
                <a16:creationId xmlns:a16="http://schemas.microsoft.com/office/drawing/2014/main" id="{35D20705-240E-467F-8D87-AAA591645FB9}"/>
              </a:ext>
            </a:extLst>
          </p:cNvPr>
          <p:cNvSpPr>
            <a:spLocks noGrp="1"/>
          </p:cNvSpPr>
          <p:nvPr/>
        </p:nvSpPr>
        <p:spPr>
          <a:xfrm>
            <a:off x="7448550" y="2028825"/>
            <a:ext cx="1504950" cy="514350"/>
          </a:xfrm>
          <a:prstGeom prst="rect">
            <a:avLst/>
          </a:prstGeom>
          <a:noFill/>
          <a:ln w="0">
            <a:noFill/>
            <a:prstDash val="solid"/>
          </a:ln>
        </p:spPr>
        <p:txBody>
          <a:bodyPr wrap="square" lIns="38100" tIns="19050" rIns="38100" bIns="19050" anchor="ctr">
            <a:normAutofit/>
          </a:bodyPr>
          <a:lstStyle/>
          <a:p>
            <a:pPr algn="ctr">
              <a:defRPr sz="2400" b="1" i="0">
                <a:solidFill>
                  <a:srgbClr val="398D84"/>
                </a:solidFill>
                <a:latin typeface="Arial"/>
                <a:ea typeface="Arial"/>
                <a:cs typeface="Arial"/>
              </a:defRPr>
            </a:pPr>
            <a:r>
              <a:rPr lang="mk-MK" sz="2400" b="1" i="0" dirty="0">
                <a:solidFill>
                  <a:srgbClr val="398D84"/>
                </a:solidFill>
                <a:latin typeface="Arial"/>
                <a:ea typeface="Arial"/>
                <a:cs typeface="Arial"/>
              </a:rPr>
              <a:t>Праг</a:t>
            </a:r>
            <a:endParaRPr sz="2400" b="1" i="0" dirty="0">
              <a:solidFill>
                <a:srgbClr val="398D84"/>
              </a:solidFill>
              <a:latin typeface="Arial"/>
              <a:ea typeface="Arial"/>
              <a:cs typeface="Arial"/>
            </a:endParaRPr>
          </a:p>
        </p:txBody>
      </p:sp>
      <p:sp>
        <p:nvSpPr>
          <p:cNvPr id="21" name="Rectangle 20">
            <a:extLst>
              <a:ext uri="{FF2B5EF4-FFF2-40B4-BE49-F238E27FC236}">
                <a16:creationId xmlns:a16="http://schemas.microsoft.com/office/drawing/2014/main" id="{98A7AA4E-FBAB-4E25-BF50-B0B54701D1BB}"/>
              </a:ext>
            </a:extLst>
          </p:cNvPr>
          <p:cNvSpPr>
            <a:spLocks noGrp="1"/>
          </p:cNvSpPr>
          <p:nvPr/>
        </p:nvSpPr>
        <p:spPr>
          <a:xfrm>
            <a:off x="744855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0.7</a:t>
            </a:r>
            <a:endParaRPr sz="1200" b="0" i="0" dirty="0">
              <a:solidFill>
                <a:srgbClr val="617080"/>
              </a:solidFill>
              <a:latin typeface="Arial"/>
              <a:ea typeface="Arial"/>
              <a:cs typeface="Arial"/>
            </a:endParaRPr>
          </a:p>
        </p:txBody>
      </p:sp>
      <p:sp>
        <p:nvSpPr>
          <p:cNvPr id="22" name="Rounded Rectangle 21">
            <a:extLst>
              <a:ext uri="{FF2B5EF4-FFF2-40B4-BE49-F238E27FC236}">
                <a16:creationId xmlns:a16="http://schemas.microsoft.com/office/drawing/2014/main" id="{1FE4B530-1D84-4439-8130-FACDB6887F71}"/>
              </a:ext>
            </a:extLst>
          </p:cNvPr>
          <p:cNvSpPr>
            <a:spLocks noGrp="1"/>
          </p:cNvSpPr>
          <p:nvPr/>
        </p:nvSpPr>
        <p:spPr>
          <a:xfrm>
            <a:off x="9334500" y="1809750"/>
            <a:ext cx="1733550" cy="1285875"/>
          </a:xfrm>
          <a:prstGeom prst="roundRect">
            <a:avLst>
              <a:gd name="adj" fmla="val 10370"/>
            </a:avLst>
          </a:prstGeom>
          <a:solidFill>
            <a:srgbClr val="FFFFFF"/>
          </a:solidFill>
          <a:ln w="17145">
            <a:solidFill>
              <a:srgbClr val="8064A2"/>
            </a:solidFill>
            <a:prstDash val="solid"/>
          </a:ln>
        </p:spPr>
        <p:txBody>
          <a:bodyPr/>
          <a:lstStyle/>
          <a:p>
            <a:endParaRPr lang="en-US"/>
          </a:p>
        </p:txBody>
      </p:sp>
      <p:sp>
        <p:nvSpPr>
          <p:cNvPr id="23" name="Rectangle 22">
            <a:extLst>
              <a:ext uri="{FF2B5EF4-FFF2-40B4-BE49-F238E27FC236}">
                <a16:creationId xmlns:a16="http://schemas.microsoft.com/office/drawing/2014/main" id="{805A3CC8-2C75-4962-94B8-D5DBDD463A49}"/>
              </a:ext>
            </a:extLst>
          </p:cNvPr>
          <p:cNvSpPr>
            <a:spLocks noGrp="1"/>
          </p:cNvSpPr>
          <p:nvPr/>
        </p:nvSpPr>
        <p:spPr>
          <a:xfrm>
            <a:off x="9448800" y="2028825"/>
            <a:ext cx="1504950" cy="514350"/>
          </a:xfrm>
          <a:prstGeom prst="rect">
            <a:avLst/>
          </a:prstGeom>
          <a:noFill/>
          <a:ln w="0">
            <a:noFill/>
            <a:prstDash val="solid"/>
          </a:ln>
        </p:spPr>
        <p:txBody>
          <a:bodyPr wrap="square" lIns="38100" tIns="19050" rIns="38100" bIns="19050" anchor="ctr">
            <a:normAutofit fontScale="85000" lnSpcReduction="10000"/>
          </a:bodyPr>
          <a:lstStyle/>
          <a:p>
            <a:pPr algn="ctr">
              <a:defRPr sz="2400" b="1" i="0">
                <a:solidFill>
                  <a:srgbClr val="8064A2"/>
                </a:solidFill>
                <a:latin typeface="Arial"/>
                <a:ea typeface="Arial"/>
                <a:cs typeface="Arial"/>
              </a:defRPr>
            </a:pPr>
            <a:r>
              <a:rPr lang="mk-MK" sz="2400" b="1" i="0" dirty="0">
                <a:solidFill>
                  <a:srgbClr val="8064A2"/>
                </a:solidFill>
                <a:latin typeface="Arial"/>
                <a:ea typeface="Arial"/>
                <a:cs typeface="Arial"/>
              </a:rPr>
              <a:t>Кандидати</a:t>
            </a:r>
            <a:endParaRPr sz="2400" b="1" i="0" dirty="0">
              <a:solidFill>
                <a:srgbClr val="8064A2"/>
              </a:solidFill>
              <a:latin typeface="Arial"/>
              <a:ea typeface="Arial"/>
              <a:cs typeface="Arial"/>
            </a:endParaRPr>
          </a:p>
        </p:txBody>
      </p:sp>
      <p:sp>
        <p:nvSpPr>
          <p:cNvPr id="24" name="Rectangle 23">
            <a:extLst>
              <a:ext uri="{FF2B5EF4-FFF2-40B4-BE49-F238E27FC236}">
                <a16:creationId xmlns:a16="http://schemas.microsoft.com/office/drawing/2014/main" id="{0E66D3D6-DF14-4961-8E5F-ACCEAE361146}"/>
              </a:ext>
            </a:extLst>
          </p:cNvPr>
          <p:cNvSpPr>
            <a:spLocks noGrp="1"/>
          </p:cNvSpPr>
          <p:nvPr/>
        </p:nvSpPr>
        <p:spPr>
          <a:xfrm>
            <a:off x="9448800" y="2486025"/>
            <a:ext cx="15049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lang="mk-MK" sz="1200" b="0" i="0" dirty="0">
                <a:solidFill>
                  <a:srgbClr val="617080"/>
                </a:solidFill>
                <a:latin typeface="Arial"/>
                <a:ea typeface="Arial"/>
                <a:cs typeface="Arial"/>
              </a:rPr>
              <a:t>10-15</a:t>
            </a:r>
            <a:endParaRPr sz="1200" b="0" i="0" dirty="0">
              <a:solidFill>
                <a:srgbClr val="617080"/>
              </a:solidFill>
              <a:latin typeface="Arial"/>
              <a:ea typeface="Arial"/>
              <a:cs typeface="Arial"/>
            </a:endParaRPr>
          </a:p>
        </p:txBody>
      </p:sp>
      <p:sp>
        <p:nvSpPr>
          <p:cNvPr id="25" name="Rounded Rectangle 24">
            <a:extLst>
              <a:ext uri="{FF2B5EF4-FFF2-40B4-BE49-F238E27FC236}">
                <a16:creationId xmlns:a16="http://schemas.microsoft.com/office/drawing/2014/main" id="{7D3616D8-BC9C-4A79-AB8B-89118D0E529D}"/>
              </a:ext>
            </a:extLst>
          </p:cNvPr>
          <p:cNvSpPr>
            <a:spLocks noGrp="1"/>
          </p:cNvSpPr>
          <p:nvPr/>
        </p:nvSpPr>
        <p:spPr>
          <a:xfrm>
            <a:off x="5334000" y="3524250"/>
            <a:ext cx="5734050" cy="1619250"/>
          </a:xfrm>
          <a:prstGeom prst="roundRect">
            <a:avLst>
              <a:gd name="adj" fmla="val 8235"/>
            </a:avLst>
          </a:prstGeom>
          <a:solidFill>
            <a:srgbClr val="F7F9FB"/>
          </a:solidFill>
          <a:ln w="13335">
            <a:solidFill>
              <a:srgbClr val="A9B4BE"/>
            </a:solidFill>
            <a:prstDash val="solid"/>
          </a:ln>
        </p:spPr>
        <p:txBody>
          <a:bodyPr/>
          <a:lstStyle/>
          <a:p>
            <a:endParaRPr lang="en-US"/>
          </a:p>
        </p:txBody>
      </p:sp>
      <p:sp>
        <p:nvSpPr>
          <p:cNvPr id="26" name="Rectangle 25">
            <a:extLst>
              <a:ext uri="{FF2B5EF4-FFF2-40B4-BE49-F238E27FC236}">
                <a16:creationId xmlns:a16="http://schemas.microsoft.com/office/drawing/2014/main" id="{40A33165-F378-4047-B45F-39727844804B}"/>
              </a:ext>
            </a:extLst>
          </p:cNvPr>
          <p:cNvSpPr>
            <a:spLocks noGrp="1"/>
          </p:cNvSpPr>
          <p:nvPr/>
        </p:nvSpPr>
        <p:spPr>
          <a:xfrm>
            <a:off x="5953125" y="3919401"/>
            <a:ext cx="4495800" cy="514350"/>
          </a:xfrm>
          <a:prstGeom prst="rect">
            <a:avLst/>
          </a:prstGeom>
          <a:noFill/>
          <a:ln w="0">
            <a:noFill/>
            <a:prstDash val="solid"/>
          </a:ln>
        </p:spPr>
        <p:txBody>
          <a:bodyPr wrap="square" lIns="38100" tIns="19050" rIns="38100" bIns="19050" anchor="ctr">
            <a:normAutofit/>
          </a:bodyPr>
          <a:lstStyle/>
          <a:p>
            <a:pPr algn="ctr">
              <a:defRPr sz="3000" b="1" i="0">
                <a:solidFill>
                  <a:srgbClr val="4F86C6"/>
                </a:solidFill>
                <a:latin typeface="Arial"/>
                <a:ea typeface="Arial"/>
                <a:cs typeface="Arial"/>
              </a:defRPr>
            </a:pPr>
            <a:r>
              <a:rPr lang="mk-MK" sz="3000" b="1" dirty="0">
                <a:solidFill>
                  <a:srgbClr val="617080"/>
                </a:solidFill>
                <a:latin typeface="Arial"/>
                <a:ea typeface="Arial"/>
                <a:cs typeface="Arial"/>
              </a:rPr>
              <a:t>2.848</a:t>
            </a:r>
            <a:r>
              <a:rPr lang="mk-MK" sz="3000" b="1" dirty="0">
                <a:solidFill>
                  <a:srgbClr val="4F86C6"/>
                </a:solidFill>
                <a:latin typeface="Arial"/>
                <a:ea typeface="Arial"/>
                <a:cs typeface="Arial"/>
              </a:rPr>
              <a:t> /</a:t>
            </a:r>
            <a:r>
              <a:rPr lang="en-US" sz="3000" b="1" dirty="0">
                <a:solidFill>
                  <a:srgbClr val="4F86C6"/>
                </a:solidFill>
                <a:latin typeface="Arial"/>
                <a:ea typeface="Arial"/>
                <a:cs typeface="Arial"/>
              </a:rPr>
              <a:t> </a:t>
            </a:r>
            <a:r>
              <a:rPr sz="3000" b="1" i="0" dirty="0">
                <a:solidFill>
                  <a:srgbClr val="4F86C6"/>
                </a:solidFill>
                <a:latin typeface="Arial"/>
                <a:ea typeface="Arial"/>
                <a:cs typeface="Arial"/>
              </a:rPr>
              <a:t>1.889</a:t>
            </a:r>
          </a:p>
        </p:txBody>
      </p:sp>
      <p:sp>
        <p:nvSpPr>
          <p:cNvPr id="27" name="Rectangle 26">
            <a:extLst>
              <a:ext uri="{FF2B5EF4-FFF2-40B4-BE49-F238E27FC236}">
                <a16:creationId xmlns:a16="http://schemas.microsoft.com/office/drawing/2014/main" id="{980F283B-F608-4B04-AB97-AE3E32F84D72}"/>
              </a:ext>
            </a:extLst>
          </p:cNvPr>
          <p:cNvSpPr>
            <a:spLocks noGrp="1"/>
          </p:cNvSpPr>
          <p:nvPr/>
        </p:nvSpPr>
        <p:spPr>
          <a:xfrm>
            <a:off x="5953125" y="4429125"/>
            <a:ext cx="4495800" cy="523875"/>
          </a:xfrm>
          <a:prstGeom prst="rect">
            <a:avLst/>
          </a:prstGeom>
          <a:noFill/>
          <a:ln w="0">
            <a:noFill/>
            <a:prstDash val="solid"/>
          </a:ln>
        </p:spPr>
        <p:txBody>
          <a:bodyPr wrap="square" lIns="38100" tIns="19050" rIns="38100" bIns="19050" anchor="t">
            <a:normAutofit/>
          </a:bodyPr>
          <a:lstStyle/>
          <a:p>
            <a:pPr algn="ctr">
              <a:defRPr sz="1350" b="0" i="0">
                <a:solidFill>
                  <a:srgbClr val="617080"/>
                </a:solidFill>
                <a:latin typeface="Arial"/>
                <a:ea typeface="Arial"/>
                <a:cs typeface="Arial"/>
              </a:defRPr>
            </a:pPr>
            <a:r>
              <a:rPr sz="1350" b="0" i="0" dirty="0" err="1">
                <a:solidFill>
                  <a:srgbClr val="617080"/>
                </a:solidFill>
                <a:latin typeface="Arial"/>
                <a:ea typeface="Arial"/>
                <a:cs typeface="Arial"/>
              </a:rPr>
              <a:t>примероци</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за</a:t>
            </a:r>
            <a:r>
              <a:rPr sz="1350" b="0" i="0" dirty="0">
                <a:solidFill>
                  <a:srgbClr val="617080"/>
                </a:solidFill>
                <a:latin typeface="Arial"/>
                <a:ea typeface="Arial"/>
                <a:cs typeface="Arial"/>
              </a:rPr>
              <a:t> </a:t>
            </a:r>
            <a:r>
              <a:rPr lang="mk-MK" sz="1350" b="0" i="0" dirty="0">
                <a:solidFill>
                  <a:srgbClr val="617080"/>
                </a:solidFill>
                <a:latin typeface="Arial"/>
                <a:ea typeface="Arial"/>
                <a:cs typeface="Arial"/>
              </a:rPr>
              <a:t>тренирање </a:t>
            </a:r>
            <a:r>
              <a:rPr lang="mk-MK" sz="1350" dirty="0">
                <a:solidFill>
                  <a:srgbClr val="617080"/>
                </a:solidFill>
                <a:latin typeface="Arial"/>
                <a:ea typeface="Arial"/>
                <a:cs typeface="Arial"/>
              </a:rPr>
              <a:t>·</a:t>
            </a:r>
            <a:r>
              <a:rPr sz="1350" b="0" i="0" dirty="0">
                <a:solidFill>
                  <a:srgbClr val="617080"/>
                </a:solidFill>
                <a:latin typeface="Arial"/>
                <a:ea typeface="Arial"/>
                <a:cs typeface="Arial"/>
              </a:rPr>
              <a:t> </a:t>
            </a:r>
            <a:r>
              <a:rPr lang="mk-MK" sz="1350" dirty="0">
                <a:solidFill>
                  <a:srgbClr val="4F86C6"/>
                </a:solidFill>
                <a:latin typeface="Arial"/>
                <a:ea typeface="Arial"/>
                <a:cs typeface="Arial"/>
              </a:rPr>
              <a:t>примероци за</a:t>
            </a:r>
            <a:r>
              <a:rPr sz="1350" b="0" i="0" dirty="0">
                <a:solidFill>
                  <a:srgbClr val="4F86C6"/>
                </a:solidFill>
                <a:latin typeface="Arial"/>
                <a:ea typeface="Arial"/>
                <a:cs typeface="Arial"/>
              </a:rPr>
              <a:t> </a:t>
            </a:r>
            <a:r>
              <a:rPr lang="mk-MK" sz="1350" b="0" i="0" dirty="0">
                <a:solidFill>
                  <a:srgbClr val="4F86C6"/>
                </a:solidFill>
                <a:latin typeface="Arial"/>
                <a:ea typeface="Arial"/>
                <a:cs typeface="Arial"/>
              </a:rPr>
              <a:t>евалуација</a:t>
            </a:r>
            <a:endParaRPr sz="1350" b="0" i="0" dirty="0">
              <a:solidFill>
                <a:srgbClr val="4F86C6"/>
              </a:solidFill>
              <a:latin typeface="Arial"/>
              <a:ea typeface="Arial"/>
              <a:cs typeface="Arial"/>
            </a:endParaRPr>
          </a:p>
        </p:txBody>
      </p:sp>
    </p:spTree>
    <p:extLst>
      <p:ext uri="{BB962C8B-B14F-4D97-AF65-F5344CB8AC3E}">
        <p14:creationId xmlns:p14="http://schemas.microsoft.com/office/powerpoint/2010/main" val="956244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F59FAA-75F4-4A83-A953-45A208FE96D2}"/>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Архитектури за пребарување</a:t>
            </a:r>
          </a:p>
        </p:txBody>
      </p:sp>
      <p:sp>
        <p:nvSpPr>
          <p:cNvPr id="2" name="Rectangle 1">
            <a:extLst>
              <a:ext uri="{FF2B5EF4-FFF2-40B4-BE49-F238E27FC236}">
                <a16:creationId xmlns:a16="http://schemas.microsoft.com/office/drawing/2014/main" id="{51F12EA6-4384-442C-917D-6C40E4BA1A0D}"/>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F661FE3F-3664-4DFD-A7E1-85414CD78BEA}"/>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7</a:t>
            </a:r>
          </a:p>
        </p:txBody>
      </p:sp>
      <p:pic>
        <p:nvPicPr>
          <p:cNvPr id="8" name="Picture 7"/>
          <p:cNvPicPr>
            <a:picLocks noChangeAspect="1"/>
          </p:cNvPicPr>
          <p:nvPr/>
        </p:nvPicPr>
        <p:blipFill>
          <a:blip r:embed="rId3"/>
          <a:stretch/>
        </p:blipFill>
        <p:spPr>
          <a:xfrm>
            <a:off x="1100667" y="857250"/>
            <a:ext cx="9990667" cy="5619750"/>
          </a:xfrm>
          <a:prstGeom prst="rect">
            <a:avLst/>
          </a:prstGeom>
        </p:spPr>
      </p:pic>
    </p:spTree>
    <p:extLst>
      <p:ext uri="{BB962C8B-B14F-4D97-AF65-F5344CB8AC3E}">
        <p14:creationId xmlns:p14="http://schemas.microsoft.com/office/powerpoint/2010/main" val="21327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1A15A17-40D3-4EDB-B249-7E5849DBE829}"/>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GraphSAGE и Advance GraphSAGE</a:t>
            </a:r>
          </a:p>
        </p:txBody>
      </p:sp>
      <p:sp>
        <p:nvSpPr>
          <p:cNvPr id="2" name="Rectangle 1">
            <a:extLst>
              <a:ext uri="{FF2B5EF4-FFF2-40B4-BE49-F238E27FC236}">
                <a16:creationId xmlns:a16="http://schemas.microsoft.com/office/drawing/2014/main" id="{89B9DEF3-18C8-492C-9CAB-CFC105022596}"/>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ED3329D6-120A-4743-B040-C174063AAF8A}"/>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Hamilton et al., 2017</a:t>
            </a:r>
          </a:p>
        </p:txBody>
      </p:sp>
      <p:sp>
        <p:nvSpPr>
          <p:cNvPr id="4" name="Rectangle 3">
            <a:extLst>
              <a:ext uri="{FF2B5EF4-FFF2-40B4-BE49-F238E27FC236}">
                <a16:creationId xmlns:a16="http://schemas.microsoft.com/office/drawing/2014/main" id="{3AD6641D-2EE3-4635-ADFF-9B667AA4624C}"/>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8</a:t>
            </a:r>
          </a:p>
        </p:txBody>
      </p:sp>
      <p:pic>
        <p:nvPicPr>
          <p:cNvPr id="20" name="Picture 19"/>
          <p:cNvPicPr>
            <a:picLocks noChangeAspect="1"/>
          </p:cNvPicPr>
          <p:nvPr/>
        </p:nvPicPr>
        <p:blipFill>
          <a:blip r:embed="rId3"/>
          <a:stretch/>
        </p:blipFill>
        <p:spPr>
          <a:xfrm>
            <a:off x="270404" y="1028700"/>
            <a:ext cx="7755467" cy="4362450"/>
          </a:xfrm>
          <a:prstGeom prst="rect">
            <a:avLst/>
          </a:prstGeom>
        </p:spPr>
      </p:pic>
      <p:sp>
        <p:nvSpPr>
          <p:cNvPr id="6" name="Rectangle 5">
            <a:extLst>
              <a:ext uri="{FF2B5EF4-FFF2-40B4-BE49-F238E27FC236}">
                <a16:creationId xmlns:a16="http://schemas.microsoft.com/office/drawing/2014/main" id="{63E95825-7586-455F-B853-33B812989303}"/>
              </a:ext>
            </a:extLst>
          </p:cNvPr>
          <p:cNvSpPr>
            <a:spLocks noGrp="1"/>
          </p:cNvSpPr>
          <p:nvPr/>
        </p:nvSpPr>
        <p:spPr>
          <a:xfrm>
            <a:off x="9060897" y="1133475"/>
            <a:ext cx="1652106" cy="323850"/>
          </a:xfrm>
          <a:prstGeom prst="rect">
            <a:avLst/>
          </a:prstGeom>
          <a:noFill/>
          <a:ln w="0">
            <a:noFill/>
            <a:prstDash val="solid"/>
          </a:ln>
        </p:spPr>
        <p:txBody>
          <a:bodyPr wrap="square" lIns="38100" tIns="19050" rIns="38100" bIns="19050" anchor="ctr">
            <a:normAutofit/>
          </a:bodyPr>
          <a:lstStyle/>
          <a:p>
            <a:pPr algn="l">
              <a:defRPr sz="1575" b="1" i="0">
                <a:solidFill>
                  <a:srgbClr val="D97942"/>
                </a:solidFill>
                <a:latin typeface="Arial"/>
                <a:ea typeface="Arial"/>
                <a:cs typeface="Arial"/>
              </a:defRPr>
            </a:pPr>
            <a:r>
              <a:rPr sz="1575" b="1" i="0" dirty="0" err="1">
                <a:solidFill>
                  <a:srgbClr val="D97942"/>
                </a:solidFill>
                <a:latin typeface="Arial"/>
                <a:ea typeface="Arial"/>
                <a:cs typeface="Arial"/>
              </a:rPr>
              <a:t>Клучна</a:t>
            </a:r>
            <a:r>
              <a:rPr sz="1575" b="1" i="0" dirty="0">
                <a:solidFill>
                  <a:srgbClr val="D97942"/>
                </a:solidFill>
                <a:latin typeface="Arial"/>
                <a:ea typeface="Arial"/>
                <a:cs typeface="Arial"/>
              </a:rPr>
              <a:t> </a:t>
            </a:r>
            <a:r>
              <a:rPr sz="1575" b="1" i="0" dirty="0" err="1">
                <a:solidFill>
                  <a:srgbClr val="D97942"/>
                </a:solidFill>
                <a:latin typeface="Arial"/>
                <a:ea typeface="Arial"/>
                <a:cs typeface="Arial"/>
              </a:rPr>
              <a:t>разлика</a:t>
            </a:r>
            <a:endParaRPr sz="1575" b="1" i="0" dirty="0">
              <a:solidFill>
                <a:srgbClr val="D97942"/>
              </a:solidFill>
              <a:latin typeface="Arial"/>
              <a:ea typeface="Arial"/>
              <a:cs typeface="Arial"/>
            </a:endParaRPr>
          </a:p>
        </p:txBody>
      </p:sp>
      <p:sp>
        <p:nvSpPr>
          <p:cNvPr id="7" name="Rounded Rectangle 6">
            <a:extLst>
              <a:ext uri="{FF2B5EF4-FFF2-40B4-BE49-F238E27FC236}">
                <a16:creationId xmlns:a16="http://schemas.microsoft.com/office/drawing/2014/main" id="{2738F8F7-83CA-4123-B33C-C3C3EB91F2FD}"/>
              </a:ext>
            </a:extLst>
          </p:cNvPr>
          <p:cNvSpPr>
            <a:spLocks noGrp="1"/>
          </p:cNvSpPr>
          <p:nvPr/>
        </p:nvSpPr>
        <p:spPr>
          <a:xfrm>
            <a:off x="7845196" y="1571625"/>
            <a:ext cx="3908354" cy="685800"/>
          </a:xfrm>
          <a:prstGeom prst="roundRect">
            <a:avLst>
              <a:gd name="adj" fmla="val 13889"/>
            </a:avLst>
          </a:prstGeom>
          <a:solidFill>
            <a:srgbClr val="EAF2FB"/>
          </a:solidFill>
          <a:ln w="11430">
            <a:solidFill>
              <a:srgbClr val="4F86C6"/>
            </a:solidFill>
            <a:prstDash val="solid"/>
          </a:ln>
        </p:spPr>
        <p:txBody>
          <a:bodyPr/>
          <a:lstStyle/>
          <a:p>
            <a:endParaRPr lang="en-US"/>
          </a:p>
        </p:txBody>
      </p:sp>
      <p:sp>
        <p:nvSpPr>
          <p:cNvPr id="9" name="Rounded Rectangle 8">
            <a:extLst>
              <a:ext uri="{FF2B5EF4-FFF2-40B4-BE49-F238E27FC236}">
                <a16:creationId xmlns:a16="http://schemas.microsoft.com/office/drawing/2014/main" id="{33CC135A-69B4-4EBC-9FBA-DCD38D618F22}"/>
              </a:ext>
            </a:extLst>
          </p:cNvPr>
          <p:cNvSpPr>
            <a:spLocks noGrp="1"/>
          </p:cNvSpPr>
          <p:nvPr/>
        </p:nvSpPr>
        <p:spPr>
          <a:xfrm>
            <a:off x="7878533" y="2466975"/>
            <a:ext cx="3875017" cy="971550"/>
          </a:xfrm>
          <a:prstGeom prst="roundRect">
            <a:avLst>
              <a:gd name="adj" fmla="val 9804"/>
            </a:avLst>
          </a:prstGeom>
          <a:solidFill>
            <a:srgbClr val="FBEDE5"/>
          </a:solidFill>
          <a:ln w="11430">
            <a:solidFill>
              <a:srgbClr val="D97942"/>
            </a:solidFill>
            <a:prstDash val="solid"/>
          </a:ln>
        </p:spPr>
        <p:txBody>
          <a:bodyPr/>
          <a:lstStyle/>
          <a:p>
            <a:endParaRPr lang="en-US"/>
          </a:p>
        </p:txBody>
      </p:sp>
      <p:sp>
        <p:nvSpPr>
          <p:cNvPr id="11" name="Oval 10">
            <a:extLst>
              <a:ext uri="{FF2B5EF4-FFF2-40B4-BE49-F238E27FC236}">
                <a16:creationId xmlns:a16="http://schemas.microsoft.com/office/drawing/2014/main" id="{B34D01FB-5572-4B2F-A467-FBE0FD7040A6}"/>
              </a:ext>
            </a:extLst>
          </p:cNvPr>
          <p:cNvSpPr>
            <a:spLocks noGrp="1"/>
          </p:cNvSpPr>
          <p:nvPr/>
        </p:nvSpPr>
        <p:spPr>
          <a:xfrm>
            <a:off x="8334375" y="3895725"/>
            <a:ext cx="66675" cy="66675"/>
          </a:xfrm>
          <a:prstGeom prst="ellipse">
            <a:avLst/>
          </a:prstGeom>
          <a:solidFill>
            <a:srgbClr val="D9794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37FAB3A-822B-4A38-A556-30BB8DE8FDA3}"/>
              </a:ext>
            </a:extLst>
          </p:cNvPr>
          <p:cNvSpPr>
            <a:spLocks noGrp="1"/>
          </p:cNvSpPr>
          <p:nvPr/>
        </p:nvSpPr>
        <p:spPr>
          <a:xfrm>
            <a:off x="8505825" y="3790950"/>
            <a:ext cx="2924175" cy="4572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Обратни рабови и резидуални врски</a:t>
            </a:r>
          </a:p>
        </p:txBody>
      </p:sp>
      <p:sp>
        <p:nvSpPr>
          <p:cNvPr id="13" name="Oval 12">
            <a:extLst>
              <a:ext uri="{FF2B5EF4-FFF2-40B4-BE49-F238E27FC236}">
                <a16:creationId xmlns:a16="http://schemas.microsoft.com/office/drawing/2014/main" id="{892B892A-5CB5-4B59-8F0E-1DBD52125D9B}"/>
              </a:ext>
            </a:extLst>
          </p:cNvPr>
          <p:cNvSpPr>
            <a:spLocks noGrp="1"/>
          </p:cNvSpPr>
          <p:nvPr/>
        </p:nvSpPr>
        <p:spPr>
          <a:xfrm>
            <a:off x="8334375" y="4467225"/>
            <a:ext cx="66675" cy="66675"/>
          </a:xfrm>
          <a:prstGeom prst="ellipse">
            <a:avLst/>
          </a:prstGeom>
          <a:solidFill>
            <a:srgbClr val="D97942"/>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8DF7D290-BFCC-4CCD-9A0D-C1DB2D6DB978}"/>
              </a:ext>
            </a:extLst>
          </p:cNvPr>
          <p:cNvSpPr>
            <a:spLocks noGrp="1"/>
          </p:cNvSpPr>
          <p:nvPr/>
        </p:nvSpPr>
        <p:spPr>
          <a:xfrm>
            <a:off x="8505825" y="4362450"/>
            <a:ext cx="2924175" cy="6286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Нормализација и оценка условена од прашањето</a:t>
            </a:r>
          </a:p>
        </p:txBody>
      </p:sp>
      <p:sp>
        <p:nvSpPr>
          <p:cNvPr id="15" name="Rectangle 14">
            <a:extLst>
              <a:ext uri="{FF2B5EF4-FFF2-40B4-BE49-F238E27FC236}">
                <a16:creationId xmlns:a16="http://schemas.microsoft.com/office/drawing/2014/main" id="{FCD8A6B6-BCCA-4F15-AC3E-08160849F274}"/>
              </a:ext>
            </a:extLst>
          </p:cNvPr>
          <p:cNvSpPr>
            <a:spLocks noGrp="1"/>
          </p:cNvSpPr>
          <p:nvPr/>
        </p:nvSpPr>
        <p:spPr>
          <a:xfrm>
            <a:off x="838200" y="5676900"/>
            <a:ext cx="10429875" cy="523875"/>
          </a:xfrm>
          <a:prstGeom prst="rect">
            <a:avLst/>
          </a:prstGeom>
          <a:noFill/>
          <a:ln w="0">
            <a:noFill/>
            <a:prstDash val="solid"/>
          </a:ln>
        </p:spPr>
        <p:txBody>
          <a:bodyPr wrap="square" lIns="38100" tIns="19050" rIns="38100" bIns="19050" anchor="ctr">
            <a:normAutofit/>
          </a:bodyPr>
          <a:lstStyle/>
          <a:p>
            <a:pPr algn="ctr">
              <a:defRPr sz="1575" b="1" i="0">
                <a:solidFill>
                  <a:srgbClr val="263746"/>
                </a:solidFill>
                <a:latin typeface="Arial"/>
                <a:ea typeface="Arial"/>
                <a:cs typeface="Arial"/>
              </a:defRPr>
            </a:pPr>
            <a:r>
              <a:rPr sz="1575" b="1" i="0" dirty="0" err="1">
                <a:solidFill>
                  <a:srgbClr val="263746"/>
                </a:solidFill>
                <a:latin typeface="Arial"/>
                <a:ea typeface="Arial"/>
                <a:cs typeface="Arial"/>
              </a:rPr>
              <a:t>Од</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фиксно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семантичко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пондерирање</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кон</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научен</a:t>
            </a:r>
            <a:r>
              <a:rPr sz="1575" b="1" i="0" dirty="0">
                <a:solidFill>
                  <a:srgbClr val="263746"/>
                </a:solidFill>
                <a:latin typeface="Arial"/>
                <a:ea typeface="Arial"/>
                <a:cs typeface="Arial"/>
              </a:rPr>
              <a:t> gate </a:t>
            </a:r>
            <a:r>
              <a:rPr sz="1575" b="1" i="0" dirty="0" err="1">
                <a:solidFill>
                  <a:srgbClr val="263746"/>
                </a:solidFill>
                <a:latin typeface="Arial"/>
                <a:ea typeface="Arial"/>
                <a:cs typeface="Arial"/>
              </a:rPr>
              <a:t>за</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конкретното</a:t>
            </a:r>
            <a:r>
              <a:rPr sz="1575" b="1" i="0" dirty="0">
                <a:solidFill>
                  <a:srgbClr val="263746"/>
                </a:solidFill>
                <a:latin typeface="Arial"/>
                <a:ea typeface="Arial"/>
                <a:cs typeface="Arial"/>
              </a:rPr>
              <a:t> </a:t>
            </a:r>
            <a:r>
              <a:rPr sz="1575" b="1" i="0" dirty="0" err="1">
                <a:solidFill>
                  <a:srgbClr val="263746"/>
                </a:solidFill>
                <a:latin typeface="Arial"/>
                <a:ea typeface="Arial"/>
                <a:cs typeface="Arial"/>
              </a:rPr>
              <a:t>прашање</a:t>
            </a:r>
            <a:r>
              <a:rPr sz="1575" b="1" i="0" dirty="0">
                <a:solidFill>
                  <a:srgbClr val="263746"/>
                </a:solidFill>
                <a:latin typeface="Arial"/>
                <a:ea typeface="Arial"/>
                <a:cs typeface="Arial"/>
              </a:rPr>
              <a:t>.</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9C15665-E0C7-7E9A-639A-0843ECD68B4C}"/>
                  </a:ext>
                </a:extLst>
              </p:cNvPr>
              <p:cNvSpPr>
                <a:spLocks noGrp="1"/>
              </p:cNvSpPr>
              <p:nvPr/>
            </p:nvSpPr>
            <p:spPr>
              <a:xfrm>
                <a:off x="8263466" y="1638300"/>
                <a:ext cx="3105150" cy="552450"/>
              </a:xfrm>
              <a:prstGeom prst="rect">
                <a:avLst/>
              </a:prstGeom>
              <a:noFill/>
              <a:ln w="0">
                <a:noFill/>
                <a:prstDash val="solid"/>
              </a:ln>
            </p:spPr>
            <p:txBody>
              <a:bodyPr wrap="square" lIns="38100" tIns="19050" rIns="38100" bIns="19050" anchor="ctr">
                <a:norm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𝛼</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𝑐𝑜𝑠</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oMath>
                  </m:oMathPara>
                </a14:m>
                <a:endParaRPr dirty="0"/>
              </a:p>
            </p:txBody>
          </p:sp>
        </mc:Choice>
        <mc:Fallback xmlns="">
          <p:sp>
            <p:nvSpPr>
              <p:cNvPr id="5" name="Rectangle 4">
                <a:extLst>
                  <a:ext uri="{FF2B5EF4-FFF2-40B4-BE49-F238E27FC236}">
                    <a16:creationId xmlns:a16="http://schemas.microsoft.com/office/drawing/2014/main" id="{09C15665-E0C7-7E9A-639A-0843ECD68B4C}"/>
                  </a:ext>
                </a:extLst>
              </p:cNvPr>
              <p:cNvSpPr>
                <a:spLocks noGrp="1" noRot="1" noChangeAspect="1" noMove="1" noResize="1" noEditPoints="1" noAdjustHandles="1" noChangeArrowheads="1" noChangeShapeType="1" noTextEdit="1"/>
              </p:cNvSpPr>
              <p:nvPr/>
            </p:nvSpPr>
            <p:spPr>
              <a:xfrm>
                <a:off x="8263466" y="1638300"/>
                <a:ext cx="3105150" cy="552450"/>
              </a:xfrm>
              <a:prstGeom prst="rect">
                <a:avLst/>
              </a:prstGeom>
              <a:blipFill>
                <a:blip r:embed="rId4"/>
                <a:stretch>
                  <a:fillRect/>
                </a:stretch>
              </a:blipFill>
              <a:ln w="0">
                <a:no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A0AD12A-1B70-7865-E534-396E1629C403}"/>
                  </a:ext>
                </a:extLst>
              </p:cNvPr>
              <p:cNvSpPr>
                <a:spLocks noGrp="1"/>
              </p:cNvSpPr>
              <p:nvPr/>
            </p:nvSpPr>
            <p:spPr>
              <a:xfrm>
                <a:off x="7992684" y="2533650"/>
                <a:ext cx="3794054" cy="838200"/>
              </a:xfrm>
              <a:prstGeom prst="rect">
                <a:avLst/>
              </a:prstGeom>
              <a:noFill/>
              <a:ln w="0">
                <a:noFill/>
                <a:prstDash val="solid"/>
              </a:ln>
            </p:spPr>
            <p:txBody>
              <a:bodyPr wrap="square" lIns="38100" tIns="19050" rIns="38100" bIns="19050" anchor="ctr">
                <a:normAutofit/>
              </a:bodyPr>
              <a:lstStyle/>
              <a:p>
                <a:pPr algn="ct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𝛼</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m:rPr>
                          <m:nor/>
                        </m:rPr>
                        <a:rPr/>
                        <m:t>sigmoid</m:t>
                      </m:r>
                      <m:r>
                        <a:rPr>
                          <a:latin typeface="Cambria Math" panose="02040503050406030204" pitchFamily="18" charset="0"/>
                        </a:rPr>
                        <m:t>(</m:t>
                      </m:r>
                      <m:r>
                        <m:rPr>
                          <m:nor/>
                        </m:rPr>
                        <a:rPr/>
                        <m:t>MLP</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r>
                        <a:rPr>
                          <a:latin typeface="Cambria Math" panose="02040503050406030204" pitchFamily="18" charset="0"/>
                        </a:rPr>
                        <m:t>𝑞</m:t>
                      </m:r>
                      <m:r>
                        <a:rPr>
                          <a:latin typeface="Cambria Math" panose="02040503050406030204" pitchFamily="18" charset="0"/>
                        </a:rPr>
                        <m:t>̃⊙</m:t>
                      </m:r>
                      <m:r>
                        <a:rPr>
                          <a:latin typeface="Cambria Math" panose="02040503050406030204" pitchFamily="18" charset="0"/>
                        </a:rPr>
                        <m:t>𝑟</m:t>
                      </m:r>
                      <m:r>
                        <a:rPr>
                          <a:latin typeface="Cambria Math" panose="02040503050406030204" pitchFamily="18" charset="0"/>
                        </a:rPr>
                        <m:t>̃])</m:t>
                      </m:r>
                    </m:oMath>
                  </m:oMathPara>
                </a14:m>
                <a:endParaRPr dirty="0"/>
              </a:p>
            </p:txBody>
          </p:sp>
        </mc:Choice>
        <mc:Fallback xmlns="">
          <p:sp>
            <p:nvSpPr>
              <p:cNvPr id="17" name="Rectangle 16">
                <a:extLst>
                  <a:ext uri="{FF2B5EF4-FFF2-40B4-BE49-F238E27FC236}">
                    <a16:creationId xmlns:a16="http://schemas.microsoft.com/office/drawing/2014/main" id="{0A0AD12A-1B70-7865-E534-396E1629C403}"/>
                  </a:ext>
                </a:extLst>
              </p:cNvPr>
              <p:cNvSpPr>
                <a:spLocks noGrp="1" noRot="1" noChangeAspect="1" noMove="1" noResize="1" noEditPoints="1" noAdjustHandles="1" noChangeArrowheads="1" noChangeShapeType="1" noTextEdit="1"/>
              </p:cNvSpPr>
              <p:nvPr/>
            </p:nvSpPr>
            <p:spPr>
              <a:xfrm>
                <a:off x="7992684" y="2533650"/>
                <a:ext cx="3794054" cy="838200"/>
              </a:xfrm>
              <a:prstGeom prst="rect">
                <a:avLst/>
              </a:prstGeom>
              <a:blipFill>
                <a:blip r:embed="rId5"/>
                <a:stretch>
                  <a:fillRect l="-1333" r="-1000"/>
                </a:stretch>
              </a:blipFill>
              <a:ln w="0">
                <a:noFill/>
                <a:prstDash val="solid"/>
              </a:ln>
            </p:spPr>
            <p:txBody>
              <a:bodyPr/>
              <a:lstStyle/>
              <a:p>
                <a:r>
                  <a:rPr lang="en-US">
                    <a:noFill/>
                  </a:rPr>
                  <a:t> </a:t>
                </a:r>
              </a:p>
            </p:txBody>
          </p:sp>
        </mc:Fallback>
      </mc:AlternateContent>
    </p:spTree>
    <p:extLst>
      <p:ext uri="{BB962C8B-B14F-4D97-AF65-F5344CB8AC3E}">
        <p14:creationId xmlns:p14="http://schemas.microsoft.com/office/powerpoint/2010/main" val="1884095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1214F9F-97BC-4A9B-A227-F5B1F867E501}"/>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R-GCN и HGT</a:t>
            </a:r>
          </a:p>
        </p:txBody>
      </p:sp>
      <p:sp>
        <p:nvSpPr>
          <p:cNvPr id="2" name="Rectangle 1">
            <a:extLst>
              <a:ext uri="{FF2B5EF4-FFF2-40B4-BE49-F238E27FC236}">
                <a16:creationId xmlns:a16="http://schemas.microsoft.com/office/drawing/2014/main" id="{1A8F9FD8-B586-458C-B74E-D248C7C2488C}"/>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21849C3F-4E4C-48CD-89A4-51D811D5715C}"/>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Schlichtkrull et al., 2018 · Hu et al., 2020</a:t>
            </a:r>
          </a:p>
        </p:txBody>
      </p:sp>
      <p:sp>
        <p:nvSpPr>
          <p:cNvPr id="4" name="Rectangle 3">
            <a:extLst>
              <a:ext uri="{FF2B5EF4-FFF2-40B4-BE49-F238E27FC236}">
                <a16:creationId xmlns:a16="http://schemas.microsoft.com/office/drawing/2014/main" id="{76EAC1E0-3E54-432C-BAA2-6432C98D35C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9</a:t>
            </a:r>
          </a:p>
        </p:txBody>
      </p:sp>
      <p:pic>
        <p:nvPicPr>
          <p:cNvPr id="21" name="Picture 20"/>
          <p:cNvPicPr>
            <a:picLocks noChangeAspect="1"/>
          </p:cNvPicPr>
          <p:nvPr/>
        </p:nvPicPr>
        <p:blipFill>
          <a:blip r:embed="rId3"/>
          <a:stretch/>
        </p:blipFill>
        <p:spPr>
          <a:xfrm>
            <a:off x="238125" y="1069777"/>
            <a:ext cx="7524750" cy="4232672"/>
          </a:xfrm>
          <a:prstGeom prst="rect">
            <a:avLst/>
          </a:prstGeom>
        </p:spPr>
      </p:pic>
      <p:sp>
        <p:nvSpPr>
          <p:cNvPr id="6" name="Rectangle 5">
            <a:extLst>
              <a:ext uri="{FF2B5EF4-FFF2-40B4-BE49-F238E27FC236}">
                <a16:creationId xmlns:a16="http://schemas.microsoft.com/office/drawing/2014/main" id="{5A72816F-11A2-4CDC-87D6-991CC1CB845A}"/>
              </a:ext>
            </a:extLst>
          </p:cNvPr>
          <p:cNvSpPr>
            <a:spLocks noGrp="1"/>
          </p:cNvSpPr>
          <p:nvPr/>
        </p:nvSpPr>
        <p:spPr>
          <a:xfrm>
            <a:off x="9213220" y="1147762"/>
            <a:ext cx="800594" cy="323850"/>
          </a:xfrm>
          <a:prstGeom prst="rect">
            <a:avLst/>
          </a:prstGeom>
          <a:noFill/>
          <a:ln w="0">
            <a:noFill/>
            <a:prstDash val="solid"/>
          </a:ln>
        </p:spPr>
        <p:txBody>
          <a:bodyPr wrap="square" lIns="38100" tIns="19050" rIns="38100" bIns="19050" anchor="ctr">
            <a:normAutofit/>
          </a:bodyPr>
          <a:lstStyle/>
          <a:p>
            <a:pPr algn="l">
              <a:defRPr sz="1650" b="1" i="0">
                <a:solidFill>
                  <a:srgbClr val="D97942"/>
                </a:solidFill>
                <a:latin typeface="Arial"/>
                <a:ea typeface="Arial"/>
                <a:cs typeface="Arial"/>
              </a:defRPr>
            </a:pPr>
            <a:r>
              <a:rPr sz="1650" b="1" i="0" dirty="0">
                <a:solidFill>
                  <a:srgbClr val="D97942"/>
                </a:solidFill>
                <a:latin typeface="Arial"/>
                <a:ea typeface="Arial"/>
                <a:cs typeface="Arial"/>
              </a:rPr>
              <a:t>R-GCN</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EC64CE06-C239-475C-95C7-ADBE0B0CD913}"/>
                  </a:ext>
                </a:extLst>
              </p:cNvPr>
              <p:cNvSpPr>
                <a:spLocks noGrp="1"/>
              </p:cNvSpPr>
              <p:nvPr/>
            </p:nvSpPr>
            <p:spPr>
              <a:xfrm>
                <a:off x="7273159" y="1514475"/>
                <a:ext cx="4680716" cy="1019175"/>
              </a:xfrm>
              <a:prstGeom prst="roundRect">
                <a:avLst>
                  <a:gd name="adj" fmla="val 10000"/>
                </a:avLst>
              </a:prstGeom>
              <a:solidFill>
                <a:srgbClr val="FBEDE5"/>
              </a:solidFill>
              <a:ln w="11430">
                <a:solidFill>
                  <a:srgbClr val="D9794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r>
                                <a:rPr lang="en-US" i="1">
                                  <a:latin typeface="Cambria Math" panose="02040503050406030204" pitchFamily="18" charset="0"/>
                                </a:rPr>
                                <m:t>+1</m:t>
                              </m:r>
                            </m:e>
                          </m:d>
                        </m:sup>
                      </m:sSubSup>
                      <m:r>
                        <a:rPr lang="en-US" i="1">
                          <a:latin typeface="Cambria Math" panose="02040503050406030204" pitchFamily="18" charset="0"/>
                        </a:rPr>
                        <m:t>=</m:t>
                      </m:r>
                      <m:r>
                        <a:rPr lang="en-US" i="1">
                          <a:latin typeface="Cambria Math" panose="02040503050406030204" pitchFamily="18" charset="0"/>
                        </a:rPr>
                        <m:t>𝜎</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0</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ℛ</m:t>
                              </m:r>
                            </m:sub>
                            <m:sup/>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𝑢</m:t>
                                  </m:r>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𝑁</m:t>
                                      </m:r>
                                    </m:e>
                                    <m:sub>
                                      <m:r>
                                        <a:rPr lang="en-US" i="1">
                                          <a:latin typeface="Cambria Math" panose="02040503050406030204" pitchFamily="18" charset="0"/>
                                        </a:rPr>
                                        <m:t>𝑣</m:t>
                                      </m:r>
                                    </m:sub>
                                    <m:sup>
                                      <m:r>
                                        <a:rPr lang="en-US" i="1">
                                          <a:latin typeface="Cambria Math" panose="02040503050406030204" pitchFamily="18" charset="0"/>
                                        </a:rPr>
                                        <m:t>𝑟</m:t>
                                      </m:r>
                                    </m:sup>
                                  </m:sSubSup>
                                </m:sub>
                                <m:sup/>
                                <m:e>
                                  <m:f>
                                    <m:fPr>
                                      <m:ctrlPr>
                                        <a:rPr lang="en-US" i="1">
                                          <a:latin typeface="Cambria Math" panose="02040503050406030204" pitchFamily="18" charset="0"/>
                                        </a:rPr>
                                      </m:ctrlPr>
                                    </m:fPr>
                                    <m:num>
                                      <m:r>
                                        <a:rPr lang="en-US" i="1">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𝑟</m:t>
                                          </m:r>
                                        </m:sub>
                                      </m:sSub>
                                    </m:den>
                                  </m:f>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𝑟</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e>
                              </m:nary>
                            </m:e>
                          </m:nary>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𝑢</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e>
                      </m:d>
                    </m:oMath>
                  </m:oMathPara>
                </a14:m>
                <a:endParaRPr lang="en-US" dirty="0"/>
              </a:p>
            </p:txBody>
          </p:sp>
        </mc:Choice>
        <mc:Fallback xmlns="">
          <p:sp>
            <p:nvSpPr>
              <p:cNvPr id="7" name="Rounded Rectangle 6">
                <a:extLst>
                  <a:ext uri="{FF2B5EF4-FFF2-40B4-BE49-F238E27FC236}">
                    <a16:creationId xmlns:a16="http://schemas.microsoft.com/office/drawing/2014/main" id="{EC64CE06-C239-475C-95C7-ADBE0B0CD913}"/>
                  </a:ext>
                </a:extLst>
              </p:cNvPr>
              <p:cNvSpPr>
                <a:spLocks noGrp="1" noRot="1" noChangeAspect="1" noMove="1" noResize="1" noEditPoints="1" noAdjustHandles="1" noChangeArrowheads="1" noChangeShapeType="1" noTextEdit="1"/>
              </p:cNvSpPr>
              <p:nvPr/>
            </p:nvSpPr>
            <p:spPr>
              <a:xfrm>
                <a:off x="7273159" y="1514475"/>
                <a:ext cx="4680716" cy="1019175"/>
              </a:xfrm>
              <a:prstGeom prst="roundRect">
                <a:avLst>
                  <a:gd name="adj" fmla="val 10000"/>
                </a:avLst>
              </a:prstGeom>
              <a:blipFill>
                <a:blip r:embed="rId4"/>
                <a:stretch>
                  <a:fillRect t="-79518" b="-109639"/>
                </a:stretch>
              </a:blipFill>
              <a:ln w="11430">
                <a:solidFill>
                  <a:srgbClr val="D97942"/>
                </a:solidFill>
                <a:prstDash val="solid"/>
              </a:ln>
            </p:spPr>
            <p:txBody>
              <a:bodyPr/>
              <a:lstStyle/>
              <a:p>
                <a:r>
                  <a:rPr lang="en-US">
                    <a:noFill/>
                  </a:rPr>
                  <a:t> </a:t>
                </a:r>
              </a:p>
            </p:txBody>
          </p:sp>
        </mc:Fallback>
      </mc:AlternateContent>
      <p:sp>
        <p:nvSpPr>
          <p:cNvPr id="9" name="Oval 8">
            <a:extLst>
              <a:ext uri="{FF2B5EF4-FFF2-40B4-BE49-F238E27FC236}">
                <a16:creationId xmlns:a16="http://schemas.microsoft.com/office/drawing/2014/main" id="{1FF46108-00A0-4226-9060-CBE3B9CB7688}"/>
              </a:ext>
            </a:extLst>
          </p:cNvPr>
          <p:cNvSpPr>
            <a:spLocks noGrp="1"/>
          </p:cNvSpPr>
          <p:nvPr/>
        </p:nvSpPr>
        <p:spPr>
          <a:xfrm>
            <a:off x="8096250" y="2781300"/>
            <a:ext cx="66675" cy="66675"/>
          </a:xfrm>
          <a:prstGeom prst="ellipse">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01FD1E2-11CE-4DAE-9452-1376646FC5FB}"/>
              </a:ext>
            </a:extLst>
          </p:cNvPr>
          <p:cNvSpPr>
            <a:spLocks noGrp="1"/>
          </p:cNvSpPr>
          <p:nvPr/>
        </p:nvSpPr>
        <p:spPr>
          <a:xfrm>
            <a:off x="8267700" y="2676525"/>
            <a:ext cx="3209925" cy="5715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Различна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трансформација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за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секој</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тип</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релација</a:t>
            </a:r>
            <a:endParaRPr sz="1275" b="0" i="0" dirty="0">
              <a:solidFill>
                <a:srgbClr val="263746"/>
              </a:solidFill>
              <a:latin typeface="Arial"/>
              <a:ea typeface="Arial"/>
              <a:cs typeface="Arial"/>
            </a:endParaRPr>
          </a:p>
        </p:txBody>
      </p:sp>
      <p:sp>
        <p:nvSpPr>
          <p:cNvPr id="11" name="Rectangle 10">
            <a:extLst>
              <a:ext uri="{FF2B5EF4-FFF2-40B4-BE49-F238E27FC236}">
                <a16:creationId xmlns:a16="http://schemas.microsoft.com/office/drawing/2014/main" id="{E5D3B59A-C912-4E6C-83E3-51D0116A9EC9}"/>
              </a:ext>
            </a:extLst>
          </p:cNvPr>
          <p:cNvSpPr>
            <a:spLocks noGrp="1"/>
          </p:cNvSpPr>
          <p:nvPr/>
        </p:nvSpPr>
        <p:spPr>
          <a:xfrm>
            <a:off x="9327931" y="3419475"/>
            <a:ext cx="571172" cy="3238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sz="1650" b="1" i="0" dirty="0">
                <a:solidFill>
                  <a:srgbClr val="8064A2"/>
                </a:solidFill>
                <a:latin typeface="Arial"/>
                <a:ea typeface="Arial"/>
                <a:cs typeface="Arial"/>
              </a:rPr>
              <a:t>HGT</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52331E24-8995-4DC4-ADE2-BEA978F86537}"/>
                  </a:ext>
                </a:extLst>
              </p:cNvPr>
              <p:cNvSpPr>
                <a:spLocks noGrp="1"/>
              </p:cNvSpPr>
              <p:nvPr/>
            </p:nvSpPr>
            <p:spPr>
              <a:xfrm>
                <a:off x="7273159" y="3781425"/>
                <a:ext cx="4680716" cy="933450"/>
              </a:xfrm>
              <a:prstGeom prst="roundRect">
                <a:avLst>
                  <a:gd name="adj" fmla="val 13158"/>
                </a:avLst>
              </a:prstGeom>
              <a:solidFill>
                <a:srgbClr val="F1ECF7"/>
              </a:solidFill>
              <a:ln w="11430">
                <a:solidFill>
                  <a:srgbClr val="8064A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l-GR" i="1" smtClean="0">
                              <a:latin typeface="Cambria Math" panose="02040503050406030204" pitchFamily="18" charset="0"/>
                            </a:rPr>
                          </m:ctrlPr>
                        </m:sSubSupPr>
                        <m:e>
                          <m:r>
                            <a:rPr lang="el-GR" i="1" smtClean="0">
                              <a:latin typeface="Cambria Math" panose="02040503050406030204" pitchFamily="18" charset="0"/>
                            </a:rPr>
                            <m:t>𝛼</m:t>
                          </m:r>
                        </m:e>
                        <m:sub>
                          <m:r>
                            <a:rPr lang="en-US" i="1">
                              <a:latin typeface="Cambria Math" panose="02040503050406030204" pitchFamily="18" charset="0"/>
                            </a:rPr>
                            <m:t>𝑢𝑣</m:t>
                          </m:r>
                        </m:sub>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𝑗</m:t>
                          </m:r>
                        </m:sup>
                      </m:sSubSup>
                      <m:r>
                        <a:rPr lang="en-US" i="1">
                          <a:latin typeface="Cambria Math" panose="02040503050406030204" pitchFamily="18" charset="0"/>
                        </a:rPr>
                        <m:t>=</m:t>
                      </m:r>
                      <m:r>
                        <m:rPr>
                          <m:nor/>
                        </m:rPr>
                        <a:rPr lang="en-US" i="0">
                          <a:latin typeface="Cambria Math" panose="02040503050406030204" pitchFamily="18" charset="0"/>
                        </a:rPr>
                        <m:t>softmax</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𝑢𝑣</m:t>
                              </m:r>
                            </m:sub>
                            <m:sup>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𝑗</m:t>
                              </m:r>
                            </m:sup>
                          </m:sSubSup>
                        </m:e>
                      </m:d>
                    </m:oMath>
                  </m:oMathPara>
                </a14:m>
                <a:endParaRPr lang="en-US" dirty="0"/>
              </a:p>
            </p:txBody>
          </p:sp>
        </mc:Choice>
        <mc:Fallback xmlns="">
          <p:sp>
            <p:nvSpPr>
              <p:cNvPr id="12" name="Rounded Rectangle 11">
                <a:extLst>
                  <a:ext uri="{FF2B5EF4-FFF2-40B4-BE49-F238E27FC236}">
                    <a16:creationId xmlns:a16="http://schemas.microsoft.com/office/drawing/2014/main" id="{52331E24-8995-4DC4-ADE2-BEA978F86537}"/>
                  </a:ext>
                </a:extLst>
              </p:cNvPr>
              <p:cNvSpPr>
                <a:spLocks noGrp="1" noRot="1" noChangeAspect="1" noMove="1" noResize="1" noEditPoints="1" noAdjustHandles="1" noChangeArrowheads="1" noChangeShapeType="1" noTextEdit="1"/>
              </p:cNvSpPr>
              <p:nvPr/>
            </p:nvSpPr>
            <p:spPr>
              <a:xfrm>
                <a:off x="7273159" y="3781425"/>
                <a:ext cx="4680716" cy="933450"/>
              </a:xfrm>
              <a:prstGeom prst="roundRect">
                <a:avLst>
                  <a:gd name="adj" fmla="val 13158"/>
                </a:avLst>
              </a:prstGeom>
              <a:blipFill>
                <a:blip r:embed="rId5"/>
                <a:stretch>
                  <a:fillRect/>
                </a:stretch>
              </a:blipFill>
              <a:ln w="11430">
                <a:solidFill>
                  <a:srgbClr val="8064A2"/>
                </a:solidFill>
                <a:prstDash val="solid"/>
              </a:ln>
            </p:spPr>
            <p:txBody>
              <a:bodyPr/>
              <a:lstStyle/>
              <a:p>
                <a:r>
                  <a:rPr lang="en-US">
                    <a:noFill/>
                  </a:rPr>
                  <a:t> </a:t>
                </a:r>
              </a:p>
            </p:txBody>
          </p:sp>
        </mc:Fallback>
      </mc:AlternateContent>
      <p:sp>
        <p:nvSpPr>
          <p:cNvPr id="14" name="Oval 13">
            <a:extLst>
              <a:ext uri="{FF2B5EF4-FFF2-40B4-BE49-F238E27FC236}">
                <a16:creationId xmlns:a16="http://schemas.microsoft.com/office/drawing/2014/main" id="{97815CA0-7362-4887-9332-C3B8BD75789C}"/>
              </a:ext>
            </a:extLst>
          </p:cNvPr>
          <p:cNvSpPr>
            <a:spLocks noGrp="1"/>
          </p:cNvSpPr>
          <p:nvPr/>
        </p:nvSpPr>
        <p:spPr>
          <a:xfrm>
            <a:off x="8096250" y="4962525"/>
            <a:ext cx="66675" cy="66675"/>
          </a:xfrm>
          <a:prstGeom prst="ellipse">
            <a:avLst/>
          </a:prstGeom>
          <a:solidFill>
            <a:srgbClr val="8064A2"/>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F949DDA8-9B01-463F-B7A4-AFB33009ADB3}"/>
              </a:ext>
            </a:extLst>
          </p:cNvPr>
          <p:cNvSpPr>
            <a:spLocks noGrp="1"/>
          </p:cNvSpPr>
          <p:nvPr/>
        </p:nvSpPr>
        <p:spPr>
          <a:xfrm>
            <a:off x="8267700" y="4857750"/>
            <a:ext cx="3209925" cy="5524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Релациски зависен attention за соседите</a:t>
            </a:r>
          </a:p>
        </p:txBody>
      </p:sp>
      <p:sp>
        <p:nvSpPr>
          <p:cNvPr id="16" name="Rectangle 15">
            <a:extLst>
              <a:ext uri="{FF2B5EF4-FFF2-40B4-BE49-F238E27FC236}">
                <a16:creationId xmlns:a16="http://schemas.microsoft.com/office/drawing/2014/main" id="{0536A29F-2883-4018-AF16-3B246E59CF05}"/>
              </a:ext>
            </a:extLst>
          </p:cNvPr>
          <p:cNvSpPr>
            <a:spLocks noGrp="1"/>
          </p:cNvSpPr>
          <p:nvPr/>
        </p:nvSpPr>
        <p:spPr>
          <a:xfrm>
            <a:off x="809625" y="5743575"/>
            <a:ext cx="10572750" cy="4572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a:solidFill>
                  <a:srgbClr val="263746"/>
                </a:solidFill>
                <a:latin typeface="Arial"/>
                <a:ea typeface="Arial"/>
                <a:cs typeface="Arial"/>
              </a:rPr>
              <a:t>И двете архитектури ја задржуваат релациската структура, но ја моделираат на различен начин.</a:t>
            </a:r>
          </a:p>
        </p:txBody>
      </p:sp>
    </p:spTree>
    <p:extLst>
      <p:ext uri="{BB962C8B-B14F-4D97-AF65-F5344CB8AC3E}">
        <p14:creationId xmlns:p14="http://schemas.microsoft.com/office/powerpoint/2010/main" val="625376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4DC3116-E27C-4D62-A2F2-91A0C7C3856A}"/>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ReaRev</a:t>
            </a:r>
          </a:p>
        </p:txBody>
      </p:sp>
      <p:sp>
        <p:nvSpPr>
          <p:cNvPr id="2" name="Rectangle 1">
            <a:extLst>
              <a:ext uri="{FF2B5EF4-FFF2-40B4-BE49-F238E27FC236}">
                <a16:creationId xmlns:a16="http://schemas.microsoft.com/office/drawing/2014/main" id="{F97E67DC-197D-4D52-A9AA-1ECB77F2A3E6}"/>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ECD886A8-476D-42AF-AADA-867D703D26F1}"/>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Mavromatis and Karypis, 2022</a:t>
            </a:r>
          </a:p>
        </p:txBody>
      </p:sp>
      <p:sp>
        <p:nvSpPr>
          <p:cNvPr id="4" name="Rectangle 3">
            <a:extLst>
              <a:ext uri="{FF2B5EF4-FFF2-40B4-BE49-F238E27FC236}">
                <a16:creationId xmlns:a16="http://schemas.microsoft.com/office/drawing/2014/main" id="{AA4257D3-EE98-48F7-8C32-EF9812E753A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10</a:t>
            </a:r>
          </a:p>
        </p:txBody>
      </p:sp>
      <p:pic>
        <p:nvPicPr>
          <p:cNvPr id="20" name="Picture 19"/>
          <p:cNvPicPr>
            <a:picLocks noChangeAspect="1"/>
          </p:cNvPicPr>
          <p:nvPr/>
        </p:nvPicPr>
        <p:blipFill>
          <a:blip r:embed="rId3"/>
          <a:stretch/>
        </p:blipFill>
        <p:spPr>
          <a:xfrm>
            <a:off x="241829" y="1028700"/>
            <a:ext cx="7755467" cy="4362450"/>
          </a:xfrm>
          <a:prstGeom prst="rect">
            <a:avLst/>
          </a:prstGeom>
        </p:spPr>
      </p:pic>
      <p:sp>
        <p:nvSpPr>
          <p:cNvPr id="6" name="Rectangle 5">
            <a:extLst>
              <a:ext uri="{FF2B5EF4-FFF2-40B4-BE49-F238E27FC236}">
                <a16:creationId xmlns:a16="http://schemas.microsoft.com/office/drawing/2014/main" id="{1A6C4C42-9E4D-4990-A66B-F245FCC3B2D2}"/>
              </a:ext>
            </a:extLst>
          </p:cNvPr>
          <p:cNvSpPr>
            <a:spLocks noGrp="1"/>
          </p:cNvSpPr>
          <p:nvPr/>
        </p:nvSpPr>
        <p:spPr>
          <a:xfrm>
            <a:off x="8286750" y="1104900"/>
            <a:ext cx="3238500" cy="4000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sz="1650" b="1" i="0">
                <a:solidFill>
                  <a:srgbClr val="8064A2"/>
                </a:solidFill>
                <a:latin typeface="Arial"/>
                <a:ea typeface="Arial"/>
                <a:cs typeface="Arial"/>
              </a:rPr>
              <a:t>Приспособливо расудување</a:t>
            </a:r>
          </a:p>
        </p:txBody>
      </p:sp>
      <p:sp>
        <p:nvSpPr>
          <p:cNvPr id="7" name="Oval 6">
            <a:extLst>
              <a:ext uri="{FF2B5EF4-FFF2-40B4-BE49-F238E27FC236}">
                <a16:creationId xmlns:a16="http://schemas.microsoft.com/office/drawing/2014/main" id="{DF5D94DF-9B7E-4D12-B245-F35CA9150F4A}"/>
              </a:ext>
            </a:extLst>
          </p:cNvPr>
          <p:cNvSpPr>
            <a:spLocks noGrp="1"/>
          </p:cNvSpPr>
          <p:nvPr/>
        </p:nvSpPr>
        <p:spPr>
          <a:xfrm>
            <a:off x="8334375" y="1800225"/>
            <a:ext cx="66675" cy="66675"/>
          </a:xfrm>
          <a:prstGeom prst="ellipse">
            <a:avLst/>
          </a:prstGeom>
          <a:solidFill>
            <a:srgbClr val="8064A2"/>
          </a:solidFill>
          <a:ln w="0">
            <a:noFill/>
            <a:prstDash val="solid"/>
          </a:ln>
        </p:spPr>
        <p:txBody>
          <a:bodyPr/>
          <a:lstStyle/>
          <a:p>
            <a:endParaRPr lang="en-US"/>
          </a:p>
        </p:txBody>
      </p:sp>
      <p:sp>
        <p:nvSpPr>
          <p:cNvPr id="8" name="Rectangle 7">
            <a:extLst>
              <a:ext uri="{FF2B5EF4-FFF2-40B4-BE49-F238E27FC236}">
                <a16:creationId xmlns:a16="http://schemas.microsoft.com/office/drawing/2014/main" id="{CBF9AB62-D673-4419-AC43-4B305875D248}"/>
              </a:ext>
            </a:extLst>
          </p:cNvPr>
          <p:cNvSpPr>
            <a:spLocks noGrp="1"/>
          </p:cNvSpPr>
          <p:nvPr/>
        </p:nvSpPr>
        <p:spPr>
          <a:xfrm>
            <a:off x="8505825" y="1695450"/>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lang="mk-MK" sz="1275" b="0" i="0" dirty="0">
                <a:solidFill>
                  <a:srgbClr val="263746"/>
                </a:solidFill>
                <a:latin typeface="Arial"/>
                <a:ea typeface="Arial"/>
                <a:cs typeface="Arial"/>
              </a:rPr>
              <a:t>Од прашањето се извлекуваат повеќе инструкции</a:t>
            </a:r>
            <a:endParaRPr sz="1275" b="0" i="0" dirty="0">
              <a:solidFill>
                <a:srgbClr val="263746"/>
              </a:solidFill>
              <a:latin typeface="Arial"/>
              <a:ea typeface="Arial"/>
              <a:cs typeface="Arial"/>
            </a:endParaRPr>
          </a:p>
        </p:txBody>
      </p:sp>
      <p:sp>
        <p:nvSpPr>
          <p:cNvPr id="9" name="Oval 8">
            <a:extLst>
              <a:ext uri="{FF2B5EF4-FFF2-40B4-BE49-F238E27FC236}">
                <a16:creationId xmlns:a16="http://schemas.microsoft.com/office/drawing/2014/main" id="{FDC87FAE-1EEB-4E20-9835-C603E3EC3731}"/>
              </a:ext>
            </a:extLst>
          </p:cNvPr>
          <p:cNvSpPr>
            <a:spLocks noGrp="1"/>
          </p:cNvSpPr>
          <p:nvPr/>
        </p:nvSpPr>
        <p:spPr>
          <a:xfrm>
            <a:off x="8334375" y="2533650"/>
            <a:ext cx="66675" cy="66675"/>
          </a:xfrm>
          <a:prstGeom prst="ellipse">
            <a:avLst/>
          </a:prstGeom>
          <a:solidFill>
            <a:srgbClr val="8064A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52C69956-54DE-4C5C-82E5-CE3C27FCCF16}"/>
              </a:ext>
            </a:extLst>
          </p:cNvPr>
          <p:cNvSpPr>
            <a:spLocks noGrp="1"/>
          </p:cNvSpPr>
          <p:nvPr/>
        </p:nvSpPr>
        <p:spPr>
          <a:xfrm>
            <a:off x="8505825" y="2428875"/>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Инструкциите го насочуваат преносот на пораки.</a:t>
            </a:r>
          </a:p>
        </p:txBody>
      </p:sp>
      <p:sp>
        <p:nvSpPr>
          <p:cNvPr id="11" name="Oval 10">
            <a:extLst>
              <a:ext uri="{FF2B5EF4-FFF2-40B4-BE49-F238E27FC236}">
                <a16:creationId xmlns:a16="http://schemas.microsoft.com/office/drawing/2014/main" id="{4624EDB0-9C5C-42B4-B6B9-9A572DCAC60E}"/>
              </a:ext>
            </a:extLst>
          </p:cNvPr>
          <p:cNvSpPr>
            <a:spLocks noGrp="1"/>
          </p:cNvSpPr>
          <p:nvPr/>
        </p:nvSpPr>
        <p:spPr>
          <a:xfrm>
            <a:off x="8334375" y="3267075"/>
            <a:ext cx="66675" cy="66675"/>
          </a:xfrm>
          <a:prstGeom prst="ellipse">
            <a:avLst/>
          </a:prstGeom>
          <a:solidFill>
            <a:srgbClr val="8064A2"/>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18916FE0-107B-4CB6-A81C-9235B2EC3ADB}"/>
              </a:ext>
            </a:extLst>
          </p:cNvPr>
          <p:cNvSpPr>
            <a:spLocks noGrp="1"/>
          </p:cNvSpPr>
          <p:nvPr/>
        </p:nvSpPr>
        <p:spPr>
          <a:xfrm>
            <a:off x="8505825" y="3162300"/>
            <a:ext cx="2924175"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Собраната информација ги ревидира инструкциите.</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85A7417E-1267-4331-AACF-8FEA57E9B641}"/>
                  </a:ext>
                </a:extLst>
              </p:cNvPr>
              <p:cNvSpPr>
                <a:spLocks noGrp="1"/>
              </p:cNvSpPr>
              <p:nvPr/>
            </p:nvSpPr>
            <p:spPr>
              <a:xfrm>
                <a:off x="8096250" y="4191000"/>
                <a:ext cx="3524250" cy="819150"/>
              </a:xfrm>
              <a:prstGeom prst="roundRect">
                <a:avLst>
                  <a:gd name="adj" fmla="val 11628"/>
                </a:avLst>
              </a:prstGeom>
              <a:solidFill>
                <a:srgbClr val="F1ECF7"/>
              </a:solidFill>
              <a:ln w="11430">
                <a:solidFill>
                  <a:srgbClr val="8064A2"/>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𝑟</m:t>
                          </m:r>
                        </m:sub>
                        <m:sup>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𝑡</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𝑢</m:t>
                          </m:r>
                        </m:sub>
                        <m:sup>
                          <m:r>
                            <a:rPr lang="en-US" i="1">
                              <a:latin typeface="Cambria Math" panose="02040503050406030204" pitchFamily="18" charset="0"/>
                            </a:rPr>
                            <m:t>𝑡</m:t>
                          </m:r>
                        </m:sup>
                      </m:sSubSup>
                      <m:r>
                        <m:rPr>
                          <m:nor/>
                        </m:rPr>
                        <a:rPr lang="en-US" i="0">
                          <a:latin typeface="Cambria Math" panose="02040503050406030204" pitchFamily="18" charset="0"/>
                        </a:rPr>
                        <m:t>ReLU</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𝑊</m:t>
                              </m:r>
                            </m:e>
                            <m:sub>
                              <m:r>
                                <a:rPr lang="en-US" i="1">
                                  <a:latin typeface="Cambria Math" panose="02040503050406030204" pitchFamily="18" charset="0"/>
                                </a:rPr>
                                <m:t>𝑟</m:t>
                              </m:r>
                            </m:sub>
                            <m:sup>
                              <m:r>
                                <a:rPr lang="en-US" i="1">
                                  <a:latin typeface="Cambria Math" panose="02040503050406030204" pitchFamily="18" charset="0"/>
                                </a:rPr>
                                <m:t>𝑡</m:t>
                              </m:r>
                            </m:sup>
                          </m:sSubSup>
                          <m:r>
                            <a:rPr lang="en-US" i="1">
                              <a:latin typeface="Cambria Math" panose="02040503050406030204" pitchFamily="18" charset="0"/>
                            </a:rPr>
                            <m:t>𝑟</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𝑖</m:t>
                              </m:r>
                            </m:e>
                            <m:sup>
                              <m:r>
                                <a:rPr lang="en-US" i="1">
                                  <a:latin typeface="Cambria Math" panose="02040503050406030204" pitchFamily="18" charset="0"/>
                                </a:rPr>
                                <m:t>𝑘</m:t>
                              </m:r>
                            </m:sup>
                          </m:sSup>
                        </m:e>
                      </m:d>
                    </m:oMath>
                  </m:oMathPara>
                </a14:m>
                <a:endParaRPr lang="en-US" dirty="0"/>
              </a:p>
            </p:txBody>
          </p:sp>
        </mc:Choice>
        <mc:Fallback xmlns="">
          <p:sp>
            <p:nvSpPr>
              <p:cNvPr id="13" name="Rounded Rectangle 12">
                <a:extLst>
                  <a:ext uri="{FF2B5EF4-FFF2-40B4-BE49-F238E27FC236}">
                    <a16:creationId xmlns:a16="http://schemas.microsoft.com/office/drawing/2014/main" id="{85A7417E-1267-4331-AACF-8FEA57E9B641}"/>
                  </a:ext>
                </a:extLst>
              </p:cNvPr>
              <p:cNvSpPr>
                <a:spLocks noGrp="1" noRot="1" noChangeAspect="1" noMove="1" noResize="1" noEditPoints="1" noAdjustHandles="1" noChangeArrowheads="1" noChangeShapeType="1" noTextEdit="1"/>
              </p:cNvSpPr>
              <p:nvPr/>
            </p:nvSpPr>
            <p:spPr>
              <a:xfrm>
                <a:off x="8096250" y="4191000"/>
                <a:ext cx="3524250" cy="819150"/>
              </a:xfrm>
              <a:prstGeom prst="roundRect">
                <a:avLst>
                  <a:gd name="adj" fmla="val 11628"/>
                </a:avLst>
              </a:prstGeom>
              <a:blipFill>
                <a:blip r:embed="rId4"/>
                <a:stretch>
                  <a:fillRect/>
                </a:stretch>
              </a:blipFill>
              <a:ln w="11430">
                <a:solidFill>
                  <a:srgbClr val="8064A2"/>
                </a:solidFill>
                <a:prstDash val="solid"/>
              </a:ln>
            </p:spPr>
            <p:txBody>
              <a:bodyPr/>
              <a:lstStyle/>
              <a:p>
                <a:r>
                  <a:rPr lang="en-US">
                    <a:noFill/>
                  </a:rPr>
                  <a:t> </a:t>
                </a:r>
              </a:p>
            </p:txBody>
          </p:sp>
        </mc:Fallback>
      </mc:AlternateContent>
      <p:sp>
        <p:nvSpPr>
          <p:cNvPr id="15" name="Rectangle 14">
            <a:extLst>
              <a:ext uri="{FF2B5EF4-FFF2-40B4-BE49-F238E27FC236}">
                <a16:creationId xmlns:a16="http://schemas.microsoft.com/office/drawing/2014/main" id="{0381212B-808D-48CD-B39A-BE31CD787283}"/>
              </a:ext>
            </a:extLst>
          </p:cNvPr>
          <p:cNvSpPr>
            <a:spLocks noGrp="1"/>
          </p:cNvSpPr>
          <p:nvPr/>
        </p:nvSpPr>
        <p:spPr>
          <a:xfrm>
            <a:off x="857250" y="5724525"/>
            <a:ext cx="10477500" cy="47625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a:solidFill>
                  <a:srgbClr val="263746"/>
                </a:solidFill>
                <a:latin typeface="Arial"/>
                <a:ea typeface="Arial"/>
                <a:cs typeface="Arial"/>
              </a:rPr>
              <a:t>ReaRev го менува толкувањето на прашањето според информацијата откриена во графот.</a:t>
            </a:r>
          </a:p>
        </p:txBody>
      </p:sp>
      <p:sp>
        <p:nvSpPr>
          <p:cNvPr id="5" name="Rectangle 4">
            <a:extLst>
              <a:ext uri="{FF2B5EF4-FFF2-40B4-BE49-F238E27FC236}">
                <a16:creationId xmlns:a16="http://schemas.microsoft.com/office/drawing/2014/main" id="{38EA2F7D-04C6-C46E-5C8A-CEC7C3B2B0DC}"/>
              </a:ext>
            </a:extLst>
          </p:cNvPr>
          <p:cNvSpPr/>
          <p:nvPr/>
        </p:nvSpPr>
        <p:spPr>
          <a:xfrm>
            <a:off x="857250" y="4859383"/>
            <a:ext cx="6309904" cy="5317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1428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2C8946-042D-4A4F-ACAE-FBBACE52AE00}"/>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NBFNet</a:t>
            </a:r>
          </a:p>
        </p:txBody>
      </p:sp>
      <p:sp>
        <p:nvSpPr>
          <p:cNvPr id="2" name="Rectangle 1">
            <a:extLst>
              <a:ext uri="{FF2B5EF4-FFF2-40B4-BE49-F238E27FC236}">
                <a16:creationId xmlns:a16="http://schemas.microsoft.com/office/drawing/2014/main" id="{4DA2FDC4-CC3E-4A51-984F-796A6EFB8E63}"/>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C474FAA5-5405-4F8A-9715-562B36E6CCEB}"/>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Zhu et al., 2021</a:t>
            </a:r>
          </a:p>
        </p:txBody>
      </p:sp>
      <p:sp>
        <p:nvSpPr>
          <p:cNvPr id="4" name="Rectangle 3">
            <a:extLst>
              <a:ext uri="{FF2B5EF4-FFF2-40B4-BE49-F238E27FC236}">
                <a16:creationId xmlns:a16="http://schemas.microsoft.com/office/drawing/2014/main" id="{6A0FB13E-F2F0-40B4-A5A1-AAEFFD7B2BE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11</a:t>
            </a:r>
          </a:p>
        </p:txBody>
      </p:sp>
      <p:pic>
        <p:nvPicPr>
          <p:cNvPr id="20" name="Picture 19"/>
          <p:cNvPicPr>
            <a:picLocks noChangeAspect="1"/>
          </p:cNvPicPr>
          <p:nvPr/>
        </p:nvPicPr>
        <p:blipFill>
          <a:blip r:embed="rId3"/>
          <a:stretch/>
        </p:blipFill>
        <p:spPr>
          <a:xfrm>
            <a:off x="241829" y="1028700"/>
            <a:ext cx="7755467" cy="4362450"/>
          </a:xfrm>
          <a:prstGeom prst="rect">
            <a:avLst/>
          </a:prstGeom>
        </p:spPr>
      </p:pic>
      <p:sp>
        <p:nvSpPr>
          <p:cNvPr id="6" name="Rectangle 5">
            <a:extLst>
              <a:ext uri="{FF2B5EF4-FFF2-40B4-BE49-F238E27FC236}">
                <a16:creationId xmlns:a16="http://schemas.microsoft.com/office/drawing/2014/main" id="{847B439F-734E-4F88-BCBD-78BFA31A83B1}"/>
              </a:ext>
            </a:extLst>
          </p:cNvPr>
          <p:cNvSpPr>
            <a:spLocks noGrp="1"/>
          </p:cNvSpPr>
          <p:nvPr/>
        </p:nvSpPr>
        <p:spPr>
          <a:xfrm>
            <a:off x="8191500" y="1104900"/>
            <a:ext cx="3429000" cy="428625"/>
          </a:xfrm>
          <a:prstGeom prst="rect">
            <a:avLst/>
          </a:prstGeom>
          <a:noFill/>
          <a:ln w="0">
            <a:noFill/>
            <a:prstDash val="solid"/>
          </a:ln>
        </p:spPr>
        <p:txBody>
          <a:bodyPr wrap="square" lIns="38100" tIns="19050" rIns="38100" bIns="19050" anchor="ctr">
            <a:normAutofit/>
          </a:bodyPr>
          <a:lstStyle/>
          <a:p>
            <a:pPr algn="l">
              <a:defRPr sz="1575" b="1" i="0">
                <a:solidFill>
                  <a:srgbClr val="398D84"/>
                </a:solidFill>
                <a:latin typeface="Arial"/>
                <a:ea typeface="Arial"/>
                <a:cs typeface="Arial"/>
              </a:defRPr>
            </a:pPr>
            <a:r>
              <a:rPr sz="1575" b="1" i="0">
                <a:solidFill>
                  <a:srgbClr val="398D84"/>
                </a:solidFill>
                <a:latin typeface="Arial"/>
                <a:ea typeface="Arial"/>
                <a:cs typeface="Arial"/>
              </a:rPr>
              <a:t>Научена Bellman–Ford постапка</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227E239C-5787-45B3-9579-0F0DF075E764}"/>
                  </a:ext>
                </a:extLst>
              </p:cNvPr>
              <p:cNvSpPr>
                <a:spLocks noGrp="1"/>
              </p:cNvSpPr>
              <p:nvPr/>
            </p:nvSpPr>
            <p:spPr>
              <a:xfrm>
                <a:off x="8096250" y="1676400"/>
                <a:ext cx="3524250" cy="742950"/>
              </a:xfrm>
              <a:prstGeom prst="roundRect">
                <a:avLst>
                  <a:gd name="adj" fmla="val 12821"/>
                </a:avLst>
              </a:prstGeom>
              <a:solidFill>
                <a:srgbClr val="E8F5F3"/>
              </a:solidFill>
              <a:ln w="11430">
                <a:solidFill>
                  <a:srgbClr val="398D84"/>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0</m:t>
                              </m:r>
                            </m:e>
                          </m:d>
                        </m:sup>
                      </m:sSubSup>
                      <m:r>
                        <a:rPr lang="en-US" i="1">
                          <a:latin typeface="Cambria Math" panose="02040503050406030204" pitchFamily="18" charset="0"/>
                        </a:rPr>
                        <m:t>=</m:t>
                      </m:r>
                      <m:r>
                        <a:rPr lang="en-US" i="1">
                          <a:latin typeface="Cambria Math" panose="02040503050406030204" pitchFamily="18" charset="0"/>
                        </a:rPr>
                        <m:t>𝑞</m:t>
                      </m:r>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𝑆</m:t>
                          </m:r>
                        </m:e>
                      </m:d>
                      <m:r>
                        <a:rPr lang="en-US" i="1">
                          <a:latin typeface="Cambria Math" panose="02040503050406030204" pitchFamily="18" charset="0"/>
                        </a:rPr>
                        <m:t>; 0 </m:t>
                      </m:r>
                      <m:d>
                        <m:dPr>
                          <m:ctrlPr>
                            <a:rPr lang="en-US" i="1">
                              <a:latin typeface="Cambria Math" panose="02040503050406030204" pitchFamily="18" charset="0"/>
                            </a:rPr>
                          </m:ctrlPr>
                        </m:dPr>
                        <m:e>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𝑆</m:t>
                          </m:r>
                        </m:e>
                      </m:d>
                    </m:oMath>
                  </m:oMathPara>
                </a14:m>
                <a:endParaRPr lang="en-US" dirty="0"/>
              </a:p>
            </p:txBody>
          </p:sp>
        </mc:Choice>
        <mc:Fallback xmlns="">
          <p:sp>
            <p:nvSpPr>
              <p:cNvPr id="7" name="Rounded Rectangle 6">
                <a:extLst>
                  <a:ext uri="{FF2B5EF4-FFF2-40B4-BE49-F238E27FC236}">
                    <a16:creationId xmlns:a16="http://schemas.microsoft.com/office/drawing/2014/main" id="{227E239C-5787-45B3-9579-0F0DF075E764}"/>
                  </a:ext>
                </a:extLst>
              </p:cNvPr>
              <p:cNvSpPr>
                <a:spLocks noGrp="1" noRot="1" noChangeAspect="1" noMove="1" noResize="1" noEditPoints="1" noAdjustHandles="1" noChangeArrowheads="1" noChangeShapeType="1" noTextEdit="1"/>
              </p:cNvSpPr>
              <p:nvPr/>
            </p:nvSpPr>
            <p:spPr>
              <a:xfrm>
                <a:off x="8096250" y="1676400"/>
                <a:ext cx="3524250" cy="742950"/>
              </a:xfrm>
              <a:prstGeom prst="roundRect">
                <a:avLst>
                  <a:gd name="adj" fmla="val 12821"/>
                </a:avLst>
              </a:prstGeom>
              <a:blipFill>
                <a:blip r:embed="rId4"/>
                <a:stretch>
                  <a:fillRect/>
                </a:stretch>
              </a:blipFill>
              <a:ln w="11430">
                <a:solidFill>
                  <a:srgbClr val="398D84"/>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0B518678-4F3F-44BC-8516-C824E1A51F42}"/>
                  </a:ext>
                </a:extLst>
              </p:cNvPr>
              <p:cNvSpPr>
                <a:spLocks noGrp="1"/>
              </p:cNvSpPr>
              <p:nvPr/>
            </p:nvSpPr>
            <p:spPr>
              <a:xfrm>
                <a:off x="8096250" y="2600325"/>
                <a:ext cx="3524250" cy="742950"/>
              </a:xfrm>
              <a:prstGeom prst="roundRect">
                <a:avLst>
                  <a:gd name="adj" fmla="val 12821"/>
                </a:avLst>
              </a:prstGeom>
              <a:solidFill>
                <a:srgbClr val="E8F5F3"/>
              </a:solidFill>
              <a:ln w="11430">
                <a:solidFill>
                  <a:srgbClr val="398D84"/>
                </a:solidFill>
                <a:prstDash val="solid"/>
              </a:ln>
            </p:spPr>
            <p:txBody>
              <a:bodyPr anchor="ct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𝑚</m:t>
                          </m:r>
                        </m:e>
                        <m:sub>
                          <m:r>
                            <a:rPr lang="en-US" i="1">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𝑣</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h</m:t>
                          </m:r>
                        </m:e>
                        <m:sub>
                          <m:r>
                            <a:rPr lang="en-US" i="1">
                              <a:latin typeface="Cambria Math" panose="02040503050406030204" pitchFamily="18" charset="0"/>
                            </a:rPr>
                            <m:t>𝑢</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𝑟</m:t>
                          </m:r>
                        </m:sub>
                        <m:sup>
                          <m:d>
                            <m:dPr>
                              <m:ctrlPr>
                                <a:rPr lang="en-US" i="1">
                                  <a:latin typeface="Cambria Math" panose="02040503050406030204" pitchFamily="18" charset="0"/>
                                </a:rPr>
                              </m:ctrlPr>
                            </m:dPr>
                            <m:e>
                              <m:r>
                                <a:rPr lang="en-US" i="1">
                                  <a:latin typeface="Cambria Math" panose="02040503050406030204" pitchFamily="18" charset="0"/>
                                </a:rPr>
                                <m:t>𝑙</m:t>
                              </m:r>
                            </m:e>
                          </m:d>
                        </m:sup>
                      </m:sSubSup>
                      <m:d>
                        <m:dPr>
                          <m:ctrlPr>
                            <a:rPr lang="en-US" i="1">
                              <a:latin typeface="Cambria Math" panose="02040503050406030204" pitchFamily="18" charset="0"/>
                            </a:rPr>
                          </m:ctrlPr>
                        </m:dPr>
                        <m:e>
                          <m:r>
                            <a:rPr lang="en-US" i="1">
                              <a:latin typeface="Cambria Math" panose="02040503050406030204" pitchFamily="18" charset="0"/>
                            </a:rPr>
                            <m:t>𝑞</m:t>
                          </m:r>
                        </m:e>
                      </m:d>
                    </m:oMath>
                  </m:oMathPara>
                </a14:m>
                <a:endParaRPr lang="en-US" dirty="0"/>
              </a:p>
            </p:txBody>
          </p:sp>
        </mc:Choice>
        <mc:Fallback xmlns="">
          <p:sp>
            <p:nvSpPr>
              <p:cNvPr id="9" name="Rounded Rectangle 8">
                <a:extLst>
                  <a:ext uri="{FF2B5EF4-FFF2-40B4-BE49-F238E27FC236}">
                    <a16:creationId xmlns:a16="http://schemas.microsoft.com/office/drawing/2014/main" id="{0B518678-4F3F-44BC-8516-C824E1A51F42}"/>
                  </a:ext>
                </a:extLst>
              </p:cNvPr>
              <p:cNvSpPr>
                <a:spLocks noGrp="1" noRot="1" noChangeAspect="1" noMove="1" noResize="1" noEditPoints="1" noAdjustHandles="1" noChangeArrowheads="1" noChangeShapeType="1" noTextEdit="1"/>
              </p:cNvSpPr>
              <p:nvPr/>
            </p:nvSpPr>
            <p:spPr>
              <a:xfrm>
                <a:off x="8096250" y="2600325"/>
                <a:ext cx="3524250" cy="742950"/>
              </a:xfrm>
              <a:prstGeom prst="roundRect">
                <a:avLst>
                  <a:gd name="adj" fmla="val 12821"/>
                </a:avLst>
              </a:prstGeom>
              <a:blipFill>
                <a:blip r:embed="rId5"/>
                <a:stretch>
                  <a:fillRect/>
                </a:stretch>
              </a:blipFill>
              <a:ln w="11430">
                <a:solidFill>
                  <a:srgbClr val="398D84"/>
                </a:solidFill>
                <a:prstDash val="solid"/>
              </a:ln>
            </p:spPr>
            <p:txBody>
              <a:bodyPr/>
              <a:lstStyle/>
              <a:p>
                <a:r>
                  <a:rPr lang="en-US">
                    <a:noFill/>
                  </a:rPr>
                  <a:t> </a:t>
                </a:r>
              </a:p>
            </p:txBody>
          </p:sp>
        </mc:Fallback>
      </mc:AlternateContent>
      <p:sp>
        <p:nvSpPr>
          <p:cNvPr id="11" name="Oval 10">
            <a:extLst>
              <a:ext uri="{FF2B5EF4-FFF2-40B4-BE49-F238E27FC236}">
                <a16:creationId xmlns:a16="http://schemas.microsoft.com/office/drawing/2014/main" id="{CB2F9C99-9986-4334-ACEC-D539AEB9CF19}"/>
              </a:ext>
            </a:extLst>
          </p:cNvPr>
          <p:cNvSpPr>
            <a:spLocks noGrp="1"/>
          </p:cNvSpPr>
          <p:nvPr/>
        </p:nvSpPr>
        <p:spPr>
          <a:xfrm>
            <a:off x="8191500" y="3781425"/>
            <a:ext cx="66675" cy="66675"/>
          </a:xfrm>
          <a:prstGeom prst="ellipse">
            <a:avLst/>
          </a:prstGeom>
          <a:solidFill>
            <a:srgbClr val="398D84"/>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8161AE30-2D90-4E0F-B38D-801313969865}"/>
              </a:ext>
            </a:extLst>
          </p:cNvPr>
          <p:cNvSpPr>
            <a:spLocks noGrp="1"/>
          </p:cNvSpPr>
          <p:nvPr/>
        </p:nvSpPr>
        <p:spPr>
          <a:xfrm>
            <a:off x="8362950" y="3676650"/>
            <a:ext cx="3162300" cy="59055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Патеките и релациите се условени од прашањето.</a:t>
            </a:r>
          </a:p>
        </p:txBody>
      </p:sp>
      <p:sp>
        <p:nvSpPr>
          <p:cNvPr id="13" name="Oval 12">
            <a:extLst>
              <a:ext uri="{FF2B5EF4-FFF2-40B4-BE49-F238E27FC236}">
                <a16:creationId xmlns:a16="http://schemas.microsoft.com/office/drawing/2014/main" id="{91AB3D91-E1E6-4F30-949E-DB97848171FD}"/>
              </a:ext>
            </a:extLst>
          </p:cNvPr>
          <p:cNvSpPr>
            <a:spLocks noGrp="1"/>
          </p:cNvSpPr>
          <p:nvPr/>
        </p:nvSpPr>
        <p:spPr>
          <a:xfrm>
            <a:off x="8191500" y="4514850"/>
            <a:ext cx="66675" cy="66675"/>
          </a:xfrm>
          <a:prstGeom prst="ellipse">
            <a:avLst/>
          </a:prstGeom>
          <a:solidFill>
            <a:srgbClr val="398D84"/>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E1E4875-2A43-430F-B04E-04C0E3E5CC40}"/>
              </a:ext>
            </a:extLst>
          </p:cNvPr>
          <p:cNvSpPr>
            <a:spLocks noGrp="1"/>
          </p:cNvSpPr>
          <p:nvPr/>
        </p:nvSpPr>
        <p:spPr>
          <a:xfrm>
            <a:off x="8362950" y="4410075"/>
            <a:ext cx="3162300" cy="495300"/>
          </a:xfrm>
          <a:prstGeom prst="rect">
            <a:avLst/>
          </a:prstGeom>
          <a:noFill/>
          <a:ln w="0">
            <a:noFill/>
            <a:prstDash val="solid"/>
          </a:ln>
        </p:spPr>
        <p:txBody>
          <a:bodyPr wrap="square" lIns="38100" tIns="19050" rIns="38100" bIns="19050" anchor="t">
            <a:normAutofit/>
          </a:bodyPr>
          <a:lstStyle/>
          <a:p>
            <a:pPr algn="l">
              <a:defRPr sz="1275" b="0" i="0">
                <a:solidFill>
                  <a:srgbClr val="263746"/>
                </a:solidFill>
                <a:latin typeface="Arial"/>
                <a:ea typeface="Arial"/>
                <a:cs typeface="Arial"/>
              </a:defRPr>
            </a:pPr>
            <a:r>
              <a:rPr sz="1275" b="0" i="0">
                <a:solidFill>
                  <a:srgbClr val="263746"/>
                </a:solidFill>
                <a:latin typeface="Arial"/>
                <a:ea typeface="Arial"/>
                <a:cs typeface="Arial"/>
              </a:rPr>
              <a:t>Поддржани се повеќе почетни ентитети.</a:t>
            </a:r>
          </a:p>
        </p:txBody>
      </p:sp>
      <p:sp>
        <p:nvSpPr>
          <p:cNvPr id="15" name="Rectangle 14">
            <a:extLst>
              <a:ext uri="{FF2B5EF4-FFF2-40B4-BE49-F238E27FC236}">
                <a16:creationId xmlns:a16="http://schemas.microsoft.com/office/drawing/2014/main" id="{231D4BA5-7095-4A49-B8E8-9759F5EAFADB}"/>
              </a:ext>
            </a:extLst>
          </p:cNvPr>
          <p:cNvSpPr>
            <a:spLocks noGrp="1"/>
          </p:cNvSpPr>
          <p:nvPr/>
        </p:nvSpPr>
        <p:spPr>
          <a:xfrm>
            <a:off x="742950" y="5260278"/>
            <a:ext cx="10706100" cy="59055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Репрезентацијата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кандидатот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опишува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како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тој</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достигнува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преку</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патеки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релевантни</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прашањето</a:t>
            </a:r>
            <a:r>
              <a:rPr sz="1500" b="1" i="0" dirty="0">
                <a:solidFill>
                  <a:srgbClr val="263746"/>
                </a:solidFill>
                <a:latin typeface="Arial"/>
                <a:ea typeface="Arial"/>
                <a:cs typeface="Arial"/>
              </a:rPr>
              <a:t>.</a:t>
            </a:r>
          </a:p>
        </p:txBody>
      </p:sp>
      <p:sp>
        <p:nvSpPr>
          <p:cNvPr id="5" name="Rectangle 4">
            <a:extLst>
              <a:ext uri="{FF2B5EF4-FFF2-40B4-BE49-F238E27FC236}">
                <a16:creationId xmlns:a16="http://schemas.microsoft.com/office/drawing/2014/main" id="{C09A2899-8BE1-78E1-B211-95ACB6B3407C}"/>
              </a:ext>
            </a:extLst>
          </p:cNvPr>
          <p:cNvSpPr/>
          <p:nvPr/>
        </p:nvSpPr>
        <p:spPr>
          <a:xfrm>
            <a:off x="964610" y="4731612"/>
            <a:ext cx="6309904" cy="5317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85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EEDE8CA-5EB9-4DF7-A7FF-22DB5290AAD1}"/>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пребарување</a:t>
            </a:r>
          </a:p>
        </p:txBody>
      </p:sp>
      <p:sp>
        <p:nvSpPr>
          <p:cNvPr id="2" name="Rectangle 1">
            <a:extLst>
              <a:ext uri="{FF2B5EF4-FFF2-40B4-BE49-F238E27FC236}">
                <a16:creationId xmlns:a16="http://schemas.microsoft.com/office/drawing/2014/main" id="{37B5306A-DE08-4502-8C97-6B8CDD17736E}"/>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836FA5F2-EB61-4C86-87A2-4D97466B20FA}"/>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nDCG: Järvelin and Kekäläinen, 2002</a:t>
            </a:r>
          </a:p>
        </p:txBody>
      </p:sp>
      <p:sp>
        <p:nvSpPr>
          <p:cNvPr id="4" name="Rectangle 3">
            <a:extLst>
              <a:ext uri="{FF2B5EF4-FFF2-40B4-BE49-F238E27FC236}">
                <a16:creationId xmlns:a16="http://schemas.microsoft.com/office/drawing/2014/main" id="{2C9D1437-9C52-4EAE-920F-17E5B0A48A99}"/>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12</a:t>
            </a:r>
          </a:p>
        </p:txBody>
      </p:sp>
      <p:sp>
        <p:nvSpPr>
          <p:cNvPr id="5" name="Rectangle 4">
            <a:extLst>
              <a:ext uri="{FF2B5EF4-FFF2-40B4-BE49-F238E27FC236}">
                <a16:creationId xmlns:a16="http://schemas.microsoft.com/office/drawing/2014/main" id="{E5A3BC85-1B3C-489A-950A-84A5EBC6EFF5}"/>
              </a:ext>
            </a:extLst>
          </p:cNvPr>
          <p:cNvSpPr>
            <a:spLocks noGrp="1"/>
          </p:cNvSpPr>
          <p:nvPr/>
        </p:nvSpPr>
        <p:spPr>
          <a:xfrm>
            <a:off x="666750" y="1104900"/>
            <a:ext cx="4857750" cy="400050"/>
          </a:xfrm>
          <a:prstGeom prst="rect">
            <a:avLst/>
          </a:prstGeom>
          <a:noFill/>
          <a:ln w="0">
            <a:noFill/>
            <a:prstDash val="solid"/>
          </a:ln>
        </p:spPr>
        <p:txBody>
          <a:bodyPr wrap="square" lIns="38100" tIns="19050" rIns="38100" bIns="19050" anchor="ctr">
            <a:normAutofit/>
          </a:bodyPr>
          <a:lstStyle/>
          <a:p>
            <a:pPr algn="l">
              <a:defRPr sz="1800" b="1" i="0">
                <a:solidFill>
                  <a:srgbClr val="D97942"/>
                </a:solidFill>
                <a:latin typeface="Arial"/>
                <a:ea typeface="Arial"/>
                <a:cs typeface="Arial"/>
              </a:defRPr>
            </a:pPr>
            <a:r>
              <a:rPr sz="1800" b="1" i="0">
                <a:solidFill>
                  <a:srgbClr val="D97942"/>
                </a:solidFill>
                <a:latin typeface="Arial"/>
                <a:ea typeface="Arial"/>
                <a:cs typeface="Arial"/>
              </a:rPr>
              <a:t>Рангирање</a:t>
            </a:r>
          </a:p>
        </p:txBody>
      </p:sp>
      <p:sp>
        <p:nvSpPr>
          <p:cNvPr id="6" name="Rounded Rectangle 5">
            <a:extLst>
              <a:ext uri="{FF2B5EF4-FFF2-40B4-BE49-F238E27FC236}">
                <a16:creationId xmlns:a16="http://schemas.microsoft.com/office/drawing/2014/main" id="{D85738EF-AA1C-4553-9D4D-48AC386CA1A8}"/>
              </a:ext>
            </a:extLst>
          </p:cNvPr>
          <p:cNvSpPr>
            <a:spLocks noGrp="1"/>
          </p:cNvSpPr>
          <p:nvPr/>
        </p:nvSpPr>
        <p:spPr>
          <a:xfrm>
            <a:off x="666750" y="1619250"/>
            <a:ext cx="4857750" cy="1898062"/>
          </a:xfrm>
          <a:prstGeom prst="roundRect">
            <a:avLst>
              <a:gd name="adj" fmla="val 7368"/>
            </a:avLst>
          </a:prstGeom>
          <a:solidFill>
            <a:srgbClr val="FBEDE5"/>
          </a:solidFill>
          <a:ln w="14288">
            <a:solidFill>
              <a:srgbClr val="D97942"/>
            </a:solidFill>
            <a:prstDash val="solid"/>
          </a:ln>
        </p:spPr>
        <p:txBody>
          <a:bodyPr/>
          <a:lstStyle/>
          <a:p>
            <a:endParaRPr lang="en-US" dirty="0"/>
          </a:p>
        </p:txBody>
      </p:sp>
      <p:sp>
        <p:nvSpPr>
          <p:cNvPr id="7" name="Oval 6">
            <a:extLst>
              <a:ext uri="{FF2B5EF4-FFF2-40B4-BE49-F238E27FC236}">
                <a16:creationId xmlns:a16="http://schemas.microsoft.com/office/drawing/2014/main" id="{8961D1B3-8A4C-4675-BCB8-6264250A90A6}"/>
              </a:ext>
            </a:extLst>
          </p:cNvPr>
          <p:cNvSpPr>
            <a:spLocks noGrp="1"/>
          </p:cNvSpPr>
          <p:nvPr/>
        </p:nvSpPr>
        <p:spPr>
          <a:xfrm>
            <a:off x="876300" y="1962150"/>
            <a:ext cx="66675" cy="66675"/>
          </a:xfrm>
          <a:prstGeom prst="ellipse">
            <a:avLst/>
          </a:prstGeom>
          <a:solidFill>
            <a:srgbClr val="D97942"/>
          </a:solidFill>
          <a:ln w="0">
            <a:noFill/>
            <a:prstDash val="solid"/>
          </a:ln>
        </p:spPr>
        <p:txBody>
          <a:bodyPr/>
          <a:lstStyle/>
          <a:p>
            <a:endParaRPr lang="en-US"/>
          </a:p>
        </p:txBody>
      </p:sp>
      <p:sp>
        <p:nvSpPr>
          <p:cNvPr id="8" name="Rectangle 7">
            <a:extLst>
              <a:ext uri="{FF2B5EF4-FFF2-40B4-BE49-F238E27FC236}">
                <a16:creationId xmlns:a16="http://schemas.microsoft.com/office/drawing/2014/main" id="{9DA66C8C-B1A7-45F8-88EC-ABF0A70BF095}"/>
              </a:ext>
            </a:extLst>
          </p:cNvPr>
          <p:cNvSpPr>
            <a:spLocks noGrp="1"/>
          </p:cNvSpPr>
          <p:nvPr/>
        </p:nvSpPr>
        <p:spPr>
          <a:xfrm>
            <a:off x="1047750" y="1857375"/>
            <a:ext cx="4257675" cy="62865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Hits@1 </a:t>
            </a:r>
            <a:r>
              <a:rPr sz="1350" b="0" i="0" dirty="0">
                <a:solidFill>
                  <a:srgbClr val="263746"/>
                </a:solidFill>
                <a:latin typeface="Arial"/>
                <a:ea typeface="Arial"/>
                <a:cs typeface="Arial"/>
              </a:rPr>
              <a:t>/ </a:t>
            </a:r>
            <a:r>
              <a:rPr sz="1350" b="1" i="0" dirty="0">
                <a:solidFill>
                  <a:srgbClr val="263746"/>
                </a:solidFill>
                <a:latin typeface="Arial"/>
                <a:ea typeface="Arial"/>
                <a:cs typeface="Arial"/>
              </a:rPr>
              <a:t>Hits@10 </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барем</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еден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во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првите</a:t>
            </a:r>
            <a:r>
              <a:rPr sz="1350" b="0" i="0" dirty="0">
                <a:solidFill>
                  <a:srgbClr val="263746"/>
                </a:solidFill>
                <a:latin typeface="Arial"/>
                <a:ea typeface="Arial"/>
                <a:cs typeface="Arial"/>
              </a:rPr>
              <a:t> 1</a:t>
            </a:r>
            <a:r>
              <a:rPr lang="mk-MK" sz="1350" b="0" i="0" dirty="0">
                <a:solidFill>
                  <a:srgbClr val="263746"/>
                </a:solidFill>
                <a:latin typeface="Arial"/>
                <a:ea typeface="Arial"/>
                <a:cs typeface="Arial"/>
              </a:rPr>
              <a:t>, односно </a:t>
            </a:r>
            <a:r>
              <a:rPr sz="1350" b="0" i="0" dirty="0">
                <a:solidFill>
                  <a:srgbClr val="263746"/>
                </a:solidFill>
                <a:latin typeface="Arial"/>
                <a:ea typeface="Arial"/>
                <a:cs typeface="Arial"/>
              </a:rPr>
              <a:t>10 </a:t>
            </a:r>
            <a:r>
              <a:rPr lang="mk-MK" sz="1350" b="0" i="0" dirty="0">
                <a:solidFill>
                  <a:srgbClr val="263746"/>
                </a:solidFill>
                <a:latin typeface="Arial"/>
                <a:ea typeface="Arial"/>
                <a:cs typeface="Arial"/>
              </a:rPr>
              <a:t>кандидати</a:t>
            </a:r>
            <a:endParaRPr sz="1350" b="0" i="0" dirty="0">
              <a:solidFill>
                <a:srgbClr val="263746"/>
              </a:solidFill>
              <a:latin typeface="Arial"/>
              <a:ea typeface="Arial"/>
              <a:cs typeface="Arial"/>
            </a:endParaRPr>
          </a:p>
        </p:txBody>
      </p:sp>
      <p:sp>
        <p:nvSpPr>
          <p:cNvPr id="9" name="Oval 8">
            <a:extLst>
              <a:ext uri="{FF2B5EF4-FFF2-40B4-BE49-F238E27FC236}">
                <a16:creationId xmlns:a16="http://schemas.microsoft.com/office/drawing/2014/main" id="{C80939DA-F14A-41ED-9BDC-E98FE689815D}"/>
              </a:ext>
            </a:extLst>
          </p:cNvPr>
          <p:cNvSpPr>
            <a:spLocks noGrp="1"/>
          </p:cNvSpPr>
          <p:nvPr/>
        </p:nvSpPr>
        <p:spPr>
          <a:xfrm>
            <a:off x="876300" y="2752725"/>
            <a:ext cx="66675" cy="66675"/>
          </a:xfrm>
          <a:prstGeom prst="ellipse">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82F2CA1B-2F81-4C10-8B01-E88BB768A823}"/>
              </a:ext>
            </a:extLst>
          </p:cNvPr>
          <p:cNvSpPr>
            <a:spLocks noGrp="1"/>
          </p:cNvSpPr>
          <p:nvPr/>
        </p:nvSpPr>
        <p:spPr>
          <a:xfrm>
            <a:off x="1047750" y="2647950"/>
            <a:ext cx="4257675" cy="59055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nDCG@10 </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позицијата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бројот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точни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во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првите</a:t>
            </a:r>
            <a:r>
              <a:rPr sz="1350" b="0" i="0" dirty="0">
                <a:solidFill>
                  <a:srgbClr val="263746"/>
                </a:solidFill>
                <a:latin typeface="Arial"/>
                <a:ea typeface="Arial"/>
                <a:cs typeface="Arial"/>
              </a:rPr>
              <a:t> 10</a:t>
            </a:r>
            <a:r>
              <a:rPr lang="mk-MK" sz="1350" b="0" i="0" dirty="0">
                <a:solidFill>
                  <a:srgbClr val="263746"/>
                </a:solidFill>
                <a:latin typeface="Arial"/>
                <a:ea typeface="Arial"/>
                <a:cs typeface="Arial"/>
              </a:rPr>
              <a:t> кандидати</a:t>
            </a:r>
            <a:endParaRPr sz="1350" b="0" i="0" dirty="0">
              <a:solidFill>
                <a:srgbClr val="263746"/>
              </a:solidFill>
              <a:latin typeface="Arial"/>
              <a:ea typeface="Arial"/>
              <a:cs typeface="Arial"/>
            </a:endParaRPr>
          </a:p>
        </p:txBody>
      </p:sp>
      <p:sp>
        <p:nvSpPr>
          <p:cNvPr id="11" name="Rectangle 10">
            <a:extLst>
              <a:ext uri="{FF2B5EF4-FFF2-40B4-BE49-F238E27FC236}">
                <a16:creationId xmlns:a16="http://schemas.microsoft.com/office/drawing/2014/main" id="{865DAC87-449D-4CAA-BDD2-435BE7674A1E}"/>
              </a:ext>
            </a:extLst>
          </p:cNvPr>
          <p:cNvSpPr>
            <a:spLocks noGrp="1"/>
          </p:cNvSpPr>
          <p:nvPr/>
        </p:nvSpPr>
        <p:spPr>
          <a:xfrm>
            <a:off x="6191250" y="1104900"/>
            <a:ext cx="5334000" cy="400050"/>
          </a:xfrm>
          <a:prstGeom prst="rect">
            <a:avLst/>
          </a:prstGeom>
          <a:noFill/>
          <a:ln w="0">
            <a:noFill/>
            <a:prstDash val="solid"/>
          </a:ln>
        </p:spPr>
        <p:txBody>
          <a:bodyPr wrap="square" lIns="38100" tIns="19050" rIns="38100" bIns="19050" anchor="ctr">
            <a:normAutofit/>
          </a:bodyPr>
          <a:lstStyle/>
          <a:p>
            <a:pPr algn="l">
              <a:defRPr sz="1800" b="1" i="0">
                <a:solidFill>
                  <a:srgbClr val="4F86C6"/>
                </a:solidFill>
                <a:latin typeface="Arial"/>
                <a:ea typeface="Arial"/>
                <a:cs typeface="Arial"/>
              </a:defRPr>
            </a:pPr>
            <a:r>
              <a:rPr sz="1800" b="1" i="0">
                <a:solidFill>
                  <a:srgbClr val="4F86C6"/>
                </a:solidFill>
                <a:latin typeface="Arial"/>
                <a:ea typeface="Arial"/>
                <a:cs typeface="Arial"/>
              </a:rPr>
              <a:t>Покриеност на точните одговори</a:t>
            </a:r>
          </a:p>
        </p:txBody>
      </p:sp>
      <mc:AlternateContent xmlns:mc="http://schemas.openxmlformats.org/markup-compatibility/2006" xmlns:a14="http://schemas.microsoft.com/office/drawing/2010/main">
        <mc:Choice Requires="a14">
          <p:sp>
            <p:nvSpPr>
              <p:cNvPr id="12" name="Rounded Rectangle 11">
                <a:extLst>
                  <a:ext uri="{FF2B5EF4-FFF2-40B4-BE49-F238E27FC236}">
                    <a16:creationId xmlns:a16="http://schemas.microsoft.com/office/drawing/2014/main" id="{94239560-36C6-4C55-B6CE-1F7ACD0A8760}"/>
                  </a:ext>
                </a:extLst>
              </p:cNvPr>
              <p:cNvSpPr>
                <a:spLocks noGrp="1"/>
              </p:cNvSpPr>
              <p:nvPr/>
            </p:nvSpPr>
            <p:spPr>
              <a:xfrm>
                <a:off x="6191250" y="1619249"/>
                <a:ext cx="5334000" cy="866775"/>
              </a:xfrm>
              <a:prstGeom prst="roundRect">
                <a:avLst>
                  <a:gd name="adj" fmla="val 12500"/>
                </a:avLst>
              </a:prstGeom>
              <a:solidFill>
                <a:srgbClr val="EAF2FB"/>
              </a:solidFill>
              <a:ln w="11430">
                <a:solidFill>
                  <a:srgbClr val="4F86C6"/>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RetrievalGoldCoverage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𝑞</m:t>
                                      </m:r>
                                    </m:sub>
                                  </m:sSub>
                                </m:e>
                              </m:d>
                            </m:num>
                            <m:den>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e>
                              </m:d>
                            </m:den>
                          </m:f>
                        </m:e>
                      </m:nary>
                    </m:oMath>
                  </m:oMathPara>
                </a14:m>
                <a:endParaRPr lang="en-US" dirty="0"/>
              </a:p>
            </p:txBody>
          </p:sp>
        </mc:Choice>
        <mc:Fallback xmlns="">
          <p:sp>
            <p:nvSpPr>
              <p:cNvPr id="12" name="Rounded Rectangle 11">
                <a:extLst>
                  <a:ext uri="{FF2B5EF4-FFF2-40B4-BE49-F238E27FC236}">
                    <a16:creationId xmlns:a16="http://schemas.microsoft.com/office/drawing/2014/main" id="{94239560-36C6-4C55-B6CE-1F7ACD0A8760}"/>
                  </a:ext>
                </a:extLst>
              </p:cNvPr>
              <p:cNvSpPr>
                <a:spLocks noGrp="1" noRot="1" noChangeAspect="1" noMove="1" noResize="1" noEditPoints="1" noAdjustHandles="1" noChangeArrowheads="1" noChangeShapeType="1" noTextEdit="1"/>
              </p:cNvSpPr>
              <p:nvPr/>
            </p:nvSpPr>
            <p:spPr>
              <a:xfrm>
                <a:off x="6191250" y="1619249"/>
                <a:ext cx="5334000" cy="866775"/>
              </a:xfrm>
              <a:prstGeom prst="roundRect">
                <a:avLst>
                  <a:gd name="adj" fmla="val 12500"/>
                </a:avLst>
              </a:prstGeom>
              <a:blipFill>
                <a:blip r:embed="rId3"/>
                <a:stretch>
                  <a:fillRect t="-98571" b="-142857"/>
                </a:stretch>
              </a:blipFill>
              <a:ln w="11430">
                <a:solidFill>
                  <a:srgbClr val="4F86C6"/>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ounded Rectangle 13">
                <a:extLst>
                  <a:ext uri="{FF2B5EF4-FFF2-40B4-BE49-F238E27FC236}">
                    <a16:creationId xmlns:a16="http://schemas.microsoft.com/office/drawing/2014/main" id="{D2402969-3CA4-4B41-AFD3-77ACCF3A529A}"/>
                  </a:ext>
                </a:extLst>
              </p:cNvPr>
              <p:cNvSpPr>
                <a:spLocks noGrp="1"/>
              </p:cNvSpPr>
              <p:nvPr/>
            </p:nvSpPr>
            <p:spPr>
              <a:xfrm>
                <a:off x="6191250" y="2645364"/>
                <a:ext cx="5334000" cy="871948"/>
              </a:xfrm>
              <a:prstGeom prst="roundRect">
                <a:avLst>
                  <a:gd name="adj" fmla="val 12500"/>
                </a:avLst>
              </a:prstGeom>
              <a:solidFill>
                <a:srgbClr val="EAF2FB"/>
              </a:solidFill>
              <a:ln w="11430">
                <a:solidFill>
                  <a:srgbClr val="4F86C6"/>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RetrievalFullGoldCoverage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𝑞</m:t>
                                  </m:r>
                                </m:sub>
                              </m:sSub>
                            </m:e>
                          </m:d>
                        </m:e>
                      </m:nary>
                    </m:oMath>
                  </m:oMathPara>
                </a14:m>
                <a:endParaRPr lang="en-US" dirty="0"/>
              </a:p>
            </p:txBody>
          </p:sp>
        </mc:Choice>
        <mc:Fallback xmlns="">
          <p:sp>
            <p:nvSpPr>
              <p:cNvPr id="14" name="Rounded Rectangle 13">
                <a:extLst>
                  <a:ext uri="{FF2B5EF4-FFF2-40B4-BE49-F238E27FC236}">
                    <a16:creationId xmlns:a16="http://schemas.microsoft.com/office/drawing/2014/main" id="{D2402969-3CA4-4B41-AFD3-77ACCF3A529A}"/>
                  </a:ext>
                </a:extLst>
              </p:cNvPr>
              <p:cNvSpPr>
                <a:spLocks noGrp="1" noRot="1" noChangeAspect="1" noMove="1" noResize="1" noEditPoints="1" noAdjustHandles="1" noChangeArrowheads="1" noChangeShapeType="1" noTextEdit="1"/>
              </p:cNvSpPr>
              <p:nvPr/>
            </p:nvSpPr>
            <p:spPr>
              <a:xfrm>
                <a:off x="6191250" y="2645364"/>
                <a:ext cx="5334000" cy="871948"/>
              </a:xfrm>
              <a:prstGeom prst="roundRect">
                <a:avLst>
                  <a:gd name="adj" fmla="val 12500"/>
                </a:avLst>
              </a:prstGeom>
              <a:blipFill>
                <a:blip r:embed="rId4"/>
                <a:stretch>
                  <a:fillRect t="-100000" b="-138028"/>
                </a:stretch>
              </a:blipFill>
              <a:ln w="11430">
                <a:solidFill>
                  <a:srgbClr val="4F86C6"/>
                </a:solidFill>
                <a:prstDash val="solid"/>
              </a:ln>
            </p:spPr>
            <p:txBody>
              <a:bodyPr/>
              <a:lstStyle/>
              <a:p>
                <a:r>
                  <a:rPr lang="en-US">
                    <a:noFill/>
                  </a:rPr>
                  <a:t> </a:t>
                </a:r>
              </a:p>
            </p:txBody>
          </p:sp>
        </mc:Fallback>
      </mc:AlternateContent>
      <p:sp>
        <p:nvSpPr>
          <p:cNvPr id="16" name="Rounded Rectangle 15">
            <a:extLst>
              <a:ext uri="{FF2B5EF4-FFF2-40B4-BE49-F238E27FC236}">
                <a16:creationId xmlns:a16="http://schemas.microsoft.com/office/drawing/2014/main" id="{8716B5F8-CEA5-4551-B217-B9C18422BF86}"/>
              </a:ext>
            </a:extLst>
          </p:cNvPr>
          <p:cNvSpPr>
            <a:spLocks noGrp="1"/>
          </p:cNvSpPr>
          <p:nvPr/>
        </p:nvSpPr>
        <p:spPr>
          <a:xfrm>
            <a:off x="2629988" y="3981450"/>
            <a:ext cx="6418761" cy="1428750"/>
          </a:xfrm>
          <a:prstGeom prst="roundRect">
            <a:avLst>
              <a:gd name="adj" fmla="val 9333"/>
            </a:avLst>
          </a:prstGeom>
          <a:solidFill>
            <a:srgbClr val="F7F9FB"/>
          </a:solidFill>
          <a:ln w="12383">
            <a:solidFill>
              <a:srgbClr val="A9B4BE"/>
            </a:solidFill>
            <a:prstDash val="solid"/>
          </a:ln>
        </p:spPr>
        <p:txBody>
          <a:bodyPr/>
          <a:lstStyle/>
          <a:p>
            <a:endParaRPr lang="en-US"/>
          </a:p>
        </p:txBody>
      </p:sp>
      <p:sp>
        <p:nvSpPr>
          <p:cNvPr id="17" name="Rectangle 16">
            <a:extLst>
              <a:ext uri="{FF2B5EF4-FFF2-40B4-BE49-F238E27FC236}">
                <a16:creationId xmlns:a16="http://schemas.microsoft.com/office/drawing/2014/main" id="{A76DA4AC-91C7-474C-BCE6-39753987167D}"/>
              </a:ext>
            </a:extLst>
          </p:cNvPr>
          <p:cNvSpPr>
            <a:spLocks noGrp="1"/>
          </p:cNvSpPr>
          <p:nvPr/>
        </p:nvSpPr>
        <p:spPr>
          <a:xfrm>
            <a:off x="2921107" y="4169395"/>
            <a:ext cx="907338" cy="323850"/>
          </a:xfrm>
          <a:prstGeom prst="rect">
            <a:avLst/>
          </a:prstGeom>
          <a:noFill/>
          <a:ln w="0">
            <a:noFill/>
            <a:prstDash val="solid"/>
          </a:ln>
        </p:spPr>
        <p:txBody>
          <a:bodyPr wrap="square" lIns="38100" tIns="19050" rIns="38100" bIns="19050" anchor="ctr">
            <a:normAutofit/>
          </a:bodyPr>
          <a:lstStyle/>
          <a:p>
            <a:pPr algn="l">
              <a:defRPr sz="1500" b="1" i="0">
                <a:solidFill>
                  <a:srgbClr val="263746"/>
                </a:solidFill>
                <a:latin typeface="Arial"/>
                <a:ea typeface="Arial"/>
                <a:cs typeface="Arial"/>
              </a:defRPr>
            </a:pPr>
            <a:r>
              <a:rPr sz="1500" b="1" i="0" dirty="0" err="1">
                <a:solidFill>
                  <a:srgbClr val="263746"/>
                </a:solidFill>
                <a:latin typeface="Arial"/>
                <a:ea typeface="Arial"/>
                <a:cs typeface="Arial"/>
              </a:rPr>
              <a:t>Пример</a:t>
            </a:r>
            <a:endParaRPr sz="1500" b="1" i="0" dirty="0">
              <a:solidFill>
                <a:srgbClr val="263746"/>
              </a:solidFill>
              <a:latin typeface="Arial"/>
              <a:ea typeface="Arial"/>
              <a:cs typeface="Arial"/>
            </a:endParaRPr>
          </a:p>
        </p:txBody>
      </p:sp>
      <p:sp>
        <p:nvSpPr>
          <p:cNvPr id="18" name="Rectangle 17">
            <a:extLst>
              <a:ext uri="{FF2B5EF4-FFF2-40B4-BE49-F238E27FC236}">
                <a16:creationId xmlns:a16="http://schemas.microsoft.com/office/drawing/2014/main" id="{2430FAFC-FA48-49FD-8E07-C7F0E8B96D01}"/>
              </a:ext>
            </a:extLst>
          </p:cNvPr>
          <p:cNvSpPr>
            <a:spLocks noGrp="1"/>
          </p:cNvSpPr>
          <p:nvPr/>
        </p:nvSpPr>
        <p:spPr>
          <a:xfrm>
            <a:off x="4119563" y="4246380"/>
            <a:ext cx="2571750" cy="514350"/>
          </a:xfrm>
          <a:prstGeom prst="rect">
            <a:avLst/>
          </a:prstGeom>
          <a:noFill/>
          <a:ln w="0">
            <a:noFill/>
            <a:prstDash val="solid"/>
          </a:ln>
        </p:spPr>
        <p:txBody>
          <a:bodyPr wrap="square" lIns="38100" tIns="19050" rIns="38100" bIns="19050" anchor="ctr">
            <a:normAutofit/>
          </a:bodyPr>
          <a:lstStyle/>
          <a:p>
            <a:pPr algn="ctr">
              <a:defRPr sz="2325" b="1" i="0">
                <a:solidFill>
                  <a:srgbClr val="4F86C6"/>
                </a:solidFill>
                <a:latin typeface="Arial"/>
                <a:ea typeface="Arial"/>
                <a:cs typeface="Arial"/>
              </a:defRPr>
            </a:pPr>
            <a:r>
              <a:rPr sz="2325" b="1" i="0" dirty="0">
                <a:solidFill>
                  <a:srgbClr val="4F86C6"/>
                </a:solidFill>
                <a:latin typeface="Arial"/>
                <a:ea typeface="Arial"/>
                <a:cs typeface="Arial"/>
              </a:rPr>
              <a:t>2 / 3</a:t>
            </a:r>
          </a:p>
        </p:txBody>
      </p:sp>
      <p:sp>
        <p:nvSpPr>
          <p:cNvPr id="19" name="Rectangle 18">
            <a:extLst>
              <a:ext uri="{FF2B5EF4-FFF2-40B4-BE49-F238E27FC236}">
                <a16:creationId xmlns:a16="http://schemas.microsoft.com/office/drawing/2014/main" id="{B354D322-60E7-45B1-8A5B-70FC5FAEE068}"/>
              </a:ext>
            </a:extLst>
          </p:cNvPr>
          <p:cNvSpPr>
            <a:spLocks noGrp="1"/>
          </p:cNvSpPr>
          <p:nvPr/>
        </p:nvSpPr>
        <p:spPr>
          <a:xfrm>
            <a:off x="4107657" y="4717868"/>
            <a:ext cx="25717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пронајдени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точни</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одговори</a:t>
            </a:r>
            <a:endParaRPr sz="1200" b="0" i="0" dirty="0">
              <a:solidFill>
                <a:srgbClr val="617080"/>
              </a:solidFill>
              <a:latin typeface="Arial"/>
              <a:ea typeface="Arial"/>
              <a:cs typeface="Arial"/>
            </a:endParaRPr>
          </a:p>
        </p:txBody>
      </p:sp>
      <p:sp>
        <p:nvSpPr>
          <p:cNvPr id="20" name="Rectangle 19">
            <a:extLst>
              <a:ext uri="{FF2B5EF4-FFF2-40B4-BE49-F238E27FC236}">
                <a16:creationId xmlns:a16="http://schemas.microsoft.com/office/drawing/2014/main" id="{FEEC1E5F-7C9F-4C6C-9A6F-7A61DAE7C569}"/>
              </a:ext>
            </a:extLst>
          </p:cNvPr>
          <p:cNvSpPr>
            <a:spLocks noGrp="1"/>
          </p:cNvSpPr>
          <p:nvPr/>
        </p:nvSpPr>
        <p:spPr>
          <a:xfrm>
            <a:off x="6191250" y="4231684"/>
            <a:ext cx="2381250" cy="514350"/>
          </a:xfrm>
          <a:prstGeom prst="rect">
            <a:avLst/>
          </a:prstGeom>
          <a:noFill/>
          <a:ln w="0">
            <a:noFill/>
            <a:prstDash val="solid"/>
          </a:ln>
        </p:spPr>
        <p:txBody>
          <a:bodyPr wrap="square" lIns="38100" tIns="19050" rIns="38100" bIns="19050" anchor="ctr">
            <a:normAutofit/>
          </a:bodyPr>
          <a:lstStyle/>
          <a:p>
            <a:pPr algn="ctr">
              <a:defRPr sz="2325" b="1" i="0">
                <a:solidFill>
                  <a:srgbClr val="D97942"/>
                </a:solidFill>
                <a:latin typeface="Arial"/>
                <a:ea typeface="Arial"/>
                <a:cs typeface="Arial"/>
              </a:defRPr>
            </a:pPr>
            <a:r>
              <a:rPr sz="2325" b="1" i="0" dirty="0">
                <a:solidFill>
                  <a:srgbClr val="D97942"/>
                </a:solidFill>
                <a:latin typeface="Arial"/>
                <a:ea typeface="Arial"/>
                <a:cs typeface="Arial"/>
              </a:rPr>
              <a:t>0</a:t>
            </a:r>
          </a:p>
        </p:txBody>
      </p:sp>
      <p:sp>
        <p:nvSpPr>
          <p:cNvPr id="21" name="Rectangle 20">
            <a:extLst>
              <a:ext uri="{FF2B5EF4-FFF2-40B4-BE49-F238E27FC236}">
                <a16:creationId xmlns:a16="http://schemas.microsoft.com/office/drawing/2014/main" id="{BBEBACF5-1589-4799-BD6B-237CA5FB81E3}"/>
              </a:ext>
            </a:extLst>
          </p:cNvPr>
          <p:cNvSpPr>
            <a:spLocks noGrp="1"/>
          </p:cNvSpPr>
          <p:nvPr/>
        </p:nvSpPr>
        <p:spPr>
          <a:xfrm>
            <a:off x="6215063" y="4703172"/>
            <a:ext cx="2381250" cy="400050"/>
          </a:xfrm>
          <a:prstGeom prst="rect">
            <a:avLst/>
          </a:prstGeom>
          <a:noFill/>
          <a:ln w="0">
            <a:noFill/>
            <a:prstDash val="solid"/>
          </a:ln>
        </p:spPr>
        <p:txBody>
          <a:bodyPr wrap="square" lIns="38100" tIns="19050" rIns="38100" bIns="19050" anchor="t">
            <a:normAutofit/>
          </a:bodyPr>
          <a:lstStyle/>
          <a:p>
            <a:pPr algn="ctr">
              <a:defRPr sz="1200" b="0" i="0">
                <a:solidFill>
                  <a:srgbClr val="617080"/>
                </a:solidFill>
                <a:latin typeface="Arial"/>
                <a:ea typeface="Arial"/>
                <a:cs typeface="Arial"/>
              </a:defRPr>
            </a:pPr>
            <a:r>
              <a:rPr sz="1200" b="0" i="0" dirty="0" err="1">
                <a:solidFill>
                  <a:srgbClr val="617080"/>
                </a:solidFill>
                <a:latin typeface="Arial"/>
                <a:ea typeface="Arial"/>
                <a:cs typeface="Arial"/>
              </a:rPr>
              <a:t>целосна</a:t>
            </a:r>
            <a:r>
              <a:rPr sz="1200" b="0" i="0" dirty="0">
                <a:solidFill>
                  <a:srgbClr val="617080"/>
                </a:solidFill>
                <a:latin typeface="Arial"/>
                <a:ea typeface="Arial"/>
                <a:cs typeface="Arial"/>
              </a:rPr>
              <a:t> </a:t>
            </a:r>
            <a:r>
              <a:rPr sz="1200" b="0" i="0" dirty="0" err="1">
                <a:solidFill>
                  <a:srgbClr val="617080"/>
                </a:solidFill>
                <a:latin typeface="Arial"/>
                <a:ea typeface="Arial"/>
                <a:cs typeface="Arial"/>
              </a:rPr>
              <a:t>покриеност</a:t>
            </a:r>
            <a:endParaRPr sz="1200" b="0" i="0" dirty="0">
              <a:solidFill>
                <a:srgbClr val="617080"/>
              </a:solidFill>
              <a:latin typeface="Arial"/>
              <a:ea typeface="Arial"/>
              <a:cs typeface="Arial"/>
            </a:endParaRPr>
          </a:p>
        </p:txBody>
      </p:sp>
      <p:sp>
        <p:nvSpPr>
          <p:cNvPr id="22" name="Rectangle 21">
            <a:extLst>
              <a:ext uri="{FF2B5EF4-FFF2-40B4-BE49-F238E27FC236}">
                <a16:creationId xmlns:a16="http://schemas.microsoft.com/office/drawing/2014/main" id="{07166D4E-21A3-4784-A420-247905ECCD22}"/>
              </a:ext>
            </a:extLst>
          </p:cNvPr>
          <p:cNvSpPr>
            <a:spLocks noGrp="1"/>
          </p:cNvSpPr>
          <p:nvPr/>
        </p:nvSpPr>
        <p:spPr>
          <a:xfrm>
            <a:off x="2381250" y="5572125"/>
            <a:ext cx="7429500" cy="323850"/>
          </a:xfrm>
          <a:prstGeom prst="rect">
            <a:avLst/>
          </a:prstGeom>
          <a:noFill/>
          <a:ln w="0">
            <a:noFill/>
            <a:prstDash val="solid"/>
          </a:ln>
        </p:spPr>
        <p:txBody>
          <a:bodyPr wrap="square" lIns="38100" tIns="19050" rIns="38100" bIns="19050" anchor="ctr">
            <a:normAutofit/>
          </a:bodyPr>
          <a:lstStyle/>
          <a:p>
            <a:pPr algn="ctr">
              <a:defRPr sz="1200" b="0" i="0">
                <a:solidFill>
                  <a:srgbClr val="617080"/>
                </a:solidFill>
                <a:latin typeface="Arial"/>
                <a:ea typeface="Arial"/>
                <a:cs typeface="Arial"/>
              </a:defRPr>
            </a:pPr>
            <a:r>
              <a:rPr sz="1200" b="0" i="0">
                <a:solidFill>
                  <a:srgbClr val="617080"/>
                </a:solidFill>
                <a:latin typeface="Arial"/>
                <a:ea typeface="Arial"/>
                <a:cs typeface="Arial"/>
              </a:rPr>
              <a:t>Gq — точни одговори · Rq — пребарани кандидати</a:t>
            </a:r>
          </a:p>
        </p:txBody>
      </p:sp>
    </p:spTree>
    <p:extLst>
      <p:ext uri="{BB962C8B-B14F-4D97-AF65-F5344CB8AC3E}">
        <p14:creationId xmlns:p14="http://schemas.microsoft.com/office/powerpoint/2010/main" val="1893943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528EAF0-1EC2-412A-B52B-9FF0E1683ADB}"/>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Резултати од пребарувањето</a:t>
            </a:r>
          </a:p>
        </p:txBody>
      </p:sp>
      <p:sp>
        <p:nvSpPr>
          <p:cNvPr id="2" name="Rectangle 1">
            <a:extLst>
              <a:ext uri="{FF2B5EF4-FFF2-40B4-BE49-F238E27FC236}">
                <a16:creationId xmlns:a16="http://schemas.microsoft.com/office/drawing/2014/main" id="{5805E6DA-20C8-45B8-92F0-7FF7AD9A05E2}"/>
              </a:ext>
            </a:extLst>
          </p:cNvPr>
          <p:cNvSpPr>
            <a:spLocks noGrp="1"/>
          </p:cNvSpPr>
          <p:nvPr/>
        </p:nvSpPr>
        <p:spPr>
          <a:xfrm>
            <a:off x="552450" y="781050"/>
            <a:ext cx="11087100" cy="38100"/>
          </a:xfrm>
          <a:prstGeom prst="rect">
            <a:avLst/>
          </a:prstGeom>
          <a:solidFill>
            <a:srgbClr val="D97942"/>
          </a:solidFill>
          <a:ln w="0">
            <a:noFill/>
            <a:prstDash val="solid"/>
          </a:ln>
        </p:spPr>
        <p:txBody>
          <a:bodyPr/>
          <a:lstStyle/>
          <a:p>
            <a:endParaRPr lang="en-US"/>
          </a:p>
        </p:txBody>
      </p:sp>
      <p:sp>
        <p:nvSpPr>
          <p:cNvPr id="3" name="Rectangle 2">
            <a:extLst>
              <a:ext uri="{FF2B5EF4-FFF2-40B4-BE49-F238E27FC236}">
                <a16:creationId xmlns:a16="http://schemas.microsoft.com/office/drawing/2014/main" id="{4E359488-DCAE-43C2-B477-8B1F3ADB2D4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13</a:t>
            </a:r>
          </a:p>
        </p:txBody>
      </p:sp>
      <p:pic>
        <p:nvPicPr>
          <p:cNvPr id="19" name="Picture 18"/>
          <p:cNvPicPr>
            <a:picLocks noChangeAspect="1"/>
          </p:cNvPicPr>
          <p:nvPr/>
        </p:nvPicPr>
        <p:blipFill>
          <a:blip r:embed="rId3"/>
          <a:stretch/>
        </p:blipFill>
        <p:spPr>
          <a:xfrm>
            <a:off x="400050" y="1067515"/>
            <a:ext cx="8286750" cy="3808569"/>
          </a:xfrm>
          <a:prstGeom prst="rect">
            <a:avLst/>
          </a:prstGeom>
        </p:spPr>
      </p:pic>
      <p:sp>
        <p:nvSpPr>
          <p:cNvPr id="5" name="Rounded Rectangle 4">
            <a:extLst>
              <a:ext uri="{FF2B5EF4-FFF2-40B4-BE49-F238E27FC236}">
                <a16:creationId xmlns:a16="http://schemas.microsoft.com/office/drawing/2014/main" id="{B3132804-446E-462D-B5A3-915426A2A7E2}"/>
              </a:ext>
            </a:extLst>
          </p:cNvPr>
          <p:cNvSpPr>
            <a:spLocks noGrp="1"/>
          </p:cNvSpPr>
          <p:nvPr/>
        </p:nvSpPr>
        <p:spPr>
          <a:xfrm>
            <a:off x="8953500" y="1162050"/>
            <a:ext cx="2667000" cy="3638550"/>
          </a:xfrm>
          <a:prstGeom prst="roundRect">
            <a:avLst>
              <a:gd name="adj" fmla="val 5000"/>
            </a:avLst>
          </a:prstGeom>
          <a:solidFill>
            <a:srgbClr val="FBEDE5"/>
          </a:solidFill>
          <a:ln w="16193">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300D9212-DF51-48E2-8BCF-07CAC137FFBB}"/>
              </a:ext>
            </a:extLst>
          </p:cNvPr>
          <p:cNvSpPr>
            <a:spLocks noGrp="1"/>
          </p:cNvSpPr>
          <p:nvPr/>
        </p:nvSpPr>
        <p:spPr>
          <a:xfrm>
            <a:off x="9239250" y="1381125"/>
            <a:ext cx="2095500" cy="419100"/>
          </a:xfrm>
          <a:prstGeom prst="rect">
            <a:avLst/>
          </a:prstGeom>
          <a:noFill/>
          <a:ln w="0">
            <a:noFill/>
            <a:prstDash val="solid"/>
          </a:ln>
        </p:spPr>
        <p:txBody>
          <a:bodyPr wrap="square" lIns="38100" tIns="19050" rIns="38100" bIns="19050" anchor="ctr">
            <a:normAutofit/>
          </a:bodyPr>
          <a:lstStyle/>
          <a:p>
            <a:pPr algn="ctr">
              <a:defRPr sz="2175" b="1" i="0">
                <a:solidFill>
                  <a:srgbClr val="D97942"/>
                </a:solidFill>
                <a:latin typeface="Arial"/>
                <a:ea typeface="Arial"/>
                <a:cs typeface="Arial"/>
              </a:defRPr>
            </a:pPr>
            <a:r>
              <a:rPr sz="2175" b="1" i="0">
                <a:solidFill>
                  <a:srgbClr val="D97942"/>
                </a:solidFill>
                <a:latin typeface="Arial"/>
                <a:ea typeface="Arial"/>
                <a:cs typeface="Arial"/>
              </a:rPr>
              <a:t>NBFNet</a:t>
            </a:r>
          </a:p>
        </p:txBody>
      </p:sp>
      <p:sp>
        <p:nvSpPr>
          <p:cNvPr id="7" name="Rectangle 6">
            <a:extLst>
              <a:ext uri="{FF2B5EF4-FFF2-40B4-BE49-F238E27FC236}">
                <a16:creationId xmlns:a16="http://schemas.microsoft.com/office/drawing/2014/main" id="{CF3C1FFF-C837-4026-9134-9FB67024F041}"/>
              </a:ext>
            </a:extLst>
          </p:cNvPr>
          <p:cNvSpPr>
            <a:spLocks noGrp="1"/>
          </p:cNvSpPr>
          <p:nvPr/>
        </p:nvSpPr>
        <p:spPr>
          <a:xfrm>
            <a:off x="9220200" y="1952625"/>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0,692</a:t>
            </a:r>
          </a:p>
        </p:txBody>
      </p:sp>
      <p:sp>
        <p:nvSpPr>
          <p:cNvPr id="8" name="Rectangle 7">
            <a:extLst>
              <a:ext uri="{FF2B5EF4-FFF2-40B4-BE49-F238E27FC236}">
                <a16:creationId xmlns:a16="http://schemas.microsoft.com/office/drawing/2014/main" id="{BC6195FB-0D1D-4A18-BD08-A3F3FC34949A}"/>
              </a:ext>
            </a:extLst>
          </p:cNvPr>
          <p:cNvSpPr>
            <a:spLocks noGrp="1"/>
          </p:cNvSpPr>
          <p:nvPr/>
        </p:nvSpPr>
        <p:spPr>
          <a:xfrm>
            <a:off x="9220200" y="2409825"/>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a:solidFill>
                  <a:srgbClr val="617080"/>
                </a:solidFill>
                <a:latin typeface="Arial"/>
                <a:ea typeface="Arial"/>
                <a:cs typeface="Arial"/>
              </a:rPr>
              <a:t>Hits@1</a:t>
            </a:r>
          </a:p>
        </p:txBody>
      </p:sp>
      <p:sp>
        <p:nvSpPr>
          <p:cNvPr id="9" name="Rectangle 8">
            <a:extLst>
              <a:ext uri="{FF2B5EF4-FFF2-40B4-BE49-F238E27FC236}">
                <a16:creationId xmlns:a16="http://schemas.microsoft.com/office/drawing/2014/main" id="{C2E20F21-18A0-496C-B5D4-AE39436B2C59}"/>
              </a:ext>
            </a:extLst>
          </p:cNvPr>
          <p:cNvSpPr>
            <a:spLocks noGrp="1"/>
          </p:cNvSpPr>
          <p:nvPr/>
        </p:nvSpPr>
        <p:spPr>
          <a:xfrm>
            <a:off x="9220200" y="2781300"/>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0,921</a:t>
            </a:r>
          </a:p>
        </p:txBody>
      </p:sp>
      <p:sp>
        <p:nvSpPr>
          <p:cNvPr id="10" name="Rectangle 9">
            <a:extLst>
              <a:ext uri="{FF2B5EF4-FFF2-40B4-BE49-F238E27FC236}">
                <a16:creationId xmlns:a16="http://schemas.microsoft.com/office/drawing/2014/main" id="{62813A14-14B5-40F3-B290-8EBF010AF817}"/>
              </a:ext>
            </a:extLst>
          </p:cNvPr>
          <p:cNvSpPr>
            <a:spLocks noGrp="1"/>
          </p:cNvSpPr>
          <p:nvPr/>
        </p:nvSpPr>
        <p:spPr>
          <a:xfrm>
            <a:off x="9220200" y="3238500"/>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a:solidFill>
                  <a:srgbClr val="617080"/>
                </a:solidFill>
                <a:latin typeface="Arial"/>
                <a:ea typeface="Arial"/>
                <a:cs typeface="Arial"/>
              </a:rPr>
              <a:t>Hits@10</a:t>
            </a:r>
          </a:p>
        </p:txBody>
      </p:sp>
      <p:sp>
        <p:nvSpPr>
          <p:cNvPr id="11" name="Rectangle 10">
            <a:extLst>
              <a:ext uri="{FF2B5EF4-FFF2-40B4-BE49-F238E27FC236}">
                <a16:creationId xmlns:a16="http://schemas.microsoft.com/office/drawing/2014/main" id="{9090F63C-558F-497D-93C3-410211B895A4}"/>
              </a:ext>
            </a:extLst>
          </p:cNvPr>
          <p:cNvSpPr>
            <a:spLocks noGrp="1"/>
          </p:cNvSpPr>
          <p:nvPr/>
        </p:nvSpPr>
        <p:spPr>
          <a:xfrm>
            <a:off x="9220200" y="3609975"/>
            <a:ext cx="21336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0,796</a:t>
            </a:r>
          </a:p>
        </p:txBody>
      </p:sp>
      <p:sp>
        <p:nvSpPr>
          <p:cNvPr id="12" name="Rectangle 11">
            <a:extLst>
              <a:ext uri="{FF2B5EF4-FFF2-40B4-BE49-F238E27FC236}">
                <a16:creationId xmlns:a16="http://schemas.microsoft.com/office/drawing/2014/main" id="{C6641CC1-81A9-430A-B153-D380F86521C2}"/>
              </a:ext>
            </a:extLst>
          </p:cNvPr>
          <p:cNvSpPr>
            <a:spLocks noGrp="1"/>
          </p:cNvSpPr>
          <p:nvPr/>
        </p:nvSpPr>
        <p:spPr>
          <a:xfrm>
            <a:off x="9220200" y="4067175"/>
            <a:ext cx="2133600" cy="400050"/>
          </a:xfrm>
          <a:prstGeom prst="rect">
            <a:avLst/>
          </a:prstGeom>
          <a:noFill/>
          <a:ln w="0">
            <a:noFill/>
            <a:prstDash val="solid"/>
          </a:ln>
        </p:spPr>
        <p:txBody>
          <a:bodyPr wrap="square" lIns="38100" tIns="19050" rIns="38100" bIns="19050" anchor="t">
            <a:normAutofit/>
          </a:bodyPr>
          <a:lstStyle/>
          <a:p>
            <a:pPr algn="ctr">
              <a:defRPr sz="1125" b="0" i="0">
                <a:solidFill>
                  <a:srgbClr val="617080"/>
                </a:solidFill>
                <a:latin typeface="Arial"/>
                <a:ea typeface="Arial"/>
                <a:cs typeface="Arial"/>
              </a:defRPr>
            </a:pPr>
            <a:r>
              <a:rPr sz="1125" b="0" i="0">
                <a:solidFill>
                  <a:srgbClr val="617080"/>
                </a:solidFill>
                <a:latin typeface="Arial"/>
                <a:ea typeface="Arial"/>
                <a:cs typeface="Arial"/>
              </a:rPr>
              <a:t>nDCG@10</a:t>
            </a:r>
          </a:p>
        </p:txBody>
      </p:sp>
      <p:sp>
        <p:nvSpPr>
          <p:cNvPr id="13" name="Rectangle 12">
            <a:extLst>
              <a:ext uri="{FF2B5EF4-FFF2-40B4-BE49-F238E27FC236}">
                <a16:creationId xmlns:a16="http://schemas.microsoft.com/office/drawing/2014/main" id="{FDA11785-DAE3-4EA0-BA42-AF47189A58D3}"/>
              </a:ext>
            </a:extLst>
          </p:cNvPr>
          <p:cNvSpPr>
            <a:spLocks noGrp="1"/>
          </p:cNvSpPr>
          <p:nvPr/>
        </p:nvSpPr>
        <p:spPr>
          <a:xfrm>
            <a:off x="9144000" y="4419600"/>
            <a:ext cx="2286000" cy="228600"/>
          </a:xfrm>
          <a:prstGeom prst="rect">
            <a:avLst/>
          </a:prstGeom>
          <a:noFill/>
          <a:ln w="0">
            <a:noFill/>
            <a:prstDash val="solid"/>
          </a:ln>
        </p:spPr>
        <p:txBody>
          <a:bodyPr wrap="square" lIns="38100" tIns="19050" rIns="38100" bIns="19050" anchor="ctr">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средна вредност од 3 извршувања</a:t>
            </a:r>
          </a:p>
        </p:txBody>
      </p:sp>
      <p:sp>
        <p:nvSpPr>
          <p:cNvPr id="14" name="Rounded Rectangle 13">
            <a:extLst>
              <a:ext uri="{FF2B5EF4-FFF2-40B4-BE49-F238E27FC236}">
                <a16:creationId xmlns:a16="http://schemas.microsoft.com/office/drawing/2014/main" id="{FC07EFEE-6758-495E-9373-40486E0BBC0D}"/>
              </a:ext>
            </a:extLst>
          </p:cNvPr>
          <p:cNvSpPr>
            <a:spLocks noGrp="1"/>
          </p:cNvSpPr>
          <p:nvPr/>
        </p:nvSpPr>
        <p:spPr>
          <a:xfrm>
            <a:off x="714375" y="5267325"/>
            <a:ext cx="10763250" cy="876300"/>
          </a:xfrm>
          <a:prstGeom prst="roundRect">
            <a:avLst>
              <a:gd name="adj" fmla="val 15217"/>
            </a:avLst>
          </a:prstGeom>
          <a:solidFill>
            <a:srgbClr val="F7F9FB"/>
          </a:solidFill>
          <a:ln w="11430">
            <a:solidFill>
              <a:srgbClr val="A9B4BE"/>
            </a:solidFill>
            <a:prstDash val="solid"/>
          </a:ln>
        </p:spPr>
        <p:txBody>
          <a:bodyPr/>
          <a:lstStyle/>
          <a:p>
            <a:endParaRPr lang="en-US"/>
          </a:p>
        </p:txBody>
      </p:sp>
      <p:sp>
        <p:nvSpPr>
          <p:cNvPr id="15" name="Rectangle 14">
            <a:extLst>
              <a:ext uri="{FF2B5EF4-FFF2-40B4-BE49-F238E27FC236}">
                <a16:creationId xmlns:a16="http://schemas.microsoft.com/office/drawing/2014/main" id="{1C899750-EEE5-4225-BF68-8E3169ACB9E2}"/>
              </a:ext>
            </a:extLst>
          </p:cNvPr>
          <p:cNvSpPr>
            <a:spLocks noGrp="1"/>
          </p:cNvSpPr>
          <p:nvPr/>
        </p:nvSpPr>
        <p:spPr>
          <a:xfrm>
            <a:off x="1000125" y="5410200"/>
            <a:ext cx="10191750" cy="590550"/>
          </a:xfrm>
          <a:prstGeom prst="rect">
            <a:avLst/>
          </a:prstGeom>
          <a:noFill/>
          <a:ln w="0">
            <a:noFill/>
            <a:prstDash val="solid"/>
          </a:ln>
        </p:spPr>
        <p:txBody>
          <a:bodyPr wrap="square" lIns="38100" tIns="19050" rIns="38100" bIns="19050" anchor="ctr">
            <a:normAutofit/>
          </a:bodyPr>
          <a:lstStyle/>
          <a:p>
            <a:pPr algn="ctr">
              <a:defRPr sz="1425" b="1" i="0">
                <a:solidFill>
                  <a:srgbClr val="263746"/>
                </a:solidFill>
                <a:latin typeface="Arial"/>
                <a:ea typeface="Arial"/>
                <a:cs typeface="Arial"/>
              </a:defRPr>
            </a:pPr>
            <a:r>
              <a:rPr sz="1425" b="1" i="0">
                <a:solidFill>
                  <a:srgbClr val="263746"/>
                </a:solidFill>
                <a:latin typeface="Arial"/>
                <a:ea typeface="Arial"/>
                <a:cs typeface="Arial"/>
              </a:rPr>
              <a:t>Условувањето со прашањето и експлицитното моделирање на релациските патеки даваат најдобри резултати. Advance GraphSAGE е силен едноставен компромис.</a:t>
            </a:r>
          </a:p>
        </p:txBody>
      </p:sp>
    </p:spTree>
    <p:extLst>
      <p:ext uri="{BB962C8B-B14F-4D97-AF65-F5344CB8AC3E}">
        <p14:creationId xmlns:p14="http://schemas.microsoft.com/office/powerpoint/2010/main" val="503190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42EF028-B971-4D6E-9C21-52703C1006C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Конструкција на доказниот подграф</a:t>
            </a:r>
          </a:p>
        </p:txBody>
      </p:sp>
      <p:sp>
        <p:nvSpPr>
          <p:cNvPr id="2" name="Rectangle 1">
            <a:extLst>
              <a:ext uri="{FF2B5EF4-FFF2-40B4-BE49-F238E27FC236}">
                <a16:creationId xmlns:a16="http://schemas.microsoft.com/office/drawing/2014/main" id="{BE30C4C8-10EF-4975-B12F-63D0568EB253}"/>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B6C816E8-700D-467B-AE64-75109A06E8FE}"/>
              </a:ext>
            </a:extLst>
          </p:cNvPr>
          <p:cNvSpPr>
            <a:spLocks noGrp="1"/>
          </p:cNvSpPr>
          <p:nvPr/>
        </p:nvSpPr>
        <p:spPr>
          <a:xfrm>
            <a:off x="552450" y="6486525"/>
            <a:ext cx="9334500" cy="228600"/>
          </a:xfrm>
          <a:prstGeom prst="rect">
            <a:avLst/>
          </a:prstGeom>
          <a:noFill/>
          <a:ln w="0">
            <a:noFill/>
            <a:prstDash val="solid"/>
          </a:ln>
        </p:spPr>
        <p:txBody>
          <a:bodyPr wrap="square" lIns="38100" tIns="19050" rIns="38100" bIns="19050" anchor="b">
            <a:normAutofit/>
          </a:bodyPr>
          <a:lstStyle/>
          <a:p>
            <a:pPr algn="l">
              <a:defRPr sz="825" b="0" i="0">
                <a:solidFill>
                  <a:srgbClr val="617080"/>
                </a:solidFill>
                <a:latin typeface="Arial"/>
                <a:ea typeface="Arial"/>
                <a:cs typeface="Arial"/>
              </a:defRPr>
            </a:pPr>
            <a:r>
              <a:rPr sz="825" b="0" i="0">
                <a:solidFill>
                  <a:srgbClr val="617080"/>
                </a:solidFill>
                <a:latin typeface="Arial"/>
                <a:ea typeface="Arial"/>
                <a:cs typeface="Arial"/>
              </a:rPr>
              <a:t>Goemans and Williamson, 1995</a:t>
            </a:r>
          </a:p>
        </p:txBody>
      </p:sp>
      <p:sp>
        <p:nvSpPr>
          <p:cNvPr id="4" name="Rectangle 3">
            <a:extLst>
              <a:ext uri="{FF2B5EF4-FFF2-40B4-BE49-F238E27FC236}">
                <a16:creationId xmlns:a16="http://schemas.microsoft.com/office/drawing/2014/main" id="{1DFA0E94-7425-4B5D-AA08-BE5C4C432093}"/>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14</a:t>
            </a:r>
          </a:p>
        </p:txBody>
      </p:sp>
      <p:pic>
        <p:nvPicPr>
          <p:cNvPr id="19" name="Picture 18"/>
          <p:cNvPicPr>
            <a:picLocks noChangeAspect="1"/>
          </p:cNvPicPr>
          <p:nvPr/>
        </p:nvPicPr>
        <p:blipFill>
          <a:blip r:embed="rId3"/>
          <a:stretch/>
        </p:blipFill>
        <p:spPr>
          <a:xfrm>
            <a:off x="308504" y="1047750"/>
            <a:ext cx="6993467" cy="3933825"/>
          </a:xfrm>
          <a:prstGeom prst="rect">
            <a:avLst/>
          </a:prstGeom>
        </p:spPr>
      </p:pic>
      <p:sp>
        <p:nvSpPr>
          <p:cNvPr id="6" name="Rectangle 5">
            <a:extLst>
              <a:ext uri="{FF2B5EF4-FFF2-40B4-BE49-F238E27FC236}">
                <a16:creationId xmlns:a16="http://schemas.microsoft.com/office/drawing/2014/main" id="{043F525B-9FD3-484B-8E88-9B9CBE097BF3}"/>
              </a:ext>
            </a:extLst>
          </p:cNvPr>
          <p:cNvSpPr>
            <a:spLocks noGrp="1"/>
          </p:cNvSpPr>
          <p:nvPr/>
        </p:nvSpPr>
        <p:spPr>
          <a:xfrm>
            <a:off x="7620000" y="1095375"/>
            <a:ext cx="4000500" cy="552450"/>
          </a:xfrm>
          <a:prstGeom prst="rect">
            <a:avLst/>
          </a:prstGeom>
          <a:noFill/>
          <a:ln w="0">
            <a:noFill/>
            <a:prstDash val="solid"/>
          </a:ln>
        </p:spPr>
        <p:txBody>
          <a:bodyPr wrap="square" lIns="38100" tIns="19050" rIns="38100" bIns="19050" anchor="ctr">
            <a:normAutofit/>
          </a:bodyPr>
          <a:lstStyle/>
          <a:p>
            <a:pPr algn="ctr">
              <a:defRPr sz="1575" b="1" i="0">
                <a:solidFill>
                  <a:srgbClr val="398D84"/>
                </a:solidFill>
                <a:latin typeface="Arial"/>
                <a:ea typeface="Arial"/>
                <a:cs typeface="Arial"/>
              </a:defRPr>
            </a:pPr>
            <a:r>
              <a:rPr sz="1575" b="1" i="0">
                <a:solidFill>
                  <a:srgbClr val="398D84"/>
                </a:solidFill>
                <a:latin typeface="Arial"/>
                <a:ea typeface="Arial"/>
                <a:cs typeface="Arial"/>
              </a:rPr>
              <a:t>PCST: награда на јазлите наспроти трошок на рабовите</a:t>
            </a:r>
          </a:p>
        </p:txBody>
      </p:sp>
      <mc:AlternateContent xmlns:mc="http://schemas.openxmlformats.org/markup-compatibility/2006" xmlns:a14="http://schemas.microsoft.com/office/drawing/2010/main">
        <mc:Choice Requires="a14">
          <p:sp>
            <p:nvSpPr>
              <p:cNvPr id="7" name="Rounded Rectangle 6">
                <a:extLst>
                  <a:ext uri="{FF2B5EF4-FFF2-40B4-BE49-F238E27FC236}">
                    <a16:creationId xmlns:a16="http://schemas.microsoft.com/office/drawing/2014/main" id="{FF03D113-8AE5-4CB5-B4F8-EE205F50A754}"/>
                  </a:ext>
                </a:extLst>
              </p:cNvPr>
              <p:cNvSpPr>
                <a:spLocks noGrp="1"/>
              </p:cNvSpPr>
              <p:nvPr/>
            </p:nvSpPr>
            <p:spPr>
              <a:xfrm>
                <a:off x="7667625" y="1790700"/>
                <a:ext cx="3905250" cy="838200"/>
              </a:xfrm>
              <a:prstGeom prst="roundRect">
                <a:avLst>
                  <a:gd name="adj" fmla="val 11364"/>
                </a:avLst>
              </a:prstGeom>
              <a:solidFill>
                <a:srgbClr val="E8F5F3"/>
              </a:solidFill>
              <a:ln w="11430">
                <a:solidFill>
                  <a:srgbClr val="398D84"/>
                </a:solidFill>
                <a:prstDash val="solid"/>
              </a:ln>
            </p:spPr>
            <p:txBody>
              <a:bodyPr anchor="ct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m:t>
                          </m:r>
                        </m:sup>
                      </m:sSup>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i="0">
                              <a:latin typeface="Cambria Math" panose="02040503050406030204" pitchFamily="18" charset="0"/>
                            </a:rPr>
                            <m:t>arg</m:t>
                          </m:r>
                        </m:fName>
                        <m:e>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i="0">
                                      <a:latin typeface="Cambria Math" panose="02040503050406030204" pitchFamily="18" charset="0"/>
                                    </a:rPr>
                                    <m:t>max</m:t>
                                  </m:r>
                                </m:e>
                                <m:lim>
                                  <m:r>
                                    <a:rPr lang="en-US" i="1">
                                      <a:latin typeface="Cambria Math" panose="02040503050406030204" pitchFamily="18" charset="0"/>
                                    </a:rPr>
                                    <m:t>𝑇</m:t>
                                  </m:r>
                                </m:lim>
                              </m:limLow>
                            </m:fName>
                            <m:e>
                              <m:d>
                                <m:dPr>
                                  <m:begChr m:val="["/>
                                  <m:endChr m:val="]"/>
                                  <m:ctrlPr>
                                    <a:rPr lang="en-US" i="1">
                                      <a:latin typeface="Cambria Math" panose="02040503050406030204" pitchFamily="18" charset="0"/>
                                    </a:rPr>
                                  </m:ctrlPr>
                                </m:dPr>
                                <m:e>
                                  <m:nary>
                                    <m:naryPr>
                                      <m:chr m:val="∑"/>
                                      <m:supHide m:val="on"/>
                                      <m:ctrlPr>
                                        <a:rPr lang="en-US" i="1">
                                          <a:latin typeface="Cambria Math" panose="02040503050406030204" pitchFamily="18" charset="0"/>
                                        </a:rPr>
                                      </m:ctrlPr>
                                    </m:naryPr>
                                    <m:sub>
                                      <m:r>
                                        <a:rPr lang="en-US" i="1">
                                          <a:latin typeface="Cambria Math" panose="02040503050406030204" pitchFamily="18" charset="0"/>
                                        </a:rPr>
                                        <m:t>𝑣</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𝑇</m:t>
                                          </m:r>
                                        </m:sub>
                                      </m:sSub>
                                    </m:sub>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𝑣</m:t>
                                          </m:r>
                                        </m:e>
                                      </m:d>
                                    </m:e>
                                  </m:nary>
                                  <m:r>
                                    <a:rPr lang="en-US" i="1">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𝑒</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𝑇</m:t>
                                          </m:r>
                                        </m:sub>
                                      </m:sSub>
                                    </m:sub>
                                    <m:sup/>
                                    <m:e>
                                      <m:r>
                                        <a:rPr lang="en-US" i="1">
                                          <a:latin typeface="Cambria Math" panose="02040503050406030204" pitchFamily="18" charset="0"/>
                                        </a:rPr>
                                        <m:t>𝑐</m:t>
                                      </m:r>
                                      <m:d>
                                        <m:dPr>
                                          <m:ctrlPr>
                                            <a:rPr lang="en-US" i="1">
                                              <a:latin typeface="Cambria Math" panose="02040503050406030204" pitchFamily="18" charset="0"/>
                                            </a:rPr>
                                          </m:ctrlPr>
                                        </m:dPr>
                                        <m:e>
                                          <m:r>
                                            <a:rPr lang="en-US" i="1">
                                              <a:latin typeface="Cambria Math" panose="02040503050406030204" pitchFamily="18" charset="0"/>
                                            </a:rPr>
                                            <m:t>𝑒</m:t>
                                          </m:r>
                                        </m:e>
                                      </m:d>
                                    </m:e>
                                  </m:nary>
                                </m:e>
                              </m:d>
                            </m:e>
                          </m:func>
                        </m:e>
                      </m:func>
                    </m:oMath>
                  </m:oMathPara>
                </a14:m>
                <a:endParaRPr lang="en-US" dirty="0"/>
              </a:p>
            </p:txBody>
          </p:sp>
        </mc:Choice>
        <mc:Fallback xmlns="">
          <p:sp>
            <p:nvSpPr>
              <p:cNvPr id="7" name="Rounded Rectangle 6">
                <a:extLst>
                  <a:ext uri="{FF2B5EF4-FFF2-40B4-BE49-F238E27FC236}">
                    <a16:creationId xmlns:a16="http://schemas.microsoft.com/office/drawing/2014/main" id="{FF03D113-8AE5-4CB5-B4F8-EE205F50A754}"/>
                  </a:ext>
                </a:extLst>
              </p:cNvPr>
              <p:cNvSpPr>
                <a:spLocks noGrp="1" noRot="1" noChangeAspect="1" noMove="1" noResize="1" noEditPoints="1" noAdjustHandles="1" noChangeArrowheads="1" noChangeShapeType="1" noTextEdit="1"/>
              </p:cNvSpPr>
              <p:nvPr/>
            </p:nvSpPr>
            <p:spPr>
              <a:xfrm>
                <a:off x="7667625" y="1790700"/>
                <a:ext cx="3905250" cy="838200"/>
              </a:xfrm>
              <a:prstGeom prst="roundRect">
                <a:avLst>
                  <a:gd name="adj" fmla="val 11364"/>
                </a:avLst>
              </a:prstGeom>
              <a:blipFill>
                <a:blip r:embed="rId4"/>
                <a:stretch>
                  <a:fillRect t="-105882" b="-145588"/>
                </a:stretch>
              </a:blipFill>
              <a:ln w="11430">
                <a:solidFill>
                  <a:srgbClr val="398D84"/>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ounded Rectangle 8">
                <a:extLst>
                  <a:ext uri="{FF2B5EF4-FFF2-40B4-BE49-F238E27FC236}">
                    <a16:creationId xmlns:a16="http://schemas.microsoft.com/office/drawing/2014/main" id="{B5055CE5-2E03-4219-84F3-ED4DECB2E9C4}"/>
                  </a:ext>
                </a:extLst>
              </p:cNvPr>
              <p:cNvSpPr>
                <a:spLocks noGrp="1"/>
              </p:cNvSpPr>
              <p:nvPr/>
            </p:nvSpPr>
            <p:spPr>
              <a:xfrm>
                <a:off x="7667625" y="2819400"/>
                <a:ext cx="3905250" cy="619125"/>
              </a:xfrm>
              <a:prstGeom prst="roundRect">
                <a:avLst>
                  <a:gd name="adj" fmla="val 15385"/>
                </a:avLst>
              </a:prstGeom>
              <a:solidFill>
                <a:srgbClr val="F7F9FB"/>
              </a:solidFill>
              <a:ln w="11430">
                <a:solidFill>
                  <a:srgbClr val="A9B4BE"/>
                </a:solidFill>
                <a:prstDash val="solid"/>
              </a:ln>
            </p:spPr>
            <p:txBody>
              <a:bodyPr anchor="ct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𝑐𝑜𝑛𝑠𝑡</m:t>
                          </m:r>
                        </m:sub>
                      </m:sSub>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𝑒</m:t>
                          </m:r>
                        </m:e>
                      </m:d>
                      <m:r>
                        <a:rPr lang="en-US" i="1">
                          <a:latin typeface="Cambria Math" panose="02040503050406030204" pitchFamily="18" charset="0"/>
                        </a:rPr>
                        <m:t>=</m:t>
                      </m:r>
                      <m:r>
                        <a:rPr lang="el-GR" i="1">
                          <a:latin typeface="Cambria Math" panose="02040503050406030204" pitchFamily="18" charset="0"/>
                        </a:rPr>
                        <m:t>𝜆</m:t>
                      </m:r>
                    </m:oMath>
                  </m:oMathPara>
                </a14:m>
                <a:endParaRPr lang="en-US" dirty="0"/>
              </a:p>
            </p:txBody>
          </p:sp>
        </mc:Choice>
        <mc:Fallback xmlns="">
          <p:sp>
            <p:nvSpPr>
              <p:cNvPr id="9" name="Rounded Rectangle 8">
                <a:extLst>
                  <a:ext uri="{FF2B5EF4-FFF2-40B4-BE49-F238E27FC236}">
                    <a16:creationId xmlns:a16="http://schemas.microsoft.com/office/drawing/2014/main" id="{B5055CE5-2E03-4219-84F3-ED4DECB2E9C4}"/>
                  </a:ext>
                </a:extLst>
              </p:cNvPr>
              <p:cNvSpPr>
                <a:spLocks noGrp="1" noRot="1" noChangeAspect="1" noMove="1" noResize="1" noEditPoints="1" noAdjustHandles="1" noChangeArrowheads="1" noChangeShapeType="1" noTextEdit="1"/>
              </p:cNvSpPr>
              <p:nvPr/>
            </p:nvSpPr>
            <p:spPr>
              <a:xfrm>
                <a:off x="7667625" y="2819400"/>
                <a:ext cx="3905250" cy="619125"/>
              </a:xfrm>
              <a:prstGeom prst="roundRect">
                <a:avLst>
                  <a:gd name="adj" fmla="val 15385"/>
                </a:avLst>
              </a:prstGeom>
              <a:blipFill>
                <a:blip r:embed="rId5"/>
                <a:stretch>
                  <a:fillRect/>
                </a:stretch>
              </a:blipFill>
              <a:ln w="11430">
                <a:solidFill>
                  <a:srgbClr val="A9B4BE"/>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ounded Rectangle 10">
                <a:extLst>
                  <a:ext uri="{FF2B5EF4-FFF2-40B4-BE49-F238E27FC236}">
                    <a16:creationId xmlns:a16="http://schemas.microsoft.com/office/drawing/2014/main" id="{7522A186-ED0E-4FAB-8400-1AE1BF0BAA61}"/>
                  </a:ext>
                </a:extLst>
              </p:cNvPr>
              <p:cNvSpPr>
                <a:spLocks noGrp="1"/>
              </p:cNvSpPr>
              <p:nvPr/>
            </p:nvSpPr>
            <p:spPr>
              <a:xfrm>
                <a:off x="7667625" y="3629025"/>
                <a:ext cx="3905250" cy="733425"/>
              </a:xfrm>
              <a:prstGeom prst="roundRect">
                <a:avLst>
                  <a:gd name="adj" fmla="val 12987"/>
                </a:avLst>
              </a:prstGeom>
              <a:solidFill>
                <a:srgbClr val="F7F9FB"/>
              </a:solidFill>
              <a:ln w="11430">
                <a:solidFill>
                  <a:srgbClr val="A9B4BE"/>
                </a:solidFill>
                <a:prstDash val="solid"/>
              </a:ln>
            </p:spPr>
            <p:txBody>
              <a:bodyPr anchor="ct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𝑠𝑒𝑚</m:t>
                          </m:r>
                        </m:sub>
                      </m:sSub>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𝑒</m:t>
                          </m:r>
                        </m:e>
                      </m:d>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i="0">
                              <a:latin typeface="Cambria Math" panose="02040503050406030204" pitchFamily="18" charset="0"/>
                            </a:rPr>
                            <m:t>max</m:t>
                          </m:r>
                        </m:fName>
                        <m:e>
                          <m:d>
                            <m:dPr>
                              <m:ctrlPr>
                                <a:rPr lang="en-US" i="1">
                                  <a:latin typeface="Cambria Math" panose="02040503050406030204" pitchFamily="18" charset="0"/>
                                </a:rPr>
                              </m:ctrlPr>
                            </m:dPr>
                            <m:e>
                              <m:r>
                                <a:rPr lang="el-GR" i="1">
                                  <a:latin typeface="Cambria Math" panose="02040503050406030204" pitchFamily="18" charset="0"/>
                                </a:rPr>
                                <m:t>𝜀</m:t>
                              </m:r>
                              <m:r>
                                <a:rPr lang="el-GR" i="1">
                                  <a:latin typeface="Cambria Math" panose="02040503050406030204" pitchFamily="18" charset="0"/>
                                </a:rPr>
                                <m:t>,</m:t>
                              </m:r>
                              <m:r>
                                <a:rPr lang="el-GR" i="1">
                                  <a:latin typeface="Cambria Math" panose="02040503050406030204" pitchFamily="18" charset="0"/>
                                </a:rPr>
                                <m:t>𝜆</m:t>
                              </m:r>
                              <m:d>
                                <m:dPr>
                                  <m:begChr m:val="["/>
                                  <m:endChr m:val="]"/>
                                  <m:ctrlPr>
                                    <a:rPr lang="el-GR" i="1">
                                      <a:latin typeface="Cambria Math" panose="02040503050406030204" pitchFamily="18" charset="0"/>
                                    </a:rPr>
                                  </m:ctrlPr>
                                </m:dPr>
                                <m:e>
                                  <m:r>
                                    <a:rPr lang="el-GR" i="1">
                                      <a:latin typeface="Cambria Math" panose="02040503050406030204" pitchFamily="18" charset="0"/>
                                    </a:rPr>
                                    <m:t>1−</m:t>
                                  </m:r>
                                  <m:func>
                                    <m:funcPr>
                                      <m:ctrlPr>
                                        <a:rPr lang="en-US" i="1">
                                          <a:latin typeface="Cambria Math" panose="02040503050406030204" pitchFamily="18" charset="0"/>
                                        </a:rPr>
                                      </m:ctrlPr>
                                    </m:funcPr>
                                    <m:fName>
                                      <m:r>
                                        <m:rPr>
                                          <m:sty m:val="p"/>
                                        </m:rPr>
                                        <a:rPr lang="en-US" i="0">
                                          <a:latin typeface="Cambria Math" panose="02040503050406030204" pitchFamily="18" charset="0"/>
                                        </a:rPr>
                                        <m:t>cos</m:t>
                                      </m:r>
                                    </m:fName>
                                    <m:e>
                                      <m:d>
                                        <m:dPr>
                                          <m:ctrlPr>
                                            <a:rPr lang="en-US" i="1">
                                              <a:latin typeface="Cambria Math" panose="02040503050406030204" pitchFamily="18" charset="0"/>
                                            </a:rPr>
                                          </m:ctrlPr>
                                        </m:dPr>
                                        <m:e>
                                          <m:r>
                                            <a:rPr lang="en-US" i="1">
                                              <a:latin typeface="Cambria Math" panose="02040503050406030204" pitchFamily="18" charset="0"/>
                                            </a:rPr>
                                            <m:t>𝑞</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𝑒</m:t>
                                              </m:r>
                                            </m:sub>
                                          </m:sSub>
                                        </m:e>
                                      </m:d>
                                    </m:e>
                                  </m:func>
                                </m:e>
                              </m:d>
                            </m:e>
                          </m:d>
                        </m:e>
                      </m:func>
                    </m:oMath>
                  </m:oMathPara>
                </a14:m>
                <a:endParaRPr lang="en-US" dirty="0"/>
              </a:p>
            </p:txBody>
          </p:sp>
        </mc:Choice>
        <mc:Fallback xmlns="">
          <p:sp>
            <p:nvSpPr>
              <p:cNvPr id="11" name="Rounded Rectangle 10">
                <a:extLst>
                  <a:ext uri="{FF2B5EF4-FFF2-40B4-BE49-F238E27FC236}">
                    <a16:creationId xmlns:a16="http://schemas.microsoft.com/office/drawing/2014/main" id="{7522A186-ED0E-4FAB-8400-1AE1BF0BAA61}"/>
                  </a:ext>
                </a:extLst>
              </p:cNvPr>
              <p:cNvSpPr>
                <a:spLocks noGrp="1" noRot="1" noChangeAspect="1" noMove="1" noResize="1" noEditPoints="1" noAdjustHandles="1" noChangeArrowheads="1" noChangeShapeType="1" noTextEdit="1"/>
              </p:cNvSpPr>
              <p:nvPr/>
            </p:nvSpPr>
            <p:spPr>
              <a:xfrm>
                <a:off x="7667625" y="3629025"/>
                <a:ext cx="3905250" cy="733425"/>
              </a:xfrm>
              <a:prstGeom prst="roundRect">
                <a:avLst>
                  <a:gd name="adj" fmla="val 12987"/>
                </a:avLst>
              </a:prstGeom>
              <a:blipFill>
                <a:blip r:embed="rId6"/>
                <a:stretch>
                  <a:fillRect/>
                </a:stretch>
              </a:blipFill>
              <a:ln w="11430">
                <a:solidFill>
                  <a:srgbClr val="A9B4BE"/>
                </a:solidFill>
                <a:prstDash val="solid"/>
              </a:ln>
            </p:spPr>
            <p:txBody>
              <a:bodyPr/>
              <a:lstStyle/>
              <a:p>
                <a:r>
                  <a:rPr lang="en-US">
                    <a:noFill/>
                  </a:rPr>
                  <a:t> </a:t>
                </a:r>
              </a:p>
            </p:txBody>
          </p:sp>
        </mc:Fallback>
      </mc:AlternateContent>
      <p:sp>
        <p:nvSpPr>
          <p:cNvPr id="13" name="Rounded Rectangle 12">
            <a:extLst>
              <a:ext uri="{FF2B5EF4-FFF2-40B4-BE49-F238E27FC236}">
                <a16:creationId xmlns:a16="http://schemas.microsoft.com/office/drawing/2014/main" id="{D0007323-A5F6-4E56-8888-FBB1BC66BA0F}"/>
              </a:ext>
            </a:extLst>
          </p:cNvPr>
          <p:cNvSpPr>
            <a:spLocks noGrp="1"/>
          </p:cNvSpPr>
          <p:nvPr/>
        </p:nvSpPr>
        <p:spPr>
          <a:xfrm>
            <a:off x="1095375" y="5314950"/>
            <a:ext cx="10001250" cy="781050"/>
          </a:xfrm>
          <a:prstGeom prst="roundRect">
            <a:avLst>
              <a:gd name="adj" fmla="val 17073"/>
            </a:avLst>
          </a:prstGeom>
          <a:solidFill>
            <a:srgbClr val="E8F5F3"/>
          </a:solidFill>
          <a:ln w="14288">
            <a:solidFill>
              <a:srgbClr val="398D84"/>
            </a:solidFill>
            <a:prstDash val="solid"/>
          </a:ln>
        </p:spPr>
        <p:txBody>
          <a:bodyPr/>
          <a:lstStyle/>
          <a:p>
            <a:endParaRPr lang="en-US"/>
          </a:p>
        </p:txBody>
      </p:sp>
      <p:sp>
        <p:nvSpPr>
          <p:cNvPr id="14" name="Rectangle 13">
            <a:extLst>
              <a:ext uri="{FF2B5EF4-FFF2-40B4-BE49-F238E27FC236}">
                <a16:creationId xmlns:a16="http://schemas.microsoft.com/office/drawing/2014/main" id="{21D79A3A-BCA3-4897-9D50-CD510D5E6693}"/>
              </a:ext>
            </a:extLst>
          </p:cNvPr>
          <p:cNvSpPr>
            <a:spLocks noGrp="1"/>
          </p:cNvSpPr>
          <p:nvPr/>
        </p:nvSpPr>
        <p:spPr>
          <a:xfrm>
            <a:off x="1381125" y="5429250"/>
            <a:ext cx="9429750" cy="542925"/>
          </a:xfrm>
          <a:prstGeom prst="rect">
            <a:avLst/>
          </a:prstGeom>
          <a:noFill/>
          <a:ln w="0">
            <a:noFill/>
            <a:prstDash val="solid"/>
          </a:ln>
        </p:spPr>
        <p:txBody>
          <a:bodyPr wrap="square" lIns="38100" tIns="19050" rIns="38100" bIns="19050" anchor="ctr">
            <a:normAutofit/>
          </a:bodyPr>
          <a:lstStyle/>
          <a:p>
            <a:pPr algn="ctr">
              <a:defRPr sz="1425" b="1" i="0">
                <a:solidFill>
                  <a:srgbClr val="263746"/>
                </a:solidFill>
                <a:latin typeface="Arial"/>
                <a:ea typeface="Arial"/>
                <a:cs typeface="Arial"/>
              </a:defRPr>
            </a:pPr>
            <a:r>
              <a:rPr sz="1425" b="1" i="0">
                <a:solidFill>
                  <a:srgbClr val="263746"/>
                </a:solidFill>
                <a:latin typeface="Arial"/>
                <a:ea typeface="Arial"/>
                <a:cs typeface="Arial"/>
              </a:rPr>
              <a:t>Најкратките патеки гарантираат поврзаност до секој кандидат; PCST може да отфрли кандидат кога поврзувањето е прескапо.</a:t>
            </a:r>
          </a:p>
        </p:txBody>
      </p:sp>
    </p:spTree>
    <p:extLst>
      <p:ext uri="{BB962C8B-B14F-4D97-AF65-F5344CB8AC3E}">
        <p14:creationId xmlns:p14="http://schemas.microsoft.com/office/powerpoint/2010/main" val="1178840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993BDBA-A14F-4170-82A6-6F8E1D7DBC2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доказниот контекст</a:t>
            </a:r>
          </a:p>
        </p:txBody>
      </p:sp>
      <p:sp>
        <p:nvSpPr>
          <p:cNvPr id="2" name="Rectangle 1">
            <a:extLst>
              <a:ext uri="{FF2B5EF4-FFF2-40B4-BE49-F238E27FC236}">
                <a16:creationId xmlns:a16="http://schemas.microsoft.com/office/drawing/2014/main" id="{A6294223-85A7-4740-9A38-38B4386997A8}"/>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921F84B1-7965-4DC6-BD3E-29B7759E2B30}"/>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15</a:t>
            </a:r>
          </a:p>
        </p:txBody>
      </p:sp>
      <p:sp>
        <p:nvSpPr>
          <p:cNvPr id="4" name="Rectangle 3">
            <a:extLst>
              <a:ext uri="{FF2B5EF4-FFF2-40B4-BE49-F238E27FC236}">
                <a16:creationId xmlns:a16="http://schemas.microsoft.com/office/drawing/2014/main" id="{1528BF3F-120F-4C60-B36E-B2B2B197A923}"/>
              </a:ext>
            </a:extLst>
          </p:cNvPr>
          <p:cNvSpPr>
            <a:spLocks noGrp="1"/>
          </p:cNvSpPr>
          <p:nvPr/>
        </p:nvSpPr>
        <p:spPr>
          <a:xfrm>
            <a:off x="666750" y="1104900"/>
            <a:ext cx="4857750" cy="381000"/>
          </a:xfrm>
          <a:prstGeom prst="rect">
            <a:avLst/>
          </a:prstGeom>
          <a:noFill/>
          <a:ln w="0">
            <a:noFill/>
            <a:prstDash val="solid"/>
          </a:ln>
        </p:spPr>
        <p:txBody>
          <a:bodyPr wrap="square" lIns="38100" tIns="19050" rIns="38100" bIns="19050" anchor="ctr">
            <a:normAutofit/>
          </a:bodyPr>
          <a:lstStyle/>
          <a:p>
            <a:pPr algn="l">
              <a:defRPr sz="1800" b="1" i="0">
                <a:solidFill>
                  <a:srgbClr val="398D84"/>
                </a:solidFill>
                <a:latin typeface="Arial"/>
                <a:ea typeface="Arial"/>
                <a:cs typeface="Arial"/>
              </a:defRPr>
            </a:pPr>
            <a:r>
              <a:rPr sz="1800" b="1" i="0">
                <a:solidFill>
                  <a:srgbClr val="398D84"/>
                </a:solidFill>
                <a:latin typeface="Arial"/>
                <a:ea typeface="Arial"/>
                <a:cs typeface="Arial"/>
              </a:rPr>
              <a:t>Компактност</a:t>
            </a:r>
          </a:p>
        </p:txBody>
      </p:sp>
      <p:sp>
        <p:nvSpPr>
          <p:cNvPr id="5" name="Rounded Rectangle 4">
            <a:extLst>
              <a:ext uri="{FF2B5EF4-FFF2-40B4-BE49-F238E27FC236}">
                <a16:creationId xmlns:a16="http://schemas.microsoft.com/office/drawing/2014/main" id="{2D44D4A8-C788-41F1-B500-B8BFF4778CA5}"/>
              </a:ext>
            </a:extLst>
          </p:cNvPr>
          <p:cNvSpPr>
            <a:spLocks noGrp="1"/>
          </p:cNvSpPr>
          <p:nvPr/>
        </p:nvSpPr>
        <p:spPr>
          <a:xfrm>
            <a:off x="666750" y="1619250"/>
            <a:ext cx="4857750" cy="2009775"/>
          </a:xfrm>
          <a:prstGeom prst="roundRect">
            <a:avLst>
              <a:gd name="adj" fmla="val 4217"/>
            </a:avLst>
          </a:prstGeom>
          <a:solidFill>
            <a:srgbClr val="E8F5F3"/>
          </a:solidFill>
          <a:ln w="14288">
            <a:solidFill>
              <a:srgbClr val="398D84"/>
            </a:solidFill>
            <a:prstDash val="solid"/>
          </a:ln>
        </p:spPr>
        <p:txBody>
          <a:bodyPr/>
          <a:lstStyle/>
          <a:p>
            <a:endParaRPr lang="en-US" dirty="0"/>
          </a:p>
        </p:txBody>
      </p:sp>
      <p:sp>
        <p:nvSpPr>
          <p:cNvPr id="12" name="Rectangle 11">
            <a:extLst>
              <a:ext uri="{FF2B5EF4-FFF2-40B4-BE49-F238E27FC236}">
                <a16:creationId xmlns:a16="http://schemas.microsoft.com/office/drawing/2014/main" id="{F49D069B-BB57-45AC-9749-823ADB1E677C}"/>
              </a:ext>
            </a:extLst>
          </p:cNvPr>
          <p:cNvSpPr>
            <a:spLocks noGrp="1"/>
          </p:cNvSpPr>
          <p:nvPr/>
        </p:nvSpPr>
        <p:spPr>
          <a:xfrm>
            <a:off x="6191250" y="1104900"/>
            <a:ext cx="5334000" cy="381000"/>
          </a:xfrm>
          <a:prstGeom prst="rect">
            <a:avLst/>
          </a:prstGeom>
          <a:noFill/>
          <a:ln w="0">
            <a:noFill/>
            <a:prstDash val="solid"/>
          </a:ln>
        </p:spPr>
        <p:txBody>
          <a:bodyPr wrap="square" lIns="38100" tIns="19050" rIns="38100" bIns="19050" anchor="ctr">
            <a:normAutofit/>
          </a:bodyPr>
          <a:lstStyle/>
          <a:p>
            <a:pPr algn="l">
              <a:defRPr sz="1800" b="1" i="0">
                <a:solidFill>
                  <a:srgbClr val="4E9B69"/>
                </a:solidFill>
                <a:latin typeface="Arial"/>
                <a:ea typeface="Arial"/>
                <a:cs typeface="Arial"/>
              </a:defRPr>
            </a:pPr>
            <a:r>
              <a:rPr sz="1800" b="1" i="0">
                <a:solidFill>
                  <a:srgbClr val="4E9B69"/>
                </a:solidFill>
                <a:latin typeface="Arial"/>
                <a:ea typeface="Arial"/>
                <a:cs typeface="Arial"/>
              </a:rPr>
              <a:t>Зачувана информација</a:t>
            </a:r>
          </a:p>
        </p:txBody>
      </p:sp>
      <mc:AlternateContent xmlns:mc="http://schemas.openxmlformats.org/markup-compatibility/2006" xmlns:a14="http://schemas.microsoft.com/office/drawing/2010/main">
        <mc:Choice Requires="a14">
          <p:sp>
            <p:nvSpPr>
              <p:cNvPr id="13" name="Rounded Rectangle 12">
                <a:extLst>
                  <a:ext uri="{FF2B5EF4-FFF2-40B4-BE49-F238E27FC236}">
                    <a16:creationId xmlns:a16="http://schemas.microsoft.com/office/drawing/2014/main" id="{ADEDEE46-3DC3-45D2-965D-9851C2A33B26}"/>
                  </a:ext>
                </a:extLst>
              </p:cNvPr>
              <p:cNvSpPr>
                <a:spLocks noGrp="1"/>
              </p:cNvSpPr>
              <p:nvPr/>
            </p:nvSpPr>
            <p:spPr>
              <a:xfrm>
                <a:off x="6191250" y="1619250"/>
                <a:ext cx="5334000" cy="895350"/>
              </a:xfrm>
              <a:prstGeom prst="roundRect">
                <a:avLst>
                  <a:gd name="adj" fmla="val 10638"/>
                </a:avLst>
              </a:prstGeom>
              <a:solidFill>
                <a:srgbClr val="EAF6EE"/>
              </a:solidFill>
              <a:ln w="11430">
                <a:solidFill>
                  <a:srgbClr val="4E9B69"/>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ContextGoldCoverage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𝑞</m:t>
                                      </m:r>
                                    </m:sub>
                                  </m:sSub>
                                </m:e>
                              </m:d>
                            </m:num>
                            <m:den>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e>
                              </m:d>
                            </m:den>
                          </m:f>
                        </m:e>
                      </m:nary>
                    </m:oMath>
                  </m:oMathPara>
                </a14:m>
                <a:endParaRPr lang="en-US" dirty="0"/>
              </a:p>
            </p:txBody>
          </p:sp>
        </mc:Choice>
        <mc:Fallback xmlns="">
          <p:sp>
            <p:nvSpPr>
              <p:cNvPr id="13" name="Rounded Rectangle 12">
                <a:extLst>
                  <a:ext uri="{FF2B5EF4-FFF2-40B4-BE49-F238E27FC236}">
                    <a16:creationId xmlns:a16="http://schemas.microsoft.com/office/drawing/2014/main" id="{ADEDEE46-3DC3-45D2-965D-9851C2A33B26}"/>
                  </a:ext>
                </a:extLst>
              </p:cNvPr>
              <p:cNvSpPr>
                <a:spLocks noGrp="1" noRot="1" noChangeAspect="1" noMove="1" noResize="1" noEditPoints="1" noAdjustHandles="1" noChangeArrowheads="1" noChangeShapeType="1" noTextEdit="1"/>
              </p:cNvSpPr>
              <p:nvPr/>
            </p:nvSpPr>
            <p:spPr>
              <a:xfrm>
                <a:off x="6191250" y="1619250"/>
                <a:ext cx="5334000" cy="895350"/>
              </a:xfrm>
              <a:prstGeom prst="roundRect">
                <a:avLst>
                  <a:gd name="adj" fmla="val 10638"/>
                </a:avLst>
              </a:prstGeom>
              <a:blipFill>
                <a:blip r:embed="rId3"/>
                <a:stretch>
                  <a:fillRect t="-94444" b="-138889"/>
                </a:stretch>
              </a:blipFill>
              <a:ln w="11430">
                <a:solidFill>
                  <a:srgbClr val="4E9B69"/>
                </a:solidFill>
                <a:prstDash val="soli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ounded Rectangle 14">
                <a:extLst>
                  <a:ext uri="{FF2B5EF4-FFF2-40B4-BE49-F238E27FC236}">
                    <a16:creationId xmlns:a16="http://schemas.microsoft.com/office/drawing/2014/main" id="{97DDF38B-EA8E-4627-B71D-48B7515835DB}"/>
                  </a:ext>
                </a:extLst>
              </p:cNvPr>
              <p:cNvSpPr>
                <a:spLocks noGrp="1"/>
              </p:cNvSpPr>
              <p:nvPr/>
            </p:nvSpPr>
            <p:spPr>
              <a:xfrm>
                <a:off x="6191250" y="2733675"/>
                <a:ext cx="5334000" cy="895350"/>
              </a:xfrm>
              <a:prstGeom prst="roundRect">
                <a:avLst>
                  <a:gd name="adj" fmla="val 10638"/>
                </a:avLst>
              </a:prstGeom>
              <a:solidFill>
                <a:srgbClr val="EAF6EE"/>
              </a:solidFill>
              <a:ln w="11430">
                <a:solidFill>
                  <a:srgbClr val="4E9B69"/>
                </a:solidFill>
                <a:prstDash val="solid"/>
              </a:ln>
            </p:spPr>
            <p:txBody>
              <a:bodyPr anchor="ctr"/>
              <a:lstStyle/>
              <a:p>
                <a:pPr/>
                <a14:m>
                  <m:oMathPara xmlns:m="http://schemas.openxmlformats.org/officeDocument/2006/math">
                    <m:oMathParaPr>
                      <m:jc m:val="centerGroup"/>
                    </m:oMathParaPr>
                    <m:oMath xmlns:m="http://schemas.openxmlformats.org/officeDocument/2006/math">
                      <m:r>
                        <m:rPr>
                          <m:nor/>
                        </m:rPr>
                        <a:rPr lang="en-US" i="0" smtClean="0">
                          <a:latin typeface="Cambria Math" panose="02040503050406030204" pitchFamily="18" charset="0"/>
                        </a:rPr>
                        <m:t>ContextFullGoldCoverage</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d>
                            <m:dPr>
                              <m:begChr m:val="|"/>
                              <m:endChr m:val="|"/>
                              <m:ctrlPr>
                                <a:rPr lang="en-US" i="1">
                                  <a:latin typeface="Cambria Math" panose="02040503050406030204" pitchFamily="18" charset="0"/>
                                </a:rPr>
                              </m:ctrlPr>
                            </m:dPr>
                            <m:e>
                              <m:r>
                                <a:rPr lang="en-US" i="1">
                                  <a:latin typeface="Cambria Math" panose="02040503050406030204" pitchFamily="18" charset="0"/>
                                </a:rPr>
                                <m:t>𝑄</m:t>
                              </m:r>
                            </m:e>
                          </m:d>
                        </m:den>
                      </m:f>
                      <m:nary>
                        <m:naryPr>
                          <m:chr m:val="∑"/>
                          <m:supHide m:val="on"/>
                          <m:ctrlPr>
                            <a:rPr lang="en-US" i="1">
                              <a:latin typeface="Cambria Math" panose="02040503050406030204" pitchFamily="18" charset="0"/>
                            </a:rPr>
                          </m:ctrlPr>
                        </m:naryPr>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𝑄</m:t>
                          </m:r>
                        </m:sub>
                        <m:sup/>
                        <m:e>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𝑞</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𝑞</m:t>
                                  </m:r>
                                </m:sub>
                              </m:sSub>
                            </m:e>
                          </m:d>
                        </m:e>
                      </m:nary>
                    </m:oMath>
                  </m:oMathPara>
                </a14:m>
                <a:endParaRPr lang="en-US" dirty="0"/>
              </a:p>
            </p:txBody>
          </p:sp>
        </mc:Choice>
        <mc:Fallback xmlns="">
          <p:sp>
            <p:nvSpPr>
              <p:cNvPr id="15" name="Rounded Rectangle 14">
                <a:extLst>
                  <a:ext uri="{FF2B5EF4-FFF2-40B4-BE49-F238E27FC236}">
                    <a16:creationId xmlns:a16="http://schemas.microsoft.com/office/drawing/2014/main" id="{97DDF38B-EA8E-4627-B71D-48B7515835DB}"/>
                  </a:ext>
                </a:extLst>
              </p:cNvPr>
              <p:cNvSpPr>
                <a:spLocks noGrp="1" noRot="1" noChangeAspect="1" noMove="1" noResize="1" noEditPoints="1" noAdjustHandles="1" noChangeArrowheads="1" noChangeShapeType="1" noTextEdit="1"/>
              </p:cNvSpPr>
              <p:nvPr/>
            </p:nvSpPr>
            <p:spPr>
              <a:xfrm>
                <a:off x="6191250" y="2733675"/>
                <a:ext cx="5334000" cy="895350"/>
              </a:xfrm>
              <a:prstGeom prst="roundRect">
                <a:avLst>
                  <a:gd name="adj" fmla="val 10638"/>
                </a:avLst>
              </a:prstGeom>
              <a:blipFill>
                <a:blip r:embed="rId4"/>
                <a:stretch>
                  <a:fillRect t="-95890" b="-132877"/>
                </a:stretch>
              </a:blipFill>
              <a:ln w="11430">
                <a:solidFill>
                  <a:srgbClr val="4E9B69"/>
                </a:solidFill>
                <a:prstDash val="solid"/>
              </a:ln>
            </p:spPr>
            <p:txBody>
              <a:bodyPr/>
              <a:lstStyle/>
              <a:p>
                <a:r>
                  <a:rPr lang="en-US">
                    <a:noFill/>
                  </a:rPr>
                  <a:t> </a:t>
                </a:r>
              </a:p>
            </p:txBody>
          </p:sp>
        </mc:Fallback>
      </mc:AlternateContent>
      <p:sp>
        <p:nvSpPr>
          <p:cNvPr id="17" name="Rectangle 16">
            <a:extLst>
              <a:ext uri="{FF2B5EF4-FFF2-40B4-BE49-F238E27FC236}">
                <a16:creationId xmlns:a16="http://schemas.microsoft.com/office/drawing/2014/main" id="{8D2749C4-FB37-424E-97F2-107B14ABCA5C}"/>
              </a:ext>
            </a:extLst>
          </p:cNvPr>
          <p:cNvSpPr>
            <a:spLocks noGrp="1"/>
          </p:cNvSpPr>
          <p:nvPr/>
        </p:nvSpPr>
        <p:spPr>
          <a:xfrm>
            <a:off x="3619500" y="5486400"/>
            <a:ext cx="4953000" cy="590550"/>
          </a:xfrm>
          <a:prstGeom prst="rect">
            <a:avLst/>
          </a:prstGeom>
          <a:noFill/>
          <a:ln w="0">
            <a:noFill/>
            <a:prstDash val="solid"/>
          </a:ln>
        </p:spPr>
        <p:txBody>
          <a:bodyPr wrap="square" lIns="38100" tIns="19050" rIns="38100" bIns="19050" anchor="ctr">
            <a:normAutofit/>
          </a:bodyPr>
          <a:lstStyle/>
          <a:p>
            <a:pPr algn="ctr">
              <a:defRPr sz="1275" b="0" i="0">
                <a:solidFill>
                  <a:srgbClr val="617080"/>
                </a:solidFill>
                <a:latin typeface="Arial"/>
                <a:ea typeface="Arial"/>
                <a:cs typeface="Arial"/>
              </a:defRPr>
            </a:pPr>
            <a:r>
              <a:rPr sz="1275" b="0" i="0" dirty="0" err="1">
                <a:solidFill>
                  <a:srgbClr val="617080"/>
                </a:solidFill>
                <a:latin typeface="Arial"/>
                <a:ea typeface="Arial"/>
                <a:cs typeface="Arial"/>
              </a:rPr>
              <a:t>Cq</a:t>
            </a:r>
            <a:r>
              <a:rPr sz="1275" b="0" i="0" dirty="0">
                <a:solidFill>
                  <a:srgbClr val="617080"/>
                </a:solidFill>
                <a:latin typeface="Arial"/>
                <a:ea typeface="Arial"/>
                <a:cs typeface="Arial"/>
              </a:rPr>
              <a:t> — </a:t>
            </a:r>
            <a:r>
              <a:rPr sz="1275" b="0" i="0" dirty="0" err="1">
                <a:solidFill>
                  <a:srgbClr val="617080"/>
                </a:solidFill>
                <a:latin typeface="Arial"/>
                <a:ea typeface="Arial"/>
                <a:cs typeface="Arial"/>
              </a:rPr>
              <a:t>ентитети</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присутни</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во</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тројките</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од</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доказниот</a:t>
            </a:r>
            <a:r>
              <a:rPr sz="1275" b="0" i="0" dirty="0">
                <a:solidFill>
                  <a:srgbClr val="617080"/>
                </a:solidFill>
                <a:latin typeface="Arial"/>
                <a:ea typeface="Arial"/>
                <a:cs typeface="Arial"/>
              </a:rPr>
              <a:t> </a:t>
            </a:r>
            <a:r>
              <a:rPr sz="1275" b="0" i="0" dirty="0" err="1">
                <a:solidFill>
                  <a:srgbClr val="617080"/>
                </a:solidFill>
                <a:latin typeface="Arial"/>
                <a:ea typeface="Arial"/>
                <a:cs typeface="Arial"/>
              </a:rPr>
              <a:t>контекст</a:t>
            </a:r>
            <a:endParaRPr sz="1275" b="0" i="0" dirty="0">
              <a:solidFill>
                <a:srgbClr val="617080"/>
              </a:solidFill>
              <a:latin typeface="Arial"/>
              <a:ea typeface="Arial"/>
              <a:cs typeface="Arial"/>
            </a:endParaRPr>
          </a:p>
        </p:txBody>
      </p:sp>
      <p:sp>
        <p:nvSpPr>
          <p:cNvPr id="18" name="Rounded Rectangle 17">
            <a:extLst>
              <a:ext uri="{FF2B5EF4-FFF2-40B4-BE49-F238E27FC236}">
                <a16:creationId xmlns:a16="http://schemas.microsoft.com/office/drawing/2014/main" id="{40DBE70F-1C8C-405D-B9CC-AA358E96B631}"/>
              </a:ext>
            </a:extLst>
          </p:cNvPr>
          <p:cNvSpPr>
            <a:spLocks noGrp="1"/>
          </p:cNvSpPr>
          <p:nvPr/>
        </p:nvSpPr>
        <p:spPr>
          <a:xfrm>
            <a:off x="1714500" y="4457700"/>
            <a:ext cx="8763000" cy="781050"/>
          </a:xfrm>
          <a:prstGeom prst="roundRect">
            <a:avLst>
              <a:gd name="adj" fmla="val 17073"/>
            </a:avLst>
          </a:prstGeom>
          <a:solidFill>
            <a:srgbClr val="F7F9FB"/>
          </a:solidFill>
          <a:ln w="11430">
            <a:solidFill>
              <a:srgbClr val="A9B4BE"/>
            </a:solidFill>
            <a:prstDash val="solid"/>
          </a:ln>
        </p:spPr>
        <p:txBody>
          <a:bodyPr/>
          <a:lstStyle/>
          <a:p>
            <a:endParaRPr lang="en-US"/>
          </a:p>
        </p:txBody>
      </p:sp>
      <p:sp>
        <p:nvSpPr>
          <p:cNvPr id="19" name="Rectangle 18">
            <a:extLst>
              <a:ext uri="{FF2B5EF4-FFF2-40B4-BE49-F238E27FC236}">
                <a16:creationId xmlns:a16="http://schemas.microsoft.com/office/drawing/2014/main" id="{8CF7D9E8-AD3E-4654-9296-2E31B0D78CC0}"/>
              </a:ext>
            </a:extLst>
          </p:cNvPr>
          <p:cNvSpPr>
            <a:spLocks noGrp="1"/>
          </p:cNvSpPr>
          <p:nvPr/>
        </p:nvSpPr>
        <p:spPr>
          <a:xfrm>
            <a:off x="2000250" y="4648200"/>
            <a:ext cx="8191500" cy="5334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Компактноста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оценува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заедно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со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информацијата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што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останува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достапна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јазичниот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модел</a:t>
            </a:r>
            <a:r>
              <a:rPr sz="1500" b="1" i="0" dirty="0">
                <a:solidFill>
                  <a:srgbClr val="263746"/>
                </a:solidFill>
                <a:latin typeface="Arial"/>
                <a:ea typeface="Arial"/>
                <a:cs typeface="Arial"/>
              </a:rPr>
              <a:t>.</a:t>
            </a:r>
          </a:p>
        </p:txBody>
      </p:sp>
      <p:sp>
        <p:nvSpPr>
          <p:cNvPr id="23" name="Rectangle 22">
            <a:extLst>
              <a:ext uri="{FF2B5EF4-FFF2-40B4-BE49-F238E27FC236}">
                <a16:creationId xmlns:a16="http://schemas.microsoft.com/office/drawing/2014/main" id="{B2DBFF29-20CF-2415-A88C-DC7D25501FF4}"/>
              </a:ext>
            </a:extLst>
          </p:cNvPr>
          <p:cNvSpPr>
            <a:spLocks noGrp="1"/>
          </p:cNvSpPr>
          <p:nvPr/>
        </p:nvSpPr>
        <p:spPr>
          <a:xfrm>
            <a:off x="830644" y="1863734"/>
            <a:ext cx="4257675" cy="333374"/>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r>
              <a:rPr lang="en-US" sz="1350" b="1" dirty="0" err="1">
                <a:solidFill>
                  <a:srgbClr val="398D84"/>
                </a:solidFill>
                <a:latin typeface="Arial"/>
                <a:ea typeface="Arial"/>
                <a:cs typeface="Arial"/>
              </a:rPr>
              <a:t>AverageTriples</a:t>
            </a:r>
            <a:r>
              <a:rPr lang="en-US" sz="1350" b="1" dirty="0">
                <a:solidFill>
                  <a:srgbClr val="398D84"/>
                </a:solidFill>
                <a:latin typeface="Arial"/>
                <a:ea typeface="Arial"/>
                <a:cs typeface="Arial"/>
              </a:rPr>
              <a:t> </a:t>
            </a:r>
            <a:r>
              <a:rPr sz="1350" b="0" i="0" dirty="0">
                <a:solidFill>
                  <a:srgbClr val="263746"/>
                </a:solidFill>
                <a:latin typeface="Arial"/>
                <a:ea typeface="Arial"/>
                <a:cs typeface="Arial"/>
              </a:rPr>
              <a:t>— </a:t>
            </a:r>
            <a:r>
              <a:rPr lang="mk-MK" sz="1350" dirty="0">
                <a:solidFill>
                  <a:srgbClr val="263746"/>
                </a:solidFill>
                <a:latin typeface="Arial"/>
                <a:ea typeface="Arial"/>
                <a:cs typeface="Arial"/>
              </a:rPr>
              <a:t>просечен број тројки </a:t>
            </a:r>
            <a:endParaRPr sz="1350" b="0" i="0" dirty="0">
              <a:solidFill>
                <a:srgbClr val="263746"/>
              </a:solidFill>
              <a:latin typeface="Arial"/>
              <a:ea typeface="Arial"/>
              <a:cs typeface="Arial"/>
            </a:endParaRPr>
          </a:p>
        </p:txBody>
      </p:sp>
      <p:sp>
        <p:nvSpPr>
          <p:cNvPr id="24" name="Rectangle 23">
            <a:extLst>
              <a:ext uri="{FF2B5EF4-FFF2-40B4-BE49-F238E27FC236}">
                <a16:creationId xmlns:a16="http://schemas.microsoft.com/office/drawing/2014/main" id="{9B271E4E-2C9C-FDA8-FAEC-9EAF4E51A339}"/>
              </a:ext>
            </a:extLst>
          </p:cNvPr>
          <p:cNvSpPr>
            <a:spLocks noGrp="1"/>
          </p:cNvSpPr>
          <p:nvPr/>
        </p:nvSpPr>
        <p:spPr>
          <a:xfrm>
            <a:off x="830644" y="2386417"/>
            <a:ext cx="4358043" cy="491729"/>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r>
              <a:rPr lang="en-US" sz="1350" b="1" dirty="0" err="1">
                <a:solidFill>
                  <a:srgbClr val="398D84"/>
                </a:solidFill>
                <a:latin typeface="Arial"/>
                <a:ea typeface="Arial"/>
                <a:cs typeface="Arial"/>
              </a:rPr>
              <a:t>CandidateReduction</a:t>
            </a:r>
            <a:r>
              <a:rPr lang="en-US" sz="1350" b="1" dirty="0">
                <a:solidFill>
                  <a:srgbClr val="398D84"/>
                </a:solidFill>
                <a:latin typeface="Arial"/>
                <a:ea typeface="Arial"/>
                <a:cs typeface="Arial"/>
              </a:rPr>
              <a:t> </a:t>
            </a:r>
            <a:r>
              <a:rPr sz="1350" b="0" i="0" dirty="0">
                <a:solidFill>
                  <a:srgbClr val="263746"/>
                </a:solidFill>
                <a:latin typeface="Arial"/>
                <a:ea typeface="Arial"/>
                <a:cs typeface="Arial"/>
              </a:rPr>
              <a:t>— </a:t>
            </a:r>
            <a:r>
              <a:rPr lang="mk-MK" sz="1350" dirty="0">
                <a:solidFill>
                  <a:srgbClr val="263746"/>
                </a:solidFill>
                <a:latin typeface="Arial"/>
                <a:ea typeface="Arial"/>
                <a:cs typeface="Arial"/>
              </a:rPr>
              <a:t>процент отфрлени кандидати</a:t>
            </a:r>
            <a:endParaRPr sz="1350" b="0" i="0" dirty="0">
              <a:solidFill>
                <a:srgbClr val="263746"/>
              </a:solidFill>
              <a:latin typeface="Arial"/>
              <a:ea typeface="Arial"/>
              <a:cs typeface="Arial"/>
            </a:endParaRPr>
          </a:p>
        </p:txBody>
      </p:sp>
      <p:sp>
        <p:nvSpPr>
          <p:cNvPr id="26" name="Rectangle 25">
            <a:extLst>
              <a:ext uri="{FF2B5EF4-FFF2-40B4-BE49-F238E27FC236}">
                <a16:creationId xmlns:a16="http://schemas.microsoft.com/office/drawing/2014/main" id="{6BC1B166-21D2-A42C-C63A-6A6F6770FF92}"/>
              </a:ext>
            </a:extLst>
          </p:cNvPr>
          <p:cNvSpPr>
            <a:spLocks noGrp="1"/>
          </p:cNvSpPr>
          <p:nvPr/>
        </p:nvSpPr>
        <p:spPr>
          <a:xfrm>
            <a:off x="830643" y="3002363"/>
            <a:ext cx="4358043" cy="502444"/>
          </a:xfrm>
          <a:prstGeom prst="rect">
            <a:avLst/>
          </a:prstGeom>
          <a:noFill/>
          <a:ln w="0">
            <a:noFill/>
            <a:prstDash val="solid"/>
          </a:ln>
        </p:spPr>
        <p:txBody>
          <a:bodyPr wrap="square" lIns="38100" tIns="19050" rIns="38100" bIns="19050" anchor="t">
            <a:normAutofit/>
          </a:bodyPr>
          <a:lstStyle/>
          <a:p>
            <a:pPr marL="285750" indent="-285750">
              <a:buFont typeface="Arial" panose="020B0604020202020204" pitchFamily="34" charset="0"/>
              <a:buChar char="•"/>
              <a:defRPr sz="1350" b="0" i="0">
                <a:solidFill>
                  <a:srgbClr val="263746"/>
                </a:solidFill>
                <a:latin typeface="Arial"/>
                <a:ea typeface="Arial"/>
                <a:cs typeface="Arial"/>
              </a:defRPr>
            </a:pPr>
            <a:r>
              <a:rPr lang="en-US" sz="1350" b="1" dirty="0" err="1">
                <a:solidFill>
                  <a:srgbClr val="398D84"/>
                </a:solidFill>
                <a:latin typeface="Arial"/>
                <a:ea typeface="Arial"/>
                <a:cs typeface="Arial"/>
              </a:rPr>
              <a:t>ContextCandidateCoverage</a:t>
            </a:r>
            <a:r>
              <a:rPr lang="en-US" sz="1350" b="1" dirty="0">
                <a:solidFill>
                  <a:srgbClr val="398D84"/>
                </a:solidFill>
                <a:latin typeface="Arial"/>
                <a:ea typeface="Arial"/>
                <a:cs typeface="Arial"/>
              </a:rPr>
              <a:t> </a:t>
            </a:r>
            <a:r>
              <a:rPr sz="1350" b="0" i="0" dirty="0">
                <a:solidFill>
                  <a:srgbClr val="263746"/>
                </a:solidFill>
                <a:latin typeface="Arial"/>
                <a:ea typeface="Arial"/>
                <a:cs typeface="Arial"/>
              </a:rPr>
              <a:t>— </a:t>
            </a:r>
            <a:r>
              <a:rPr lang="mk-MK" sz="1350" dirty="0">
                <a:solidFill>
                  <a:srgbClr val="263746"/>
                </a:solidFill>
                <a:latin typeface="Arial"/>
                <a:ea typeface="Arial"/>
                <a:cs typeface="Arial"/>
              </a:rPr>
              <a:t>удел на задржани кандидати</a:t>
            </a:r>
            <a:endParaRPr sz="1350" b="0" i="0" dirty="0">
              <a:solidFill>
                <a:srgbClr val="263746"/>
              </a:solidFill>
              <a:latin typeface="Arial"/>
              <a:ea typeface="Arial"/>
              <a:cs typeface="Arial"/>
            </a:endParaRPr>
          </a:p>
        </p:txBody>
      </p:sp>
    </p:spTree>
    <p:extLst>
      <p:ext uri="{BB962C8B-B14F-4D97-AF65-F5344CB8AC3E}">
        <p14:creationId xmlns:p14="http://schemas.microsoft.com/office/powerpoint/2010/main" val="1383147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AEDA72E-DC92-4A14-ABD7-FFD78CBFB3B4}"/>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Компактност и зачувување на точните одговори</a:t>
            </a:r>
          </a:p>
        </p:txBody>
      </p:sp>
      <p:sp>
        <p:nvSpPr>
          <p:cNvPr id="2" name="Rectangle 1">
            <a:extLst>
              <a:ext uri="{FF2B5EF4-FFF2-40B4-BE49-F238E27FC236}">
                <a16:creationId xmlns:a16="http://schemas.microsoft.com/office/drawing/2014/main" id="{E7C2C463-FA36-4A26-B1F9-33D13D736BDB}"/>
              </a:ext>
            </a:extLst>
          </p:cNvPr>
          <p:cNvSpPr>
            <a:spLocks noGrp="1"/>
          </p:cNvSpPr>
          <p:nvPr/>
        </p:nvSpPr>
        <p:spPr>
          <a:xfrm>
            <a:off x="552450" y="781050"/>
            <a:ext cx="11087100" cy="38100"/>
          </a:xfrm>
          <a:prstGeom prst="rect">
            <a:avLst/>
          </a:prstGeom>
          <a:solidFill>
            <a:srgbClr val="398D84"/>
          </a:solidFill>
          <a:ln w="0">
            <a:noFill/>
            <a:prstDash val="solid"/>
          </a:ln>
        </p:spPr>
        <p:txBody>
          <a:bodyPr/>
          <a:lstStyle/>
          <a:p>
            <a:endParaRPr lang="en-US"/>
          </a:p>
        </p:txBody>
      </p:sp>
      <p:sp>
        <p:nvSpPr>
          <p:cNvPr id="3" name="Rectangle 2">
            <a:extLst>
              <a:ext uri="{FF2B5EF4-FFF2-40B4-BE49-F238E27FC236}">
                <a16:creationId xmlns:a16="http://schemas.microsoft.com/office/drawing/2014/main" id="{C270FCC5-B80F-4869-BC82-1C27A2F928C7}"/>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16</a:t>
            </a:r>
          </a:p>
        </p:txBody>
      </p:sp>
      <p:pic>
        <p:nvPicPr>
          <p:cNvPr id="20" name="Picture 19"/>
          <p:cNvPicPr>
            <a:picLocks noChangeAspect="1"/>
          </p:cNvPicPr>
          <p:nvPr/>
        </p:nvPicPr>
        <p:blipFill>
          <a:blip r:embed="rId3"/>
          <a:stretch/>
        </p:blipFill>
        <p:spPr>
          <a:xfrm>
            <a:off x="342900" y="1068625"/>
            <a:ext cx="7239000" cy="4996976"/>
          </a:xfrm>
          <a:prstGeom prst="rect">
            <a:avLst/>
          </a:prstGeom>
        </p:spPr>
      </p:pic>
      <p:sp>
        <p:nvSpPr>
          <p:cNvPr id="5" name="Rounded Rectangle 4">
            <a:extLst>
              <a:ext uri="{FF2B5EF4-FFF2-40B4-BE49-F238E27FC236}">
                <a16:creationId xmlns:a16="http://schemas.microsoft.com/office/drawing/2014/main" id="{7970FB69-1DEA-4398-B61D-FA08BC1BDD4E}"/>
              </a:ext>
            </a:extLst>
          </p:cNvPr>
          <p:cNvSpPr>
            <a:spLocks noGrp="1"/>
          </p:cNvSpPr>
          <p:nvPr/>
        </p:nvSpPr>
        <p:spPr>
          <a:xfrm>
            <a:off x="7881937" y="2638425"/>
            <a:ext cx="3667125" cy="1619250"/>
          </a:xfrm>
          <a:prstGeom prst="roundRect">
            <a:avLst>
              <a:gd name="adj" fmla="val 8235"/>
            </a:avLst>
          </a:prstGeom>
          <a:solidFill>
            <a:srgbClr val="E8F5F3"/>
          </a:solidFill>
          <a:ln w="17145">
            <a:solidFill>
              <a:srgbClr val="398D84"/>
            </a:solidFill>
            <a:prstDash val="solid"/>
          </a:ln>
        </p:spPr>
        <p:txBody>
          <a:bodyPr/>
          <a:lstStyle/>
          <a:p>
            <a:endParaRPr lang="en-US"/>
          </a:p>
        </p:txBody>
      </p:sp>
      <p:sp>
        <p:nvSpPr>
          <p:cNvPr id="6" name="Rectangle 5">
            <a:extLst>
              <a:ext uri="{FF2B5EF4-FFF2-40B4-BE49-F238E27FC236}">
                <a16:creationId xmlns:a16="http://schemas.microsoft.com/office/drawing/2014/main" id="{40EF82E2-E87F-406B-90B4-298342FD6A52}"/>
              </a:ext>
            </a:extLst>
          </p:cNvPr>
          <p:cNvSpPr>
            <a:spLocks noGrp="1"/>
          </p:cNvSpPr>
          <p:nvPr/>
        </p:nvSpPr>
        <p:spPr>
          <a:xfrm>
            <a:off x="8191499" y="2995613"/>
            <a:ext cx="3000375" cy="514350"/>
          </a:xfrm>
          <a:prstGeom prst="rect">
            <a:avLst/>
          </a:prstGeom>
          <a:noFill/>
          <a:ln w="0">
            <a:noFill/>
            <a:prstDash val="solid"/>
          </a:ln>
        </p:spPr>
        <p:txBody>
          <a:bodyPr wrap="square" lIns="38100" tIns="19050" rIns="38100" bIns="19050" anchor="ctr">
            <a:normAutofit fontScale="99206"/>
          </a:bodyPr>
          <a:lstStyle/>
          <a:p>
            <a:pPr algn="ctr">
              <a:defRPr sz="3150" b="1" i="0">
                <a:solidFill>
                  <a:srgbClr val="398D84"/>
                </a:solidFill>
                <a:latin typeface="Arial"/>
                <a:ea typeface="Arial"/>
                <a:cs typeface="Arial"/>
              </a:defRPr>
            </a:pPr>
            <a:r>
              <a:rPr sz="3150" b="1" i="0" dirty="0">
                <a:solidFill>
                  <a:srgbClr val="398D84"/>
                </a:solidFill>
                <a:latin typeface="Arial"/>
                <a:ea typeface="Arial"/>
                <a:cs typeface="Arial"/>
              </a:rPr>
              <a:t>≈ 85%</a:t>
            </a:r>
          </a:p>
        </p:txBody>
      </p:sp>
      <p:sp>
        <p:nvSpPr>
          <p:cNvPr id="7" name="Rectangle 6">
            <a:extLst>
              <a:ext uri="{FF2B5EF4-FFF2-40B4-BE49-F238E27FC236}">
                <a16:creationId xmlns:a16="http://schemas.microsoft.com/office/drawing/2014/main" id="{F442E009-49FF-4CED-ACD8-1EC7DFC12794}"/>
              </a:ext>
            </a:extLst>
          </p:cNvPr>
          <p:cNvSpPr>
            <a:spLocks noGrp="1"/>
          </p:cNvSpPr>
          <p:nvPr/>
        </p:nvSpPr>
        <p:spPr>
          <a:xfrm>
            <a:off x="8215311" y="3509963"/>
            <a:ext cx="3000375" cy="533400"/>
          </a:xfrm>
          <a:prstGeom prst="rect">
            <a:avLst/>
          </a:prstGeom>
          <a:noFill/>
          <a:ln w="0">
            <a:noFill/>
            <a:prstDash val="solid"/>
          </a:ln>
        </p:spPr>
        <p:txBody>
          <a:bodyPr wrap="square" lIns="38100" tIns="19050" rIns="38100" bIns="19050" anchor="t">
            <a:normAutofit/>
          </a:bodyPr>
          <a:lstStyle/>
          <a:p>
            <a:pPr algn="ctr">
              <a:defRPr sz="1350" b="0" i="0">
                <a:solidFill>
                  <a:srgbClr val="617080"/>
                </a:solidFill>
                <a:latin typeface="Arial"/>
                <a:ea typeface="Arial"/>
                <a:cs typeface="Arial"/>
              </a:defRPr>
            </a:pPr>
            <a:r>
              <a:rPr sz="1350" b="0" i="0" dirty="0" err="1">
                <a:solidFill>
                  <a:srgbClr val="617080"/>
                </a:solidFill>
                <a:latin typeface="Arial"/>
                <a:ea typeface="Arial"/>
                <a:cs typeface="Arial"/>
              </a:rPr>
              <a:t>помал</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доказен</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контекст</a:t>
            </a:r>
            <a:r>
              <a:rPr sz="1350" b="0" i="0" dirty="0">
                <a:solidFill>
                  <a:srgbClr val="617080"/>
                </a:solidFill>
                <a:latin typeface="Arial"/>
                <a:ea typeface="Arial"/>
                <a:cs typeface="Arial"/>
              </a:rPr>
              <a:t> </a:t>
            </a:r>
            <a:r>
              <a:rPr sz="1350" b="0" i="0" dirty="0" err="1">
                <a:solidFill>
                  <a:srgbClr val="617080"/>
                </a:solidFill>
                <a:latin typeface="Arial"/>
                <a:ea typeface="Arial"/>
                <a:cs typeface="Arial"/>
              </a:rPr>
              <a:t>со</a:t>
            </a:r>
            <a:r>
              <a:rPr sz="1350" b="0" i="0" dirty="0">
                <a:solidFill>
                  <a:srgbClr val="617080"/>
                </a:solidFill>
                <a:latin typeface="Arial"/>
                <a:ea typeface="Arial"/>
                <a:cs typeface="Arial"/>
              </a:rPr>
              <a:t> PCST</a:t>
            </a:r>
          </a:p>
        </p:txBody>
      </p:sp>
      <p:sp>
        <p:nvSpPr>
          <p:cNvPr id="8" name="Rectangle 7">
            <a:extLst>
              <a:ext uri="{FF2B5EF4-FFF2-40B4-BE49-F238E27FC236}">
                <a16:creationId xmlns:a16="http://schemas.microsoft.com/office/drawing/2014/main" id="{73CE092B-7A5B-4FD8-AD94-A8D8757B99A1}"/>
              </a:ext>
            </a:extLst>
          </p:cNvPr>
          <p:cNvSpPr>
            <a:spLocks noGrp="1"/>
          </p:cNvSpPr>
          <p:nvPr/>
        </p:nvSpPr>
        <p:spPr>
          <a:xfrm>
            <a:off x="7953375" y="1300162"/>
            <a:ext cx="3381375" cy="304800"/>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Просечен</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број</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тројки</a:t>
            </a:r>
            <a:endParaRPr sz="1500" b="1" i="0" dirty="0">
              <a:solidFill>
                <a:srgbClr val="263746"/>
              </a:solidFill>
              <a:latin typeface="Arial"/>
              <a:ea typeface="Arial"/>
              <a:cs typeface="Arial"/>
            </a:endParaRPr>
          </a:p>
        </p:txBody>
      </p:sp>
      <p:sp>
        <p:nvSpPr>
          <p:cNvPr id="9" name="Rectangle 8">
            <a:extLst>
              <a:ext uri="{FF2B5EF4-FFF2-40B4-BE49-F238E27FC236}">
                <a16:creationId xmlns:a16="http://schemas.microsoft.com/office/drawing/2014/main" id="{AA4256D2-ED36-4D73-B79A-887C1D47BB46}"/>
              </a:ext>
            </a:extLst>
          </p:cNvPr>
          <p:cNvSpPr>
            <a:spLocks noGrp="1"/>
          </p:cNvSpPr>
          <p:nvPr/>
        </p:nvSpPr>
        <p:spPr>
          <a:xfrm>
            <a:off x="7905750" y="1709737"/>
            <a:ext cx="1619250" cy="514350"/>
          </a:xfrm>
          <a:prstGeom prst="rect">
            <a:avLst/>
          </a:prstGeom>
          <a:noFill/>
          <a:ln w="0">
            <a:noFill/>
            <a:prstDash val="solid"/>
          </a:ln>
        </p:spPr>
        <p:txBody>
          <a:bodyPr wrap="square" lIns="38100" tIns="19050" rIns="38100" bIns="19050" anchor="ctr">
            <a:normAutofit/>
          </a:bodyPr>
          <a:lstStyle/>
          <a:p>
            <a:pPr algn="ctr">
              <a:defRPr sz="2025" b="1" i="0">
                <a:solidFill>
                  <a:srgbClr val="4F86C6"/>
                </a:solidFill>
                <a:latin typeface="Arial"/>
                <a:ea typeface="Arial"/>
                <a:cs typeface="Arial"/>
              </a:defRPr>
            </a:pPr>
            <a:r>
              <a:rPr sz="2025" b="1" i="0" dirty="0">
                <a:solidFill>
                  <a:srgbClr val="4F86C6"/>
                </a:solidFill>
                <a:latin typeface="Arial"/>
                <a:ea typeface="Arial"/>
                <a:cs typeface="Arial"/>
              </a:rPr>
              <a:t>94,47</a:t>
            </a:r>
          </a:p>
        </p:txBody>
      </p:sp>
      <p:sp>
        <p:nvSpPr>
          <p:cNvPr id="10" name="Rectangle 9">
            <a:extLst>
              <a:ext uri="{FF2B5EF4-FFF2-40B4-BE49-F238E27FC236}">
                <a16:creationId xmlns:a16="http://schemas.microsoft.com/office/drawing/2014/main" id="{389402BD-8109-442F-A292-E7AC161D7B3D}"/>
              </a:ext>
            </a:extLst>
          </p:cNvPr>
          <p:cNvSpPr>
            <a:spLocks noGrp="1"/>
          </p:cNvSpPr>
          <p:nvPr/>
        </p:nvSpPr>
        <p:spPr>
          <a:xfrm>
            <a:off x="7905750" y="2166937"/>
            <a:ext cx="1619250" cy="40005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endParaRPr sz="1050" b="0" i="0" dirty="0">
              <a:solidFill>
                <a:srgbClr val="617080"/>
              </a:solidFill>
              <a:latin typeface="Arial"/>
              <a:ea typeface="Arial"/>
              <a:cs typeface="Arial"/>
            </a:endParaRPr>
          </a:p>
        </p:txBody>
      </p:sp>
      <p:sp>
        <p:nvSpPr>
          <p:cNvPr id="11" name="Rectangle 10">
            <a:extLst>
              <a:ext uri="{FF2B5EF4-FFF2-40B4-BE49-F238E27FC236}">
                <a16:creationId xmlns:a16="http://schemas.microsoft.com/office/drawing/2014/main" id="{925DDDA6-C177-4E76-820D-690D6B17E31E}"/>
              </a:ext>
            </a:extLst>
          </p:cNvPr>
          <p:cNvSpPr>
            <a:spLocks noGrp="1"/>
          </p:cNvSpPr>
          <p:nvPr/>
        </p:nvSpPr>
        <p:spPr>
          <a:xfrm>
            <a:off x="9620250" y="1709737"/>
            <a:ext cx="1809750" cy="514350"/>
          </a:xfrm>
          <a:prstGeom prst="rect">
            <a:avLst/>
          </a:prstGeom>
          <a:noFill/>
          <a:ln w="0">
            <a:noFill/>
            <a:prstDash val="solid"/>
          </a:ln>
        </p:spPr>
        <p:txBody>
          <a:bodyPr wrap="square" lIns="38100" tIns="19050" rIns="38100" bIns="19050" anchor="ctr">
            <a:normAutofit/>
          </a:bodyPr>
          <a:lstStyle/>
          <a:p>
            <a:pPr algn="ctr">
              <a:defRPr sz="1875" b="1" i="0">
                <a:solidFill>
                  <a:srgbClr val="398D84"/>
                </a:solidFill>
                <a:latin typeface="Arial"/>
                <a:ea typeface="Arial"/>
                <a:cs typeface="Arial"/>
              </a:defRPr>
            </a:pPr>
            <a:r>
              <a:rPr sz="1875" b="1" i="0">
                <a:solidFill>
                  <a:srgbClr val="398D84"/>
                </a:solidFill>
                <a:latin typeface="Arial"/>
                <a:ea typeface="Arial"/>
                <a:cs typeface="Arial"/>
              </a:rPr>
              <a:t>13,50–14,45</a:t>
            </a:r>
          </a:p>
        </p:txBody>
      </p:sp>
      <p:sp>
        <p:nvSpPr>
          <p:cNvPr id="12" name="Rectangle 11">
            <a:extLst>
              <a:ext uri="{FF2B5EF4-FFF2-40B4-BE49-F238E27FC236}">
                <a16:creationId xmlns:a16="http://schemas.microsoft.com/office/drawing/2014/main" id="{4362CF92-4010-402E-91FF-AF75527C24DF}"/>
              </a:ext>
            </a:extLst>
          </p:cNvPr>
          <p:cNvSpPr>
            <a:spLocks noGrp="1"/>
          </p:cNvSpPr>
          <p:nvPr/>
        </p:nvSpPr>
        <p:spPr>
          <a:xfrm>
            <a:off x="9620250" y="2166937"/>
            <a:ext cx="1809750" cy="40005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a:solidFill>
                  <a:srgbClr val="617080"/>
                </a:solidFill>
                <a:latin typeface="Arial"/>
                <a:ea typeface="Arial"/>
                <a:cs typeface="Arial"/>
              </a:rPr>
              <a:t>PCST</a:t>
            </a:r>
          </a:p>
        </p:txBody>
      </p:sp>
      <p:sp>
        <p:nvSpPr>
          <p:cNvPr id="13" name="Rectangle 12">
            <a:extLst>
              <a:ext uri="{FF2B5EF4-FFF2-40B4-BE49-F238E27FC236}">
                <a16:creationId xmlns:a16="http://schemas.microsoft.com/office/drawing/2014/main" id="{D3BD3296-B5B9-48D1-BAC9-A543950A183F}"/>
              </a:ext>
            </a:extLst>
          </p:cNvPr>
          <p:cNvSpPr>
            <a:spLocks noGrp="1"/>
          </p:cNvSpPr>
          <p:nvPr/>
        </p:nvSpPr>
        <p:spPr>
          <a:xfrm>
            <a:off x="8048625" y="4457700"/>
            <a:ext cx="3286125" cy="14288"/>
          </a:xfrm>
          <a:prstGeom prst="rect">
            <a:avLst/>
          </a:prstGeom>
          <a:solidFill>
            <a:srgbClr val="DDE3E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7DA28FBD-B2ED-4F5B-80BC-91AF81F110A0}"/>
              </a:ext>
            </a:extLst>
          </p:cNvPr>
          <p:cNvSpPr>
            <a:spLocks noGrp="1"/>
          </p:cNvSpPr>
          <p:nvPr/>
        </p:nvSpPr>
        <p:spPr>
          <a:xfrm>
            <a:off x="8096250" y="4667250"/>
            <a:ext cx="3190875" cy="285750"/>
          </a:xfrm>
          <a:prstGeom prst="rect">
            <a:avLst/>
          </a:prstGeom>
          <a:noFill/>
          <a:ln w="0">
            <a:noFill/>
            <a:prstDash val="solid"/>
          </a:ln>
        </p:spPr>
        <p:txBody>
          <a:bodyPr wrap="square" lIns="38100" tIns="19050" rIns="38100" bIns="19050" anchor="ctr">
            <a:normAutofit/>
          </a:bodyPr>
          <a:lstStyle/>
          <a:p>
            <a:pPr algn="ctr">
              <a:defRPr sz="1275" b="1" i="0">
                <a:solidFill>
                  <a:srgbClr val="263746"/>
                </a:solidFill>
                <a:latin typeface="Arial"/>
                <a:ea typeface="Arial"/>
                <a:cs typeface="Arial"/>
              </a:defRPr>
            </a:pPr>
            <a:r>
              <a:rPr sz="1275" b="1" i="0">
                <a:solidFill>
                  <a:srgbClr val="263746"/>
                </a:solidFill>
                <a:latin typeface="Arial"/>
                <a:ea typeface="Arial"/>
                <a:cs typeface="Arial"/>
              </a:rPr>
              <a:t>Покриеноста се намалува минимално:</a:t>
            </a:r>
          </a:p>
        </p:txBody>
      </p:sp>
      <p:sp>
        <p:nvSpPr>
          <p:cNvPr id="15" name="Rectangle 14">
            <a:extLst>
              <a:ext uri="{FF2B5EF4-FFF2-40B4-BE49-F238E27FC236}">
                <a16:creationId xmlns:a16="http://schemas.microsoft.com/office/drawing/2014/main" id="{6943580D-829D-4680-95ED-6E61AD06BB75}"/>
              </a:ext>
            </a:extLst>
          </p:cNvPr>
          <p:cNvSpPr>
            <a:spLocks noGrp="1"/>
          </p:cNvSpPr>
          <p:nvPr/>
        </p:nvSpPr>
        <p:spPr>
          <a:xfrm>
            <a:off x="8096250" y="5019675"/>
            <a:ext cx="3238500" cy="647700"/>
          </a:xfrm>
          <a:prstGeom prst="rect">
            <a:avLst/>
          </a:prstGeom>
          <a:noFill/>
          <a:ln w="0">
            <a:noFill/>
            <a:prstDash val="solid"/>
          </a:ln>
        </p:spPr>
        <p:txBody>
          <a:bodyPr wrap="square" lIns="38100" tIns="19050" rIns="38100" bIns="19050" anchor="ctr">
            <a:normAutofit/>
          </a:bodyPr>
          <a:lstStyle/>
          <a:p>
            <a:pPr algn="ctr">
              <a:defRPr sz="1275" b="0" i="0">
                <a:solidFill>
                  <a:srgbClr val="263746"/>
                </a:solidFill>
                <a:latin typeface="Arial"/>
                <a:ea typeface="Arial"/>
                <a:cs typeface="Arial"/>
              </a:defRPr>
            </a:pPr>
            <a:r>
              <a:rPr sz="1275" b="0" i="0" dirty="0" err="1">
                <a:solidFill>
                  <a:srgbClr val="263746"/>
                </a:solidFill>
                <a:latin typeface="Arial"/>
                <a:ea typeface="Arial"/>
                <a:cs typeface="Arial"/>
              </a:rPr>
              <a:t>ContextGoldCoverage</a:t>
            </a:r>
            <a:r>
              <a:rPr sz="1275" b="0" i="0" dirty="0">
                <a:solidFill>
                  <a:srgbClr val="263746"/>
                </a:solidFill>
                <a:latin typeface="Arial"/>
                <a:ea typeface="Arial"/>
                <a:cs typeface="Arial"/>
              </a:rPr>
              <a:t>  0,888 → ≈</a:t>
            </a:r>
            <a:r>
              <a:rPr lang="mk-MK" sz="1275" b="0" i="0" dirty="0">
                <a:solidFill>
                  <a:srgbClr val="263746"/>
                </a:solidFill>
                <a:latin typeface="Arial"/>
                <a:ea typeface="Arial"/>
                <a:cs typeface="Arial"/>
              </a:rPr>
              <a:t> </a:t>
            </a:r>
            <a:r>
              <a:rPr sz="1275" b="0" i="0" dirty="0">
                <a:solidFill>
                  <a:srgbClr val="263746"/>
                </a:solidFill>
                <a:latin typeface="Arial"/>
                <a:ea typeface="Arial"/>
                <a:cs typeface="Arial"/>
              </a:rPr>
              <a:t>0,881</a:t>
            </a:r>
          </a:p>
          <a:p>
            <a:pPr algn="ctr">
              <a:defRPr sz="1275" b="0" i="0">
                <a:solidFill>
                  <a:srgbClr val="263746"/>
                </a:solidFill>
                <a:latin typeface="Arial"/>
                <a:ea typeface="Arial"/>
                <a:cs typeface="Arial"/>
              </a:defRPr>
            </a:pPr>
            <a:r>
              <a:rPr sz="1275" b="0" i="0" dirty="0" err="1">
                <a:solidFill>
                  <a:srgbClr val="263746"/>
                </a:solidFill>
                <a:latin typeface="Arial"/>
                <a:ea typeface="Arial"/>
                <a:cs typeface="Arial"/>
              </a:rPr>
              <a:t>ContextFullGoldCoverage</a:t>
            </a:r>
            <a:r>
              <a:rPr sz="1275" b="0" i="0" dirty="0">
                <a:solidFill>
                  <a:srgbClr val="263746"/>
                </a:solidFill>
                <a:latin typeface="Arial"/>
                <a:ea typeface="Arial"/>
                <a:cs typeface="Arial"/>
              </a:rPr>
              <a:t>  0,838 → ≈</a:t>
            </a:r>
            <a:r>
              <a:rPr lang="mk-MK" sz="1275" b="0" i="0" dirty="0">
                <a:solidFill>
                  <a:srgbClr val="263746"/>
                </a:solidFill>
                <a:latin typeface="Arial"/>
                <a:ea typeface="Arial"/>
                <a:cs typeface="Arial"/>
              </a:rPr>
              <a:t> </a:t>
            </a:r>
            <a:r>
              <a:rPr sz="1275" b="0" i="0" dirty="0">
                <a:solidFill>
                  <a:srgbClr val="263746"/>
                </a:solidFill>
                <a:latin typeface="Arial"/>
                <a:ea typeface="Arial"/>
                <a:cs typeface="Arial"/>
              </a:rPr>
              <a:t>0,830</a:t>
            </a:r>
          </a:p>
        </p:txBody>
      </p:sp>
      <p:sp>
        <p:nvSpPr>
          <p:cNvPr id="16" name="Rectangle 15">
            <a:extLst>
              <a:ext uri="{FF2B5EF4-FFF2-40B4-BE49-F238E27FC236}">
                <a16:creationId xmlns:a16="http://schemas.microsoft.com/office/drawing/2014/main" id="{0A8B5DB2-5D8E-430E-92DF-88F0F0217972}"/>
              </a:ext>
            </a:extLst>
          </p:cNvPr>
          <p:cNvSpPr>
            <a:spLocks noGrp="1"/>
          </p:cNvSpPr>
          <p:nvPr/>
        </p:nvSpPr>
        <p:spPr>
          <a:xfrm>
            <a:off x="7905750" y="5829300"/>
            <a:ext cx="3571875" cy="409575"/>
          </a:xfrm>
          <a:prstGeom prst="rect">
            <a:avLst/>
          </a:prstGeom>
          <a:noFill/>
          <a:ln w="0">
            <a:noFill/>
            <a:prstDash val="solid"/>
          </a:ln>
        </p:spPr>
        <p:txBody>
          <a:bodyPr wrap="square" lIns="38100" tIns="19050" rIns="38100" bIns="19050" anchor="ctr">
            <a:normAutofit/>
          </a:bodyPr>
          <a:lstStyle/>
          <a:p>
            <a:pPr algn="ctr">
              <a:defRPr sz="1200" b="1" i="0">
                <a:solidFill>
                  <a:srgbClr val="398D84"/>
                </a:solidFill>
                <a:latin typeface="Arial"/>
                <a:ea typeface="Arial"/>
                <a:cs typeface="Arial"/>
              </a:defRPr>
            </a:pPr>
            <a:r>
              <a:rPr sz="1200" b="1" i="0" dirty="0" err="1">
                <a:solidFill>
                  <a:srgbClr val="398D84"/>
                </a:solidFill>
                <a:latin typeface="Arial"/>
                <a:ea typeface="Arial"/>
                <a:cs typeface="Arial"/>
              </a:rPr>
              <a:t>Стратегијата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на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трошок</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има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поголемо</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влијание</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од</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промени</a:t>
            </a:r>
            <a:r>
              <a:rPr lang="mk-MK" sz="1200" b="1" dirty="0">
                <a:solidFill>
                  <a:srgbClr val="398D84"/>
                </a:solidFill>
                <a:latin typeface="Arial"/>
                <a:ea typeface="Arial"/>
                <a:cs typeface="Arial"/>
              </a:rPr>
              <a:t>те</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на</a:t>
            </a:r>
            <a:r>
              <a:rPr sz="1200" b="1" i="0" dirty="0">
                <a:solidFill>
                  <a:srgbClr val="398D84"/>
                </a:solidFill>
                <a:latin typeface="Arial"/>
                <a:ea typeface="Arial"/>
                <a:cs typeface="Arial"/>
              </a:rPr>
              <a:t> </a:t>
            </a:r>
            <a:r>
              <a:rPr sz="1200" b="1" i="0" dirty="0" err="1">
                <a:solidFill>
                  <a:srgbClr val="398D84"/>
                </a:solidFill>
                <a:latin typeface="Arial"/>
                <a:ea typeface="Arial"/>
                <a:cs typeface="Arial"/>
              </a:rPr>
              <a:t>λ</a:t>
            </a:r>
            <a:r>
              <a:rPr sz="1200" b="1" i="0" dirty="0">
                <a:solidFill>
                  <a:srgbClr val="398D84"/>
                </a:solidFill>
                <a:latin typeface="Arial"/>
                <a:ea typeface="Arial"/>
                <a:cs typeface="Arial"/>
              </a:rPr>
              <a:t>.</a:t>
            </a:r>
          </a:p>
        </p:txBody>
      </p:sp>
    </p:spTree>
    <p:extLst>
      <p:ext uri="{BB962C8B-B14F-4D97-AF65-F5344CB8AC3E}">
        <p14:creationId xmlns:p14="http://schemas.microsoft.com/office/powerpoint/2010/main" val="2020288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A01D29D-9111-4E60-9564-30069BCB48B0}"/>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Метрики за конечниот одговор</a:t>
            </a:r>
          </a:p>
        </p:txBody>
      </p:sp>
      <p:sp>
        <p:nvSpPr>
          <p:cNvPr id="2" name="Rectangle 1">
            <a:extLst>
              <a:ext uri="{FF2B5EF4-FFF2-40B4-BE49-F238E27FC236}">
                <a16:creationId xmlns:a16="http://schemas.microsoft.com/office/drawing/2014/main" id="{404A934E-AE1F-4A5D-B14A-5E99C94A851E}"/>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ABB44C81-1537-46E2-A589-831F7BA5D9AD}"/>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17</a:t>
            </a:r>
          </a:p>
        </p:txBody>
      </p:sp>
      <p:sp>
        <p:nvSpPr>
          <p:cNvPr id="4" name="Rectangle 3">
            <a:extLst>
              <a:ext uri="{FF2B5EF4-FFF2-40B4-BE49-F238E27FC236}">
                <a16:creationId xmlns:a16="http://schemas.microsoft.com/office/drawing/2014/main" id="{38BF945A-81AE-4913-BE02-12980960090E}"/>
              </a:ext>
            </a:extLst>
          </p:cNvPr>
          <p:cNvSpPr>
            <a:spLocks noGrp="1"/>
          </p:cNvSpPr>
          <p:nvPr/>
        </p:nvSpPr>
        <p:spPr>
          <a:xfrm>
            <a:off x="666750" y="1104900"/>
            <a:ext cx="4857750" cy="381000"/>
          </a:xfrm>
          <a:prstGeom prst="rect">
            <a:avLst/>
          </a:prstGeom>
          <a:noFill/>
          <a:ln w="0">
            <a:noFill/>
            <a:prstDash val="solid"/>
          </a:ln>
        </p:spPr>
        <p:txBody>
          <a:bodyPr wrap="square" lIns="38100" tIns="19050" rIns="38100" bIns="19050" anchor="ctr">
            <a:normAutofit/>
          </a:bodyPr>
          <a:lstStyle/>
          <a:p>
            <a:pPr algn="l">
              <a:defRPr sz="1800" b="1" i="0">
                <a:solidFill>
                  <a:srgbClr val="8064A2"/>
                </a:solidFill>
                <a:latin typeface="Arial"/>
                <a:ea typeface="Arial"/>
                <a:cs typeface="Arial"/>
              </a:defRPr>
            </a:pPr>
            <a:r>
              <a:rPr sz="1800" b="1" i="0">
                <a:solidFill>
                  <a:srgbClr val="8064A2"/>
                </a:solidFill>
                <a:latin typeface="Arial"/>
                <a:ea typeface="Arial"/>
                <a:cs typeface="Arial"/>
              </a:rPr>
              <a:t>Квалитет на одговорот</a:t>
            </a:r>
          </a:p>
        </p:txBody>
      </p:sp>
      <p:sp>
        <p:nvSpPr>
          <p:cNvPr id="5" name="Rounded Rectangle 4">
            <a:extLst>
              <a:ext uri="{FF2B5EF4-FFF2-40B4-BE49-F238E27FC236}">
                <a16:creationId xmlns:a16="http://schemas.microsoft.com/office/drawing/2014/main" id="{98AAD01E-F090-4BF9-95BB-AD0F14DD67F3}"/>
              </a:ext>
            </a:extLst>
          </p:cNvPr>
          <p:cNvSpPr>
            <a:spLocks noGrp="1"/>
          </p:cNvSpPr>
          <p:nvPr/>
        </p:nvSpPr>
        <p:spPr>
          <a:xfrm>
            <a:off x="666750" y="1619250"/>
            <a:ext cx="4857750" cy="2428875"/>
          </a:xfrm>
          <a:prstGeom prst="roundRect">
            <a:avLst>
              <a:gd name="adj" fmla="val 5490"/>
            </a:avLst>
          </a:prstGeom>
          <a:solidFill>
            <a:srgbClr val="F1ECF7"/>
          </a:solidFill>
          <a:ln w="14288">
            <a:solidFill>
              <a:srgbClr val="8064A2"/>
            </a:solidFill>
            <a:prstDash val="solid"/>
          </a:ln>
        </p:spPr>
        <p:txBody>
          <a:bodyPr/>
          <a:lstStyle/>
          <a:p>
            <a:endParaRPr lang="en-US"/>
          </a:p>
        </p:txBody>
      </p:sp>
      <p:sp>
        <p:nvSpPr>
          <p:cNvPr id="6" name="Oval 5">
            <a:extLst>
              <a:ext uri="{FF2B5EF4-FFF2-40B4-BE49-F238E27FC236}">
                <a16:creationId xmlns:a16="http://schemas.microsoft.com/office/drawing/2014/main" id="{44CC37F0-B9A4-4450-94F5-149BD99D5186}"/>
              </a:ext>
            </a:extLst>
          </p:cNvPr>
          <p:cNvSpPr>
            <a:spLocks noGrp="1"/>
          </p:cNvSpPr>
          <p:nvPr/>
        </p:nvSpPr>
        <p:spPr>
          <a:xfrm>
            <a:off x="904875" y="2028825"/>
            <a:ext cx="66675" cy="66675"/>
          </a:xfrm>
          <a:prstGeom prst="ellipse">
            <a:avLst/>
          </a:prstGeom>
          <a:solidFill>
            <a:srgbClr val="8064A2"/>
          </a:solidFill>
          <a:ln w="0">
            <a:noFill/>
            <a:prstDash val="solid"/>
          </a:ln>
        </p:spPr>
        <p:txBody>
          <a:bodyPr/>
          <a:lstStyle/>
          <a:p>
            <a:endParaRPr lang="en-US"/>
          </a:p>
        </p:txBody>
      </p:sp>
      <p:sp>
        <p:nvSpPr>
          <p:cNvPr id="7" name="Rectangle 6">
            <a:extLst>
              <a:ext uri="{FF2B5EF4-FFF2-40B4-BE49-F238E27FC236}">
                <a16:creationId xmlns:a16="http://schemas.microsoft.com/office/drawing/2014/main" id="{98D1C017-103C-42DB-9393-4065095CD77B}"/>
              </a:ext>
            </a:extLst>
          </p:cNvPr>
          <p:cNvSpPr>
            <a:spLocks noGrp="1"/>
          </p:cNvSpPr>
          <p:nvPr/>
        </p:nvSpPr>
        <p:spPr>
          <a:xfrm>
            <a:off x="1076325" y="1924050"/>
            <a:ext cx="4210050" cy="4953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Hit</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вратен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барем</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еден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точен</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одговор</a:t>
            </a:r>
            <a:endParaRPr sz="1350" b="0" i="0" dirty="0">
              <a:solidFill>
                <a:srgbClr val="263746"/>
              </a:solidFill>
              <a:latin typeface="Arial"/>
              <a:ea typeface="Arial"/>
              <a:cs typeface="Arial"/>
            </a:endParaRPr>
          </a:p>
        </p:txBody>
      </p:sp>
      <p:sp>
        <p:nvSpPr>
          <p:cNvPr id="8" name="Oval 7">
            <a:extLst>
              <a:ext uri="{FF2B5EF4-FFF2-40B4-BE49-F238E27FC236}">
                <a16:creationId xmlns:a16="http://schemas.microsoft.com/office/drawing/2014/main" id="{354B7ABC-A030-4E86-AD76-B25C9C021664}"/>
              </a:ext>
            </a:extLst>
          </p:cNvPr>
          <p:cNvSpPr>
            <a:spLocks noGrp="1"/>
          </p:cNvSpPr>
          <p:nvPr/>
        </p:nvSpPr>
        <p:spPr>
          <a:xfrm>
            <a:off x="904875" y="2695575"/>
            <a:ext cx="66675" cy="66675"/>
          </a:xfrm>
          <a:prstGeom prst="ellipse">
            <a:avLst/>
          </a:prstGeom>
          <a:solidFill>
            <a:srgbClr val="8064A2"/>
          </a:solidFill>
          <a:ln w="0">
            <a:noFill/>
            <a:prstDash val="solid"/>
          </a:ln>
        </p:spPr>
        <p:txBody>
          <a:bodyPr/>
          <a:lstStyle/>
          <a:p>
            <a:endParaRPr lang="en-US"/>
          </a:p>
        </p:txBody>
      </p:sp>
      <p:sp>
        <p:nvSpPr>
          <p:cNvPr id="9" name="Rectangle 8">
            <a:extLst>
              <a:ext uri="{FF2B5EF4-FFF2-40B4-BE49-F238E27FC236}">
                <a16:creationId xmlns:a16="http://schemas.microsoft.com/office/drawing/2014/main" id="{4BB31B75-29CB-49E4-AE64-CF5E0F30403F}"/>
              </a:ext>
            </a:extLst>
          </p:cNvPr>
          <p:cNvSpPr>
            <a:spLocks noGrp="1"/>
          </p:cNvSpPr>
          <p:nvPr/>
        </p:nvSpPr>
        <p:spPr>
          <a:xfrm>
            <a:off x="1076325" y="2590800"/>
            <a:ext cx="4210050" cy="4953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err="1">
                <a:solidFill>
                  <a:srgbClr val="263746"/>
                </a:solidFill>
                <a:latin typeface="Arial"/>
                <a:ea typeface="Arial"/>
                <a:cs typeface="Arial"/>
              </a:rPr>
              <a:t>ExactMatch</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целосно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совпаѓање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множествата</a:t>
            </a:r>
            <a:endParaRPr sz="1350" b="0" i="0" dirty="0">
              <a:solidFill>
                <a:srgbClr val="263746"/>
              </a:solidFill>
              <a:latin typeface="Arial"/>
              <a:ea typeface="Arial"/>
              <a:cs typeface="Arial"/>
            </a:endParaRPr>
          </a:p>
        </p:txBody>
      </p:sp>
      <p:sp>
        <p:nvSpPr>
          <p:cNvPr id="10" name="Oval 9">
            <a:extLst>
              <a:ext uri="{FF2B5EF4-FFF2-40B4-BE49-F238E27FC236}">
                <a16:creationId xmlns:a16="http://schemas.microsoft.com/office/drawing/2014/main" id="{B82A031F-3448-4442-8325-23FAF572E9D8}"/>
              </a:ext>
            </a:extLst>
          </p:cNvPr>
          <p:cNvSpPr>
            <a:spLocks noGrp="1"/>
          </p:cNvSpPr>
          <p:nvPr/>
        </p:nvSpPr>
        <p:spPr>
          <a:xfrm>
            <a:off x="904875" y="3362325"/>
            <a:ext cx="66675" cy="66675"/>
          </a:xfrm>
          <a:prstGeom prst="ellipse">
            <a:avLst/>
          </a:prstGeom>
          <a:solidFill>
            <a:srgbClr val="8064A2"/>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2948E7FE-46A6-45B4-AADC-98E26C8A616D}"/>
              </a:ext>
            </a:extLst>
          </p:cNvPr>
          <p:cNvSpPr>
            <a:spLocks noGrp="1"/>
          </p:cNvSpPr>
          <p:nvPr/>
        </p:nvSpPr>
        <p:spPr>
          <a:xfrm>
            <a:off x="1076325" y="3257550"/>
            <a:ext cx="4210050" cy="571500"/>
          </a:xfrm>
          <a:prstGeom prst="rect">
            <a:avLst/>
          </a:prstGeom>
          <a:noFill/>
          <a:ln w="0">
            <a:noFill/>
            <a:prstDash val="solid"/>
          </a:ln>
        </p:spPr>
        <p:txBody>
          <a:bodyPr wrap="square" lIns="38100" tIns="19050" rIns="38100" bIns="19050" anchor="t">
            <a:normAutofit/>
          </a:bodyPr>
          <a:lstStyle/>
          <a:p>
            <a:pPr algn="l">
              <a:defRPr sz="1350" b="0" i="0">
                <a:solidFill>
                  <a:srgbClr val="263746"/>
                </a:solidFill>
                <a:latin typeface="Arial"/>
                <a:ea typeface="Arial"/>
                <a:cs typeface="Arial"/>
              </a:defRPr>
            </a:pPr>
            <a:r>
              <a:rPr sz="1350" b="1" i="0" dirty="0">
                <a:solidFill>
                  <a:srgbClr val="263746"/>
                </a:solidFill>
                <a:latin typeface="Arial"/>
                <a:ea typeface="Arial"/>
                <a:cs typeface="Arial"/>
              </a:rPr>
              <a:t>Precision · Recall · F1</a:t>
            </a:r>
            <a:r>
              <a:rPr sz="1350" b="0" i="0" dirty="0">
                <a:solidFill>
                  <a:srgbClr val="263746"/>
                </a:solidFill>
                <a:latin typeface="Arial"/>
                <a:ea typeface="Arial"/>
                <a:cs typeface="Arial"/>
              </a:rPr>
              <a:t> — </a:t>
            </a:r>
            <a:r>
              <a:rPr sz="1350" b="0" i="0" dirty="0" err="1">
                <a:solidFill>
                  <a:srgbClr val="263746"/>
                </a:solidFill>
                <a:latin typeface="Arial"/>
                <a:ea typeface="Arial"/>
                <a:cs typeface="Arial"/>
              </a:rPr>
              <a:t>квалитет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генерираното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множество</a:t>
            </a:r>
            <a:endParaRPr sz="1350" b="0" i="0" dirty="0">
              <a:solidFill>
                <a:srgbClr val="263746"/>
              </a:solidFill>
              <a:latin typeface="Arial"/>
              <a:ea typeface="Arial"/>
              <a:cs typeface="Arial"/>
            </a:endParaRPr>
          </a:p>
        </p:txBody>
      </p:sp>
      <p:sp>
        <p:nvSpPr>
          <p:cNvPr id="12" name="Rectangle 11">
            <a:extLst>
              <a:ext uri="{FF2B5EF4-FFF2-40B4-BE49-F238E27FC236}">
                <a16:creationId xmlns:a16="http://schemas.microsoft.com/office/drawing/2014/main" id="{7B27F998-8ACB-49FA-8FE8-13AF3A5A9764}"/>
              </a:ext>
            </a:extLst>
          </p:cNvPr>
          <p:cNvSpPr>
            <a:spLocks noGrp="1"/>
          </p:cNvSpPr>
          <p:nvPr/>
        </p:nvSpPr>
        <p:spPr>
          <a:xfrm>
            <a:off x="6191250" y="1104900"/>
            <a:ext cx="5334000" cy="381000"/>
          </a:xfrm>
          <a:prstGeom prst="rect">
            <a:avLst/>
          </a:prstGeom>
          <a:noFill/>
          <a:ln w="0">
            <a:noFill/>
            <a:prstDash val="solid"/>
          </a:ln>
        </p:spPr>
        <p:txBody>
          <a:bodyPr wrap="square" lIns="38100" tIns="19050" rIns="38100" bIns="19050" anchor="ctr">
            <a:normAutofit/>
          </a:bodyPr>
          <a:lstStyle/>
          <a:p>
            <a:pPr algn="l">
              <a:defRPr sz="1800" b="1" i="0">
                <a:solidFill>
                  <a:srgbClr val="4E9B69"/>
                </a:solidFill>
                <a:latin typeface="Arial"/>
                <a:ea typeface="Arial"/>
                <a:cs typeface="Arial"/>
              </a:defRPr>
            </a:pPr>
            <a:r>
              <a:rPr sz="1800" b="1" i="0">
                <a:solidFill>
                  <a:srgbClr val="4E9B69"/>
                </a:solidFill>
                <a:latin typeface="Arial"/>
                <a:ea typeface="Arial"/>
                <a:cs typeface="Arial"/>
              </a:rPr>
              <a:t>Искористување на контекстот</a:t>
            </a:r>
          </a:p>
        </p:txBody>
      </p:sp>
      <p:sp>
        <p:nvSpPr>
          <p:cNvPr id="13" name="Rounded Rectangle 12">
            <a:extLst>
              <a:ext uri="{FF2B5EF4-FFF2-40B4-BE49-F238E27FC236}">
                <a16:creationId xmlns:a16="http://schemas.microsoft.com/office/drawing/2014/main" id="{332C47A0-2BA1-4C98-B549-A1CC40057B3E}"/>
              </a:ext>
            </a:extLst>
          </p:cNvPr>
          <p:cNvSpPr>
            <a:spLocks noGrp="1"/>
          </p:cNvSpPr>
          <p:nvPr/>
        </p:nvSpPr>
        <p:spPr>
          <a:xfrm>
            <a:off x="6191250" y="1619250"/>
            <a:ext cx="5334000" cy="2428875"/>
          </a:xfrm>
          <a:prstGeom prst="roundRect">
            <a:avLst>
              <a:gd name="adj" fmla="val 5490"/>
            </a:avLst>
          </a:prstGeom>
          <a:solidFill>
            <a:srgbClr val="EAF6EE"/>
          </a:solidFill>
          <a:ln w="14288">
            <a:solidFill>
              <a:srgbClr val="4E9B69"/>
            </a:solidFill>
            <a:prstDash val="solid"/>
          </a:ln>
        </p:spPr>
        <p:txBody>
          <a:bodyPr/>
          <a:lstStyle/>
          <a:p>
            <a:endParaRPr lang="en-US"/>
          </a:p>
        </p:txBody>
      </p:sp>
      <p:sp>
        <p:nvSpPr>
          <p:cNvPr id="14" name="Rectangle 13">
            <a:extLst>
              <a:ext uri="{FF2B5EF4-FFF2-40B4-BE49-F238E27FC236}">
                <a16:creationId xmlns:a16="http://schemas.microsoft.com/office/drawing/2014/main" id="{B71E8E00-1B49-4342-8EF5-3EB33477B780}"/>
              </a:ext>
            </a:extLst>
          </p:cNvPr>
          <p:cNvSpPr>
            <a:spLocks noGrp="1"/>
          </p:cNvSpPr>
          <p:nvPr/>
        </p:nvSpPr>
        <p:spPr>
          <a:xfrm>
            <a:off x="6429375" y="1914525"/>
            <a:ext cx="4857750" cy="285750"/>
          </a:xfrm>
          <a:prstGeom prst="rect">
            <a:avLst/>
          </a:prstGeom>
          <a:noFill/>
          <a:ln w="0">
            <a:noFill/>
            <a:prstDash val="solid"/>
          </a:ln>
        </p:spPr>
        <p:txBody>
          <a:bodyPr wrap="square" lIns="38100" tIns="19050" rIns="38100" bIns="19050" anchor="ctr">
            <a:normAutofit/>
          </a:bodyPr>
          <a:lstStyle/>
          <a:p>
            <a:pPr algn="l">
              <a:defRPr sz="1425" b="1" i="0">
                <a:solidFill>
                  <a:srgbClr val="4E9B69"/>
                </a:solidFill>
                <a:latin typeface="Arial"/>
                <a:ea typeface="Arial"/>
                <a:cs typeface="Arial"/>
              </a:defRPr>
            </a:pPr>
            <a:r>
              <a:rPr sz="1425" b="1" i="0" dirty="0" err="1">
                <a:solidFill>
                  <a:srgbClr val="4E9B69"/>
                </a:solidFill>
                <a:latin typeface="Arial"/>
                <a:ea typeface="Arial"/>
                <a:cs typeface="Arial"/>
              </a:rPr>
              <a:t>FullContextCompleteAnswer</a:t>
            </a:r>
            <a:endParaRPr sz="1425" b="1" i="0" dirty="0">
              <a:solidFill>
                <a:srgbClr val="4E9B69"/>
              </a:solidFill>
              <a:latin typeface="Arial"/>
              <a:ea typeface="Arial"/>
              <a:cs typeface="Arial"/>
            </a:endParaRPr>
          </a:p>
        </p:txBody>
      </p:sp>
      <p:sp>
        <p:nvSpPr>
          <p:cNvPr id="15" name="Rectangle 14">
            <a:extLst>
              <a:ext uri="{FF2B5EF4-FFF2-40B4-BE49-F238E27FC236}">
                <a16:creationId xmlns:a16="http://schemas.microsoft.com/office/drawing/2014/main" id="{508435CD-C610-47B9-9C8A-E98BFA416B7A}"/>
              </a:ext>
            </a:extLst>
          </p:cNvPr>
          <p:cNvSpPr>
            <a:spLocks noGrp="1"/>
          </p:cNvSpPr>
          <p:nvPr/>
        </p:nvSpPr>
        <p:spPr>
          <a:xfrm>
            <a:off x="6429375" y="2228850"/>
            <a:ext cx="4857750" cy="523875"/>
          </a:xfrm>
          <a:prstGeom prst="rect">
            <a:avLst/>
          </a:prstGeom>
          <a:noFill/>
          <a:ln w="0">
            <a:noFill/>
            <a:prstDash val="solid"/>
          </a:ln>
        </p:spPr>
        <p:txBody>
          <a:bodyPr wrap="square" lIns="38100" tIns="19050" rIns="38100" bIns="19050" anchor="ctr">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Контекстот</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ги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содржи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сите</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точни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одговори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моделот</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ги</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враќа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сите</a:t>
            </a:r>
            <a:r>
              <a:rPr sz="1275" b="0" i="0" dirty="0">
                <a:solidFill>
                  <a:srgbClr val="263746"/>
                </a:solidFill>
                <a:latin typeface="Arial"/>
                <a:ea typeface="Arial"/>
                <a:cs typeface="Arial"/>
              </a:rPr>
              <a:t>.</a:t>
            </a:r>
          </a:p>
        </p:txBody>
      </p:sp>
      <p:sp>
        <p:nvSpPr>
          <p:cNvPr id="16" name="Rectangle 15">
            <a:extLst>
              <a:ext uri="{FF2B5EF4-FFF2-40B4-BE49-F238E27FC236}">
                <a16:creationId xmlns:a16="http://schemas.microsoft.com/office/drawing/2014/main" id="{645FF87A-A883-417D-AF28-F79FBE3116BD}"/>
              </a:ext>
            </a:extLst>
          </p:cNvPr>
          <p:cNvSpPr>
            <a:spLocks noGrp="1"/>
          </p:cNvSpPr>
          <p:nvPr/>
        </p:nvSpPr>
        <p:spPr>
          <a:xfrm>
            <a:off x="6429375" y="2981325"/>
            <a:ext cx="4857750" cy="285750"/>
          </a:xfrm>
          <a:prstGeom prst="rect">
            <a:avLst/>
          </a:prstGeom>
          <a:noFill/>
          <a:ln w="0">
            <a:noFill/>
            <a:prstDash val="solid"/>
          </a:ln>
        </p:spPr>
        <p:txBody>
          <a:bodyPr wrap="square" lIns="38100" tIns="19050" rIns="38100" bIns="19050" anchor="ctr">
            <a:normAutofit/>
          </a:bodyPr>
          <a:lstStyle/>
          <a:p>
            <a:pPr algn="l">
              <a:defRPr sz="1425" b="1" i="0">
                <a:solidFill>
                  <a:srgbClr val="4E9B69"/>
                </a:solidFill>
                <a:latin typeface="Arial"/>
                <a:ea typeface="Arial"/>
                <a:cs typeface="Arial"/>
              </a:defRPr>
            </a:pPr>
            <a:r>
              <a:rPr sz="1425" b="1" i="0" dirty="0" err="1">
                <a:solidFill>
                  <a:srgbClr val="4E9B69"/>
                </a:solidFill>
                <a:latin typeface="Arial"/>
                <a:ea typeface="Arial"/>
                <a:cs typeface="Arial"/>
              </a:rPr>
              <a:t>FullContextLLMOmission</a:t>
            </a:r>
            <a:endParaRPr sz="1425" b="1" i="0" dirty="0">
              <a:solidFill>
                <a:srgbClr val="4E9B69"/>
              </a:solidFill>
              <a:latin typeface="Arial"/>
              <a:ea typeface="Arial"/>
              <a:cs typeface="Arial"/>
            </a:endParaRPr>
          </a:p>
        </p:txBody>
      </p:sp>
      <p:sp>
        <p:nvSpPr>
          <p:cNvPr id="17" name="Rectangle 16">
            <a:extLst>
              <a:ext uri="{FF2B5EF4-FFF2-40B4-BE49-F238E27FC236}">
                <a16:creationId xmlns:a16="http://schemas.microsoft.com/office/drawing/2014/main" id="{593B6E04-4DAD-4A39-AB6C-7EE92DE6AC44}"/>
              </a:ext>
            </a:extLst>
          </p:cNvPr>
          <p:cNvSpPr>
            <a:spLocks noGrp="1"/>
          </p:cNvSpPr>
          <p:nvPr/>
        </p:nvSpPr>
        <p:spPr>
          <a:xfrm>
            <a:off x="6429375" y="3295650"/>
            <a:ext cx="4857750" cy="523875"/>
          </a:xfrm>
          <a:prstGeom prst="rect">
            <a:avLst/>
          </a:prstGeom>
          <a:noFill/>
          <a:ln w="0">
            <a:noFill/>
            <a:prstDash val="solid"/>
          </a:ln>
        </p:spPr>
        <p:txBody>
          <a:bodyPr wrap="square" lIns="38100" tIns="19050" rIns="38100" bIns="19050" anchor="ctr">
            <a:normAutofit/>
          </a:bodyPr>
          <a:lstStyle/>
          <a:p>
            <a:pPr algn="l">
              <a:defRPr sz="1275" b="0" i="0">
                <a:solidFill>
                  <a:srgbClr val="263746"/>
                </a:solidFill>
                <a:latin typeface="Arial"/>
                <a:ea typeface="Arial"/>
                <a:cs typeface="Arial"/>
              </a:defRPr>
            </a:pPr>
            <a:r>
              <a:rPr sz="1275" b="0" i="0" dirty="0" err="1">
                <a:solidFill>
                  <a:srgbClr val="263746"/>
                </a:solidFill>
                <a:latin typeface="Arial"/>
                <a:ea typeface="Arial"/>
                <a:cs typeface="Arial"/>
              </a:rPr>
              <a:t>Контекстот</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е</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целосен</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но</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моделот</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испушта</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најмалку</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еден</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точен</a:t>
            </a:r>
            <a:r>
              <a:rPr sz="1275" b="0" i="0" dirty="0">
                <a:solidFill>
                  <a:srgbClr val="263746"/>
                </a:solidFill>
                <a:latin typeface="Arial"/>
                <a:ea typeface="Arial"/>
                <a:cs typeface="Arial"/>
              </a:rPr>
              <a:t> </a:t>
            </a:r>
            <a:r>
              <a:rPr sz="1275" b="0" i="0" dirty="0" err="1">
                <a:solidFill>
                  <a:srgbClr val="263746"/>
                </a:solidFill>
                <a:latin typeface="Arial"/>
                <a:ea typeface="Arial"/>
                <a:cs typeface="Arial"/>
              </a:rPr>
              <a:t>одговор</a:t>
            </a:r>
            <a:r>
              <a:rPr sz="1275" b="0" i="0" dirty="0">
                <a:solidFill>
                  <a:srgbClr val="263746"/>
                </a:solidFill>
                <a:latin typeface="Arial"/>
                <a:ea typeface="Arial"/>
                <a:cs typeface="Arial"/>
              </a:rPr>
              <a:t>.</a:t>
            </a:r>
          </a:p>
        </p:txBody>
      </p:sp>
      <p:sp>
        <p:nvSpPr>
          <p:cNvPr id="18" name="Rounded Rectangle 17">
            <a:extLst>
              <a:ext uri="{FF2B5EF4-FFF2-40B4-BE49-F238E27FC236}">
                <a16:creationId xmlns:a16="http://schemas.microsoft.com/office/drawing/2014/main" id="{0111BB8B-F315-4335-9521-F0D224702460}"/>
              </a:ext>
            </a:extLst>
          </p:cNvPr>
          <p:cNvSpPr>
            <a:spLocks noGrp="1"/>
          </p:cNvSpPr>
          <p:nvPr/>
        </p:nvSpPr>
        <p:spPr>
          <a:xfrm>
            <a:off x="2207007" y="4481513"/>
            <a:ext cx="7496176" cy="1019175"/>
          </a:xfrm>
          <a:prstGeom prst="roundRect">
            <a:avLst>
              <a:gd name="adj" fmla="val 11628"/>
            </a:avLst>
          </a:prstGeom>
          <a:solidFill>
            <a:srgbClr val="F7F9FB"/>
          </a:solidFill>
          <a:ln w="11430">
            <a:solidFill>
              <a:srgbClr val="A9B4BE"/>
            </a:solidFill>
            <a:prstDash val="solid"/>
          </a:ln>
        </p:spPr>
        <p:txBody>
          <a:bodyPr anchor="ctr"/>
          <a:lstStyle/>
          <a:p>
            <a:endParaRPr lang="mk-MK" dirty="0">
              <a:latin typeface="Arial" panose="020B0604020202020204" pitchFamily="34" charset="0"/>
              <a:cs typeface="Arial" panose="020B0604020202020204" pitchFamily="34" charset="0"/>
            </a:endParaRPr>
          </a:p>
        </p:txBody>
      </p:sp>
      <p:sp>
        <p:nvSpPr>
          <p:cNvPr id="20" name="Rectangle 19">
            <a:extLst>
              <a:ext uri="{FF2B5EF4-FFF2-40B4-BE49-F238E27FC236}">
                <a16:creationId xmlns:a16="http://schemas.microsoft.com/office/drawing/2014/main" id="{2FE5266B-F406-40A0-B9DD-1615044A173F}"/>
              </a:ext>
            </a:extLst>
          </p:cNvPr>
          <p:cNvSpPr>
            <a:spLocks noGrp="1"/>
          </p:cNvSpPr>
          <p:nvPr/>
        </p:nvSpPr>
        <p:spPr>
          <a:xfrm>
            <a:off x="1619250" y="5719763"/>
            <a:ext cx="8953500" cy="428625"/>
          </a:xfrm>
          <a:prstGeom prst="rect">
            <a:avLst/>
          </a:prstGeom>
          <a:noFill/>
          <a:ln w="0">
            <a:noFill/>
            <a:prstDash val="solid"/>
          </a:ln>
        </p:spPr>
        <p:txBody>
          <a:bodyPr wrap="square" lIns="38100" tIns="19050" rIns="38100" bIns="19050" anchor="ctr">
            <a:normAutofit/>
          </a:bodyPr>
          <a:lstStyle/>
          <a:p>
            <a:pPr algn="ctr">
              <a:defRPr sz="1500" b="1" i="0">
                <a:solidFill>
                  <a:srgbClr val="263746"/>
                </a:solidFill>
                <a:latin typeface="Arial"/>
                <a:ea typeface="Arial"/>
                <a:cs typeface="Arial"/>
              </a:defRPr>
            </a:pPr>
            <a:r>
              <a:rPr sz="1500" b="1" i="0" dirty="0" err="1">
                <a:solidFill>
                  <a:srgbClr val="263746"/>
                </a:solidFill>
                <a:latin typeface="Arial"/>
                <a:ea typeface="Arial"/>
                <a:cs typeface="Arial"/>
              </a:rPr>
              <a:t>Метриката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го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изолира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пропустот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на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јазичниот</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модел</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од</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загубата</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во</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претходните</a:t>
            </a:r>
            <a:r>
              <a:rPr sz="1500" b="1" i="0" dirty="0">
                <a:solidFill>
                  <a:srgbClr val="263746"/>
                </a:solidFill>
                <a:latin typeface="Arial"/>
                <a:ea typeface="Arial"/>
                <a:cs typeface="Arial"/>
              </a:rPr>
              <a:t> </a:t>
            </a:r>
            <a:r>
              <a:rPr sz="1500" b="1" i="0" dirty="0" err="1">
                <a:solidFill>
                  <a:srgbClr val="263746"/>
                </a:solidFill>
                <a:latin typeface="Arial"/>
                <a:ea typeface="Arial"/>
                <a:cs typeface="Arial"/>
              </a:rPr>
              <a:t>фази</a:t>
            </a:r>
            <a:r>
              <a:rPr sz="1500" b="1" i="0" dirty="0">
                <a:solidFill>
                  <a:srgbClr val="263746"/>
                </a:solidFill>
                <a:latin typeface="Arial"/>
                <a:ea typeface="Arial"/>
                <a:cs typeface="Arial"/>
              </a:rPr>
              <a:t>.</a:t>
            </a:r>
          </a:p>
        </p:txBody>
      </p:sp>
      <p:sp>
        <p:nvSpPr>
          <p:cNvPr id="23" name="Rectangle 22">
            <a:extLst>
              <a:ext uri="{FF2B5EF4-FFF2-40B4-BE49-F238E27FC236}">
                <a16:creationId xmlns:a16="http://schemas.microsoft.com/office/drawing/2014/main" id="{832109FD-5078-0CD4-4ABE-2EDC3C735346}"/>
              </a:ext>
            </a:extLst>
          </p:cNvPr>
          <p:cNvSpPr>
            <a:spLocks noGrp="1"/>
          </p:cNvSpPr>
          <p:nvPr/>
        </p:nvSpPr>
        <p:spPr>
          <a:xfrm>
            <a:off x="2415243" y="4598194"/>
            <a:ext cx="4857750" cy="285750"/>
          </a:xfrm>
          <a:prstGeom prst="rect">
            <a:avLst/>
          </a:prstGeom>
          <a:noFill/>
          <a:ln w="0">
            <a:noFill/>
            <a:prstDash val="solid"/>
          </a:ln>
        </p:spPr>
        <p:txBody>
          <a:bodyPr wrap="square" lIns="38100" tIns="19050" rIns="38100" bIns="19050" anchor="ctr">
            <a:normAutofit/>
          </a:bodyPr>
          <a:lstStyle/>
          <a:p>
            <a:pPr>
              <a:defRPr sz="1425" b="1" i="0">
                <a:solidFill>
                  <a:srgbClr val="4E9B69"/>
                </a:solidFill>
                <a:latin typeface="Arial"/>
                <a:ea typeface="Arial"/>
                <a:cs typeface="Arial"/>
              </a:defRPr>
            </a:pPr>
            <a:r>
              <a:rPr lang="en-US" sz="1430" dirty="0" err="1">
                <a:solidFill>
                  <a:schemeClr val="tx1">
                    <a:lumMod val="65000"/>
                    <a:lumOff val="35000"/>
                  </a:schemeClr>
                </a:solidFill>
                <a:latin typeface="Arial" panose="020B0604020202020204" pitchFamily="34" charset="0"/>
                <a:cs typeface="Arial" panose="020B0604020202020204" pitchFamily="34" charset="0"/>
              </a:rPr>
              <a:t>LLMOmissionGivenFullContext</a:t>
            </a:r>
            <a:endParaRPr sz="1430" b="1" i="0" dirty="0">
              <a:solidFill>
                <a:srgbClr val="4E9B69"/>
              </a:solidFill>
              <a:latin typeface="Arial"/>
              <a:ea typeface="Arial"/>
              <a:cs typeface="Arial"/>
            </a:endParaRPr>
          </a:p>
        </p:txBody>
      </p:sp>
      <p:sp>
        <p:nvSpPr>
          <p:cNvPr id="24" name="Rectangle 23">
            <a:extLst>
              <a:ext uri="{FF2B5EF4-FFF2-40B4-BE49-F238E27FC236}">
                <a16:creationId xmlns:a16="http://schemas.microsoft.com/office/drawing/2014/main" id="{720A67DC-930E-21B2-941E-03C657BEC3AE}"/>
              </a:ext>
            </a:extLst>
          </p:cNvPr>
          <p:cNvSpPr>
            <a:spLocks noGrp="1"/>
          </p:cNvSpPr>
          <p:nvPr/>
        </p:nvSpPr>
        <p:spPr>
          <a:xfrm>
            <a:off x="2415243" y="4991100"/>
            <a:ext cx="7287940" cy="523875"/>
          </a:xfrm>
          <a:prstGeom prst="rect">
            <a:avLst/>
          </a:prstGeom>
          <a:noFill/>
          <a:ln w="0">
            <a:noFill/>
            <a:prstDash val="solid"/>
          </a:ln>
        </p:spPr>
        <p:txBody>
          <a:bodyPr wrap="square" lIns="38100" tIns="19050" rIns="38100" bIns="19050" anchor="ctr">
            <a:normAutofit/>
          </a:bodyPr>
          <a:lstStyle/>
          <a:p>
            <a:pPr>
              <a:defRPr sz="1275" b="0" i="0">
                <a:solidFill>
                  <a:srgbClr val="263746"/>
                </a:solidFill>
                <a:latin typeface="Arial"/>
                <a:ea typeface="Arial"/>
                <a:cs typeface="Arial"/>
              </a:defRPr>
            </a:pPr>
            <a:r>
              <a:rPr lang="mk-MK" sz="1280" dirty="0">
                <a:latin typeface="Arial" panose="020B0604020202020204" pitchFamily="34" charset="0"/>
                <a:cs typeface="Arial" panose="020B0604020202020204" pitchFamily="34" charset="0"/>
              </a:rPr>
              <a:t>Кај прашањата со целосен контекст, го мери уделот во кој моделот испушта најмалку еден точен одговор.</a:t>
            </a:r>
          </a:p>
          <a:p>
            <a:pPr algn="l">
              <a:defRPr sz="1275" b="0" i="0">
                <a:solidFill>
                  <a:srgbClr val="263746"/>
                </a:solidFill>
                <a:latin typeface="Arial"/>
                <a:ea typeface="Arial"/>
                <a:cs typeface="Arial"/>
              </a:defRPr>
            </a:pPr>
            <a:endParaRPr sz="1280" b="0" i="0" dirty="0">
              <a:solidFill>
                <a:srgbClr val="263746"/>
              </a:solidFill>
              <a:latin typeface="Arial"/>
              <a:ea typeface="Arial"/>
              <a:cs typeface="Arial"/>
            </a:endParaRPr>
          </a:p>
        </p:txBody>
      </p:sp>
    </p:spTree>
    <p:extLst>
      <p:ext uri="{BB962C8B-B14F-4D97-AF65-F5344CB8AC3E}">
        <p14:creationId xmlns:p14="http://schemas.microsoft.com/office/powerpoint/2010/main" val="945228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7CFBA19-D509-4280-9129-639F820296CE}"/>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Квалитет и потрошувачка на токени</a:t>
            </a:r>
          </a:p>
        </p:txBody>
      </p:sp>
      <p:sp>
        <p:nvSpPr>
          <p:cNvPr id="2" name="Rectangle 1">
            <a:extLst>
              <a:ext uri="{FF2B5EF4-FFF2-40B4-BE49-F238E27FC236}">
                <a16:creationId xmlns:a16="http://schemas.microsoft.com/office/drawing/2014/main" id="{87B885FE-F30F-4348-B3F7-29C6FF16A349}"/>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9000464B-1275-4EBE-A25F-9B479A0BF501}"/>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18</a:t>
            </a:r>
          </a:p>
        </p:txBody>
      </p:sp>
      <p:pic>
        <p:nvPicPr>
          <p:cNvPr id="24" name="Picture 23"/>
          <p:cNvPicPr>
            <a:picLocks noChangeAspect="1"/>
          </p:cNvPicPr>
          <p:nvPr/>
        </p:nvPicPr>
        <p:blipFill>
          <a:blip r:embed="rId3"/>
          <a:stretch/>
        </p:blipFill>
        <p:spPr>
          <a:xfrm>
            <a:off x="428625" y="1019864"/>
            <a:ext cx="11334750" cy="3522872"/>
          </a:xfrm>
          <a:prstGeom prst="rect">
            <a:avLst/>
          </a:prstGeom>
        </p:spPr>
      </p:pic>
      <p:sp>
        <p:nvSpPr>
          <p:cNvPr id="5" name="Rounded Rectangle 4">
            <a:extLst>
              <a:ext uri="{FF2B5EF4-FFF2-40B4-BE49-F238E27FC236}">
                <a16:creationId xmlns:a16="http://schemas.microsoft.com/office/drawing/2014/main" id="{05ADEB02-BCB7-43E8-B0D6-0D9F36E8FD83}"/>
              </a:ext>
            </a:extLst>
          </p:cNvPr>
          <p:cNvSpPr>
            <a:spLocks noGrp="1"/>
          </p:cNvSpPr>
          <p:nvPr/>
        </p:nvSpPr>
        <p:spPr>
          <a:xfrm>
            <a:off x="666750" y="4791075"/>
            <a:ext cx="5191125" cy="1333500"/>
          </a:xfrm>
          <a:prstGeom prst="roundRect">
            <a:avLst>
              <a:gd name="adj" fmla="val 10000"/>
            </a:avLst>
          </a:prstGeom>
          <a:solidFill>
            <a:srgbClr val="EAF2FB"/>
          </a:solidFill>
          <a:ln w="14288">
            <a:solidFill>
              <a:srgbClr val="4F86C6"/>
            </a:solidFill>
            <a:prstDash val="solid"/>
          </a:ln>
        </p:spPr>
        <p:txBody>
          <a:bodyPr/>
          <a:lstStyle/>
          <a:p>
            <a:endParaRPr lang="en-US"/>
          </a:p>
        </p:txBody>
      </p:sp>
      <p:sp>
        <p:nvSpPr>
          <p:cNvPr id="6" name="Rectangle 5">
            <a:extLst>
              <a:ext uri="{FF2B5EF4-FFF2-40B4-BE49-F238E27FC236}">
                <a16:creationId xmlns:a16="http://schemas.microsoft.com/office/drawing/2014/main" id="{B5A862D6-FE89-4C25-882F-9EF3599CB8E1}"/>
              </a:ext>
            </a:extLst>
          </p:cNvPr>
          <p:cNvSpPr>
            <a:spLocks noGrp="1"/>
          </p:cNvSpPr>
          <p:nvPr/>
        </p:nvSpPr>
        <p:spPr>
          <a:xfrm>
            <a:off x="904875" y="4933950"/>
            <a:ext cx="4714875" cy="2857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Унија на најкратки патеки</a:t>
            </a:r>
          </a:p>
        </p:txBody>
      </p:sp>
      <p:sp>
        <p:nvSpPr>
          <p:cNvPr id="7" name="Rectangle 6">
            <a:extLst>
              <a:ext uri="{FF2B5EF4-FFF2-40B4-BE49-F238E27FC236}">
                <a16:creationId xmlns:a16="http://schemas.microsoft.com/office/drawing/2014/main" id="{498E3F20-FBB2-4B97-A316-90BA77C449F9}"/>
              </a:ext>
            </a:extLst>
          </p:cNvPr>
          <p:cNvSpPr>
            <a:spLocks noGrp="1"/>
          </p:cNvSpPr>
          <p:nvPr/>
        </p:nvSpPr>
        <p:spPr>
          <a:xfrm>
            <a:off x="7905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0,802 / 0,804</a:t>
            </a:r>
          </a:p>
        </p:txBody>
      </p:sp>
      <p:sp>
        <p:nvSpPr>
          <p:cNvPr id="8" name="Rectangle 7">
            <a:extLst>
              <a:ext uri="{FF2B5EF4-FFF2-40B4-BE49-F238E27FC236}">
                <a16:creationId xmlns:a16="http://schemas.microsoft.com/office/drawing/2014/main" id="{22F6321E-E6D2-425A-ABF0-9A809B10868A}"/>
              </a:ext>
            </a:extLst>
          </p:cNvPr>
          <p:cNvSpPr>
            <a:spLocks noGrp="1"/>
          </p:cNvSpPr>
          <p:nvPr/>
        </p:nvSpPr>
        <p:spPr>
          <a:xfrm>
            <a:off x="7905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Hit · DeepSeek / GPT</a:t>
            </a:r>
          </a:p>
        </p:txBody>
      </p:sp>
      <p:sp>
        <p:nvSpPr>
          <p:cNvPr id="9" name="Rectangle 8">
            <a:extLst>
              <a:ext uri="{FF2B5EF4-FFF2-40B4-BE49-F238E27FC236}">
                <a16:creationId xmlns:a16="http://schemas.microsoft.com/office/drawing/2014/main" id="{535A8276-40A7-43A8-AADB-1F6ECA27C3FC}"/>
              </a:ext>
            </a:extLst>
          </p:cNvPr>
          <p:cNvSpPr>
            <a:spLocks noGrp="1"/>
          </p:cNvSpPr>
          <p:nvPr/>
        </p:nvSpPr>
        <p:spPr>
          <a:xfrm>
            <a:off x="24669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0,627 / 0,613</a:t>
            </a:r>
          </a:p>
        </p:txBody>
      </p:sp>
      <p:sp>
        <p:nvSpPr>
          <p:cNvPr id="10" name="Rectangle 9">
            <a:extLst>
              <a:ext uri="{FF2B5EF4-FFF2-40B4-BE49-F238E27FC236}">
                <a16:creationId xmlns:a16="http://schemas.microsoft.com/office/drawing/2014/main" id="{42FC6AAA-37B0-4A76-93FD-7C09FC40303A}"/>
              </a:ext>
            </a:extLst>
          </p:cNvPr>
          <p:cNvSpPr>
            <a:spLocks noGrp="1"/>
          </p:cNvSpPr>
          <p:nvPr/>
        </p:nvSpPr>
        <p:spPr>
          <a:xfrm>
            <a:off x="24669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F1 · DeepSeek / GPT</a:t>
            </a:r>
          </a:p>
        </p:txBody>
      </p:sp>
      <p:sp>
        <p:nvSpPr>
          <p:cNvPr id="11" name="Rectangle 10">
            <a:extLst>
              <a:ext uri="{FF2B5EF4-FFF2-40B4-BE49-F238E27FC236}">
                <a16:creationId xmlns:a16="http://schemas.microsoft.com/office/drawing/2014/main" id="{E2A9EF80-F130-41A9-B005-171851E21B0A}"/>
              </a:ext>
            </a:extLst>
          </p:cNvPr>
          <p:cNvSpPr>
            <a:spLocks noGrp="1"/>
          </p:cNvSpPr>
          <p:nvPr/>
        </p:nvSpPr>
        <p:spPr>
          <a:xfrm>
            <a:off x="4143375"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4F86C6"/>
                </a:solidFill>
                <a:latin typeface="Arial"/>
                <a:ea typeface="Arial"/>
                <a:cs typeface="Arial"/>
              </a:defRPr>
            </a:pPr>
            <a:r>
              <a:rPr sz="1500" b="1" i="0">
                <a:solidFill>
                  <a:srgbClr val="4F86C6"/>
                </a:solidFill>
                <a:latin typeface="Arial"/>
                <a:ea typeface="Arial"/>
                <a:cs typeface="Arial"/>
              </a:rPr>
              <a:t>3,42 / 3,07 M</a:t>
            </a:r>
          </a:p>
        </p:txBody>
      </p:sp>
      <p:sp>
        <p:nvSpPr>
          <p:cNvPr id="12" name="Rectangle 11">
            <a:extLst>
              <a:ext uri="{FF2B5EF4-FFF2-40B4-BE49-F238E27FC236}">
                <a16:creationId xmlns:a16="http://schemas.microsoft.com/office/drawing/2014/main" id="{7741351D-F43E-4126-9334-46E72FE1B3EF}"/>
              </a:ext>
            </a:extLst>
          </p:cNvPr>
          <p:cNvSpPr>
            <a:spLocks noGrp="1"/>
          </p:cNvSpPr>
          <p:nvPr/>
        </p:nvSpPr>
        <p:spPr>
          <a:xfrm>
            <a:off x="4143375"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dirty="0" err="1">
                <a:solidFill>
                  <a:srgbClr val="617080"/>
                </a:solidFill>
                <a:latin typeface="Arial"/>
                <a:ea typeface="Arial"/>
                <a:cs typeface="Arial"/>
              </a:rPr>
              <a:t>токени</a:t>
            </a:r>
            <a:r>
              <a:rPr sz="900" b="0" i="0" dirty="0">
                <a:solidFill>
                  <a:srgbClr val="617080"/>
                </a:solidFill>
                <a:latin typeface="Arial"/>
                <a:ea typeface="Arial"/>
                <a:cs typeface="Arial"/>
              </a:rPr>
              <a:t> · DeepSeek / GPT</a:t>
            </a:r>
          </a:p>
        </p:txBody>
      </p:sp>
      <p:sp>
        <p:nvSpPr>
          <p:cNvPr id="13" name="Rounded Rectangle 12">
            <a:extLst>
              <a:ext uri="{FF2B5EF4-FFF2-40B4-BE49-F238E27FC236}">
                <a16:creationId xmlns:a16="http://schemas.microsoft.com/office/drawing/2014/main" id="{363A3EB2-A9CF-49E0-A51A-F7925D4EE6B8}"/>
              </a:ext>
            </a:extLst>
          </p:cNvPr>
          <p:cNvSpPr>
            <a:spLocks noGrp="1"/>
          </p:cNvSpPr>
          <p:nvPr/>
        </p:nvSpPr>
        <p:spPr>
          <a:xfrm>
            <a:off x="6334125" y="4791075"/>
            <a:ext cx="5191125" cy="1333500"/>
          </a:xfrm>
          <a:prstGeom prst="roundRect">
            <a:avLst>
              <a:gd name="adj" fmla="val 10000"/>
            </a:avLst>
          </a:prstGeom>
          <a:solidFill>
            <a:srgbClr val="E8F5F3"/>
          </a:solidFill>
          <a:ln w="14288">
            <a:solidFill>
              <a:srgbClr val="398D84"/>
            </a:solidFill>
            <a:prstDash val="solid"/>
          </a:ln>
        </p:spPr>
        <p:txBody>
          <a:bodyPr/>
          <a:lstStyle/>
          <a:p>
            <a:endParaRPr lang="en-US"/>
          </a:p>
        </p:txBody>
      </p:sp>
      <p:sp>
        <p:nvSpPr>
          <p:cNvPr id="14" name="Rectangle 13">
            <a:extLst>
              <a:ext uri="{FF2B5EF4-FFF2-40B4-BE49-F238E27FC236}">
                <a16:creationId xmlns:a16="http://schemas.microsoft.com/office/drawing/2014/main" id="{5FA5216A-839A-41F2-9FCD-6125BC38CEE3}"/>
              </a:ext>
            </a:extLst>
          </p:cNvPr>
          <p:cNvSpPr>
            <a:spLocks noGrp="1"/>
          </p:cNvSpPr>
          <p:nvPr/>
        </p:nvSpPr>
        <p:spPr>
          <a:xfrm>
            <a:off x="6572250" y="4933950"/>
            <a:ext cx="4714875" cy="2857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Семантички PCST, λ=1</a:t>
            </a:r>
          </a:p>
        </p:txBody>
      </p:sp>
      <p:sp>
        <p:nvSpPr>
          <p:cNvPr id="15" name="Rectangle 14">
            <a:extLst>
              <a:ext uri="{FF2B5EF4-FFF2-40B4-BE49-F238E27FC236}">
                <a16:creationId xmlns:a16="http://schemas.microsoft.com/office/drawing/2014/main" id="{56E72E37-F983-4556-A1F6-1FF887208E85}"/>
              </a:ext>
            </a:extLst>
          </p:cNvPr>
          <p:cNvSpPr>
            <a:spLocks noGrp="1"/>
          </p:cNvSpPr>
          <p:nvPr/>
        </p:nvSpPr>
        <p:spPr>
          <a:xfrm>
            <a:off x="64579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0,689 / 0,728</a:t>
            </a:r>
          </a:p>
        </p:txBody>
      </p:sp>
      <p:sp>
        <p:nvSpPr>
          <p:cNvPr id="16" name="Rectangle 15">
            <a:extLst>
              <a:ext uri="{FF2B5EF4-FFF2-40B4-BE49-F238E27FC236}">
                <a16:creationId xmlns:a16="http://schemas.microsoft.com/office/drawing/2014/main" id="{E09A0ABF-C1F3-46F4-9235-AF36E5F82310}"/>
              </a:ext>
            </a:extLst>
          </p:cNvPr>
          <p:cNvSpPr>
            <a:spLocks noGrp="1"/>
          </p:cNvSpPr>
          <p:nvPr/>
        </p:nvSpPr>
        <p:spPr>
          <a:xfrm>
            <a:off x="64579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Hit · DeepSeek / GPT</a:t>
            </a:r>
          </a:p>
        </p:txBody>
      </p:sp>
      <p:sp>
        <p:nvSpPr>
          <p:cNvPr id="17" name="Rectangle 16">
            <a:extLst>
              <a:ext uri="{FF2B5EF4-FFF2-40B4-BE49-F238E27FC236}">
                <a16:creationId xmlns:a16="http://schemas.microsoft.com/office/drawing/2014/main" id="{BF36BC57-7632-4D6D-BB6E-F8FD540772E2}"/>
              </a:ext>
            </a:extLst>
          </p:cNvPr>
          <p:cNvSpPr>
            <a:spLocks noGrp="1"/>
          </p:cNvSpPr>
          <p:nvPr/>
        </p:nvSpPr>
        <p:spPr>
          <a:xfrm>
            <a:off x="81343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0,492 / 0,477</a:t>
            </a:r>
          </a:p>
        </p:txBody>
      </p:sp>
      <p:sp>
        <p:nvSpPr>
          <p:cNvPr id="18" name="Rectangle 17">
            <a:extLst>
              <a:ext uri="{FF2B5EF4-FFF2-40B4-BE49-F238E27FC236}">
                <a16:creationId xmlns:a16="http://schemas.microsoft.com/office/drawing/2014/main" id="{76ABFF4D-F7E0-40FB-ABF0-8036F8329BEB}"/>
              </a:ext>
            </a:extLst>
          </p:cNvPr>
          <p:cNvSpPr>
            <a:spLocks noGrp="1"/>
          </p:cNvSpPr>
          <p:nvPr/>
        </p:nvSpPr>
        <p:spPr>
          <a:xfrm>
            <a:off x="81343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a:solidFill>
                  <a:srgbClr val="617080"/>
                </a:solidFill>
                <a:latin typeface="Arial"/>
                <a:ea typeface="Arial"/>
                <a:cs typeface="Arial"/>
              </a:rPr>
              <a:t>F1 · DeepSeek / GPT</a:t>
            </a:r>
          </a:p>
        </p:txBody>
      </p:sp>
      <p:sp>
        <p:nvSpPr>
          <p:cNvPr id="19" name="Rectangle 18">
            <a:extLst>
              <a:ext uri="{FF2B5EF4-FFF2-40B4-BE49-F238E27FC236}">
                <a16:creationId xmlns:a16="http://schemas.microsoft.com/office/drawing/2014/main" id="{0EED459C-496A-43E6-936B-62CB172534ED}"/>
              </a:ext>
            </a:extLst>
          </p:cNvPr>
          <p:cNvSpPr>
            <a:spLocks noGrp="1"/>
          </p:cNvSpPr>
          <p:nvPr/>
        </p:nvSpPr>
        <p:spPr>
          <a:xfrm>
            <a:off x="9810750" y="5305425"/>
            <a:ext cx="1581150" cy="514350"/>
          </a:xfrm>
          <a:prstGeom prst="rect">
            <a:avLst/>
          </a:prstGeom>
          <a:noFill/>
          <a:ln w="0">
            <a:noFill/>
            <a:prstDash val="solid"/>
          </a:ln>
        </p:spPr>
        <p:txBody>
          <a:bodyPr wrap="square" lIns="38100" tIns="19050" rIns="38100" bIns="19050" anchor="ctr">
            <a:normAutofit/>
          </a:bodyPr>
          <a:lstStyle/>
          <a:p>
            <a:pPr algn="ctr">
              <a:defRPr sz="1500" b="1" i="0">
                <a:solidFill>
                  <a:srgbClr val="398D84"/>
                </a:solidFill>
                <a:latin typeface="Arial"/>
                <a:ea typeface="Arial"/>
                <a:cs typeface="Arial"/>
              </a:defRPr>
            </a:pPr>
            <a:r>
              <a:rPr sz="1500" b="1" i="0">
                <a:solidFill>
                  <a:srgbClr val="398D84"/>
                </a:solidFill>
                <a:latin typeface="Arial"/>
                <a:ea typeface="Arial"/>
                <a:cs typeface="Arial"/>
              </a:rPr>
              <a:t>0,69 / 0,66 M</a:t>
            </a:r>
          </a:p>
        </p:txBody>
      </p:sp>
      <p:sp>
        <p:nvSpPr>
          <p:cNvPr id="20" name="Rectangle 19">
            <a:extLst>
              <a:ext uri="{FF2B5EF4-FFF2-40B4-BE49-F238E27FC236}">
                <a16:creationId xmlns:a16="http://schemas.microsoft.com/office/drawing/2014/main" id="{CE28770A-CC0E-4D04-97BB-70744DDD2E11}"/>
              </a:ext>
            </a:extLst>
          </p:cNvPr>
          <p:cNvSpPr>
            <a:spLocks noGrp="1"/>
          </p:cNvSpPr>
          <p:nvPr/>
        </p:nvSpPr>
        <p:spPr>
          <a:xfrm>
            <a:off x="9810750" y="5762625"/>
            <a:ext cx="1581150" cy="400050"/>
          </a:xfrm>
          <a:prstGeom prst="rect">
            <a:avLst/>
          </a:prstGeom>
          <a:noFill/>
          <a:ln w="0">
            <a:noFill/>
            <a:prstDash val="solid"/>
          </a:ln>
        </p:spPr>
        <p:txBody>
          <a:bodyPr wrap="square" lIns="38100" tIns="19050" rIns="38100" bIns="19050" anchor="t">
            <a:normAutofit/>
          </a:bodyPr>
          <a:lstStyle/>
          <a:p>
            <a:pPr algn="ctr">
              <a:defRPr sz="900" b="0" i="0">
                <a:solidFill>
                  <a:srgbClr val="617080"/>
                </a:solidFill>
                <a:latin typeface="Arial"/>
                <a:ea typeface="Arial"/>
                <a:cs typeface="Arial"/>
              </a:defRPr>
            </a:pPr>
            <a:r>
              <a:rPr sz="900" b="0" i="0" dirty="0" err="1">
                <a:solidFill>
                  <a:srgbClr val="617080"/>
                </a:solidFill>
                <a:latin typeface="Arial"/>
                <a:ea typeface="Arial"/>
                <a:cs typeface="Arial"/>
              </a:rPr>
              <a:t>токени</a:t>
            </a:r>
            <a:r>
              <a:rPr sz="900" b="0" i="0" dirty="0">
                <a:solidFill>
                  <a:srgbClr val="617080"/>
                </a:solidFill>
                <a:latin typeface="Arial"/>
                <a:ea typeface="Arial"/>
                <a:cs typeface="Arial"/>
              </a:rPr>
              <a:t> · 78–80% </a:t>
            </a:r>
            <a:r>
              <a:rPr sz="900" b="0" i="0" dirty="0" err="1">
                <a:solidFill>
                  <a:srgbClr val="617080"/>
                </a:solidFill>
                <a:latin typeface="Arial"/>
                <a:ea typeface="Arial"/>
                <a:cs typeface="Arial"/>
              </a:rPr>
              <a:t>помалку</a:t>
            </a:r>
            <a:endParaRPr sz="900" b="0" i="0" dirty="0">
              <a:solidFill>
                <a:srgbClr val="617080"/>
              </a:solidFill>
              <a:latin typeface="Arial"/>
              <a:ea typeface="Arial"/>
              <a:cs typeface="Arial"/>
            </a:endParaRPr>
          </a:p>
        </p:txBody>
      </p:sp>
    </p:spTree>
    <p:extLst>
      <p:ext uri="{BB962C8B-B14F-4D97-AF65-F5344CB8AC3E}">
        <p14:creationId xmlns:p14="http://schemas.microsoft.com/office/powerpoint/2010/main" val="918940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EABAACA-A7A8-470E-B2A7-257FDC1AFC0D}"/>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Каде се губи информацијата?</a:t>
            </a:r>
          </a:p>
        </p:txBody>
      </p:sp>
      <p:sp>
        <p:nvSpPr>
          <p:cNvPr id="2" name="Rectangle 1">
            <a:extLst>
              <a:ext uri="{FF2B5EF4-FFF2-40B4-BE49-F238E27FC236}">
                <a16:creationId xmlns:a16="http://schemas.microsoft.com/office/drawing/2014/main" id="{9E1A01AF-5E90-4186-8B5A-5D7B908C0CF5}"/>
              </a:ext>
            </a:extLst>
          </p:cNvPr>
          <p:cNvSpPr>
            <a:spLocks noGrp="1"/>
          </p:cNvSpPr>
          <p:nvPr/>
        </p:nvSpPr>
        <p:spPr>
          <a:xfrm>
            <a:off x="552450" y="781050"/>
            <a:ext cx="11087100" cy="38100"/>
          </a:xfrm>
          <a:prstGeom prst="rect">
            <a:avLst/>
          </a:prstGeom>
          <a:solidFill>
            <a:srgbClr val="8064A2"/>
          </a:solidFill>
          <a:ln w="0">
            <a:noFill/>
            <a:prstDash val="solid"/>
          </a:ln>
        </p:spPr>
        <p:txBody>
          <a:bodyPr/>
          <a:lstStyle/>
          <a:p>
            <a:endParaRPr lang="en-US"/>
          </a:p>
        </p:txBody>
      </p:sp>
      <p:sp>
        <p:nvSpPr>
          <p:cNvPr id="3" name="Rectangle 2">
            <a:extLst>
              <a:ext uri="{FF2B5EF4-FFF2-40B4-BE49-F238E27FC236}">
                <a16:creationId xmlns:a16="http://schemas.microsoft.com/office/drawing/2014/main" id="{868CF4A9-3BA6-4262-AA76-D409909B72A6}"/>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19</a:t>
            </a:r>
          </a:p>
        </p:txBody>
      </p:sp>
      <p:pic>
        <p:nvPicPr>
          <p:cNvPr id="17" name="Picture 16"/>
          <p:cNvPicPr>
            <a:picLocks noChangeAspect="1"/>
          </p:cNvPicPr>
          <p:nvPr/>
        </p:nvPicPr>
        <p:blipFill>
          <a:blip r:embed="rId3"/>
          <a:stretch/>
        </p:blipFill>
        <p:spPr>
          <a:xfrm>
            <a:off x="333375" y="1006488"/>
            <a:ext cx="11525250" cy="4130650"/>
          </a:xfrm>
          <a:prstGeom prst="rect">
            <a:avLst/>
          </a:prstGeom>
        </p:spPr>
      </p:pic>
      <p:sp>
        <p:nvSpPr>
          <p:cNvPr id="5" name="Rectangle 4">
            <a:extLst>
              <a:ext uri="{FF2B5EF4-FFF2-40B4-BE49-F238E27FC236}">
                <a16:creationId xmlns:a16="http://schemas.microsoft.com/office/drawing/2014/main" id="{7070C766-2E59-493B-80B6-E391F9DFBD1D}"/>
              </a:ext>
            </a:extLst>
          </p:cNvPr>
          <p:cNvSpPr>
            <a:spLocks noGrp="1"/>
          </p:cNvSpPr>
          <p:nvPr/>
        </p:nvSpPr>
        <p:spPr>
          <a:xfrm>
            <a:off x="523875"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0,877</a:t>
            </a:r>
          </a:p>
        </p:txBody>
      </p:sp>
      <p:sp>
        <p:nvSpPr>
          <p:cNvPr id="6" name="Rectangle 5">
            <a:extLst>
              <a:ext uri="{FF2B5EF4-FFF2-40B4-BE49-F238E27FC236}">
                <a16:creationId xmlns:a16="http://schemas.microsoft.com/office/drawing/2014/main" id="{59057453-0A05-4313-A079-1B090ED351B5}"/>
              </a:ext>
            </a:extLst>
          </p:cNvPr>
          <p:cNvSpPr>
            <a:spLocks noGrp="1"/>
          </p:cNvSpPr>
          <p:nvPr/>
        </p:nvSpPr>
        <p:spPr>
          <a:xfrm>
            <a:off x="523875"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RetrievalGoldCoverage</a:t>
            </a:r>
            <a:endParaRPr lang="mk-MK" sz="1050" b="0" i="0" dirty="0">
              <a:solidFill>
                <a:srgbClr val="617080"/>
              </a:solidFill>
              <a:latin typeface="Arial"/>
              <a:ea typeface="Arial"/>
              <a:cs typeface="Arial"/>
            </a:endParaRPr>
          </a:p>
          <a:p>
            <a:pPr algn="ctr">
              <a:defRPr sz="1050" b="0" i="0">
                <a:solidFill>
                  <a:srgbClr val="617080"/>
                </a:solidFill>
                <a:latin typeface="Arial"/>
                <a:ea typeface="Arial"/>
                <a:cs typeface="Arial"/>
              </a:defRPr>
            </a:pPr>
            <a:r>
              <a:rPr lang="en-US" sz="1050" b="0" i="0" dirty="0" err="1">
                <a:solidFill>
                  <a:srgbClr val="617080"/>
                </a:solidFill>
                <a:latin typeface="Arial"/>
                <a:ea typeface="Arial"/>
                <a:cs typeface="Arial"/>
              </a:rPr>
              <a:t>NBFNet</a:t>
            </a:r>
            <a:endParaRPr sz="1050" b="0" i="0" dirty="0">
              <a:solidFill>
                <a:srgbClr val="617080"/>
              </a:solidFill>
              <a:latin typeface="Arial"/>
              <a:ea typeface="Arial"/>
              <a:cs typeface="Arial"/>
            </a:endParaRPr>
          </a:p>
        </p:txBody>
      </p:sp>
      <p:sp>
        <p:nvSpPr>
          <p:cNvPr id="7" name="Rectangle 6">
            <a:extLst>
              <a:ext uri="{FF2B5EF4-FFF2-40B4-BE49-F238E27FC236}">
                <a16:creationId xmlns:a16="http://schemas.microsoft.com/office/drawing/2014/main" id="{7F71800B-E6AE-40FC-AF17-25D547A8CC1C}"/>
              </a:ext>
            </a:extLst>
          </p:cNvPr>
          <p:cNvSpPr>
            <a:spLocks noGrp="1"/>
          </p:cNvSpPr>
          <p:nvPr/>
        </p:nvSpPr>
        <p:spPr>
          <a:xfrm>
            <a:off x="3429000"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398D84"/>
                </a:solidFill>
                <a:latin typeface="Arial"/>
                <a:ea typeface="Arial"/>
                <a:cs typeface="Arial"/>
              </a:defRPr>
            </a:pPr>
            <a:r>
              <a:rPr sz="2100" b="1" i="0" dirty="0">
                <a:solidFill>
                  <a:srgbClr val="398D84"/>
                </a:solidFill>
                <a:latin typeface="Arial"/>
                <a:ea typeface="Arial"/>
                <a:cs typeface="Arial"/>
              </a:rPr>
              <a:t>0,888</a:t>
            </a:r>
            <a:r>
              <a:rPr lang="mk-MK" sz="2100" b="1" i="0" dirty="0">
                <a:solidFill>
                  <a:srgbClr val="398D84"/>
                </a:solidFill>
                <a:latin typeface="Arial"/>
                <a:ea typeface="Arial"/>
                <a:cs typeface="Arial"/>
              </a:rPr>
              <a:t> / </a:t>
            </a:r>
            <a:r>
              <a:rPr lang="en-US" sz="2100" b="1" dirty="0">
                <a:solidFill>
                  <a:srgbClr val="398D84"/>
                </a:solidFill>
                <a:latin typeface="Arial"/>
                <a:ea typeface="Arial"/>
                <a:cs typeface="Arial"/>
              </a:rPr>
              <a:t>0,88</a:t>
            </a:r>
            <a:r>
              <a:rPr lang="mk-MK" sz="2100" b="1" dirty="0">
                <a:solidFill>
                  <a:srgbClr val="398D84"/>
                </a:solidFill>
                <a:latin typeface="Arial"/>
                <a:ea typeface="Arial"/>
                <a:cs typeface="Arial"/>
              </a:rPr>
              <a:t>1</a:t>
            </a:r>
            <a:endParaRPr sz="2100" b="1" i="0" dirty="0">
              <a:solidFill>
                <a:srgbClr val="398D84"/>
              </a:solidFill>
              <a:latin typeface="Arial"/>
              <a:ea typeface="Arial"/>
              <a:cs typeface="Arial"/>
            </a:endParaRPr>
          </a:p>
        </p:txBody>
      </p:sp>
      <p:sp>
        <p:nvSpPr>
          <p:cNvPr id="8" name="Rectangle 7">
            <a:extLst>
              <a:ext uri="{FF2B5EF4-FFF2-40B4-BE49-F238E27FC236}">
                <a16:creationId xmlns:a16="http://schemas.microsoft.com/office/drawing/2014/main" id="{46A7BA6F-BFFF-4FA6-A9A9-7CE6FCB7C92E}"/>
              </a:ext>
            </a:extLst>
          </p:cNvPr>
          <p:cNvSpPr>
            <a:spLocks noGrp="1"/>
          </p:cNvSpPr>
          <p:nvPr/>
        </p:nvSpPr>
        <p:spPr>
          <a:xfrm>
            <a:off x="3429000"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ContextGoldCoverage</a:t>
            </a:r>
            <a:endParaRPr sz="1050" b="0" i="0" dirty="0">
              <a:solidFill>
                <a:srgbClr val="617080"/>
              </a:solidFill>
              <a:latin typeface="Arial"/>
              <a:ea typeface="Arial"/>
              <a:cs typeface="Arial"/>
            </a:endParaRP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r>
              <a:rPr lang="mk-MK" sz="1050" b="0" i="0" dirty="0">
                <a:solidFill>
                  <a:srgbClr val="617080"/>
                </a:solidFill>
                <a:latin typeface="Arial"/>
                <a:ea typeface="Arial"/>
                <a:cs typeface="Arial"/>
              </a:rPr>
              <a:t> </a:t>
            </a:r>
            <a:r>
              <a:rPr lang="en-US" sz="1050" dirty="0">
                <a:solidFill>
                  <a:srgbClr val="617080"/>
                </a:solidFill>
                <a:latin typeface="Arial"/>
                <a:ea typeface="Arial"/>
                <a:cs typeface="Arial"/>
              </a:rPr>
              <a:t>·</a:t>
            </a:r>
            <a:r>
              <a:rPr lang="mk-MK" sz="1050" dirty="0">
                <a:solidFill>
                  <a:srgbClr val="617080"/>
                </a:solidFill>
                <a:latin typeface="Arial"/>
                <a:ea typeface="Arial"/>
                <a:cs typeface="Arial"/>
              </a:rPr>
              <a:t> </a:t>
            </a:r>
            <a:r>
              <a:rPr lang="en-US" sz="1050" dirty="0">
                <a:solidFill>
                  <a:srgbClr val="617080"/>
                </a:solidFill>
                <a:latin typeface="Arial"/>
                <a:ea typeface="Arial"/>
                <a:cs typeface="Arial"/>
              </a:rPr>
              <a:t>PCST</a:t>
            </a:r>
            <a:endParaRPr sz="1050" b="0" i="0" dirty="0">
              <a:solidFill>
                <a:srgbClr val="617080"/>
              </a:solidFill>
              <a:latin typeface="Arial"/>
              <a:ea typeface="Arial"/>
              <a:cs typeface="Arial"/>
            </a:endParaRPr>
          </a:p>
        </p:txBody>
      </p:sp>
      <p:sp>
        <p:nvSpPr>
          <p:cNvPr id="9" name="Rectangle 8">
            <a:extLst>
              <a:ext uri="{FF2B5EF4-FFF2-40B4-BE49-F238E27FC236}">
                <a16:creationId xmlns:a16="http://schemas.microsoft.com/office/drawing/2014/main" id="{4558D7E1-8FD7-4768-86F7-252A15D807FA}"/>
              </a:ext>
            </a:extLst>
          </p:cNvPr>
          <p:cNvSpPr>
            <a:spLocks noGrp="1"/>
          </p:cNvSpPr>
          <p:nvPr/>
        </p:nvSpPr>
        <p:spPr>
          <a:xfrm>
            <a:off x="6334125" y="5191125"/>
            <a:ext cx="2667000" cy="514350"/>
          </a:xfrm>
          <a:prstGeom prst="rect">
            <a:avLst/>
          </a:prstGeom>
          <a:noFill/>
          <a:ln w="0">
            <a:noFill/>
            <a:prstDash val="solid"/>
          </a:ln>
        </p:spPr>
        <p:txBody>
          <a:bodyPr wrap="square" lIns="38100" tIns="19050" rIns="38100" bIns="19050" anchor="ctr">
            <a:normAutofit/>
          </a:bodyPr>
          <a:lstStyle/>
          <a:p>
            <a:pPr algn="ctr">
              <a:defRPr sz="1875" b="1" i="0">
                <a:solidFill>
                  <a:srgbClr val="8064A2"/>
                </a:solidFill>
                <a:latin typeface="Arial"/>
                <a:ea typeface="Arial"/>
                <a:cs typeface="Arial"/>
              </a:defRPr>
            </a:pPr>
            <a:r>
              <a:rPr sz="1875" b="1" i="0" dirty="0">
                <a:solidFill>
                  <a:srgbClr val="8064A2"/>
                </a:solidFill>
                <a:latin typeface="Arial"/>
                <a:ea typeface="Arial"/>
                <a:cs typeface="Arial"/>
              </a:rPr>
              <a:t>0,211 / 0,237</a:t>
            </a:r>
          </a:p>
        </p:txBody>
      </p:sp>
      <p:sp>
        <p:nvSpPr>
          <p:cNvPr id="10" name="Rectangle 9">
            <a:extLst>
              <a:ext uri="{FF2B5EF4-FFF2-40B4-BE49-F238E27FC236}">
                <a16:creationId xmlns:a16="http://schemas.microsoft.com/office/drawing/2014/main" id="{DC3F3F94-C352-4D74-A322-FBA2A7E850A7}"/>
              </a:ext>
            </a:extLst>
          </p:cNvPr>
          <p:cNvSpPr>
            <a:spLocks noGrp="1"/>
          </p:cNvSpPr>
          <p:nvPr/>
        </p:nvSpPr>
        <p:spPr>
          <a:xfrm>
            <a:off x="6334125"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a:solidFill>
                  <a:srgbClr val="617080"/>
                </a:solidFill>
                <a:latin typeface="Arial"/>
                <a:ea typeface="Arial"/>
                <a:cs typeface="Arial"/>
              </a:rPr>
              <a:t>LLM omission · DeepSeek / GPT</a:t>
            </a: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најкратки</a:t>
            </a:r>
            <a:r>
              <a:rPr sz="1050" b="0" i="0" dirty="0">
                <a:solidFill>
                  <a:srgbClr val="617080"/>
                </a:solidFill>
                <a:latin typeface="Arial"/>
                <a:ea typeface="Arial"/>
                <a:cs typeface="Arial"/>
              </a:rPr>
              <a:t> </a:t>
            </a:r>
            <a:r>
              <a:rPr sz="1050" b="0" i="0" dirty="0" err="1">
                <a:solidFill>
                  <a:srgbClr val="617080"/>
                </a:solidFill>
                <a:latin typeface="Arial"/>
                <a:ea typeface="Arial"/>
                <a:cs typeface="Arial"/>
              </a:rPr>
              <a:t>патеки</a:t>
            </a:r>
            <a:endParaRPr sz="1050" b="0" i="0" dirty="0">
              <a:solidFill>
                <a:srgbClr val="617080"/>
              </a:solidFill>
              <a:latin typeface="Arial"/>
              <a:ea typeface="Arial"/>
              <a:cs typeface="Arial"/>
            </a:endParaRPr>
          </a:p>
        </p:txBody>
      </p:sp>
      <p:sp>
        <p:nvSpPr>
          <p:cNvPr id="11" name="Rectangle 10">
            <a:extLst>
              <a:ext uri="{FF2B5EF4-FFF2-40B4-BE49-F238E27FC236}">
                <a16:creationId xmlns:a16="http://schemas.microsoft.com/office/drawing/2014/main" id="{8E676485-5F60-4D5C-93A1-5097B34E3011}"/>
              </a:ext>
            </a:extLst>
          </p:cNvPr>
          <p:cNvSpPr>
            <a:spLocks noGrp="1"/>
          </p:cNvSpPr>
          <p:nvPr/>
        </p:nvSpPr>
        <p:spPr>
          <a:xfrm>
            <a:off x="9239250" y="5191125"/>
            <a:ext cx="2667000" cy="514350"/>
          </a:xfrm>
          <a:prstGeom prst="rect">
            <a:avLst/>
          </a:prstGeom>
          <a:noFill/>
          <a:ln w="0">
            <a:noFill/>
            <a:prstDash val="solid"/>
          </a:ln>
        </p:spPr>
        <p:txBody>
          <a:bodyPr wrap="square" lIns="38100" tIns="19050" rIns="38100" bIns="19050" anchor="ctr">
            <a:normAutofit/>
          </a:bodyPr>
          <a:lstStyle/>
          <a:p>
            <a:pPr algn="ctr">
              <a:defRPr sz="2100" b="1" i="0">
                <a:solidFill>
                  <a:srgbClr val="4E9B69"/>
                </a:solidFill>
                <a:latin typeface="Arial"/>
                <a:ea typeface="Arial"/>
                <a:cs typeface="Arial"/>
              </a:defRPr>
            </a:pPr>
            <a:r>
              <a:rPr sz="2100" b="1" i="0">
                <a:solidFill>
                  <a:srgbClr val="4E9B69"/>
                </a:solidFill>
                <a:latin typeface="Arial"/>
                <a:ea typeface="Arial"/>
                <a:cs typeface="Arial"/>
              </a:rPr>
              <a:t>≈ 0,477 / 0,477</a:t>
            </a:r>
          </a:p>
        </p:txBody>
      </p:sp>
      <p:sp>
        <p:nvSpPr>
          <p:cNvPr id="12" name="Rectangle 11">
            <a:extLst>
              <a:ext uri="{FF2B5EF4-FFF2-40B4-BE49-F238E27FC236}">
                <a16:creationId xmlns:a16="http://schemas.microsoft.com/office/drawing/2014/main" id="{0F27C378-67A7-464B-B7C6-9E8233823801}"/>
              </a:ext>
            </a:extLst>
          </p:cNvPr>
          <p:cNvSpPr>
            <a:spLocks noGrp="1"/>
          </p:cNvSpPr>
          <p:nvPr/>
        </p:nvSpPr>
        <p:spPr>
          <a:xfrm>
            <a:off x="9239250" y="5648325"/>
            <a:ext cx="2667000" cy="457200"/>
          </a:xfrm>
          <a:prstGeom prst="rect">
            <a:avLst/>
          </a:prstGeom>
          <a:noFill/>
          <a:ln w="0">
            <a:noFill/>
            <a:prstDash val="solid"/>
          </a:ln>
        </p:spPr>
        <p:txBody>
          <a:bodyPr wrap="square" lIns="38100" tIns="19050" rIns="38100" bIns="19050" anchor="t">
            <a:normAutofit/>
          </a:bodyPr>
          <a:lstStyle/>
          <a:p>
            <a:pPr algn="ctr">
              <a:defRPr sz="1050" b="0" i="0">
                <a:solidFill>
                  <a:srgbClr val="617080"/>
                </a:solidFill>
                <a:latin typeface="Arial"/>
                <a:ea typeface="Arial"/>
                <a:cs typeface="Arial"/>
              </a:defRPr>
            </a:pPr>
            <a:r>
              <a:rPr sz="1050" b="0" i="0" dirty="0">
                <a:solidFill>
                  <a:srgbClr val="617080"/>
                </a:solidFill>
                <a:latin typeface="Arial"/>
                <a:ea typeface="Arial"/>
                <a:cs typeface="Arial"/>
              </a:rPr>
              <a:t>LLM omission · DeepSeek / GPT</a:t>
            </a:r>
          </a:p>
          <a:p>
            <a:pPr algn="ctr">
              <a:defRPr sz="1050" b="0" i="0">
                <a:solidFill>
                  <a:srgbClr val="617080"/>
                </a:solidFill>
                <a:latin typeface="Arial"/>
                <a:ea typeface="Arial"/>
                <a:cs typeface="Arial"/>
              </a:defRPr>
            </a:pPr>
            <a:r>
              <a:rPr sz="1050" b="0" i="0" dirty="0" err="1">
                <a:solidFill>
                  <a:srgbClr val="617080"/>
                </a:solidFill>
                <a:latin typeface="Arial"/>
                <a:ea typeface="Arial"/>
                <a:cs typeface="Arial"/>
              </a:rPr>
              <a:t>семантички</a:t>
            </a:r>
            <a:r>
              <a:rPr sz="1050" b="0" i="0" dirty="0">
                <a:solidFill>
                  <a:srgbClr val="617080"/>
                </a:solidFill>
                <a:latin typeface="Arial"/>
                <a:ea typeface="Arial"/>
                <a:cs typeface="Arial"/>
              </a:rPr>
              <a:t> PCST</a:t>
            </a:r>
          </a:p>
        </p:txBody>
      </p:sp>
      <p:sp>
        <p:nvSpPr>
          <p:cNvPr id="13" name="Rectangle 12">
            <a:extLst>
              <a:ext uri="{FF2B5EF4-FFF2-40B4-BE49-F238E27FC236}">
                <a16:creationId xmlns:a16="http://schemas.microsoft.com/office/drawing/2014/main" id="{2CEDC55F-9C63-4911-A16F-8764B237CF25}"/>
              </a:ext>
            </a:extLst>
          </p:cNvPr>
          <p:cNvSpPr>
            <a:spLocks noGrp="1"/>
          </p:cNvSpPr>
          <p:nvPr/>
        </p:nvSpPr>
        <p:spPr>
          <a:xfrm>
            <a:off x="1000125" y="6162675"/>
            <a:ext cx="10191750" cy="342900"/>
          </a:xfrm>
          <a:prstGeom prst="rect">
            <a:avLst/>
          </a:prstGeom>
          <a:noFill/>
          <a:ln w="0">
            <a:noFill/>
            <a:prstDash val="solid"/>
          </a:ln>
        </p:spPr>
        <p:txBody>
          <a:bodyPr wrap="square" lIns="38100" tIns="19050" rIns="38100" bIns="19050" anchor="ctr">
            <a:normAutofit fontScale="99069"/>
          </a:bodyPr>
          <a:lstStyle/>
          <a:p>
            <a:pPr algn="ctr">
              <a:defRPr sz="1350" b="1" i="0">
                <a:solidFill>
                  <a:srgbClr val="263746"/>
                </a:solidFill>
                <a:latin typeface="Arial"/>
                <a:ea typeface="Arial"/>
                <a:cs typeface="Arial"/>
              </a:defRPr>
            </a:pPr>
            <a:r>
              <a:rPr sz="1350" b="1" i="0" dirty="0" err="1">
                <a:solidFill>
                  <a:srgbClr val="263746"/>
                </a:solidFill>
                <a:latin typeface="Arial"/>
                <a:ea typeface="Arial"/>
                <a:cs typeface="Arial"/>
              </a:rPr>
              <a:t>Присуството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на</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точниот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ентитет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не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доволно</a:t>
            </a:r>
            <a:r>
              <a:rPr sz="1350" b="1" i="0" dirty="0">
                <a:solidFill>
                  <a:srgbClr val="263746"/>
                </a:solidFill>
                <a:latin typeface="Arial"/>
                <a:ea typeface="Arial"/>
                <a:cs typeface="Arial"/>
              </a:rPr>
              <a:t> </a:t>
            </a:r>
            <a:r>
              <a:rPr lang="en-US" sz="1350" b="1" i="0" dirty="0">
                <a:solidFill>
                  <a:srgbClr val="263746"/>
                </a:solidFill>
                <a:latin typeface="Arial"/>
                <a:ea typeface="Arial"/>
                <a:cs typeface="Arial"/>
              </a:rPr>
              <a:t>— </a:t>
            </a:r>
            <a:r>
              <a:rPr sz="1350" b="1" i="0" dirty="0" err="1">
                <a:solidFill>
                  <a:srgbClr val="263746"/>
                </a:solidFill>
                <a:latin typeface="Arial"/>
                <a:ea typeface="Arial"/>
                <a:cs typeface="Arial"/>
              </a:rPr>
              <a:t>потребни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се</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јасни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релациски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тројки</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што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го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поврзуваат</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со</a:t>
            </a:r>
            <a:r>
              <a:rPr sz="1350" b="1" i="0" dirty="0">
                <a:solidFill>
                  <a:srgbClr val="263746"/>
                </a:solidFill>
                <a:latin typeface="Arial"/>
                <a:ea typeface="Arial"/>
                <a:cs typeface="Arial"/>
              </a:rPr>
              <a:t> </a:t>
            </a:r>
            <a:r>
              <a:rPr sz="1350" b="1" i="0" dirty="0" err="1">
                <a:solidFill>
                  <a:srgbClr val="263746"/>
                </a:solidFill>
                <a:latin typeface="Arial"/>
                <a:ea typeface="Arial"/>
                <a:cs typeface="Arial"/>
              </a:rPr>
              <a:t>прашањето</a:t>
            </a:r>
            <a:r>
              <a:rPr sz="1350" b="1" i="0" dirty="0">
                <a:solidFill>
                  <a:srgbClr val="263746"/>
                </a:solidFill>
                <a:latin typeface="Arial"/>
                <a:ea typeface="Arial"/>
                <a:cs typeface="Arial"/>
              </a:rPr>
              <a:t>.</a:t>
            </a:r>
          </a:p>
        </p:txBody>
      </p:sp>
    </p:spTree>
    <p:extLst>
      <p:ext uri="{BB962C8B-B14F-4D97-AF65-F5344CB8AC3E}">
        <p14:creationId xmlns:p14="http://schemas.microsoft.com/office/powerpoint/2010/main" val="125092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AE84ED9-AFAC-4C01-9B7D-EF8D644FE2F7}"/>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Заклучоци</a:t>
            </a:r>
          </a:p>
        </p:txBody>
      </p:sp>
      <p:sp>
        <p:nvSpPr>
          <p:cNvPr id="2" name="Rectangle 1">
            <a:extLst>
              <a:ext uri="{FF2B5EF4-FFF2-40B4-BE49-F238E27FC236}">
                <a16:creationId xmlns:a16="http://schemas.microsoft.com/office/drawing/2014/main" id="{BA04C07C-361B-4446-9C05-9AFC9CA1CFC8}"/>
              </a:ext>
            </a:extLst>
          </p:cNvPr>
          <p:cNvSpPr>
            <a:spLocks noGrp="1"/>
          </p:cNvSpPr>
          <p:nvPr/>
        </p:nvSpPr>
        <p:spPr>
          <a:xfrm>
            <a:off x="552450" y="781050"/>
            <a:ext cx="11087100" cy="38100"/>
          </a:xfrm>
          <a:prstGeom prst="rect">
            <a:avLst/>
          </a:prstGeom>
          <a:solidFill>
            <a:srgbClr val="4E9B69"/>
          </a:solidFill>
          <a:ln w="0">
            <a:noFill/>
            <a:prstDash val="solid"/>
          </a:ln>
        </p:spPr>
        <p:txBody>
          <a:bodyPr/>
          <a:lstStyle/>
          <a:p>
            <a:endParaRPr lang="en-US"/>
          </a:p>
        </p:txBody>
      </p:sp>
      <p:sp>
        <p:nvSpPr>
          <p:cNvPr id="3" name="Rectangle 2">
            <a:extLst>
              <a:ext uri="{FF2B5EF4-FFF2-40B4-BE49-F238E27FC236}">
                <a16:creationId xmlns:a16="http://schemas.microsoft.com/office/drawing/2014/main" id="{C9B8FD3F-FD3A-4A1B-9348-A4EC49E522AE}"/>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20</a:t>
            </a:r>
          </a:p>
        </p:txBody>
      </p:sp>
      <p:sp>
        <p:nvSpPr>
          <p:cNvPr id="4" name="Rounded Rectangle 3">
            <a:extLst>
              <a:ext uri="{FF2B5EF4-FFF2-40B4-BE49-F238E27FC236}">
                <a16:creationId xmlns:a16="http://schemas.microsoft.com/office/drawing/2014/main" id="{44DE2065-3D84-48D5-B11A-30D6A8482F1C}"/>
              </a:ext>
            </a:extLst>
          </p:cNvPr>
          <p:cNvSpPr>
            <a:spLocks noGrp="1"/>
          </p:cNvSpPr>
          <p:nvPr/>
        </p:nvSpPr>
        <p:spPr>
          <a:xfrm>
            <a:off x="762000" y="1143000"/>
            <a:ext cx="10668000" cy="1285875"/>
          </a:xfrm>
          <a:prstGeom prst="roundRect">
            <a:avLst>
              <a:gd name="adj" fmla="val 10370"/>
            </a:avLst>
          </a:prstGeom>
          <a:solidFill>
            <a:srgbClr val="FBEDE5"/>
          </a:solidFill>
          <a:ln w="15240">
            <a:solidFill>
              <a:srgbClr val="D97942"/>
            </a:solidFill>
            <a:prstDash val="solid"/>
          </a:ln>
        </p:spPr>
        <p:txBody>
          <a:bodyPr/>
          <a:lstStyle/>
          <a:p>
            <a:endParaRPr lang="en-US"/>
          </a:p>
        </p:txBody>
      </p:sp>
      <p:sp>
        <p:nvSpPr>
          <p:cNvPr id="5" name="Oval 4">
            <a:extLst>
              <a:ext uri="{FF2B5EF4-FFF2-40B4-BE49-F238E27FC236}">
                <a16:creationId xmlns:a16="http://schemas.microsoft.com/office/drawing/2014/main" id="{67D4981A-2004-43BD-99D8-6B13CFE147D2}"/>
              </a:ext>
            </a:extLst>
          </p:cNvPr>
          <p:cNvSpPr>
            <a:spLocks noGrp="1"/>
          </p:cNvSpPr>
          <p:nvPr/>
        </p:nvSpPr>
        <p:spPr>
          <a:xfrm>
            <a:off x="1028700" y="1409700"/>
            <a:ext cx="742950" cy="742950"/>
          </a:xfrm>
          <a:prstGeom prst="ellipse">
            <a:avLst/>
          </a:prstGeom>
          <a:solidFill>
            <a:srgbClr val="FFFFFF"/>
          </a:solidFill>
          <a:ln w="23813">
            <a:solidFill>
              <a:srgbClr val="D97942"/>
            </a:solidFill>
            <a:prstDash val="solid"/>
          </a:ln>
        </p:spPr>
        <p:txBody>
          <a:bodyPr/>
          <a:lstStyle/>
          <a:p>
            <a:endParaRPr lang="en-US"/>
          </a:p>
        </p:txBody>
      </p:sp>
      <p:sp>
        <p:nvSpPr>
          <p:cNvPr id="6" name="Rectangle 5">
            <a:extLst>
              <a:ext uri="{FF2B5EF4-FFF2-40B4-BE49-F238E27FC236}">
                <a16:creationId xmlns:a16="http://schemas.microsoft.com/office/drawing/2014/main" id="{D13DEDCE-B812-4408-BD7C-B6CA35919920}"/>
              </a:ext>
            </a:extLst>
          </p:cNvPr>
          <p:cNvSpPr>
            <a:spLocks noGrp="1"/>
          </p:cNvSpPr>
          <p:nvPr/>
        </p:nvSpPr>
        <p:spPr>
          <a:xfrm>
            <a:off x="1028700" y="142875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D97942"/>
                </a:solidFill>
                <a:latin typeface="Arial"/>
                <a:ea typeface="Arial"/>
                <a:cs typeface="Arial"/>
              </a:defRPr>
            </a:pPr>
            <a:r>
              <a:rPr sz="2100" b="1" i="0">
                <a:solidFill>
                  <a:srgbClr val="D97942"/>
                </a:solidFill>
                <a:latin typeface="Arial"/>
                <a:ea typeface="Arial"/>
                <a:cs typeface="Arial"/>
              </a:rPr>
              <a:t>1</a:t>
            </a:r>
          </a:p>
        </p:txBody>
      </p:sp>
      <p:sp>
        <p:nvSpPr>
          <p:cNvPr id="7" name="Rectangle 6">
            <a:extLst>
              <a:ext uri="{FF2B5EF4-FFF2-40B4-BE49-F238E27FC236}">
                <a16:creationId xmlns:a16="http://schemas.microsoft.com/office/drawing/2014/main" id="{D369C11A-8981-4ACE-A35F-10495C054059}"/>
              </a:ext>
            </a:extLst>
          </p:cNvPr>
          <p:cNvSpPr>
            <a:spLocks noGrp="1"/>
          </p:cNvSpPr>
          <p:nvPr/>
        </p:nvSpPr>
        <p:spPr>
          <a:xfrm>
            <a:off x="2095500" y="131445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D97942"/>
                </a:solidFill>
                <a:latin typeface="Arial"/>
                <a:ea typeface="Arial"/>
                <a:cs typeface="Arial"/>
              </a:defRPr>
            </a:pPr>
            <a:r>
              <a:rPr sz="1650" b="1" i="0">
                <a:solidFill>
                  <a:srgbClr val="D97942"/>
                </a:solidFill>
                <a:latin typeface="Arial"/>
                <a:ea typeface="Arial"/>
                <a:cs typeface="Arial"/>
              </a:rPr>
              <a:t>NBFNet е најуспешен и најстабилен пребарувач</a:t>
            </a:r>
          </a:p>
        </p:txBody>
      </p:sp>
      <p:sp>
        <p:nvSpPr>
          <p:cNvPr id="8" name="Rectangle 7">
            <a:extLst>
              <a:ext uri="{FF2B5EF4-FFF2-40B4-BE49-F238E27FC236}">
                <a16:creationId xmlns:a16="http://schemas.microsoft.com/office/drawing/2014/main" id="{86F99CF1-4DDA-4023-960E-4FB092B44E61}"/>
              </a:ext>
            </a:extLst>
          </p:cNvPr>
          <p:cNvSpPr>
            <a:spLocks noGrp="1"/>
          </p:cNvSpPr>
          <p:nvPr/>
        </p:nvSpPr>
        <p:spPr>
          <a:xfrm>
            <a:off x="2095500" y="176212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sz="1350" b="0" i="0">
                <a:solidFill>
                  <a:srgbClr val="263746"/>
                </a:solidFill>
                <a:latin typeface="Arial"/>
                <a:ea typeface="Arial"/>
                <a:cs typeface="Arial"/>
              </a:rPr>
              <a:t>Hits@10 = 0,921 ± 0,005 · nDCG@10 = 0,796 ± 0,007</a:t>
            </a:r>
          </a:p>
        </p:txBody>
      </p:sp>
      <p:sp>
        <p:nvSpPr>
          <p:cNvPr id="9" name="Rounded Rectangle 8">
            <a:extLst>
              <a:ext uri="{FF2B5EF4-FFF2-40B4-BE49-F238E27FC236}">
                <a16:creationId xmlns:a16="http://schemas.microsoft.com/office/drawing/2014/main" id="{D0EE277D-C996-4F2D-ABA2-308E3B24B933}"/>
              </a:ext>
            </a:extLst>
          </p:cNvPr>
          <p:cNvSpPr>
            <a:spLocks noGrp="1"/>
          </p:cNvSpPr>
          <p:nvPr/>
        </p:nvSpPr>
        <p:spPr>
          <a:xfrm>
            <a:off x="762000" y="2762250"/>
            <a:ext cx="10668000" cy="1285875"/>
          </a:xfrm>
          <a:prstGeom prst="roundRect">
            <a:avLst>
              <a:gd name="adj" fmla="val 10370"/>
            </a:avLst>
          </a:prstGeom>
          <a:solidFill>
            <a:srgbClr val="E8F5F3"/>
          </a:solidFill>
          <a:ln w="15240">
            <a:solidFill>
              <a:srgbClr val="398D84"/>
            </a:solidFill>
            <a:prstDash val="solid"/>
          </a:ln>
        </p:spPr>
        <p:txBody>
          <a:bodyPr/>
          <a:lstStyle/>
          <a:p>
            <a:endParaRPr lang="en-US"/>
          </a:p>
        </p:txBody>
      </p:sp>
      <p:sp>
        <p:nvSpPr>
          <p:cNvPr id="10" name="Oval 9">
            <a:extLst>
              <a:ext uri="{FF2B5EF4-FFF2-40B4-BE49-F238E27FC236}">
                <a16:creationId xmlns:a16="http://schemas.microsoft.com/office/drawing/2014/main" id="{6542A5DC-4869-4031-81C3-D5BA47ACA414}"/>
              </a:ext>
            </a:extLst>
          </p:cNvPr>
          <p:cNvSpPr>
            <a:spLocks noGrp="1"/>
          </p:cNvSpPr>
          <p:nvPr/>
        </p:nvSpPr>
        <p:spPr>
          <a:xfrm>
            <a:off x="1028700" y="3028950"/>
            <a:ext cx="742950" cy="742950"/>
          </a:xfrm>
          <a:prstGeom prst="ellipse">
            <a:avLst/>
          </a:prstGeom>
          <a:solidFill>
            <a:srgbClr val="FFFFFF"/>
          </a:solidFill>
          <a:ln w="23813">
            <a:solidFill>
              <a:srgbClr val="398D84"/>
            </a:solidFill>
            <a:prstDash val="solid"/>
          </a:ln>
        </p:spPr>
        <p:txBody>
          <a:bodyPr/>
          <a:lstStyle/>
          <a:p>
            <a:endParaRPr lang="en-US"/>
          </a:p>
        </p:txBody>
      </p:sp>
      <p:sp>
        <p:nvSpPr>
          <p:cNvPr id="11" name="Rectangle 10">
            <a:extLst>
              <a:ext uri="{FF2B5EF4-FFF2-40B4-BE49-F238E27FC236}">
                <a16:creationId xmlns:a16="http://schemas.microsoft.com/office/drawing/2014/main" id="{7BD1B0BB-1E29-40C8-9B80-08CA84CE384D}"/>
              </a:ext>
            </a:extLst>
          </p:cNvPr>
          <p:cNvSpPr>
            <a:spLocks noGrp="1"/>
          </p:cNvSpPr>
          <p:nvPr/>
        </p:nvSpPr>
        <p:spPr>
          <a:xfrm>
            <a:off x="1028700" y="304800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398D84"/>
                </a:solidFill>
                <a:latin typeface="Arial"/>
                <a:ea typeface="Arial"/>
                <a:cs typeface="Arial"/>
              </a:defRPr>
            </a:pPr>
            <a:r>
              <a:rPr sz="2100" b="1" i="0">
                <a:solidFill>
                  <a:srgbClr val="398D84"/>
                </a:solidFill>
                <a:latin typeface="Arial"/>
                <a:ea typeface="Arial"/>
                <a:cs typeface="Arial"/>
              </a:rPr>
              <a:t>2</a:t>
            </a:r>
          </a:p>
        </p:txBody>
      </p:sp>
      <p:sp>
        <p:nvSpPr>
          <p:cNvPr id="12" name="Rectangle 11">
            <a:extLst>
              <a:ext uri="{FF2B5EF4-FFF2-40B4-BE49-F238E27FC236}">
                <a16:creationId xmlns:a16="http://schemas.microsoft.com/office/drawing/2014/main" id="{A806EB2C-C4EB-4E65-9368-A6A1B521792B}"/>
              </a:ext>
            </a:extLst>
          </p:cNvPr>
          <p:cNvSpPr>
            <a:spLocks noGrp="1"/>
          </p:cNvSpPr>
          <p:nvPr/>
        </p:nvSpPr>
        <p:spPr>
          <a:xfrm>
            <a:off x="2095500" y="293370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398D84"/>
                </a:solidFill>
                <a:latin typeface="Arial"/>
                <a:ea typeface="Arial"/>
                <a:cs typeface="Arial"/>
              </a:defRPr>
            </a:pPr>
            <a:r>
              <a:rPr sz="1650" b="1" i="0">
                <a:solidFill>
                  <a:srgbClr val="398D84"/>
                </a:solidFill>
                <a:latin typeface="Arial"/>
                <a:ea typeface="Arial"/>
                <a:cs typeface="Arial"/>
              </a:rPr>
              <a:t>Најкратките патеки го даваат највисокиот конечен квалитет</a:t>
            </a:r>
          </a:p>
        </p:txBody>
      </p:sp>
      <p:sp>
        <p:nvSpPr>
          <p:cNvPr id="13" name="Rectangle 12">
            <a:extLst>
              <a:ext uri="{FF2B5EF4-FFF2-40B4-BE49-F238E27FC236}">
                <a16:creationId xmlns:a16="http://schemas.microsoft.com/office/drawing/2014/main" id="{AD787FD6-4D7B-414D-B4B5-8F488C010F07}"/>
              </a:ext>
            </a:extLst>
          </p:cNvPr>
          <p:cNvSpPr>
            <a:spLocks noGrp="1"/>
          </p:cNvSpPr>
          <p:nvPr/>
        </p:nvSpPr>
        <p:spPr>
          <a:xfrm>
            <a:off x="2095500" y="338137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sz="1350" b="0" i="0" dirty="0" err="1">
                <a:solidFill>
                  <a:srgbClr val="263746"/>
                </a:solidFill>
                <a:latin typeface="Arial"/>
                <a:ea typeface="Arial"/>
                <a:cs typeface="Arial"/>
              </a:rPr>
              <a:t>Семантичкиот</a:t>
            </a:r>
            <a:r>
              <a:rPr sz="1350" b="0" i="0" dirty="0">
                <a:solidFill>
                  <a:srgbClr val="263746"/>
                </a:solidFill>
                <a:latin typeface="Arial"/>
                <a:ea typeface="Arial"/>
                <a:cs typeface="Arial"/>
              </a:rPr>
              <a:t> PCST </a:t>
            </a:r>
            <a:r>
              <a:rPr sz="1350" b="0" i="0" dirty="0" err="1">
                <a:solidFill>
                  <a:srgbClr val="263746"/>
                </a:solidFill>
                <a:latin typeface="Arial"/>
                <a:ea typeface="Arial"/>
                <a:cs typeface="Arial"/>
              </a:rPr>
              <a:t>создава</a:t>
            </a:r>
            <a:r>
              <a:rPr sz="1350" b="0" i="0" dirty="0">
                <a:solidFill>
                  <a:srgbClr val="263746"/>
                </a:solidFill>
                <a:latin typeface="Arial"/>
                <a:ea typeface="Arial"/>
                <a:cs typeface="Arial"/>
              </a:rPr>
              <a:t> ≈</a:t>
            </a:r>
            <a:r>
              <a:rPr lang="en-US" sz="1350" b="0" i="0" dirty="0">
                <a:solidFill>
                  <a:srgbClr val="263746"/>
                </a:solidFill>
                <a:latin typeface="Arial"/>
                <a:ea typeface="Arial"/>
                <a:cs typeface="Arial"/>
              </a:rPr>
              <a:t> </a:t>
            </a:r>
            <a:r>
              <a:rPr sz="1350" b="0" i="0" dirty="0">
                <a:solidFill>
                  <a:srgbClr val="263746"/>
                </a:solidFill>
                <a:latin typeface="Arial"/>
                <a:ea typeface="Arial"/>
                <a:cs typeface="Arial"/>
              </a:rPr>
              <a:t>85% </a:t>
            </a:r>
            <a:r>
              <a:rPr sz="1350" b="0" i="0" dirty="0" err="1">
                <a:solidFill>
                  <a:srgbClr val="263746"/>
                </a:solidFill>
                <a:latin typeface="Arial"/>
                <a:ea typeface="Arial"/>
                <a:cs typeface="Arial"/>
              </a:rPr>
              <a:t>помал</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контекст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подобар</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кога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компактноста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приоритет</a:t>
            </a:r>
            <a:r>
              <a:rPr sz="1350" b="0" i="0" dirty="0">
                <a:solidFill>
                  <a:srgbClr val="263746"/>
                </a:solidFill>
                <a:latin typeface="Arial"/>
                <a:ea typeface="Arial"/>
                <a:cs typeface="Arial"/>
              </a:rPr>
              <a:t>.</a:t>
            </a:r>
          </a:p>
        </p:txBody>
      </p:sp>
      <p:sp>
        <p:nvSpPr>
          <p:cNvPr id="14" name="Rounded Rectangle 13">
            <a:extLst>
              <a:ext uri="{FF2B5EF4-FFF2-40B4-BE49-F238E27FC236}">
                <a16:creationId xmlns:a16="http://schemas.microsoft.com/office/drawing/2014/main" id="{A708D3D0-2052-4CC6-9A8A-D14D23DF9D8D}"/>
              </a:ext>
            </a:extLst>
          </p:cNvPr>
          <p:cNvSpPr>
            <a:spLocks noGrp="1"/>
          </p:cNvSpPr>
          <p:nvPr/>
        </p:nvSpPr>
        <p:spPr>
          <a:xfrm>
            <a:off x="762000" y="4381500"/>
            <a:ext cx="10668000" cy="1285875"/>
          </a:xfrm>
          <a:prstGeom prst="roundRect">
            <a:avLst>
              <a:gd name="adj" fmla="val 10370"/>
            </a:avLst>
          </a:prstGeom>
          <a:solidFill>
            <a:srgbClr val="F1ECF7"/>
          </a:solidFill>
          <a:ln w="15240">
            <a:solidFill>
              <a:srgbClr val="8064A2"/>
            </a:solidFill>
            <a:prstDash val="solid"/>
          </a:ln>
        </p:spPr>
        <p:txBody>
          <a:bodyPr/>
          <a:lstStyle/>
          <a:p>
            <a:endParaRPr lang="en-US"/>
          </a:p>
        </p:txBody>
      </p:sp>
      <p:sp>
        <p:nvSpPr>
          <p:cNvPr id="15" name="Oval 14">
            <a:extLst>
              <a:ext uri="{FF2B5EF4-FFF2-40B4-BE49-F238E27FC236}">
                <a16:creationId xmlns:a16="http://schemas.microsoft.com/office/drawing/2014/main" id="{C8398315-35C0-4FFD-AA32-E75004AD0C27}"/>
              </a:ext>
            </a:extLst>
          </p:cNvPr>
          <p:cNvSpPr>
            <a:spLocks noGrp="1"/>
          </p:cNvSpPr>
          <p:nvPr/>
        </p:nvSpPr>
        <p:spPr>
          <a:xfrm>
            <a:off x="1028700" y="4648200"/>
            <a:ext cx="742950" cy="742950"/>
          </a:xfrm>
          <a:prstGeom prst="ellipse">
            <a:avLst/>
          </a:prstGeom>
          <a:solidFill>
            <a:srgbClr val="FFFFFF"/>
          </a:solidFill>
          <a:ln w="23813">
            <a:solidFill>
              <a:srgbClr val="8064A2"/>
            </a:solidFill>
            <a:prstDash val="solid"/>
          </a:ln>
        </p:spPr>
        <p:txBody>
          <a:bodyPr/>
          <a:lstStyle/>
          <a:p>
            <a:endParaRPr lang="en-US"/>
          </a:p>
        </p:txBody>
      </p:sp>
      <p:sp>
        <p:nvSpPr>
          <p:cNvPr id="16" name="Rectangle 15">
            <a:extLst>
              <a:ext uri="{FF2B5EF4-FFF2-40B4-BE49-F238E27FC236}">
                <a16:creationId xmlns:a16="http://schemas.microsoft.com/office/drawing/2014/main" id="{25D062D3-55DB-4BF1-812D-8A8024360666}"/>
              </a:ext>
            </a:extLst>
          </p:cNvPr>
          <p:cNvSpPr>
            <a:spLocks noGrp="1"/>
          </p:cNvSpPr>
          <p:nvPr/>
        </p:nvSpPr>
        <p:spPr>
          <a:xfrm>
            <a:off x="1028700" y="4667250"/>
            <a:ext cx="742950" cy="704850"/>
          </a:xfrm>
          <a:prstGeom prst="rect">
            <a:avLst/>
          </a:prstGeom>
          <a:noFill/>
          <a:ln w="0">
            <a:noFill/>
            <a:prstDash val="solid"/>
          </a:ln>
        </p:spPr>
        <p:txBody>
          <a:bodyPr wrap="square" lIns="38100" tIns="19050" rIns="38100" bIns="19050" anchor="ctr">
            <a:normAutofit/>
          </a:bodyPr>
          <a:lstStyle/>
          <a:p>
            <a:pPr algn="ctr">
              <a:defRPr sz="2100" b="1" i="0">
                <a:solidFill>
                  <a:srgbClr val="8064A2"/>
                </a:solidFill>
                <a:latin typeface="Arial"/>
                <a:ea typeface="Arial"/>
                <a:cs typeface="Arial"/>
              </a:defRPr>
            </a:pPr>
            <a:r>
              <a:rPr sz="2100" b="1" i="0">
                <a:solidFill>
                  <a:srgbClr val="8064A2"/>
                </a:solidFill>
                <a:latin typeface="Arial"/>
                <a:ea typeface="Arial"/>
                <a:cs typeface="Arial"/>
              </a:rPr>
              <a:t>3</a:t>
            </a:r>
          </a:p>
        </p:txBody>
      </p:sp>
      <p:sp>
        <p:nvSpPr>
          <p:cNvPr id="17" name="Rectangle 16">
            <a:extLst>
              <a:ext uri="{FF2B5EF4-FFF2-40B4-BE49-F238E27FC236}">
                <a16:creationId xmlns:a16="http://schemas.microsoft.com/office/drawing/2014/main" id="{DC8CFB49-306C-4627-B754-00A6AFC129A2}"/>
              </a:ext>
            </a:extLst>
          </p:cNvPr>
          <p:cNvSpPr>
            <a:spLocks noGrp="1"/>
          </p:cNvSpPr>
          <p:nvPr/>
        </p:nvSpPr>
        <p:spPr>
          <a:xfrm>
            <a:off x="2095500" y="4552950"/>
            <a:ext cx="8763000" cy="400050"/>
          </a:xfrm>
          <a:prstGeom prst="rect">
            <a:avLst/>
          </a:prstGeom>
          <a:noFill/>
          <a:ln w="0">
            <a:noFill/>
            <a:prstDash val="solid"/>
          </a:ln>
        </p:spPr>
        <p:txBody>
          <a:bodyPr wrap="square" lIns="38100" tIns="19050" rIns="38100" bIns="19050" anchor="ctr">
            <a:normAutofit/>
          </a:bodyPr>
          <a:lstStyle/>
          <a:p>
            <a:pPr algn="l">
              <a:defRPr sz="1650" b="1" i="0">
                <a:solidFill>
                  <a:srgbClr val="8064A2"/>
                </a:solidFill>
                <a:latin typeface="Arial"/>
                <a:ea typeface="Arial"/>
                <a:cs typeface="Arial"/>
              </a:defRPr>
            </a:pPr>
            <a:r>
              <a:rPr sz="1650" b="1" i="0">
                <a:solidFill>
                  <a:srgbClr val="8064A2"/>
                </a:solidFill>
                <a:latin typeface="Arial"/>
                <a:ea typeface="Arial"/>
                <a:cs typeface="Arial"/>
              </a:rPr>
              <a:t>Изборот на LLM го менува балансот меѓу Hit и F1</a:t>
            </a:r>
          </a:p>
        </p:txBody>
      </p:sp>
      <p:sp>
        <p:nvSpPr>
          <p:cNvPr id="18" name="Rectangle 17">
            <a:extLst>
              <a:ext uri="{FF2B5EF4-FFF2-40B4-BE49-F238E27FC236}">
                <a16:creationId xmlns:a16="http://schemas.microsoft.com/office/drawing/2014/main" id="{A09EC0A5-6FA9-43A1-AF05-978EA622DD94}"/>
              </a:ext>
            </a:extLst>
          </p:cNvPr>
          <p:cNvSpPr>
            <a:spLocks noGrp="1"/>
          </p:cNvSpPr>
          <p:nvPr/>
        </p:nvSpPr>
        <p:spPr>
          <a:xfrm>
            <a:off x="2095500" y="5000625"/>
            <a:ext cx="8763000" cy="495300"/>
          </a:xfrm>
          <a:prstGeom prst="rect">
            <a:avLst/>
          </a:prstGeom>
          <a:noFill/>
          <a:ln w="0">
            <a:noFill/>
            <a:prstDash val="solid"/>
          </a:ln>
        </p:spPr>
        <p:txBody>
          <a:bodyPr wrap="square" lIns="38100" tIns="19050" rIns="38100" bIns="19050" anchor="ctr">
            <a:normAutofit/>
          </a:bodyPr>
          <a:lstStyle/>
          <a:p>
            <a:pPr algn="l">
              <a:defRPr sz="1350" b="0" i="0">
                <a:solidFill>
                  <a:srgbClr val="263746"/>
                </a:solidFill>
                <a:latin typeface="Arial"/>
                <a:ea typeface="Arial"/>
                <a:cs typeface="Arial"/>
              </a:defRPr>
            </a:pPr>
            <a:r>
              <a:rPr sz="1350" b="0" i="0" dirty="0" err="1">
                <a:solidFill>
                  <a:srgbClr val="263746"/>
                </a:solidFill>
                <a:latin typeface="Arial"/>
                <a:ea typeface="Arial"/>
                <a:cs typeface="Arial"/>
              </a:rPr>
              <a:t>Главното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тесно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грло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е</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искористувањето</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на</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достапниот</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релациски</a:t>
            </a:r>
            <a:r>
              <a:rPr sz="1350" b="0" i="0" dirty="0">
                <a:solidFill>
                  <a:srgbClr val="263746"/>
                </a:solidFill>
                <a:latin typeface="Arial"/>
                <a:ea typeface="Arial"/>
                <a:cs typeface="Arial"/>
              </a:rPr>
              <a:t> </a:t>
            </a:r>
            <a:r>
              <a:rPr sz="1350" b="0" i="0" dirty="0" err="1">
                <a:solidFill>
                  <a:srgbClr val="263746"/>
                </a:solidFill>
                <a:latin typeface="Arial"/>
                <a:ea typeface="Arial"/>
                <a:cs typeface="Arial"/>
              </a:rPr>
              <a:t>контекст</a:t>
            </a:r>
            <a:r>
              <a:rPr sz="1350" b="0" i="0" dirty="0">
                <a:solidFill>
                  <a:srgbClr val="263746"/>
                </a:solidFill>
                <a:latin typeface="Arial"/>
                <a:ea typeface="Arial"/>
                <a:cs typeface="Arial"/>
              </a:rPr>
              <a:t>.</a:t>
            </a:r>
          </a:p>
        </p:txBody>
      </p:sp>
    </p:spTree>
    <p:extLst>
      <p:ext uri="{BB962C8B-B14F-4D97-AF65-F5344CB8AC3E}">
        <p14:creationId xmlns:p14="http://schemas.microsoft.com/office/powerpoint/2010/main" val="36193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934F354-E506-4DA2-A1F0-B0E95A0BF964}"/>
              </a:ext>
            </a:extLst>
          </p:cNvPr>
          <p:cNvSpPr>
            <a:spLocks noGrp="1"/>
          </p:cNvSpPr>
          <p:nvPr/>
        </p:nvSpPr>
        <p:spPr>
          <a:xfrm>
            <a:off x="552450" y="209550"/>
            <a:ext cx="10763250" cy="523875"/>
          </a:xfrm>
          <a:prstGeom prst="rect">
            <a:avLst/>
          </a:prstGeom>
          <a:noFill/>
          <a:ln w="0">
            <a:noFill/>
            <a:prstDash val="solid"/>
          </a:ln>
        </p:spPr>
        <p:txBody>
          <a:bodyPr wrap="square" lIns="38100" tIns="19050" rIns="38100" bIns="19050" anchor="ctr">
            <a:normAutofit/>
          </a:bodyPr>
          <a:lstStyle/>
          <a:p>
            <a:pPr algn="l">
              <a:defRPr sz="2325" b="1" i="0">
                <a:solidFill>
                  <a:srgbClr val="263746"/>
                </a:solidFill>
                <a:latin typeface="Arial"/>
                <a:ea typeface="Arial"/>
                <a:cs typeface="Arial"/>
              </a:defRPr>
            </a:pPr>
            <a:r>
              <a:rPr sz="2325" b="1" i="0">
                <a:solidFill>
                  <a:srgbClr val="263746"/>
                </a:solidFill>
                <a:latin typeface="Arial"/>
                <a:ea typeface="Arial"/>
                <a:cs typeface="Arial"/>
              </a:rPr>
              <a:t>Идни подобрувања</a:t>
            </a:r>
          </a:p>
        </p:txBody>
      </p:sp>
      <p:sp>
        <p:nvSpPr>
          <p:cNvPr id="2" name="Rectangle 1">
            <a:extLst>
              <a:ext uri="{FF2B5EF4-FFF2-40B4-BE49-F238E27FC236}">
                <a16:creationId xmlns:a16="http://schemas.microsoft.com/office/drawing/2014/main" id="{3553060B-6EBA-4B04-8950-332C41DD3743}"/>
              </a:ext>
            </a:extLst>
          </p:cNvPr>
          <p:cNvSpPr>
            <a:spLocks noGrp="1"/>
          </p:cNvSpPr>
          <p:nvPr/>
        </p:nvSpPr>
        <p:spPr>
          <a:xfrm>
            <a:off x="552450" y="781050"/>
            <a:ext cx="11087100" cy="38100"/>
          </a:xfrm>
          <a:prstGeom prst="rect">
            <a:avLst/>
          </a:prstGeom>
          <a:solidFill>
            <a:srgbClr val="4E9B69"/>
          </a:solidFill>
          <a:ln w="0">
            <a:noFill/>
            <a:prstDash val="solid"/>
          </a:ln>
        </p:spPr>
        <p:txBody>
          <a:bodyPr/>
          <a:lstStyle/>
          <a:p>
            <a:endParaRPr lang="en-US"/>
          </a:p>
        </p:txBody>
      </p:sp>
      <p:sp>
        <p:nvSpPr>
          <p:cNvPr id="3" name="Rectangle 2">
            <a:extLst>
              <a:ext uri="{FF2B5EF4-FFF2-40B4-BE49-F238E27FC236}">
                <a16:creationId xmlns:a16="http://schemas.microsoft.com/office/drawing/2014/main" id="{2D383050-2B70-44C4-9EF9-375236EE2995}"/>
              </a:ext>
            </a:extLst>
          </p:cNvPr>
          <p:cNvSpPr>
            <a:spLocks noGrp="1"/>
          </p:cNvSpPr>
          <p:nvPr/>
        </p:nvSpPr>
        <p:spPr>
          <a:xfrm>
            <a:off x="11315700" y="6486525"/>
            <a:ext cx="323850" cy="228600"/>
          </a:xfrm>
          <a:prstGeom prst="rect">
            <a:avLst/>
          </a:prstGeom>
          <a:noFill/>
          <a:ln w="0">
            <a:noFill/>
            <a:prstDash val="solid"/>
          </a:ln>
        </p:spPr>
        <p:txBody>
          <a:bodyPr wrap="square" lIns="38100" tIns="19050" rIns="38100" bIns="19050" anchor="b">
            <a:normAutofit/>
          </a:bodyPr>
          <a:lstStyle/>
          <a:p>
            <a:pPr algn="r">
              <a:defRPr sz="900" b="0" i="0">
                <a:solidFill>
                  <a:srgbClr val="617080"/>
                </a:solidFill>
                <a:latin typeface="Arial"/>
                <a:ea typeface="Arial"/>
                <a:cs typeface="Arial"/>
              </a:defRPr>
            </a:pPr>
            <a:r>
              <a:rPr sz="900" b="0" i="0">
                <a:solidFill>
                  <a:srgbClr val="617080"/>
                </a:solidFill>
                <a:latin typeface="Arial"/>
                <a:ea typeface="Arial"/>
                <a:cs typeface="Arial"/>
              </a:rPr>
              <a:t>21</a:t>
            </a:r>
          </a:p>
        </p:txBody>
      </p:sp>
      <p:sp>
        <p:nvSpPr>
          <p:cNvPr id="4" name="Rounded Rectangle 3">
            <a:extLst>
              <a:ext uri="{FF2B5EF4-FFF2-40B4-BE49-F238E27FC236}">
                <a16:creationId xmlns:a16="http://schemas.microsoft.com/office/drawing/2014/main" id="{9CDB3A42-445D-4F06-942E-537E3DB27798}"/>
              </a:ext>
            </a:extLst>
          </p:cNvPr>
          <p:cNvSpPr>
            <a:spLocks noGrp="1"/>
          </p:cNvSpPr>
          <p:nvPr/>
        </p:nvSpPr>
        <p:spPr>
          <a:xfrm>
            <a:off x="552450" y="1381125"/>
            <a:ext cx="3286125" cy="3667125"/>
          </a:xfrm>
          <a:prstGeom prst="roundRect">
            <a:avLst>
              <a:gd name="adj" fmla="val 5217"/>
            </a:avLst>
          </a:prstGeom>
          <a:solidFill>
            <a:srgbClr val="E8F5F3"/>
          </a:solidFill>
          <a:ln w="17145">
            <a:solidFill>
              <a:srgbClr val="398D84"/>
            </a:solidFill>
            <a:prstDash val="solid"/>
          </a:ln>
        </p:spPr>
        <p:txBody>
          <a:bodyPr/>
          <a:lstStyle/>
          <a:p>
            <a:endParaRPr lang="en-US"/>
          </a:p>
        </p:txBody>
      </p:sp>
      <p:sp>
        <p:nvSpPr>
          <p:cNvPr id="5" name="Rectangle 4">
            <a:extLst>
              <a:ext uri="{FF2B5EF4-FFF2-40B4-BE49-F238E27FC236}">
                <a16:creationId xmlns:a16="http://schemas.microsoft.com/office/drawing/2014/main" id="{6940F77F-823C-49A4-B379-4CF4BDFE988F}"/>
              </a:ext>
            </a:extLst>
          </p:cNvPr>
          <p:cNvSpPr>
            <a:spLocks noGrp="1"/>
          </p:cNvSpPr>
          <p:nvPr/>
        </p:nvSpPr>
        <p:spPr>
          <a:xfrm>
            <a:off x="885825" y="1695450"/>
            <a:ext cx="2619375" cy="47625"/>
          </a:xfrm>
          <a:prstGeom prst="rect">
            <a:avLst/>
          </a:prstGeom>
          <a:solidFill>
            <a:srgbClr val="398D84"/>
          </a:solidFill>
          <a:ln w="0">
            <a:noFill/>
            <a:prstDash val="solid"/>
          </a:ln>
        </p:spPr>
        <p:txBody>
          <a:bodyPr/>
          <a:lstStyle/>
          <a:p>
            <a:endParaRPr lang="en-US"/>
          </a:p>
        </p:txBody>
      </p:sp>
      <p:sp>
        <p:nvSpPr>
          <p:cNvPr id="6" name="Rectangle 5">
            <a:extLst>
              <a:ext uri="{FF2B5EF4-FFF2-40B4-BE49-F238E27FC236}">
                <a16:creationId xmlns:a16="http://schemas.microsoft.com/office/drawing/2014/main" id="{A472327B-4FE8-4D00-9817-EDBBD4E8510F}"/>
              </a:ext>
            </a:extLst>
          </p:cNvPr>
          <p:cNvSpPr>
            <a:spLocks noGrp="1"/>
          </p:cNvSpPr>
          <p:nvPr/>
        </p:nvSpPr>
        <p:spPr>
          <a:xfrm>
            <a:off x="838200"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398D84"/>
                </a:solidFill>
                <a:latin typeface="Arial"/>
                <a:ea typeface="Arial"/>
                <a:cs typeface="Arial"/>
              </a:defRPr>
            </a:pPr>
            <a:r>
              <a:rPr sz="1725" b="1" i="0">
                <a:solidFill>
                  <a:srgbClr val="398D84"/>
                </a:solidFill>
                <a:latin typeface="Arial"/>
                <a:ea typeface="Arial"/>
                <a:cs typeface="Arial"/>
              </a:rPr>
              <a:t>Хибриден доказен подграф</a:t>
            </a:r>
          </a:p>
        </p:txBody>
      </p:sp>
      <p:sp>
        <p:nvSpPr>
          <p:cNvPr id="7" name="Rectangle 6">
            <a:extLst>
              <a:ext uri="{FF2B5EF4-FFF2-40B4-BE49-F238E27FC236}">
                <a16:creationId xmlns:a16="http://schemas.microsoft.com/office/drawing/2014/main" id="{B3599FE3-C193-461F-9FEE-E50176BB7064}"/>
              </a:ext>
            </a:extLst>
          </p:cNvPr>
          <p:cNvSpPr>
            <a:spLocks noGrp="1"/>
          </p:cNvSpPr>
          <p:nvPr/>
        </p:nvSpPr>
        <p:spPr>
          <a:xfrm>
            <a:off x="885825"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Компактност на PCST со гарантирано зачувување на целосни и разбирливи патеки до најважните кандидати.</a:t>
            </a:r>
          </a:p>
        </p:txBody>
      </p:sp>
      <p:sp>
        <p:nvSpPr>
          <p:cNvPr id="8" name="Rounded Rectangle 7">
            <a:extLst>
              <a:ext uri="{FF2B5EF4-FFF2-40B4-BE49-F238E27FC236}">
                <a16:creationId xmlns:a16="http://schemas.microsoft.com/office/drawing/2014/main" id="{6B2DBC6E-4577-4B7B-89A1-FEF4E3C572FE}"/>
              </a:ext>
            </a:extLst>
          </p:cNvPr>
          <p:cNvSpPr>
            <a:spLocks noGrp="1"/>
          </p:cNvSpPr>
          <p:nvPr/>
        </p:nvSpPr>
        <p:spPr>
          <a:xfrm>
            <a:off x="4276725" y="1381125"/>
            <a:ext cx="3286125" cy="3667125"/>
          </a:xfrm>
          <a:prstGeom prst="roundRect">
            <a:avLst>
              <a:gd name="adj" fmla="val 5217"/>
            </a:avLst>
          </a:prstGeom>
          <a:solidFill>
            <a:srgbClr val="FBEDE5"/>
          </a:solidFill>
          <a:ln w="17145">
            <a:solidFill>
              <a:srgbClr val="D97942"/>
            </a:solidFill>
            <a:prstDash val="solid"/>
          </a:ln>
        </p:spPr>
        <p:txBody>
          <a:bodyPr/>
          <a:lstStyle/>
          <a:p>
            <a:endParaRPr lang="en-US"/>
          </a:p>
        </p:txBody>
      </p:sp>
      <p:sp>
        <p:nvSpPr>
          <p:cNvPr id="9" name="Rectangle 8">
            <a:extLst>
              <a:ext uri="{FF2B5EF4-FFF2-40B4-BE49-F238E27FC236}">
                <a16:creationId xmlns:a16="http://schemas.microsoft.com/office/drawing/2014/main" id="{62250CC2-74EC-4B3B-8472-794533BF48C3}"/>
              </a:ext>
            </a:extLst>
          </p:cNvPr>
          <p:cNvSpPr>
            <a:spLocks noGrp="1"/>
          </p:cNvSpPr>
          <p:nvPr/>
        </p:nvSpPr>
        <p:spPr>
          <a:xfrm>
            <a:off x="4610100" y="1695450"/>
            <a:ext cx="2619375" cy="47625"/>
          </a:xfrm>
          <a:prstGeom prst="rect">
            <a:avLst/>
          </a:prstGeom>
          <a:solidFill>
            <a:srgbClr val="D9794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698F9DE6-569B-467F-BBCA-F3AFCAE959B7}"/>
              </a:ext>
            </a:extLst>
          </p:cNvPr>
          <p:cNvSpPr>
            <a:spLocks noGrp="1"/>
          </p:cNvSpPr>
          <p:nvPr/>
        </p:nvSpPr>
        <p:spPr>
          <a:xfrm>
            <a:off x="4562475"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D97942"/>
                </a:solidFill>
                <a:latin typeface="Arial"/>
                <a:ea typeface="Arial"/>
                <a:cs typeface="Arial"/>
              </a:defRPr>
            </a:pPr>
            <a:r>
              <a:rPr sz="1725" b="1" i="0">
                <a:solidFill>
                  <a:srgbClr val="D97942"/>
                </a:solidFill>
                <a:latin typeface="Arial"/>
                <a:ea typeface="Arial"/>
                <a:cs typeface="Arial"/>
              </a:rPr>
              <a:t>Заедничка оптимизација</a:t>
            </a:r>
          </a:p>
        </p:txBody>
      </p:sp>
      <p:sp>
        <p:nvSpPr>
          <p:cNvPr id="11" name="Rectangle 10">
            <a:extLst>
              <a:ext uri="{FF2B5EF4-FFF2-40B4-BE49-F238E27FC236}">
                <a16:creationId xmlns:a16="http://schemas.microsoft.com/office/drawing/2014/main" id="{F43C6C3A-6DB5-41A2-820F-D33AFB7AB9A3}"/>
              </a:ext>
            </a:extLst>
          </p:cNvPr>
          <p:cNvSpPr>
            <a:spLocks noGrp="1"/>
          </p:cNvSpPr>
          <p:nvPr/>
        </p:nvSpPr>
        <p:spPr>
          <a:xfrm>
            <a:off x="4610100"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Пребарувачот и конструкцијата на подграфот заеднички да учат кои патеки се најкорисни за јазичниот модел.</a:t>
            </a:r>
          </a:p>
        </p:txBody>
      </p:sp>
      <p:sp>
        <p:nvSpPr>
          <p:cNvPr id="12" name="Rounded Rectangle 11">
            <a:extLst>
              <a:ext uri="{FF2B5EF4-FFF2-40B4-BE49-F238E27FC236}">
                <a16:creationId xmlns:a16="http://schemas.microsoft.com/office/drawing/2014/main" id="{A877418F-B27D-4C92-B337-F5E6626EE28B}"/>
              </a:ext>
            </a:extLst>
          </p:cNvPr>
          <p:cNvSpPr>
            <a:spLocks noGrp="1"/>
          </p:cNvSpPr>
          <p:nvPr/>
        </p:nvSpPr>
        <p:spPr>
          <a:xfrm>
            <a:off x="8001000" y="1381125"/>
            <a:ext cx="3286125" cy="3667125"/>
          </a:xfrm>
          <a:prstGeom prst="roundRect">
            <a:avLst>
              <a:gd name="adj" fmla="val 5217"/>
            </a:avLst>
          </a:prstGeom>
          <a:solidFill>
            <a:srgbClr val="F1ECF7"/>
          </a:solidFill>
          <a:ln w="17145">
            <a:solidFill>
              <a:srgbClr val="8064A2"/>
            </a:solidFill>
            <a:prstDash val="solid"/>
          </a:ln>
        </p:spPr>
        <p:txBody>
          <a:bodyPr/>
          <a:lstStyle/>
          <a:p>
            <a:endParaRPr lang="en-US"/>
          </a:p>
        </p:txBody>
      </p:sp>
      <p:sp>
        <p:nvSpPr>
          <p:cNvPr id="13" name="Rectangle 12">
            <a:extLst>
              <a:ext uri="{FF2B5EF4-FFF2-40B4-BE49-F238E27FC236}">
                <a16:creationId xmlns:a16="http://schemas.microsoft.com/office/drawing/2014/main" id="{FF1E70AF-4395-4EA0-94B3-7A565B03FCD2}"/>
              </a:ext>
            </a:extLst>
          </p:cNvPr>
          <p:cNvSpPr>
            <a:spLocks noGrp="1"/>
          </p:cNvSpPr>
          <p:nvPr/>
        </p:nvSpPr>
        <p:spPr>
          <a:xfrm>
            <a:off x="8334375" y="1695450"/>
            <a:ext cx="2619375" cy="47625"/>
          </a:xfrm>
          <a:prstGeom prst="rect">
            <a:avLst/>
          </a:prstGeom>
          <a:solidFill>
            <a:srgbClr val="8064A2"/>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64EB6239-F772-4612-9346-5C02E9684706}"/>
              </a:ext>
            </a:extLst>
          </p:cNvPr>
          <p:cNvSpPr>
            <a:spLocks noGrp="1"/>
          </p:cNvSpPr>
          <p:nvPr/>
        </p:nvSpPr>
        <p:spPr>
          <a:xfrm>
            <a:off x="8286750" y="2047875"/>
            <a:ext cx="2714625" cy="762000"/>
          </a:xfrm>
          <a:prstGeom prst="rect">
            <a:avLst/>
          </a:prstGeom>
          <a:noFill/>
          <a:ln w="0">
            <a:noFill/>
            <a:prstDash val="solid"/>
          </a:ln>
        </p:spPr>
        <p:txBody>
          <a:bodyPr wrap="square" lIns="38100" tIns="19050" rIns="38100" bIns="19050" anchor="ctr">
            <a:normAutofit/>
          </a:bodyPr>
          <a:lstStyle/>
          <a:p>
            <a:pPr algn="ctr">
              <a:defRPr sz="1725" b="1" i="0">
                <a:solidFill>
                  <a:srgbClr val="8064A2"/>
                </a:solidFill>
                <a:latin typeface="Arial"/>
                <a:ea typeface="Arial"/>
                <a:cs typeface="Arial"/>
              </a:defRPr>
            </a:pPr>
            <a:r>
              <a:rPr sz="1725" b="1" i="0">
                <a:solidFill>
                  <a:srgbClr val="8064A2"/>
                </a:solidFill>
                <a:latin typeface="Arial"/>
                <a:ea typeface="Arial"/>
                <a:cs typeface="Arial"/>
              </a:rPr>
              <a:t>Поширока евалуација</a:t>
            </a:r>
          </a:p>
        </p:txBody>
      </p:sp>
      <p:sp>
        <p:nvSpPr>
          <p:cNvPr id="15" name="Rectangle 14">
            <a:extLst>
              <a:ext uri="{FF2B5EF4-FFF2-40B4-BE49-F238E27FC236}">
                <a16:creationId xmlns:a16="http://schemas.microsoft.com/office/drawing/2014/main" id="{FD3521BB-46E3-445C-A92D-5E7E2D2990CD}"/>
              </a:ext>
            </a:extLst>
          </p:cNvPr>
          <p:cNvSpPr>
            <a:spLocks noGrp="1"/>
          </p:cNvSpPr>
          <p:nvPr/>
        </p:nvSpPr>
        <p:spPr>
          <a:xfrm>
            <a:off x="8334375" y="3095625"/>
            <a:ext cx="2619375" cy="1333500"/>
          </a:xfrm>
          <a:prstGeom prst="rect">
            <a:avLst/>
          </a:prstGeom>
          <a:noFill/>
          <a:ln w="0">
            <a:noFill/>
            <a:prstDash val="solid"/>
          </a:ln>
        </p:spPr>
        <p:txBody>
          <a:bodyPr wrap="square" lIns="38100" tIns="19050" rIns="38100" bIns="19050" anchor="t">
            <a:normAutofit/>
          </a:bodyPr>
          <a:lstStyle/>
          <a:p>
            <a:pPr algn="ctr">
              <a:defRPr sz="1350" b="0" i="0">
                <a:solidFill>
                  <a:srgbClr val="263746"/>
                </a:solidFill>
                <a:latin typeface="Arial"/>
                <a:ea typeface="Arial"/>
                <a:cs typeface="Arial"/>
              </a:defRPr>
            </a:pPr>
            <a:r>
              <a:rPr sz="1350" b="0" i="0">
                <a:solidFill>
                  <a:srgbClr val="263746"/>
                </a:solidFill>
                <a:latin typeface="Arial"/>
                <a:ea typeface="Arial"/>
                <a:cs typeface="Arial"/>
              </a:rPr>
              <a:t>Дополнителни податочни множества, подолги патеки на расудување, повеќе извршувања и други јазични модели.</a:t>
            </a:r>
          </a:p>
        </p:txBody>
      </p:sp>
      <p:sp>
        <p:nvSpPr>
          <p:cNvPr id="16" name="Rectangle 15">
            <a:extLst>
              <a:ext uri="{FF2B5EF4-FFF2-40B4-BE49-F238E27FC236}">
                <a16:creationId xmlns:a16="http://schemas.microsoft.com/office/drawing/2014/main" id="{A75216AD-5F41-47AB-AE6B-AF920363D512}"/>
              </a:ext>
            </a:extLst>
          </p:cNvPr>
          <p:cNvSpPr>
            <a:spLocks noGrp="1"/>
          </p:cNvSpPr>
          <p:nvPr/>
        </p:nvSpPr>
        <p:spPr>
          <a:xfrm>
            <a:off x="1285875" y="5505450"/>
            <a:ext cx="9620250" cy="571500"/>
          </a:xfrm>
          <a:prstGeom prst="rect">
            <a:avLst/>
          </a:prstGeom>
          <a:noFill/>
          <a:ln w="0">
            <a:noFill/>
            <a:prstDash val="solid"/>
          </a:ln>
        </p:spPr>
        <p:txBody>
          <a:bodyPr wrap="square" lIns="38100" tIns="19050" rIns="38100" bIns="19050" anchor="ctr">
            <a:normAutofit/>
          </a:bodyPr>
          <a:lstStyle/>
          <a:p>
            <a:pPr algn="ctr">
              <a:defRPr sz="1650" b="1" i="0">
                <a:solidFill>
                  <a:srgbClr val="4E9B69"/>
                </a:solidFill>
                <a:latin typeface="Arial"/>
                <a:ea typeface="Arial"/>
                <a:cs typeface="Arial"/>
              </a:defRPr>
            </a:pPr>
            <a:r>
              <a:rPr sz="1650" b="1" i="0" dirty="0" err="1">
                <a:solidFill>
                  <a:srgbClr val="4E9B69"/>
                </a:solidFill>
                <a:latin typeface="Arial"/>
                <a:ea typeface="Arial"/>
                <a:cs typeface="Arial"/>
              </a:rPr>
              <a:t>Целта</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е</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доказниот</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контекст</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истовремено</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да</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биде</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компактен</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и</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доволно</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јасен</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за</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јазичниот</a:t>
            </a:r>
            <a:r>
              <a:rPr sz="1650" b="1" i="0" dirty="0">
                <a:solidFill>
                  <a:srgbClr val="4E9B69"/>
                </a:solidFill>
                <a:latin typeface="Arial"/>
                <a:ea typeface="Arial"/>
                <a:cs typeface="Arial"/>
              </a:rPr>
              <a:t> </a:t>
            </a:r>
            <a:r>
              <a:rPr sz="1650" b="1" i="0" dirty="0" err="1">
                <a:solidFill>
                  <a:srgbClr val="4E9B69"/>
                </a:solidFill>
                <a:latin typeface="Arial"/>
                <a:ea typeface="Arial"/>
                <a:cs typeface="Arial"/>
              </a:rPr>
              <a:t>модел</a:t>
            </a:r>
            <a:r>
              <a:rPr sz="1650" b="1" i="0" dirty="0">
                <a:solidFill>
                  <a:srgbClr val="4E9B69"/>
                </a:solidFill>
                <a:latin typeface="Arial"/>
                <a:ea typeface="Arial"/>
                <a:cs typeface="Arial"/>
              </a:rPr>
              <a:t>.</a:t>
            </a:r>
          </a:p>
        </p:txBody>
      </p:sp>
    </p:spTree>
    <p:extLst>
      <p:ext uri="{BB962C8B-B14F-4D97-AF65-F5344CB8AC3E}">
        <p14:creationId xmlns:p14="http://schemas.microsoft.com/office/powerpoint/2010/main" val="1908370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ACBFD7-60F2-4806-AE0C-479E3800E177}"/>
              </a:ext>
            </a:extLst>
          </p:cNvPr>
          <p:cNvSpPr>
            <a:spLocks noGrp="1"/>
          </p:cNvSpPr>
          <p:nvPr/>
        </p:nvSpPr>
        <p:spPr>
          <a:xfrm>
            <a:off x="0" y="0"/>
            <a:ext cx="12192000" cy="114300"/>
          </a:xfrm>
          <a:prstGeom prst="rect">
            <a:avLst/>
          </a:prstGeom>
          <a:solidFill>
            <a:srgbClr val="4E9B69"/>
          </a:solidFill>
          <a:ln w="0">
            <a:noFill/>
            <a:prstDash val="solid"/>
          </a:ln>
        </p:spPr>
        <p:txBody>
          <a:bodyPr/>
          <a:lstStyle/>
          <a:p>
            <a:endParaRPr lang="en-US"/>
          </a:p>
        </p:txBody>
      </p:sp>
      <p:sp>
        <p:nvSpPr>
          <p:cNvPr id="2" name="Rectangle 1">
            <a:extLst>
              <a:ext uri="{FF2B5EF4-FFF2-40B4-BE49-F238E27FC236}">
                <a16:creationId xmlns:a16="http://schemas.microsoft.com/office/drawing/2014/main" id="{A041B029-F14B-4208-A05E-9C715893E921}"/>
              </a:ext>
            </a:extLst>
          </p:cNvPr>
          <p:cNvSpPr>
            <a:spLocks noGrp="1"/>
          </p:cNvSpPr>
          <p:nvPr/>
        </p:nvSpPr>
        <p:spPr>
          <a:xfrm>
            <a:off x="1143000" y="1619250"/>
            <a:ext cx="9906000" cy="857250"/>
          </a:xfrm>
          <a:prstGeom prst="rect">
            <a:avLst/>
          </a:prstGeom>
          <a:noFill/>
          <a:ln w="0">
            <a:noFill/>
            <a:prstDash val="solid"/>
          </a:ln>
        </p:spPr>
        <p:txBody>
          <a:bodyPr wrap="square" lIns="38100" tIns="19050" rIns="38100" bIns="19050" anchor="ctr">
            <a:normAutofit/>
          </a:bodyPr>
          <a:lstStyle/>
          <a:p>
            <a:pPr algn="ctr">
              <a:defRPr sz="3525" b="1" i="0">
                <a:solidFill>
                  <a:srgbClr val="263746"/>
                </a:solidFill>
                <a:latin typeface="Arial"/>
                <a:ea typeface="Arial"/>
                <a:cs typeface="Arial"/>
              </a:defRPr>
            </a:pPr>
            <a:r>
              <a:rPr sz="3525" b="1" i="0">
                <a:solidFill>
                  <a:srgbClr val="263746"/>
                </a:solidFill>
                <a:latin typeface="Arial"/>
                <a:ea typeface="Arial"/>
                <a:cs typeface="Arial"/>
              </a:rPr>
              <a:t>Ви благодарам</a:t>
            </a:r>
          </a:p>
        </p:txBody>
      </p:sp>
      <p:sp>
        <p:nvSpPr>
          <p:cNvPr id="3" name="Rectangle 2">
            <a:extLst>
              <a:ext uri="{FF2B5EF4-FFF2-40B4-BE49-F238E27FC236}">
                <a16:creationId xmlns:a16="http://schemas.microsoft.com/office/drawing/2014/main" id="{6F69CC65-6074-4014-BC9B-3E35E07FB613}"/>
              </a:ext>
            </a:extLst>
          </p:cNvPr>
          <p:cNvSpPr>
            <a:spLocks noGrp="1"/>
          </p:cNvSpPr>
          <p:nvPr/>
        </p:nvSpPr>
        <p:spPr>
          <a:xfrm>
            <a:off x="1143000" y="2686050"/>
            <a:ext cx="9906000" cy="781050"/>
          </a:xfrm>
          <a:prstGeom prst="rect">
            <a:avLst/>
          </a:prstGeom>
          <a:noFill/>
          <a:ln w="0">
            <a:noFill/>
            <a:prstDash val="solid"/>
          </a:ln>
        </p:spPr>
        <p:txBody>
          <a:bodyPr wrap="square" lIns="38100" tIns="19050" rIns="38100" bIns="19050" anchor="ctr">
            <a:normAutofit/>
          </a:bodyPr>
          <a:lstStyle/>
          <a:p>
            <a:pPr algn="ctr">
              <a:defRPr sz="2850" b="1" i="0">
                <a:solidFill>
                  <a:srgbClr val="4E9B69"/>
                </a:solidFill>
                <a:latin typeface="Arial"/>
                <a:ea typeface="Arial"/>
                <a:cs typeface="Arial"/>
              </a:defRPr>
            </a:pPr>
            <a:r>
              <a:rPr sz="2850" b="1" i="0">
                <a:solidFill>
                  <a:srgbClr val="4E9B69"/>
                </a:solidFill>
                <a:latin typeface="Arial"/>
                <a:ea typeface="Arial"/>
                <a:cs typeface="Arial"/>
              </a:rPr>
              <a:t>Прашања?</a:t>
            </a:r>
          </a:p>
        </p:txBody>
      </p:sp>
      <p:sp>
        <p:nvSpPr>
          <p:cNvPr id="4" name="Rectangle 3">
            <a:extLst>
              <a:ext uri="{FF2B5EF4-FFF2-40B4-BE49-F238E27FC236}">
                <a16:creationId xmlns:a16="http://schemas.microsoft.com/office/drawing/2014/main" id="{DD3CD4BE-9CE5-44E4-9129-AF745E752B24}"/>
              </a:ext>
            </a:extLst>
          </p:cNvPr>
          <p:cNvSpPr>
            <a:spLocks noGrp="1"/>
          </p:cNvSpPr>
          <p:nvPr/>
        </p:nvSpPr>
        <p:spPr>
          <a:xfrm>
            <a:off x="4000500" y="3771900"/>
            <a:ext cx="4191000" cy="19050"/>
          </a:xfrm>
          <a:prstGeom prst="rect">
            <a:avLst/>
          </a:prstGeom>
          <a:solidFill>
            <a:srgbClr val="DDE3E8"/>
          </a:solidFill>
          <a:ln w="0">
            <a:noFill/>
            <a:prstDash val="solid"/>
          </a:ln>
        </p:spPr>
        <p:txBody>
          <a:bodyPr/>
          <a:lstStyle/>
          <a:p>
            <a:endParaRPr lang="en-US"/>
          </a:p>
        </p:txBody>
      </p:sp>
      <p:sp>
        <p:nvSpPr>
          <p:cNvPr id="5" name="Rectangle 4">
            <a:extLst>
              <a:ext uri="{FF2B5EF4-FFF2-40B4-BE49-F238E27FC236}">
                <a16:creationId xmlns:a16="http://schemas.microsoft.com/office/drawing/2014/main" id="{51C7E9DD-BD9D-4768-A1A1-E1CFA5375F07}"/>
              </a:ext>
            </a:extLst>
          </p:cNvPr>
          <p:cNvSpPr>
            <a:spLocks noGrp="1"/>
          </p:cNvSpPr>
          <p:nvPr/>
        </p:nvSpPr>
        <p:spPr>
          <a:xfrm>
            <a:off x="1143000" y="4095750"/>
            <a:ext cx="9906000" cy="361950"/>
          </a:xfrm>
          <a:prstGeom prst="rect">
            <a:avLst/>
          </a:prstGeom>
          <a:noFill/>
          <a:ln w="0">
            <a:noFill/>
            <a:prstDash val="solid"/>
          </a:ln>
        </p:spPr>
        <p:txBody>
          <a:bodyPr wrap="square" lIns="38100" tIns="19050" rIns="38100" bIns="19050" anchor="ctr">
            <a:normAutofit/>
          </a:bodyPr>
          <a:lstStyle/>
          <a:p>
            <a:pPr algn="ctr">
              <a:defRPr sz="1500" b="0" i="0">
                <a:solidFill>
                  <a:srgbClr val="263746"/>
                </a:solidFill>
                <a:latin typeface="Arial"/>
                <a:ea typeface="Arial"/>
                <a:cs typeface="Arial"/>
              </a:defRPr>
            </a:pPr>
            <a:endParaRPr lang="mk-MK" sz="1500" b="0" i="0" dirty="0">
              <a:solidFill>
                <a:srgbClr val="263746"/>
              </a:solidFill>
              <a:latin typeface="Arial"/>
              <a:ea typeface="Arial"/>
              <a:cs typeface="Arial"/>
            </a:endParaRPr>
          </a:p>
        </p:txBody>
      </p:sp>
      <p:sp>
        <p:nvSpPr>
          <p:cNvPr id="6" name="Rectangle 5">
            <a:extLst>
              <a:ext uri="{FF2B5EF4-FFF2-40B4-BE49-F238E27FC236}">
                <a16:creationId xmlns:a16="http://schemas.microsoft.com/office/drawing/2014/main" id="{52D0CA7F-9C67-42A8-8095-A0751D355276}"/>
              </a:ext>
            </a:extLst>
          </p:cNvPr>
          <p:cNvSpPr>
            <a:spLocks noGrp="1"/>
          </p:cNvSpPr>
          <p:nvPr/>
        </p:nvSpPr>
        <p:spPr>
          <a:xfrm>
            <a:off x="1143000" y="4095750"/>
            <a:ext cx="9906000" cy="333375"/>
          </a:xfrm>
          <a:prstGeom prst="rect">
            <a:avLst/>
          </a:prstGeom>
          <a:noFill/>
          <a:ln w="0">
            <a:noFill/>
            <a:prstDash val="solid"/>
          </a:ln>
        </p:spPr>
        <p:txBody>
          <a:bodyPr wrap="square" lIns="38100" tIns="19050" rIns="38100" bIns="19050" anchor="ctr">
            <a:normAutofit/>
          </a:bodyPr>
          <a:lstStyle/>
          <a:p>
            <a:pPr algn="ctr">
              <a:defRPr sz="1275" b="0" i="0">
                <a:solidFill>
                  <a:srgbClr val="4F86C6"/>
                </a:solidFill>
                <a:latin typeface="Arial"/>
                <a:ea typeface="Arial"/>
                <a:cs typeface="Arial"/>
              </a:defRPr>
            </a:pPr>
            <a:r>
              <a:rPr sz="1275" b="0" i="0" dirty="0" err="1">
                <a:solidFill>
                  <a:srgbClr val="4F86C6"/>
                </a:solidFill>
                <a:latin typeface="Arial"/>
                <a:ea typeface="Arial"/>
                <a:cs typeface="Arial"/>
              </a:rPr>
              <a:t>github.com</a:t>
            </a:r>
            <a:r>
              <a:rPr sz="1275" b="0" i="0" dirty="0">
                <a:solidFill>
                  <a:srgbClr val="4F86C6"/>
                </a:solidFill>
                <a:latin typeface="Arial"/>
                <a:ea typeface="Arial"/>
                <a:cs typeface="Arial"/>
              </a:rPr>
              <a:t>/</a:t>
            </a:r>
            <a:r>
              <a:rPr sz="1275" b="0" i="0" dirty="0" err="1">
                <a:solidFill>
                  <a:srgbClr val="4F86C6"/>
                </a:solidFill>
                <a:latin typeface="Arial"/>
                <a:ea typeface="Arial"/>
                <a:cs typeface="Arial"/>
              </a:rPr>
              <a:t>Itonkdong</a:t>
            </a:r>
            <a:r>
              <a:rPr sz="1275" b="0" i="0" dirty="0">
                <a:solidFill>
                  <a:srgbClr val="4F86C6"/>
                </a:solidFill>
                <a:latin typeface="Arial"/>
                <a:ea typeface="Arial"/>
                <a:cs typeface="Arial"/>
              </a:rPr>
              <a:t>/</a:t>
            </a:r>
            <a:r>
              <a:rPr sz="1275" b="0" i="0" dirty="0" err="1">
                <a:solidFill>
                  <a:srgbClr val="4F86C6"/>
                </a:solidFill>
                <a:latin typeface="Arial"/>
                <a:ea typeface="Arial"/>
                <a:cs typeface="Arial"/>
              </a:rPr>
              <a:t>graphragx</a:t>
            </a:r>
            <a:endParaRPr sz="1275" b="0" i="0" dirty="0">
              <a:solidFill>
                <a:srgbClr val="4F86C6"/>
              </a:solidFill>
              <a:latin typeface="Arial"/>
              <a:ea typeface="Arial"/>
              <a:cs typeface="Arial"/>
            </a:endParaRPr>
          </a:p>
        </p:txBody>
      </p:sp>
    </p:spTree>
    <p:extLst>
      <p:ext uri="{BB962C8B-B14F-4D97-AF65-F5344CB8AC3E}">
        <p14:creationId xmlns:p14="http://schemas.microsoft.com/office/powerpoint/2010/main" val="8519781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TotalTime>
  <Words>3033</Words>
  <Application>Microsoft Macintosh PowerPoint</Application>
  <DocSecurity>0</DocSecurity>
  <PresentationFormat>Widescreen</PresentationFormat>
  <Paragraphs>351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 Math</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Костадиноски Виктор</cp:lastModifiedBy>
  <cp:revision>19</cp:revision>
  <dcterms:created xsi:type="dcterms:W3CDTF">2026-09-08T09:48:03Z</dcterms:created>
  <dcterms:modified xsi:type="dcterms:W3CDTF">2026-09-09T19:41:16Z</dcterms:modified>
</cp:coreProperties>
</file>