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37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658"/>
  </p:normalViewPr>
  <p:slideViewPr>
    <p:cSldViewPr snapToGrid="0">
      <p:cViewPr varScale="1">
        <p:scale>
          <a:sx n="120" d="100"/>
          <a:sy n="120" d="100"/>
        </p:scale>
        <p:origin x="2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06389AF-E398-4865-B3A1-73701CBAD7E1}"/>
              </a:ext>
            </a:extLst>
          </p:cNvPr>
          <p:cNvSpPr>
            <a:spLocks noGrp="1"/>
          </p:cNvSpPr>
          <p:nvPr/>
        </p:nvSpPr>
        <p:spPr>
          <a:xfrm>
            <a:off x="762000" y="457200"/>
            <a:ext cx="1066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2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Универзитет „Св. Кирил и Методиј“ во Скопје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1B371A-8F62-439C-A1DE-138615320F83}"/>
              </a:ext>
            </a:extLst>
          </p:cNvPr>
          <p:cNvSpPr>
            <a:spLocks noGrp="1"/>
          </p:cNvSpPr>
          <p:nvPr/>
        </p:nvSpPr>
        <p:spPr>
          <a:xfrm>
            <a:off x="762000" y="752475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27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Факултет за информатички науки и компјутерско инженерство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5E962A-2F16-4EDE-8E73-AAF2FC51C097}"/>
              </a:ext>
            </a:extLst>
          </p:cNvPr>
          <p:cNvSpPr>
            <a:spLocks noGrp="1"/>
          </p:cNvSpPr>
          <p:nvPr/>
        </p:nvSpPr>
        <p:spPr>
          <a:xfrm>
            <a:off x="3143250" y="1257300"/>
            <a:ext cx="5905500" cy="47625"/>
          </a:xfrm>
          <a:prstGeom prst="rect">
            <a:avLst/>
          </a:prstGeom>
          <a:solidFill>
            <a:srgbClr val="4F86C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71A606-1B5F-4767-A3AF-C477C0DBB232}"/>
              </a:ext>
            </a:extLst>
          </p:cNvPr>
          <p:cNvSpPr>
            <a:spLocks noGrp="1"/>
          </p:cNvSpPr>
          <p:nvPr/>
        </p:nvSpPr>
        <p:spPr>
          <a:xfrm>
            <a:off x="1095375" y="1752600"/>
            <a:ext cx="10001250" cy="2019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26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lang="mk-MK" sz="2625" b="1" i="0" noProof="0" dirty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Напредни архитектури на граф невронски мрежи за пребарување и расудување над графови при одговарање на прашања над графови на знаење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546335-4866-42CE-81A2-7F4C99F4E654}"/>
              </a:ext>
            </a:extLst>
          </p:cNvPr>
          <p:cNvSpPr>
            <a:spLocks noGrp="1"/>
          </p:cNvSpPr>
          <p:nvPr/>
        </p:nvSpPr>
        <p:spPr>
          <a:xfrm>
            <a:off x="1047750" y="495300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>
              <a:defRPr sz="157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lang="mk-MK" sz="1575" b="1" dirty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Ментор: проф. д-р Соња Гиевска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089A6C-A514-418A-859B-4DB4D713029F}"/>
              </a:ext>
            </a:extLst>
          </p:cNvPr>
          <p:cNvSpPr>
            <a:spLocks noGrp="1"/>
          </p:cNvSpPr>
          <p:nvPr/>
        </p:nvSpPr>
        <p:spPr>
          <a:xfrm>
            <a:off x="6381750" y="495300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defRPr sz="157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lang="mk-MK" sz="1575" b="1" dirty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Виктор Костадиноски · 226009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0896EC-DE7B-4E1D-A622-9F1FAEEE9481}"/>
              </a:ext>
            </a:extLst>
          </p:cNvPr>
          <p:cNvSpPr>
            <a:spLocks noGrp="1"/>
          </p:cNvSpPr>
          <p:nvPr/>
        </p:nvSpPr>
        <p:spPr>
          <a:xfrm>
            <a:off x="1047750" y="5619750"/>
            <a:ext cx="10096500" cy="14288"/>
          </a:xfrm>
          <a:prstGeom prst="rect">
            <a:avLst/>
          </a:prstGeom>
          <a:solidFill>
            <a:srgbClr val="A9B4B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7CF861-C097-46A0-9B08-1B615CC949C5}"/>
              </a:ext>
            </a:extLst>
          </p:cNvPr>
          <p:cNvSpPr>
            <a:spLocks noGrp="1"/>
          </p:cNvSpPr>
          <p:nvPr/>
        </p:nvSpPr>
        <p:spPr>
          <a:xfrm>
            <a:off x="1047750" y="5810250"/>
            <a:ext cx="1009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2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Септември 2026</a:t>
            </a:r>
          </a:p>
        </p:txBody>
      </p:sp>
    </p:spTree>
    <p:extLst>
      <p:ext uri="{BB962C8B-B14F-4D97-AF65-F5344CB8AC3E}">
        <p14:creationId xmlns:p14="http://schemas.microsoft.com/office/powerpoint/2010/main" val="380699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E4D6C56-A4D5-44CD-8CAE-89551DA1AF33}"/>
              </a:ext>
            </a:extLst>
          </p:cNvPr>
          <p:cNvSpPr>
            <a:spLocks noGrp="1"/>
          </p:cNvSpPr>
          <p:nvPr/>
        </p:nvSpPr>
        <p:spPr>
          <a:xfrm>
            <a:off x="552450" y="209550"/>
            <a:ext cx="1076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Од прашање до одговор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F9236A-1A57-49AA-AE22-28EE1ABB9A57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11087100" cy="38100"/>
          </a:xfrm>
          <a:prstGeom prst="rect">
            <a:avLst/>
          </a:prstGeom>
          <a:solidFill>
            <a:srgbClr val="4F86C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298470-6FB1-4D1E-AFC2-D9C5133ED5B1}"/>
              </a:ext>
            </a:extLst>
          </p:cNvPr>
          <p:cNvSpPr>
            <a:spLocks noGrp="1"/>
          </p:cNvSpPr>
          <p:nvPr/>
        </p:nvSpPr>
        <p:spPr>
          <a:xfrm>
            <a:off x="11315700" y="648652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b">
            <a:normAutofit/>
          </a:bodyPr>
          <a:lstStyle/>
          <a:p>
            <a:pPr algn="r"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0667" y="857250"/>
            <a:ext cx="9990667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992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CBB127C-53C4-469F-9C55-5A539A99E00B}"/>
              </a:ext>
            </a:extLst>
          </p:cNvPr>
          <p:cNvSpPr>
            <a:spLocks noGrp="1"/>
          </p:cNvSpPr>
          <p:nvPr/>
        </p:nvSpPr>
        <p:spPr>
          <a:xfrm>
            <a:off x="552450" y="209550"/>
            <a:ext cx="1076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Сродни пристапи и истражувачка празнина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4D0CED-F486-41CC-A2E1-BC2C15E742D2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11087100" cy="38100"/>
          </a:xfrm>
          <a:prstGeom prst="rect">
            <a:avLst/>
          </a:prstGeom>
          <a:solidFill>
            <a:srgbClr val="4F86C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20D0A1-10D3-451D-8633-F84B1703C2B3}"/>
              </a:ext>
            </a:extLst>
          </p:cNvPr>
          <p:cNvSpPr>
            <a:spLocks noGrp="1"/>
          </p:cNvSpPr>
          <p:nvPr/>
        </p:nvSpPr>
        <p:spPr>
          <a:xfrm>
            <a:off x="552450" y="6486525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b">
            <a:normAutofit/>
          </a:bodyPr>
          <a:lstStyle/>
          <a:p>
            <a:pPr algn="l">
              <a:defRPr sz="82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Mavromatis and Karypis, 2025 · He et al., 2024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267D98-DEE9-4DFF-9A0C-35D1C13779B0}"/>
              </a:ext>
            </a:extLst>
          </p:cNvPr>
          <p:cNvSpPr>
            <a:spLocks noGrp="1"/>
          </p:cNvSpPr>
          <p:nvPr/>
        </p:nvSpPr>
        <p:spPr>
          <a:xfrm>
            <a:off x="11315700" y="648652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b">
            <a:normAutofit/>
          </a:bodyPr>
          <a:lstStyle/>
          <a:p>
            <a:pPr algn="r"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FEDAF4-12AF-462A-9B57-9E487C3D9758}"/>
              </a:ext>
            </a:extLst>
          </p:cNvPr>
          <p:cNvSpPr>
            <a:spLocks noGrp="1"/>
          </p:cNvSpPr>
          <p:nvPr/>
        </p:nvSpPr>
        <p:spPr>
          <a:xfrm>
            <a:off x="742950" y="10668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b">
            <a:normAutofit/>
          </a:bodyPr>
          <a:lstStyle/>
          <a:p>
            <a:pPr algn="l">
              <a:defRPr sz="1125" b="1" i="0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4F86C6"/>
                </a:solidFill>
                <a:latin typeface="Arial"/>
                <a:ea typeface="Arial"/>
                <a:cs typeface="Arial"/>
              </a:rPr>
              <a:t>GNN-RAG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DC981F-4AEF-44F3-9E0B-E8DA25737DAC}"/>
              </a:ext>
            </a:extLst>
          </p:cNvPr>
          <p:cNvSpPr>
            <a:spLocks noGrp="1"/>
          </p:cNvSpPr>
          <p:nvPr/>
        </p:nvSpPr>
        <p:spPr>
          <a:xfrm>
            <a:off x="742950" y="1381125"/>
            <a:ext cx="485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575" b="1" i="0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4F86C6"/>
                </a:solidFill>
                <a:latin typeface="Arial"/>
                <a:ea typeface="Arial"/>
                <a:cs typeface="Arial"/>
              </a:rPr>
              <a:t>GNN-пребарување  →  најкратки патеки  →  LLM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A32267C-BE96-431C-AF0E-987954DF7CD7}"/>
              </a:ext>
            </a:extLst>
          </p:cNvPr>
          <p:cNvSpPr>
            <a:spLocks noGrp="1"/>
          </p:cNvSpPr>
          <p:nvPr/>
        </p:nvSpPr>
        <p:spPr>
          <a:xfrm>
            <a:off x="781050" y="2105025"/>
            <a:ext cx="66675" cy="66675"/>
          </a:xfrm>
          <a:prstGeom prst="ellipse">
            <a:avLst/>
          </a:prstGeom>
          <a:solidFill>
            <a:srgbClr val="26374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6B7EF2-56E4-4D25-9881-358099CEAABD}"/>
              </a:ext>
            </a:extLst>
          </p:cNvPr>
          <p:cNvSpPr>
            <a:spLocks noGrp="1"/>
          </p:cNvSpPr>
          <p:nvPr/>
        </p:nvSpPr>
        <p:spPr>
          <a:xfrm>
            <a:off x="952500" y="2000250"/>
            <a:ext cx="4495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42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GNN ги рангира ентитетите-кандидати.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095336C-FEC7-402F-B8F0-23E119F28836}"/>
              </a:ext>
            </a:extLst>
          </p:cNvPr>
          <p:cNvSpPr>
            <a:spLocks noGrp="1"/>
          </p:cNvSpPr>
          <p:nvPr/>
        </p:nvSpPr>
        <p:spPr>
          <a:xfrm>
            <a:off x="781050" y="2676525"/>
            <a:ext cx="66675" cy="66675"/>
          </a:xfrm>
          <a:prstGeom prst="ellipse">
            <a:avLst/>
          </a:prstGeom>
          <a:solidFill>
            <a:srgbClr val="26374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CDBB6C-0380-4C22-87DD-E0C24E39EFE8}"/>
              </a:ext>
            </a:extLst>
          </p:cNvPr>
          <p:cNvSpPr>
            <a:spLocks noGrp="1"/>
          </p:cNvSpPr>
          <p:nvPr/>
        </p:nvSpPr>
        <p:spPr>
          <a:xfrm>
            <a:off x="952500" y="2571750"/>
            <a:ext cx="4495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42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Најкратките патеки го формираат доказниот контекст.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251C30-0B80-4226-BAC4-FF088D6DAC92}"/>
              </a:ext>
            </a:extLst>
          </p:cNvPr>
          <p:cNvSpPr>
            <a:spLocks noGrp="1"/>
          </p:cNvSpPr>
          <p:nvPr/>
        </p:nvSpPr>
        <p:spPr>
          <a:xfrm>
            <a:off x="6048375" y="1123950"/>
            <a:ext cx="19050" cy="2143125"/>
          </a:xfrm>
          <a:prstGeom prst="rect">
            <a:avLst/>
          </a:prstGeom>
          <a:solidFill>
            <a:srgbClr val="DDE3E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1D1C4D-1EAD-4381-9603-F192DC016F92}"/>
              </a:ext>
            </a:extLst>
          </p:cNvPr>
          <p:cNvSpPr>
            <a:spLocks noGrp="1"/>
          </p:cNvSpPr>
          <p:nvPr/>
        </p:nvSpPr>
        <p:spPr>
          <a:xfrm>
            <a:off x="6524625" y="10668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b">
            <a:normAutofit/>
          </a:bodyPr>
          <a:lstStyle/>
          <a:p>
            <a:pPr algn="l">
              <a:defRPr sz="1125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G-Retriever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B9C1A7-BCF5-454D-B614-ACF4B2ADE9CE}"/>
              </a:ext>
            </a:extLst>
          </p:cNvPr>
          <p:cNvSpPr>
            <a:spLocks noGrp="1"/>
          </p:cNvSpPr>
          <p:nvPr/>
        </p:nvSpPr>
        <p:spPr>
          <a:xfrm>
            <a:off x="6524625" y="1381125"/>
            <a:ext cx="485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575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кодер на графови  →  PCST  →  LLM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73CAC9A-AE75-40B0-9183-927614F172D6}"/>
              </a:ext>
            </a:extLst>
          </p:cNvPr>
          <p:cNvSpPr>
            <a:spLocks noGrp="1"/>
          </p:cNvSpPr>
          <p:nvPr/>
        </p:nvSpPr>
        <p:spPr>
          <a:xfrm>
            <a:off x="6562725" y="2105025"/>
            <a:ext cx="66675" cy="66675"/>
          </a:xfrm>
          <a:prstGeom prst="ellipse">
            <a:avLst/>
          </a:prstGeom>
          <a:solidFill>
            <a:srgbClr val="26374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F926F4-E196-4ADC-9A45-5957F7B37B49}"/>
              </a:ext>
            </a:extLst>
          </p:cNvPr>
          <p:cNvSpPr>
            <a:spLocks noGrp="1"/>
          </p:cNvSpPr>
          <p:nvPr/>
        </p:nvSpPr>
        <p:spPr>
          <a:xfrm>
            <a:off x="6734175" y="2000250"/>
            <a:ext cx="44481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42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Кодерот на графови ги оценува јазлите.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A5F2894-68B1-407C-81CC-51A36300A3AA}"/>
              </a:ext>
            </a:extLst>
          </p:cNvPr>
          <p:cNvSpPr>
            <a:spLocks noGrp="1"/>
          </p:cNvSpPr>
          <p:nvPr/>
        </p:nvSpPr>
        <p:spPr>
          <a:xfrm>
            <a:off x="6562725" y="2676525"/>
            <a:ext cx="66675" cy="66675"/>
          </a:xfrm>
          <a:prstGeom prst="ellipse">
            <a:avLst/>
          </a:prstGeom>
          <a:solidFill>
            <a:srgbClr val="26374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41A9BE1-4D42-4935-9A4D-10B3550A6DE6}"/>
              </a:ext>
            </a:extLst>
          </p:cNvPr>
          <p:cNvSpPr>
            <a:spLocks noGrp="1"/>
          </p:cNvSpPr>
          <p:nvPr/>
        </p:nvSpPr>
        <p:spPr>
          <a:xfrm>
            <a:off x="6734175" y="2571750"/>
            <a:ext cx="44481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42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PCST избира компактен доказен подграф.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C0CA12A-71B7-4776-92A3-1C0973A58E73}"/>
              </a:ext>
            </a:extLst>
          </p:cNvPr>
          <p:cNvSpPr>
            <a:spLocks noGrp="1"/>
          </p:cNvSpPr>
          <p:nvPr/>
        </p:nvSpPr>
        <p:spPr>
          <a:xfrm>
            <a:off x="742950" y="3667125"/>
            <a:ext cx="10668000" cy="1952625"/>
          </a:xfrm>
          <a:prstGeom prst="roundRect">
            <a:avLst>
              <a:gd name="adj" fmla="val 6829"/>
            </a:avLst>
          </a:prstGeom>
          <a:solidFill>
            <a:srgbClr val="F7F9FB"/>
          </a:solidFill>
          <a:ln w="19050">
            <a:solidFill>
              <a:srgbClr val="4F8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1B97B6-BF67-45EF-A3ED-55105AD6538D}"/>
              </a:ext>
            </a:extLst>
          </p:cNvPr>
          <p:cNvSpPr>
            <a:spLocks noGrp="1"/>
          </p:cNvSpPr>
          <p:nvPr/>
        </p:nvSpPr>
        <p:spPr>
          <a:xfrm>
            <a:off x="1047750" y="3905250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800" b="1" i="0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4F86C6"/>
                </a:solidFill>
                <a:latin typeface="Arial"/>
                <a:ea typeface="Arial"/>
                <a:cs typeface="Arial"/>
              </a:rPr>
              <a:t>Истражувачка празнина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6B9E60-11E9-4B0B-80E7-1661573F7EC9}"/>
              </a:ext>
            </a:extLst>
          </p:cNvPr>
          <p:cNvSpPr>
            <a:spLocks noGrp="1"/>
          </p:cNvSpPr>
          <p:nvPr/>
        </p:nvSpPr>
        <p:spPr>
          <a:xfrm>
            <a:off x="1047750" y="4410075"/>
            <a:ext cx="985837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800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Недостига контролирана споредба на различни GNN-архитектури, стратегии за доказен подграф и јазични модели во една заедничка рамка.</a:t>
            </a:r>
          </a:p>
        </p:txBody>
      </p:sp>
    </p:spTree>
    <p:extLst>
      <p:ext uri="{BB962C8B-B14F-4D97-AF65-F5344CB8AC3E}">
        <p14:creationId xmlns:p14="http://schemas.microsoft.com/office/powerpoint/2010/main" val="1679459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59C785E-FE15-4769-9CC4-3DD959CB4BAF}"/>
              </a:ext>
            </a:extLst>
          </p:cNvPr>
          <p:cNvSpPr>
            <a:spLocks noGrp="1"/>
          </p:cNvSpPr>
          <p:nvPr/>
        </p:nvSpPr>
        <p:spPr>
          <a:xfrm>
            <a:off x="552450" y="209550"/>
            <a:ext cx="1076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Архитектура на системот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DF2084-8F86-465C-8305-6860EB8DCC52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11087100" cy="38100"/>
          </a:xfrm>
          <a:prstGeom prst="rect">
            <a:avLst/>
          </a:prstGeom>
          <a:solidFill>
            <a:srgbClr val="4F86C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88E5FD-9F50-4CA0-93F9-580A5DAE2307}"/>
              </a:ext>
            </a:extLst>
          </p:cNvPr>
          <p:cNvSpPr>
            <a:spLocks noGrp="1"/>
          </p:cNvSpPr>
          <p:nvPr/>
        </p:nvSpPr>
        <p:spPr>
          <a:xfrm>
            <a:off x="11315700" y="648652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b">
            <a:normAutofit/>
          </a:bodyPr>
          <a:lstStyle/>
          <a:p>
            <a:pPr algn="r"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1800" y="1000125"/>
            <a:ext cx="11328400" cy="4248150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704B55B-4A06-4CE6-B77B-6120FA080572}"/>
              </a:ext>
            </a:extLst>
          </p:cNvPr>
          <p:cNvSpPr>
            <a:spLocks noGrp="1"/>
          </p:cNvSpPr>
          <p:nvPr/>
        </p:nvSpPr>
        <p:spPr>
          <a:xfrm>
            <a:off x="1381125" y="5495925"/>
            <a:ext cx="9429750" cy="685800"/>
          </a:xfrm>
          <a:prstGeom prst="roundRect">
            <a:avLst>
              <a:gd name="adj" fmla="val 19444"/>
            </a:avLst>
          </a:prstGeom>
          <a:solidFill>
            <a:srgbClr val="EAF2FB"/>
          </a:solidFill>
          <a:ln w="15240">
            <a:solidFill>
              <a:srgbClr val="4F8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DE4016-E3D2-4E01-8F15-C083DFA4BF67}"/>
              </a:ext>
            </a:extLst>
          </p:cNvPr>
          <p:cNvSpPr>
            <a:spLocks noGrp="1"/>
          </p:cNvSpPr>
          <p:nvPr/>
        </p:nvSpPr>
        <p:spPr>
          <a:xfrm>
            <a:off x="1666875" y="5610225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1667" lnSpcReduction="10000"/>
          </a:bodyPr>
          <a:lstStyle/>
          <a:p>
            <a:pPr algn="ctr">
              <a:defRPr sz="1500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Резултатите од секоја фаза се следат одделно за да се утврди каде се губи потребната информација.</a:t>
            </a:r>
          </a:p>
        </p:txBody>
      </p:sp>
    </p:spTree>
    <p:extLst>
      <p:ext uri="{BB962C8B-B14F-4D97-AF65-F5344CB8AC3E}">
        <p14:creationId xmlns:p14="http://schemas.microsoft.com/office/powerpoint/2010/main" val="2109294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B938D00C-2FE1-4D48-94BD-09A7F7A55D23}"/>
              </a:ext>
            </a:extLst>
          </p:cNvPr>
          <p:cNvSpPr>
            <a:spLocks noGrp="1"/>
          </p:cNvSpPr>
          <p:nvPr/>
        </p:nvSpPr>
        <p:spPr>
          <a:xfrm>
            <a:off x="552450" y="209550"/>
            <a:ext cx="1076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Истражувачки прашања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8FBEA9-D2C2-4914-98E2-ED685002A092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11087100" cy="38100"/>
          </a:xfrm>
          <a:prstGeom prst="rect">
            <a:avLst/>
          </a:prstGeom>
          <a:solidFill>
            <a:srgbClr val="4F86C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0E0FA6-42C2-49C8-84D9-64515022A6A4}"/>
              </a:ext>
            </a:extLst>
          </p:cNvPr>
          <p:cNvSpPr>
            <a:spLocks noGrp="1"/>
          </p:cNvSpPr>
          <p:nvPr/>
        </p:nvSpPr>
        <p:spPr>
          <a:xfrm>
            <a:off x="11315700" y="648652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b">
            <a:normAutofit/>
          </a:bodyPr>
          <a:lstStyle/>
          <a:p>
            <a:pPr algn="r"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304219F-AD08-4DFD-BFD7-5A2C681505BD}"/>
              </a:ext>
            </a:extLst>
          </p:cNvPr>
          <p:cNvSpPr>
            <a:spLocks noGrp="1"/>
          </p:cNvSpPr>
          <p:nvPr/>
        </p:nvSpPr>
        <p:spPr>
          <a:xfrm>
            <a:off x="552450" y="1381125"/>
            <a:ext cx="3286125" cy="4095750"/>
          </a:xfrm>
          <a:prstGeom prst="roundRect">
            <a:avLst>
              <a:gd name="adj" fmla="val 5217"/>
            </a:avLst>
          </a:prstGeom>
          <a:solidFill>
            <a:srgbClr val="FBEDE5"/>
          </a:solidFill>
          <a:ln w="19050">
            <a:solidFill>
              <a:srgbClr val="D97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AD89C1E-5EF7-4B66-8254-C93C61C8652D}"/>
              </a:ext>
            </a:extLst>
          </p:cNvPr>
          <p:cNvSpPr>
            <a:spLocks noGrp="1"/>
          </p:cNvSpPr>
          <p:nvPr/>
        </p:nvSpPr>
        <p:spPr>
          <a:xfrm>
            <a:off x="1762125" y="1714500"/>
            <a:ext cx="857250" cy="8572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D97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007DB2-6C52-4BC7-8ED6-E9E062B21624}"/>
              </a:ext>
            </a:extLst>
          </p:cNvPr>
          <p:cNvSpPr>
            <a:spLocks noGrp="1"/>
          </p:cNvSpPr>
          <p:nvPr/>
        </p:nvSpPr>
        <p:spPr>
          <a:xfrm>
            <a:off x="1762125" y="1743075"/>
            <a:ext cx="857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2550" b="1" i="0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D9794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66464F-2929-4D91-95BB-82242CDE4A62}"/>
              </a:ext>
            </a:extLst>
          </p:cNvPr>
          <p:cNvSpPr>
            <a:spLocks noGrp="1"/>
          </p:cNvSpPr>
          <p:nvPr/>
        </p:nvSpPr>
        <p:spPr>
          <a:xfrm>
            <a:off x="838200" y="2857500"/>
            <a:ext cx="2714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725" b="1" i="0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D97942"/>
                </a:solidFill>
                <a:latin typeface="Arial"/>
                <a:ea typeface="Arial"/>
                <a:cs typeface="Arial"/>
              </a:rPr>
              <a:t>Архитектура за пребарување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61D6D4-684D-4C53-BB70-C502D2393E80}"/>
              </a:ext>
            </a:extLst>
          </p:cNvPr>
          <p:cNvSpPr>
            <a:spLocks noGrp="1"/>
          </p:cNvSpPr>
          <p:nvPr/>
        </p:nvSpPr>
        <p:spPr>
          <a:xfrm>
            <a:off x="857250" y="3638550"/>
            <a:ext cx="2676525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42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Како изборот на GNN-архитектура влијае врз рангирањето и опфатеноста на точните одговори?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BE16631-DF2B-4B51-80DC-0027554B554F}"/>
              </a:ext>
            </a:extLst>
          </p:cNvPr>
          <p:cNvSpPr>
            <a:spLocks noGrp="1"/>
          </p:cNvSpPr>
          <p:nvPr/>
        </p:nvSpPr>
        <p:spPr>
          <a:xfrm>
            <a:off x="4276725" y="1381125"/>
            <a:ext cx="3286125" cy="4095750"/>
          </a:xfrm>
          <a:prstGeom prst="roundRect">
            <a:avLst>
              <a:gd name="adj" fmla="val 5217"/>
            </a:avLst>
          </a:prstGeom>
          <a:solidFill>
            <a:srgbClr val="E8F5F3"/>
          </a:solidFill>
          <a:ln w="19050">
            <a:solidFill>
              <a:srgbClr val="398D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E8C8DC-611F-4CE8-9167-0F1CFF35EB6B}"/>
              </a:ext>
            </a:extLst>
          </p:cNvPr>
          <p:cNvSpPr>
            <a:spLocks noGrp="1"/>
          </p:cNvSpPr>
          <p:nvPr/>
        </p:nvSpPr>
        <p:spPr>
          <a:xfrm>
            <a:off x="5486400" y="1714500"/>
            <a:ext cx="857250" cy="8572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398D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E23EA2-50A5-48B6-919C-88E918B63FC3}"/>
              </a:ext>
            </a:extLst>
          </p:cNvPr>
          <p:cNvSpPr>
            <a:spLocks noGrp="1"/>
          </p:cNvSpPr>
          <p:nvPr/>
        </p:nvSpPr>
        <p:spPr>
          <a:xfrm>
            <a:off x="5486400" y="1743075"/>
            <a:ext cx="857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2550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015294-0353-4F31-B6FC-6EB15FEF190C}"/>
              </a:ext>
            </a:extLst>
          </p:cNvPr>
          <p:cNvSpPr>
            <a:spLocks noGrp="1"/>
          </p:cNvSpPr>
          <p:nvPr/>
        </p:nvSpPr>
        <p:spPr>
          <a:xfrm>
            <a:off x="4562475" y="2857500"/>
            <a:ext cx="2714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725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Доказен подграф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3DF4BA-78AC-4DCE-9F27-F96D72AD65A5}"/>
              </a:ext>
            </a:extLst>
          </p:cNvPr>
          <p:cNvSpPr>
            <a:spLocks noGrp="1"/>
          </p:cNvSpPr>
          <p:nvPr/>
        </p:nvSpPr>
        <p:spPr>
          <a:xfrm>
            <a:off x="4581525" y="3638550"/>
            <a:ext cx="2676525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42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Како конструкцијата на доказниот подграф влијае врз компактноста и зачувувањето на релевантните информации?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7583A76-9F44-4FD8-A7C7-BA75177B8FE2}"/>
              </a:ext>
            </a:extLst>
          </p:cNvPr>
          <p:cNvSpPr>
            <a:spLocks noGrp="1"/>
          </p:cNvSpPr>
          <p:nvPr/>
        </p:nvSpPr>
        <p:spPr>
          <a:xfrm>
            <a:off x="8001000" y="1381125"/>
            <a:ext cx="3286125" cy="4095750"/>
          </a:xfrm>
          <a:prstGeom prst="roundRect">
            <a:avLst>
              <a:gd name="adj" fmla="val 5217"/>
            </a:avLst>
          </a:prstGeom>
          <a:solidFill>
            <a:srgbClr val="F1ECF7"/>
          </a:solidFill>
          <a:ln w="19050">
            <a:solidFill>
              <a:srgbClr val="8064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AF2DCE8-8EC6-474B-9304-0F616F02ECCF}"/>
              </a:ext>
            </a:extLst>
          </p:cNvPr>
          <p:cNvSpPr>
            <a:spLocks noGrp="1"/>
          </p:cNvSpPr>
          <p:nvPr/>
        </p:nvSpPr>
        <p:spPr>
          <a:xfrm>
            <a:off x="9210675" y="1714500"/>
            <a:ext cx="857250" cy="8572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064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2C371C-792B-4C81-8822-E800E1B9BA11}"/>
              </a:ext>
            </a:extLst>
          </p:cNvPr>
          <p:cNvSpPr>
            <a:spLocks noGrp="1"/>
          </p:cNvSpPr>
          <p:nvPr/>
        </p:nvSpPr>
        <p:spPr>
          <a:xfrm>
            <a:off x="9210675" y="1743075"/>
            <a:ext cx="857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2550" b="1" i="0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8064A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4AE5C0D-47AB-415B-8E69-4A533DDB7371}"/>
              </a:ext>
            </a:extLst>
          </p:cNvPr>
          <p:cNvSpPr>
            <a:spLocks noGrp="1"/>
          </p:cNvSpPr>
          <p:nvPr/>
        </p:nvSpPr>
        <p:spPr>
          <a:xfrm>
            <a:off x="8286750" y="2857500"/>
            <a:ext cx="2714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725" b="1" i="0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8064A2"/>
                </a:solidFill>
                <a:latin typeface="Arial"/>
                <a:ea typeface="Arial"/>
                <a:cs typeface="Arial"/>
              </a:rPr>
              <a:t>Јазичен модел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79C12B-7F1B-45E3-9D31-7418E8DFC9C2}"/>
              </a:ext>
            </a:extLst>
          </p:cNvPr>
          <p:cNvSpPr>
            <a:spLocks noGrp="1"/>
          </p:cNvSpPr>
          <p:nvPr/>
        </p:nvSpPr>
        <p:spPr>
          <a:xfrm>
            <a:off x="8305800" y="3638550"/>
            <a:ext cx="2676525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42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Како изборот на LLM влијае врз конечната точност и искористувањето на достапниот доказен контекст?</a:t>
            </a:r>
          </a:p>
        </p:txBody>
      </p:sp>
    </p:spTree>
    <p:extLst>
      <p:ext uri="{BB962C8B-B14F-4D97-AF65-F5344CB8AC3E}">
        <p14:creationId xmlns:p14="http://schemas.microsoft.com/office/powerpoint/2010/main" val="1103904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3B8B409-9F74-4583-9D64-33477865012F}"/>
              </a:ext>
            </a:extLst>
          </p:cNvPr>
          <p:cNvSpPr>
            <a:spLocks noGrp="1"/>
          </p:cNvSpPr>
          <p:nvPr/>
        </p:nvSpPr>
        <p:spPr>
          <a:xfrm>
            <a:off x="552450" y="209550"/>
            <a:ext cx="1076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Податочно множество и експериментална поставеност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C19361-C0C6-4BFD-979C-246A3C9DBB15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11087100" cy="38100"/>
          </a:xfrm>
          <a:prstGeom prst="rect">
            <a:avLst/>
          </a:prstGeom>
          <a:solidFill>
            <a:srgbClr val="4F86C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18DB0E-475F-4B11-B97C-62CA6BE3F8F2}"/>
              </a:ext>
            </a:extLst>
          </p:cNvPr>
          <p:cNvSpPr>
            <a:spLocks noGrp="1"/>
          </p:cNvSpPr>
          <p:nvPr/>
        </p:nvSpPr>
        <p:spPr>
          <a:xfrm>
            <a:off x="552450" y="6486525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b">
            <a:normAutofit/>
          </a:bodyPr>
          <a:lstStyle/>
          <a:p>
            <a:pPr algn="l">
              <a:defRPr sz="82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WebQSP: Yih et al., 2016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201915-D21E-4A2C-B5D5-9DA95FD9C052}"/>
              </a:ext>
            </a:extLst>
          </p:cNvPr>
          <p:cNvSpPr>
            <a:spLocks noGrp="1"/>
          </p:cNvSpPr>
          <p:nvPr/>
        </p:nvSpPr>
        <p:spPr>
          <a:xfrm>
            <a:off x="11315700" y="648652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b">
            <a:normAutofit/>
          </a:bodyPr>
          <a:lstStyle/>
          <a:p>
            <a:pPr algn="r"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F979789-B5F5-4152-990E-D14BAE93EAD0}"/>
              </a:ext>
            </a:extLst>
          </p:cNvPr>
          <p:cNvSpPr>
            <a:spLocks noGrp="1"/>
          </p:cNvSpPr>
          <p:nvPr/>
        </p:nvSpPr>
        <p:spPr>
          <a:xfrm>
            <a:off x="552450" y="1104900"/>
            <a:ext cx="4238625" cy="4667250"/>
          </a:xfrm>
          <a:prstGeom prst="roundRect">
            <a:avLst>
              <a:gd name="adj" fmla="val 3146"/>
            </a:avLst>
          </a:prstGeom>
          <a:solidFill>
            <a:srgbClr val="EAF2FB"/>
          </a:solidFill>
          <a:ln w="17145">
            <a:solidFill>
              <a:srgbClr val="4F8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E262D2-E960-4E02-ACBB-748E0EBD5881}"/>
              </a:ext>
            </a:extLst>
          </p:cNvPr>
          <p:cNvSpPr>
            <a:spLocks noGrp="1"/>
          </p:cNvSpPr>
          <p:nvPr/>
        </p:nvSpPr>
        <p:spPr>
          <a:xfrm>
            <a:off x="838200" y="1333500"/>
            <a:ext cx="3667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2025" b="1" i="0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4F86C6"/>
                </a:solidFill>
                <a:latin typeface="Arial"/>
                <a:ea typeface="Arial"/>
                <a:cs typeface="Arial"/>
              </a:rPr>
              <a:t>WebQuestionsSP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6342984-F701-4369-9B93-EC40C9856DBF}"/>
              </a:ext>
            </a:extLst>
          </p:cNvPr>
          <p:cNvSpPr>
            <a:spLocks noGrp="1"/>
          </p:cNvSpPr>
          <p:nvPr/>
        </p:nvSpPr>
        <p:spPr>
          <a:xfrm>
            <a:off x="876300" y="2152650"/>
            <a:ext cx="66675" cy="66675"/>
          </a:xfrm>
          <a:prstGeom prst="ellipse">
            <a:avLst/>
          </a:prstGeom>
          <a:solidFill>
            <a:srgbClr val="26374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962B11-F6F8-47DE-9C6B-4E0590B7AF94}"/>
              </a:ext>
            </a:extLst>
          </p:cNvPr>
          <p:cNvSpPr>
            <a:spLocks noGrp="1"/>
          </p:cNvSpPr>
          <p:nvPr/>
        </p:nvSpPr>
        <p:spPr>
          <a:xfrm>
            <a:off x="1047750" y="2047875"/>
            <a:ext cx="33051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42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Прашања на природен јазик поврзани со Freebase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8977199-09BF-4D42-8E9D-621EE2C90C47}"/>
              </a:ext>
            </a:extLst>
          </p:cNvPr>
          <p:cNvSpPr>
            <a:spLocks noGrp="1"/>
          </p:cNvSpPr>
          <p:nvPr/>
        </p:nvSpPr>
        <p:spPr>
          <a:xfrm>
            <a:off x="876300" y="2962275"/>
            <a:ext cx="66675" cy="66675"/>
          </a:xfrm>
          <a:prstGeom prst="ellipse">
            <a:avLst/>
          </a:prstGeom>
          <a:solidFill>
            <a:srgbClr val="26374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EAE5FA-532A-4951-ACA7-67B23E9B4564}"/>
              </a:ext>
            </a:extLst>
          </p:cNvPr>
          <p:cNvSpPr>
            <a:spLocks noGrp="1"/>
          </p:cNvSpPr>
          <p:nvPr/>
        </p:nvSpPr>
        <p:spPr>
          <a:xfrm>
            <a:off x="1047750" y="2857500"/>
            <a:ext cx="33051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42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Локален граф за секое прашање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F9720E9-BAA2-4F9F-B283-C7A16AF9A71A}"/>
              </a:ext>
            </a:extLst>
          </p:cNvPr>
          <p:cNvSpPr>
            <a:spLocks noGrp="1"/>
          </p:cNvSpPr>
          <p:nvPr/>
        </p:nvSpPr>
        <p:spPr>
          <a:xfrm>
            <a:off x="876300" y="3581400"/>
            <a:ext cx="66675" cy="66675"/>
          </a:xfrm>
          <a:prstGeom prst="ellipse">
            <a:avLst/>
          </a:prstGeom>
          <a:solidFill>
            <a:srgbClr val="26374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813C66-B241-40F3-A7FA-1C0D7C4BD743}"/>
              </a:ext>
            </a:extLst>
          </p:cNvPr>
          <p:cNvSpPr>
            <a:spLocks noGrp="1"/>
          </p:cNvSpPr>
          <p:nvPr/>
        </p:nvSpPr>
        <p:spPr>
          <a:xfrm>
            <a:off x="1047750" y="3476625"/>
            <a:ext cx="33051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42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Познати почетни ентитети и точни одговори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84CA23-938F-468F-9120-7273716863E0}"/>
              </a:ext>
            </a:extLst>
          </p:cNvPr>
          <p:cNvSpPr>
            <a:spLocks noGrp="1"/>
          </p:cNvSpPr>
          <p:nvPr/>
        </p:nvSpPr>
        <p:spPr>
          <a:xfrm>
            <a:off x="838200" y="4429125"/>
            <a:ext cx="36671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500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Заедничка евалуација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40BA68-DEB3-4EC3-92CE-4A5F7B27712B}"/>
              </a:ext>
            </a:extLst>
          </p:cNvPr>
          <p:cNvSpPr>
            <a:spLocks noGrp="1"/>
          </p:cNvSpPr>
          <p:nvPr/>
        </p:nvSpPr>
        <p:spPr>
          <a:xfrm>
            <a:off x="838200" y="4810125"/>
            <a:ext cx="36671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35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seeds: 42 · 1337 · 2026</a:t>
            </a:r>
          </a:p>
          <a:p>
            <a:pPr algn="l">
              <a:defRPr sz="135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праг: 0,7 · 10–15 кандидати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25FCA7-CBAB-4E51-8753-A7F60FD36E2F}"/>
              </a:ext>
            </a:extLst>
          </p:cNvPr>
          <p:cNvSpPr>
            <a:spLocks noGrp="1"/>
          </p:cNvSpPr>
          <p:nvPr/>
        </p:nvSpPr>
        <p:spPr>
          <a:xfrm>
            <a:off x="5334000" y="1200150"/>
            <a:ext cx="609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7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Поделба на податоците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37A5762-7714-4D9F-BC39-0D409D0E4A5E}"/>
              </a:ext>
            </a:extLst>
          </p:cNvPr>
          <p:cNvSpPr>
            <a:spLocks noGrp="1"/>
          </p:cNvSpPr>
          <p:nvPr/>
        </p:nvSpPr>
        <p:spPr>
          <a:xfrm>
            <a:off x="5334000" y="1809750"/>
            <a:ext cx="1733550" cy="1285875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7145">
            <a:solidFill>
              <a:srgbClr val="D97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EEBBA1-38E5-44D0-BB1B-0473C7429B37}"/>
              </a:ext>
            </a:extLst>
          </p:cNvPr>
          <p:cNvSpPr>
            <a:spLocks noGrp="1"/>
          </p:cNvSpPr>
          <p:nvPr/>
        </p:nvSpPr>
        <p:spPr>
          <a:xfrm>
            <a:off x="5448300" y="2028825"/>
            <a:ext cx="15049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2400" b="1" i="0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D97942"/>
                </a:solidFill>
                <a:latin typeface="Arial"/>
                <a:ea typeface="Arial"/>
                <a:cs typeface="Arial"/>
              </a:rPr>
              <a:t>2.848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12A8DDF-3CEF-4973-A4D0-0B6B8639DDF1}"/>
              </a:ext>
            </a:extLst>
          </p:cNvPr>
          <p:cNvSpPr>
            <a:spLocks noGrp="1"/>
          </p:cNvSpPr>
          <p:nvPr/>
        </p:nvSpPr>
        <p:spPr>
          <a:xfrm>
            <a:off x="5448300" y="2486025"/>
            <a:ext cx="1504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2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тренирање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3C0C236-23CD-4454-B531-66127A597C36}"/>
              </a:ext>
            </a:extLst>
          </p:cNvPr>
          <p:cNvSpPr>
            <a:spLocks noGrp="1"/>
          </p:cNvSpPr>
          <p:nvPr/>
        </p:nvSpPr>
        <p:spPr>
          <a:xfrm>
            <a:off x="7334250" y="1809750"/>
            <a:ext cx="1733550" cy="1285875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7145">
            <a:solidFill>
              <a:srgbClr val="398D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5D20705-240E-467F-8D87-AAA591645FB9}"/>
              </a:ext>
            </a:extLst>
          </p:cNvPr>
          <p:cNvSpPr>
            <a:spLocks noGrp="1"/>
          </p:cNvSpPr>
          <p:nvPr/>
        </p:nvSpPr>
        <p:spPr>
          <a:xfrm>
            <a:off x="7448550" y="2028825"/>
            <a:ext cx="15049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2400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250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8A7AA4E-FBAB-4E25-BF50-B0B54701D1BB}"/>
              </a:ext>
            </a:extLst>
          </p:cNvPr>
          <p:cNvSpPr>
            <a:spLocks noGrp="1"/>
          </p:cNvSpPr>
          <p:nvPr/>
        </p:nvSpPr>
        <p:spPr>
          <a:xfrm>
            <a:off x="7448550" y="2486025"/>
            <a:ext cx="1504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2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валидација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B530-1D84-4439-8130-FACDB6887F71}"/>
              </a:ext>
            </a:extLst>
          </p:cNvPr>
          <p:cNvSpPr>
            <a:spLocks noGrp="1"/>
          </p:cNvSpPr>
          <p:nvPr/>
        </p:nvSpPr>
        <p:spPr>
          <a:xfrm>
            <a:off x="9334500" y="1809750"/>
            <a:ext cx="1733550" cy="1285875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7145">
            <a:solidFill>
              <a:srgbClr val="8064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05A3CC8-2C75-4962-94B8-D5DBDD463A49}"/>
              </a:ext>
            </a:extLst>
          </p:cNvPr>
          <p:cNvSpPr>
            <a:spLocks noGrp="1"/>
          </p:cNvSpPr>
          <p:nvPr/>
        </p:nvSpPr>
        <p:spPr>
          <a:xfrm>
            <a:off x="9448800" y="2028825"/>
            <a:ext cx="15049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2400" b="1" i="0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8064A2"/>
                </a:solidFill>
                <a:latin typeface="Arial"/>
                <a:ea typeface="Arial"/>
                <a:cs typeface="Arial"/>
              </a:rPr>
              <a:t>1.639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E66D3D6-DF14-4961-8E5F-ACCEAE361146}"/>
              </a:ext>
            </a:extLst>
          </p:cNvPr>
          <p:cNvSpPr>
            <a:spLocks noGrp="1"/>
          </p:cNvSpPr>
          <p:nvPr/>
        </p:nvSpPr>
        <p:spPr>
          <a:xfrm>
            <a:off x="9448800" y="2486025"/>
            <a:ext cx="1504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2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тестирање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7D3616D8-BC9C-4A79-AB8B-89118D0E529D}"/>
              </a:ext>
            </a:extLst>
          </p:cNvPr>
          <p:cNvSpPr>
            <a:spLocks noGrp="1"/>
          </p:cNvSpPr>
          <p:nvPr/>
        </p:nvSpPr>
        <p:spPr>
          <a:xfrm>
            <a:off x="5334000" y="3524250"/>
            <a:ext cx="5734050" cy="1619250"/>
          </a:xfrm>
          <a:prstGeom prst="roundRect">
            <a:avLst>
              <a:gd name="adj" fmla="val 8235"/>
            </a:avLst>
          </a:prstGeom>
          <a:solidFill>
            <a:srgbClr val="F7F9FB"/>
          </a:solidFill>
          <a:ln w="13335">
            <a:solidFill>
              <a:srgbClr val="A9B4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0A33165-F378-4047-B45F-39727844804B}"/>
              </a:ext>
            </a:extLst>
          </p:cNvPr>
          <p:cNvSpPr>
            <a:spLocks noGrp="1"/>
          </p:cNvSpPr>
          <p:nvPr/>
        </p:nvSpPr>
        <p:spPr>
          <a:xfrm>
            <a:off x="5953125" y="3771900"/>
            <a:ext cx="4495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3000" b="1" i="0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4F86C6"/>
                </a:solidFill>
                <a:latin typeface="Arial"/>
                <a:ea typeface="Arial"/>
                <a:cs typeface="Arial"/>
              </a:rPr>
              <a:t>1.889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80F283B-F608-4B04-AB97-AE3E32F84D72}"/>
              </a:ext>
            </a:extLst>
          </p:cNvPr>
          <p:cNvSpPr>
            <a:spLocks noGrp="1"/>
          </p:cNvSpPr>
          <p:nvPr/>
        </p:nvSpPr>
        <p:spPr>
          <a:xfrm>
            <a:off x="5953125" y="4229100"/>
            <a:ext cx="44958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35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обединети примероци за евалуација пред филтрирањето</a:t>
            </a:r>
          </a:p>
        </p:txBody>
      </p:sp>
    </p:spTree>
    <p:extLst>
      <p:ext uri="{BB962C8B-B14F-4D97-AF65-F5344CB8AC3E}">
        <p14:creationId xmlns:p14="http://schemas.microsoft.com/office/powerpoint/2010/main" val="956244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6F59FAA-75F4-4A83-A953-45A208FE96D2}"/>
              </a:ext>
            </a:extLst>
          </p:cNvPr>
          <p:cNvSpPr>
            <a:spLocks noGrp="1"/>
          </p:cNvSpPr>
          <p:nvPr/>
        </p:nvSpPr>
        <p:spPr>
          <a:xfrm>
            <a:off x="552450" y="209550"/>
            <a:ext cx="1076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Архитектури за пребарување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F12EA6-4384-442C-917D-6C40E4BA1A0D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11087100" cy="38100"/>
          </a:xfrm>
          <a:prstGeom prst="rect">
            <a:avLst/>
          </a:prstGeom>
          <a:solidFill>
            <a:srgbClr val="D9794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61FE3F-3664-4DFD-A7E1-85414CD78BEA}"/>
              </a:ext>
            </a:extLst>
          </p:cNvPr>
          <p:cNvSpPr>
            <a:spLocks noGrp="1"/>
          </p:cNvSpPr>
          <p:nvPr/>
        </p:nvSpPr>
        <p:spPr>
          <a:xfrm>
            <a:off x="11315700" y="648652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b">
            <a:normAutofit/>
          </a:bodyPr>
          <a:lstStyle/>
          <a:p>
            <a:pPr algn="r"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0667" y="857250"/>
            <a:ext cx="9990667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77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1A15A17-40D3-4EDB-B249-7E5849DBE829}"/>
              </a:ext>
            </a:extLst>
          </p:cNvPr>
          <p:cNvSpPr>
            <a:spLocks noGrp="1"/>
          </p:cNvSpPr>
          <p:nvPr/>
        </p:nvSpPr>
        <p:spPr>
          <a:xfrm>
            <a:off x="552450" y="209550"/>
            <a:ext cx="1076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GraphSAGE и Advance GraphSAGE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B9DEF3-18C8-492C-9CAB-CFC105022596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11087100" cy="38100"/>
          </a:xfrm>
          <a:prstGeom prst="rect">
            <a:avLst/>
          </a:prstGeom>
          <a:solidFill>
            <a:srgbClr val="D9794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3329D6-120A-4743-B040-C174063AAF8A}"/>
              </a:ext>
            </a:extLst>
          </p:cNvPr>
          <p:cNvSpPr>
            <a:spLocks noGrp="1"/>
          </p:cNvSpPr>
          <p:nvPr/>
        </p:nvSpPr>
        <p:spPr>
          <a:xfrm>
            <a:off x="552450" y="6486525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b">
            <a:normAutofit/>
          </a:bodyPr>
          <a:lstStyle/>
          <a:p>
            <a:pPr algn="l">
              <a:defRPr sz="82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Hamilton et al., 2017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D6641D-2EE3-4635-ADFF-9B667AA4624C}"/>
              </a:ext>
            </a:extLst>
          </p:cNvPr>
          <p:cNvSpPr>
            <a:spLocks noGrp="1"/>
          </p:cNvSpPr>
          <p:nvPr/>
        </p:nvSpPr>
        <p:spPr>
          <a:xfrm>
            <a:off x="11315700" y="648652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b">
            <a:normAutofit/>
          </a:bodyPr>
          <a:lstStyle/>
          <a:p>
            <a:pPr algn="r"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70404" y="1028700"/>
            <a:ext cx="7755467" cy="43624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3E95825-7586-455F-B853-33B812989303}"/>
              </a:ext>
            </a:extLst>
          </p:cNvPr>
          <p:cNvSpPr>
            <a:spLocks noGrp="1"/>
          </p:cNvSpPr>
          <p:nvPr/>
        </p:nvSpPr>
        <p:spPr>
          <a:xfrm>
            <a:off x="8334375" y="11049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575" b="1" i="0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D97942"/>
                </a:solidFill>
                <a:latin typeface="Arial"/>
                <a:ea typeface="Arial"/>
                <a:cs typeface="Arial"/>
              </a:rPr>
              <a:t>Клучна разлика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738F8F7-83CA-4123-B33C-C3C3EB91F2FD}"/>
              </a:ext>
            </a:extLst>
          </p:cNvPr>
          <p:cNvSpPr>
            <a:spLocks noGrp="1"/>
          </p:cNvSpPr>
          <p:nvPr/>
        </p:nvSpPr>
        <p:spPr>
          <a:xfrm>
            <a:off x="8239125" y="1571625"/>
            <a:ext cx="3333750" cy="685800"/>
          </a:xfrm>
          <a:prstGeom prst="roundRect">
            <a:avLst>
              <a:gd name="adj" fmla="val 13889"/>
            </a:avLst>
          </a:prstGeom>
          <a:solidFill>
            <a:srgbClr val="EAF2FB"/>
          </a:solidFill>
          <a:ln w="11430">
            <a:solidFill>
              <a:srgbClr val="4F8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75E428-001D-4C0F-882D-AFAD46B59EC3}"/>
              </a:ext>
            </a:extLst>
          </p:cNvPr>
          <p:cNvSpPr>
            <a:spLocks noGrp="1"/>
          </p:cNvSpPr>
          <p:nvPr/>
        </p:nvSpPr>
        <p:spPr>
          <a:xfrm>
            <a:off x="8353425" y="1638300"/>
            <a:ext cx="3105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725" b="0" i="0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4F86C6"/>
                </a:solidFill>
                <a:latin typeface="Arial"/>
                <a:ea typeface="Arial"/>
                <a:cs typeface="Arial"/>
              </a:rPr>
              <a:t>α(q,r) = cos(q,r)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3CC135A-69B4-4EBC-9FBA-DCD38D618F22}"/>
              </a:ext>
            </a:extLst>
          </p:cNvPr>
          <p:cNvSpPr>
            <a:spLocks noGrp="1"/>
          </p:cNvSpPr>
          <p:nvPr/>
        </p:nvSpPr>
        <p:spPr>
          <a:xfrm>
            <a:off x="8239125" y="2457450"/>
            <a:ext cx="3333750" cy="971550"/>
          </a:xfrm>
          <a:prstGeom prst="roundRect">
            <a:avLst>
              <a:gd name="adj" fmla="val 9804"/>
            </a:avLst>
          </a:prstGeom>
          <a:solidFill>
            <a:srgbClr val="FBEDE5"/>
          </a:solidFill>
          <a:ln w="11430">
            <a:solidFill>
              <a:srgbClr val="D97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5FB2B3-D4F2-4852-8592-5B1E09D37281}"/>
              </a:ext>
            </a:extLst>
          </p:cNvPr>
          <p:cNvSpPr>
            <a:spLocks noGrp="1"/>
          </p:cNvSpPr>
          <p:nvPr/>
        </p:nvSpPr>
        <p:spPr>
          <a:xfrm>
            <a:off x="8353425" y="2524125"/>
            <a:ext cx="31051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425" b="0" i="0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D97942"/>
                </a:solidFill>
                <a:latin typeface="Arial"/>
                <a:ea typeface="Arial"/>
                <a:cs typeface="Arial"/>
              </a:rPr>
              <a:t>α(q,r) = sigmoid(MLP[q̃ ∥ r̃ ∥ q̃⊙r̃])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34D01FB-5572-4B2F-A467-FBE0FD7040A6}"/>
              </a:ext>
            </a:extLst>
          </p:cNvPr>
          <p:cNvSpPr>
            <a:spLocks noGrp="1"/>
          </p:cNvSpPr>
          <p:nvPr/>
        </p:nvSpPr>
        <p:spPr>
          <a:xfrm>
            <a:off x="8334375" y="3895725"/>
            <a:ext cx="66675" cy="66675"/>
          </a:xfrm>
          <a:prstGeom prst="ellipse">
            <a:avLst/>
          </a:prstGeom>
          <a:solidFill>
            <a:srgbClr val="D9794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7FAB3A-822B-4A38-A556-30BB8DE8FDA3}"/>
              </a:ext>
            </a:extLst>
          </p:cNvPr>
          <p:cNvSpPr>
            <a:spLocks noGrp="1"/>
          </p:cNvSpPr>
          <p:nvPr/>
        </p:nvSpPr>
        <p:spPr>
          <a:xfrm>
            <a:off x="8505825" y="3790950"/>
            <a:ext cx="29241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Обратни рабови и резидуални врски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92B892A-5CB5-4B59-8F0E-1DBD52125D9B}"/>
              </a:ext>
            </a:extLst>
          </p:cNvPr>
          <p:cNvSpPr>
            <a:spLocks noGrp="1"/>
          </p:cNvSpPr>
          <p:nvPr/>
        </p:nvSpPr>
        <p:spPr>
          <a:xfrm>
            <a:off x="8334375" y="4467225"/>
            <a:ext cx="66675" cy="66675"/>
          </a:xfrm>
          <a:prstGeom prst="ellipse">
            <a:avLst/>
          </a:prstGeom>
          <a:solidFill>
            <a:srgbClr val="D9794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F7D290-BFCC-4CCD-9A0D-C1DB2D6DB978}"/>
              </a:ext>
            </a:extLst>
          </p:cNvPr>
          <p:cNvSpPr>
            <a:spLocks noGrp="1"/>
          </p:cNvSpPr>
          <p:nvPr/>
        </p:nvSpPr>
        <p:spPr>
          <a:xfrm>
            <a:off x="8505825" y="4362450"/>
            <a:ext cx="29241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Нормализација и оценка условена од прашањето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D8A6B6-BCCA-4F15-AC3E-08160849F274}"/>
              </a:ext>
            </a:extLst>
          </p:cNvPr>
          <p:cNvSpPr>
            <a:spLocks noGrp="1"/>
          </p:cNvSpPr>
          <p:nvPr/>
        </p:nvSpPr>
        <p:spPr>
          <a:xfrm>
            <a:off x="838200" y="5676900"/>
            <a:ext cx="104298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7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Од фиксно семантичко пондерирање кон научен gate за конкретното прашање.</a:t>
            </a:r>
          </a:p>
        </p:txBody>
      </p:sp>
    </p:spTree>
    <p:extLst>
      <p:ext uri="{BB962C8B-B14F-4D97-AF65-F5344CB8AC3E}">
        <p14:creationId xmlns:p14="http://schemas.microsoft.com/office/powerpoint/2010/main" val="1884095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1214F9F-97BC-4A9B-A227-F5B1F867E501}"/>
              </a:ext>
            </a:extLst>
          </p:cNvPr>
          <p:cNvSpPr>
            <a:spLocks noGrp="1"/>
          </p:cNvSpPr>
          <p:nvPr/>
        </p:nvSpPr>
        <p:spPr>
          <a:xfrm>
            <a:off x="552450" y="209550"/>
            <a:ext cx="1076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R-GCN и HGT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8F9FD8-B586-458C-B74E-D248C7C2488C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11087100" cy="38100"/>
          </a:xfrm>
          <a:prstGeom prst="rect">
            <a:avLst/>
          </a:prstGeom>
          <a:solidFill>
            <a:srgbClr val="D9794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849C3F-4E4C-48CD-89A4-51D811D5715C}"/>
              </a:ext>
            </a:extLst>
          </p:cNvPr>
          <p:cNvSpPr>
            <a:spLocks noGrp="1"/>
          </p:cNvSpPr>
          <p:nvPr/>
        </p:nvSpPr>
        <p:spPr>
          <a:xfrm>
            <a:off x="552450" y="6486525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b">
            <a:normAutofit/>
          </a:bodyPr>
          <a:lstStyle/>
          <a:p>
            <a:pPr algn="l">
              <a:defRPr sz="82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Schlichtkrull et al., 2018 · Hu et al., 2020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EAC1E0-3E54-432C-BAA2-6432C98D35C5}"/>
              </a:ext>
            </a:extLst>
          </p:cNvPr>
          <p:cNvSpPr>
            <a:spLocks noGrp="1"/>
          </p:cNvSpPr>
          <p:nvPr/>
        </p:nvSpPr>
        <p:spPr>
          <a:xfrm>
            <a:off x="11315700" y="648652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b">
            <a:normAutofit/>
          </a:bodyPr>
          <a:lstStyle/>
          <a:p>
            <a:pPr algn="r"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38125" y="1069777"/>
            <a:ext cx="7524750" cy="423267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A72816F-11A2-4CDC-87D6-991CC1CB845A}"/>
              </a:ext>
            </a:extLst>
          </p:cNvPr>
          <p:cNvSpPr>
            <a:spLocks noGrp="1"/>
          </p:cNvSpPr>
          <p:nvPr/>
        </p:nvSpPr>
        <p:spPr>
          <a:xfrm>
            <a:off x="8096250" y="1104900"/>
            <a:ext cx="3381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650" b="1" i="0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D97942"/>
                </a:solidFill>
                <a:latin typeface="Arial"/>
                <a:ea typeface="Arial"/>
                <a:cs typeface="Arial"/>
              </a:rPr>
              <a:t>R-GCN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C64CE06-C239-475C-95C7-ADBE0B0CD913}"/>
              </a:ext>
            </a:extLst>
          </p:cNvPr>
          <p:cNvSpPr>
            <a:spLocks noGrp="1"/>
          </p:cNvSpPr>
          <p:nvPr/>
        </p:nvSpPr>
        <p:spPr>
          <a:xfrm>
            <a:off x="8001000" y="1504950"/>
            <a:ext cx="3619500" cy="952500"/>
          </a:xfrm>
          <a:prstGeom prst="roundRect">
            <a:avLst>
              <a:gd name="adj" fmla="val 10000"/>
            </a:avLst>
          </a:prstGeom>
          <a:solidFill>
            <a:srgbClr val="FBEDE5"/>
          </a:solidFill>
          <a:ln w="11430">
            <a:solidFill>
              <a:srgbClr val="D97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F94A42-518C-46EC-8722-B3CA240EA098}"/>
              </a:ext>
            </a:extLst>
          </p:cNvPr>
          <p:cNvSpPr>
            <a:spLocks noGrp="1"/>
          </p:cNvSpPr>
          <p:nvPr/>
        </p:nvSpPr>
        <p:spPr>
          <a:xfrm>
            <a:off x="8115300" y="1571625"/>
            <a:ext cx="33909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350" b="0" i="0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97942"/>
                </a:solidFill>
                <a:latin typeface="Arial"/>
                <a:ea typeface="Arial"/>
                <a:cs typeface="Arial"/>
              </a:rPr>
              <a:t>hᵥ⁽ˡ⁺¹⁾ = σ(W₀⁽ˡ⁾hᵥ⁽ˡ⁾ + Σᵣ Σᵤ 1/cᵥ,ᵣ · Wᵣ⁽ˡ⁾hᵤ⁽ˡ⁾)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FF46108-00A0-4226-9060-CBE3B9CB7688}"/>
              </a:ext>
            </a:extLst>
          </p:cNvPr>
          <p:cNvSpPr>
            <a:spLocks noGrp="1"/>
          </p:cNvSpPr>
          <p:nvPr/>
        </p:nvSpPr>
        <p:spPr>
          <a:xfrm>
            <a:off x="8096250" y="2781300"/>
            <a:ext cx="66675" cy="66675"/>
          </a:xfrm>
          <a:prstGeom prst="ellipse">
            <a:avLst/>
          </a:prstGeom>
          <a:solidFill>
            <a:srgbClr val="D9794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1FD1E2-11CE-4DAE-9452-1376646FC5FB}"/>
              </a:ext>
            </a:extLst>
          </p:cNvPr>
          <p:cNvSpPr>
            <a:spLocks noGrp="1"/>
          </p:cNvSpPr>
          <p:nvPr/>
        </p:nvSpPr>
        <p:spPr>
          <a:xfrm>
            <a:off x="8267700" y="2676525"/>
            <a:ext cx="32099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Различна трансформација за секој тип релација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D3B59A-C912-4E6C-83E3-51D0116A9EC9}"/>
              </a:ext>
            </a:extLst>
          </p:cNvPr>
          <p:cNvSpPr>
            <a:spLocks noGrp="1"/>
          </p:cNvSpPr>
          <p:nvPr/>
        </p:nvSpPr>
        <p:spPr>
          <a:xfrm>
            <a:off x="8096250" y="3524250"/>
            <a:ext cx="3381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650" b="1" i="0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8064A2"/>
                </a:solidFill>
                <a:latin typeface="Arial"/>
                <a:ea typeface="Arial"/>
                <a:cs typeface="Arial"/>
              </a:rPr>
              <a:t>HGT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2331E24-8995-4DC4-ADE2-BEA978F86537}"/>
              </a:ext>
            </a:extLst>
          </p:cNvPr>
          <p:cNvSpPr>
            <a:spLocks noGrp="1"/>
          </p:cNvSpPr>
          <p:nvPr/>
        </p:nvSpPr>
        <p:spPr>
          <a:xfrm>
            <a:off x="8001000" y="3924300"/>
            <a:ext cx="3619500" cy="723900"/>
          </a:xfrm>
          <a:prstGeom prst="roundRect">
            <a:avLst>
              <a:gd name="adj" fmla="val 13158"/>
            </a:avLst>
          </a:prstGeom>
          <a:solidFill>
            <a:srgbClr val="F1ECF7"/>
          </a:solidFill>
          <a:ln w="11430">
            <a:solidFill>
              <a:srgbClr val="8064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31BF66-9EC0-48D9-AC39-868C70B87410}"/>
              </a:ext>
            </a:extLst>
          </p:cNvPr>
          <p:cNvSpPr>
            <a:spLocks noGrp="1"/>
          </p:cNvSpPr>
          <p:nvPr/>
        </p:nvSpPr>
        <p:spPr>
          <a:xfrm>
            <a:off x="8115300" y="3990975"/>
            <a:ext cx="3390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650" b="0" i="0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8064A2"/>
                </a:solidFill>
                <a:latin typeface="Arial"/>
                <a:ea typeface="Arial"/>
                <a:cs typeface="Arial"/>
              </a:rPr>
              <a:t>αᵣ,ʲᵤᵥ = softmax(eᵣ,ʲᵤᵥ)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7815CA0-7362-4887-9332-C3B8BD75789C}"/>
              </a:ext>
            </a:extLst>
          </p:cNvPr>
          <p:cNvSpPr>
            <a:spLocks noGrp="1"/>
          </p:cNvSpPr>
          <p:nvPr/>
        </p:nvSpPr>
        <p:spPr>
          <a:xfrm>
            <a:off x="8096250" y="4962525"/>
            <a:ext cx="66675" cy="66675"/>
          </a:xfrm>
          <a:prstGeom prst="ellipse">
            <a:avLst/>
          </a:prstGeom>
          <a:solidFill>
            <a:srgbClr val="8064A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49DDA8-9B01-463F-B7A4-AFB33009ADB3}"/>
              </a:ext>
            </a:extLst>
          </p:cNvPr>
          <p:cNvSpPr>
            <a:spLocks noGrp="1"/>
          </p:cNvSpPr>
          <p:nvPr/>
        </p:nvSpPr>
        <p:spPr>
          <a:xfrm>
            <a:off x="8267700" y="4857750"/>
            <a:ext cx="32099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Релациски зависен attention за соседите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36A29F-2883-4018-AF16-3B246E59CF05}"/>
              </a:ext>
            </a:extLst>
          </p:cNvPr>
          <p:cNvSpPr>
            <a:spLocks noGrp="1"/>
          </p:cNvSpPr>
          <p:nvPr/>
        </p:nvSpPr>
        <p:spPr>
          <a:xfrm>
            <a:off x="809625" y="5743575"/>
            <a:ext cx="1057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И двете архитектури ја задржуваат релациската структура, но ја моделираат на различен начин.</a:t>
            </a:r>
          </a:p>
        </p:txBody>
      </p:sp>
    </p:spTree>
    <p:extLst>
      <p:ext uri="{BB962C8B-B14F-4D97-AF65-F5344CB8AC3E}">
        <p14:creationId xmlns:p14="http://schemas.microsoft.com/office/powerpoint/2010/main" val="625376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4DC3116-E27C-4D62-A2F2-91A0C7C3856A}"/>
              </a:ext>
            </a:extLst>
          </p:cNvPr>
          <p:cNvSpPr>
            <a:spLocks noGrp="1"/>
          </p:cNvSpPr>
          <p:nvPr/>
        </p:nvSpPr>
        <p:spPr>
          <a:xfrm>
            <a:off x="552450" y="209550"/>
            <a:ext cx="1076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ReaRev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7E67DC-197D-4D52-A9AA-1ECB77F2A3E6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11087100" cy="38100"/>
          </a:xfrm>
          <a:prstGeom prst="rect">
            <a:avLst/>
          </a:prstGeom>
          <a:solidFill>
            <a:srgbClr val="D9794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D886A8-476D-42AF-AADA-867D703D26F1}"/>
              </a:ext>
            </a:extLst>
          </p:cNvPr>
          <p:cNvSpPr>
            <a:spLocks noGrp="1"/>
          </p:cNvSpPr>
          <p:nvPr/>
        </p:nvSpPr>
        <p:spPr>
          <a:xfrm>
            <a:off x="552450" y="6486525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b">
            <a:normAutofit/>
          </a:bodyPr>
          <a:lstStyle/>
          <a:p>
            <a:pPr algn="l">
              <a:defRPr sz="82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Mavromatis and Karypis, 2022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4257D3-EE98-48F7-8C32-EF9812E753AE}"/>
              </a:ext>
            </a:extLst>
          </p:cNvPr>
          <p:cNvSpPr>
            <a:spLocks noGrp="1"/>
          </p:cNvSpPr>
          <p:nvPr/>
        </p:nvSpPr>
        <p:spPr>
          <a:xfrm>
            <a:off x="11315700" y="648652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b">
            <a:normAutofit/>
          </a:bodyPr>
          <a:lstStyle/>
          <a:p>
            <a:pPr algn="r"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1829" y="1028700"/>
            <a:ext cx="7755467" cy="43624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A6C4C42-9E4D-4990-A66B-F245FCC3B2D2}"/>
              </a:ext>
            </a:extLst>
          </p:cNvPr>
          <p:cNvSpPr>
            <a:spLocks noGrp="1"/>
          </p:cNvSpPr>
          <p:nvPr/>
        </p:nvSpPr>
        <p:spPr>
          <a:xfrm>
            <a:off x="8286750" y="1104900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650" b="1" i="0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8064A2"/>
                </a:solidFill>
                <a:latin typeface="Arial"/>
                <a:ea typeface="Arial"/>
                <a:cs typeface="Arial"/>
              </a:rPr>
              <a:t>Приспособливо расудување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F5D94DF-9B7E-4D12-B245-F35CA9150F4A}"/>
              </a:ext>
            </a:extLst>
          </p:cNvPr>
          <p:cNvSpPr>
            <a:spLocks noGrp="1"/>
          </p:cNvSpPr>
          <p:nvPr/>
        </p:nvSpPr>
        <p:spPr>
          <a:xfrm>
            <a:off x="8334375" y="1800225"/>
            <a:ext cx="66675" cy="66675"/>
          </a:xfrm>
          <a:prstGeom prst="ellipse">
            <a:avLst/>
          </a:prstGeom>
          <a:solidFill>
            <a:srgbClr val="8064A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F9AB62-D673-4419-AC43-4B305875D248}"/>
              </a:ext>
            </a:extLst>
          </p:cNvPr>
          <p:cNvSpPr>
            <a:spLocks noGrp="1"/>
          </p:cNvSpPr>
          <p:nvPr/>
        </p:nvSpPr>
        <p:spPr>
          <a:xfrm>
            <a:off x="8505825" y="1695450"/>
            <a:ext cx="29241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Повеќе инструкции се извлекуваат од прашањето.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DC87FAE-1EEB-4E20-9835-C603E3EC3731}"/>
              </a:ext>
            </a:extLst>
          </p:cNvPr>
          <p:cNvSpPr>
            <a:spLocks noGrp="1"/>
          </p:cNvSpPr>
          <p:nvPr/>
        </p:nvSpPr>
        <p:spPr>
          <a:xfrm>
            <a:off x="8334375" y="2533650"/>
            <a:ext cx="66675" cy="66675"/>
          </a:xfrm>
          <a:prstGeom prst="ellipse">
            <a:avLst/>
          </a:prstGeom>
          <a:solidFill>
            <a:srgbClr val="8064A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C69956-54DE-4C5C-82E5-CE3C27FCCF16}"/>
              </a:ext>
            </a:extLst>
          </p:cNvPr>
          <p:cNvSpPr>
            <a:spLocks noGrp="1"/>
          </p:cNvSpPr>
          <p:nvPr/>
        </p:nvSpPr>
        <p:spPr>
          <a:xfrm>
            <a:off x="8505825" y="2428875"/>
            <a:ext cx="29241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Инструкциите го насочуваат преносот на пораки.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624EDB0-9C5C-42B4-B6B9-9A572DCAC60E}"/>
              </a:ext>
            </a:extLst>
          </p:cNvPr>
          <p:cNvSpPr>
            <a:spLocks noGrp="1"/>
          </p:cNvSpPr>
          <p:nvPr/>
        </p:nvSpPr>
        <p:spPr>
          <a:xfrm>
            <a:off x="8334375" y="3267075"/>
            <a:ext cx="66675" cy="66675"/>
          </a:xfrm>
          <a:prstGeom prst="ellipse">
            <a:avLst/>
          </a:prstGeom>
          <a:solidFill>
            <a:srgbClr val="8064A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916FE0-107B-4CB6-A81C-9235B2EC3ADB}"/>
              </a:ext>
            </a:extLst>
          </p:cNvPr>
          <p:cNvSpPr>
            <a:spLocks noGrp="1"/>
          </p:cNvSpPr>
          <p:nvPr/>
        </p:nvSpPr>
        <p:spPr>
          <a:xfrm>
            <a:off x="8505825" y="3162300"/>
            <a:ext cx="29241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Собраната информација ги ревидира инструкциите.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5A7417E-1267-4331-AACF-8FEA57E9B641}"/>
              </a:ext>
            </a:extLst>
          </p:cNvPr>
          <p:cNvSpPr>
            <a:spLocks noGrp="1"/>
          </p:cNvSpPr>
          <p:nvPr/>
        </p:nvSpPr>
        <p:spPr>
          <a:xfrm>
            <a:off x="8096250" y="4191000"/>
            <a:ext cx="3524250" cy="819150"/>
          </a:xfrm>
          <a:prstGeom prst="roundRect">
            <a:avLst>
              <a:gd name="adj" fmla="val 11628"/>
            </a:avLst>
          </a:prstGeom>
          <a:solidFill>
            <a:srgbClr val="F1ECF7"/>
          </a:solidFill>
          <a:ln w="11430">
            <a:solidFill>
              <a:srgbClr val="8064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9A12149-A317-43C9-A7BA-868EB4FBB239}"/>
              </a:ext>
            </a:extLst>
          </p:cNvPr>
          <p:cNvSpPr>
            <a:spLocks noGrp="1"/>
          </p:cNvSpPr>
          <p:nvPr/>
        </p:nvSpPr>
        <p:spPr>
          <a:xfrm>
            <a:off x="8210550" y="4257675"/>
            <a:ext cx="32956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425" b="0" i="0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8064A2"/>
                </a:solidFill>
                <a:latin typeface="Arial"/>
                <a:ea typeface="Arial"/>
                <a:cs typeface="Arial"/>
              </a:rPr>
              <a:t>mᵏ,ᵗᵤ,ᵣ = pᵗᵤ ReLU(Wᵗᵣr ⊙ iᵏ)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381212B-808D-48CD-B39A-BE31CD787283}"/>
              </a:ext>
            </a:extLst>
          </p:cNvPr>
          <p:cNvSpPr>
            <a:spLocks noGrp="1"/>
          </p:cNvSpPr>
          <p:nvPr/>
        </p:nvSpPr>
        <p:spPr>
          <a:xfrm>
            <a:off x="857250" y="5724525"/>
            <a:ext cx="1047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ReaRev го менува толкувањето на прашањето според информацијата откриена во графот.</a:t>
            </a:r>
          </a:p>
        </p:txBody>
      </p:sp>
    </p:spTree>
    <p:extLst>
      <p:ext uri="{BB962C8B-B14F-4D97-AF65-F5344CB8AC3E}">
        <p14:creationId xmlns:p14="http://schemas.microsoft.com/office/powerpoint/2010/main" val="1251428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22C8946-042D-4A4F-ACAE-FBBACE52AE00}"/>
              </a:ext>
            </a:extLst>
          </p:cNvPr>
          <p:cNvSpPr>
            <a:spLocks noGrp="1"/>
          </p:cNvSpPr>
          <p:nvPr/>
        </p:nvSpPr>
        <p:spPr>
          <a:xfrm>
            <a:off x="552450" y="209550"/>
            <a:ext cx="1076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NBFNet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A2FDC4-CC3E-4A51-984F-796A6EFB8E63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11087100" cy="38100"/>
          </a:xfrm>
          <a:prstGeom prst="rect">
            <a:avLst/>
          </a:prstGeom>
          <a:solidFill>
            <a:srgbClr val="D9794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74FAA5-5405-4F8A-9715-562B36E6CCEB}"/>
              </a:ext>
            </a:extLst>
          </p:cNvPr>
          <p:cNvSpPr>
            <a:spLocks noGrp="1"/>
          </p:cNvSpPr>
          <p:nvPr/>
        </p:nvSpPr>
        <p:spPr>
          <a:xfrm>
            <a:off x="552450" y="6486525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b">
            <a:normAutofit/>
          </a:bodyPr>
          <a:lstStyle/>
          <a:p>
            <a:pPr algn="l">
              <a:defRPr sz="82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Zhu et al., 2021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0FB13E-F2F0-40B4-A5A1-AAEFFD7B2BEE}"/>
              </a:ext>
            </a:extLst>
          </p:cNvPr>
          <p:cNvSpPr>
            <a:spLocks noGrp="1"/>
          </p:cNvSpPr>
          <p:nvPr/>
        </p:nvSpPr>
        <p:spPr>
          <a:xfrm>
            <a:off x="11315700" y="648652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b">
            <a:normAutofit/>
          </a:bodyPr>
          <a:lstStyle/>
          <a:p>
            <a:pPr algn="r"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1829" y="1028700"/>
            <a:ext cx="7755467" cy="43624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47B439F-734E-4F88-BCBD-78BFA31A83B1}"/>
              </a:ext>
            </a:extLst>
          </p:cNvPr>
          <p:cNvSpPr>
            <a:spLocks noGrp="1"/>
          </p:cNvSpPr>
          <p:nvPr/>
        </p:nvSpPr>
        <p:spPr>
          <a:xfrm>
            <a:off x="8191500" y="1104900"/>
            <a:ext cx="3429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575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Научена Bellman–Ford постапка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27E239C-5787-45B3-9579-0F0DF075E764}"/>
              </a:ext>
            </a:extLst>
          </p:cNvPr>
          <p:cNvSpPr>
            <a:spLocks noGrp="1"/>
          </p:cNvSpPr>
          <p:nvPr/>
        </p:nvSpPr>
        <p:spPr>
          <a:xfrm>
            <a:off x="8096250" y="1676400"/>
            <a:ext cx="3524250" cy="742950"/>
          </a:xfrm>
          <a:prstGeom prst="roundRect">
            <a:avLst>
              <a:gd name="adj" fmla="val 12821"/>
            </a:avLst>
          </a:prstGeom>
          <a:solidFill>
            <a:srgbClr val="E8F5F3"/>
          </a:solidFill>
          <a:ln w="11430">
            <a:solidFill>
              <a:srgbClr val="398D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D156DB-6D7A-4A70-B937-20855F8A99E4}"/>
              </a:ext>
            </a:extLst>
          </p:cNvPr>
          <p:cNvSpPr>
            <a:spLocks noGrp="1"/>
          </p:cNvSpPr>
          <p:nvPr/>
        </p:nvSpPr>
        <p:spPr>
          <a:xfrm>
            <a:off x="8210550" y="1743075"/>
            <a:ext cx="32956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425" b="0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hᵥ⁽⁰⁾ = q  ако v∈S;  0 во спротивно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B518678-4F3F-44BC-8516-C824E1A51F42}"/>
              </a:ext>
            </a:extLst>
          </p:cNvPr>
          <p:cNvSpPr>
            <a:spLocks noGrp="1"/>
          </p:cNvSpPr>
          <p:nvPr/>
        </p:nvSpPr>
        <p:spPr>
          <a:xfrm>
            <a:off x="8096250" y="2600325"/>
            <a:ext cx="3524250" cy="742950"/>
          </a:xfrm>
          <a:prstGeom prst="roundRect">
            <a:avLst>
              <a:gd name="adj" fmla="val 12821"/>
            </a:avLst>
          </a:prstGeom>
          <a:solidFill>
            <a:srgbClr val="E8F5F3"/>
          </a:solidFill>
          <a:ln w="11430">
            <a:solidFill>
              <a:srgbClr val="398D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06B04D-B807-4847-A770-CC9E62F47ED3}"/>
              </a:ext>
            </a:extLst>
          </p:cNvPr>
          <p:cNvSpPr>
            <a:spLocks noGrp="1"/>
          </p:cNvSpPr>
          <p:nvPr/>
        </p:nvSpPr>
        <p:spPr>
          <a:xfrm>
            <a:off x="8210550" y="2667000"/>
            <a:ext cx="32956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0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m⁽ˡ⁾ᵤ,ᵣ,ᵥ = hᵤ⁽ˡ⁾ ⊙ wᵣ⁽ˡ⁾(q)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B2F9C99-9986-4334-ACEC-D539AEB9CF19}"/>
              </a:ext>
            </a:extLst>
          </p:cNvPr>
          <p:cNvSpPr>
            <a:spLocks noGrp="1"/>
          </p:cNvSpPr>
          <p:nvPr/>
        </p:nvSpPr>
        <p:spPr>
          <a:xfrm>
            <a:off x="8191500" y="3781425"/>
            <a:ext cx="66675" cy="66675"/>
          </a:xfrm>
          <a:prstGeom prst="ellipse">
            <a:avLst/>
          </a:prstGeom>
          <a:solidFill>
            <a:srgbClr val="398D8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61AE30-2D90-4E0F-B38D-801313969865}"/>
              </a:ext>
            </a:extLst>
          </p:cNvPr>
          <p:cNvSpPr>
            <a:spLocks noGrp="1"/>
          </p:cNvSpPr>
          <p:nvPr/>
        </p:nvSpPr>
        <p:spPr>
          <a:xfrm>
            <a:off x="8362950" y="3676650"/>
            <a:ext cx="3162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Патеките и релациите се условени од прашањето.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1AB3D91-E1E6-4F30-949E-DB97848171FD}"/>
              </a:ext>
            </a:extLst>
          </p:cNvPr>
          <p:cNvSpPr>
            <a:spLocks noGrp="1"/>
          </p:cNvSpPr>
          <p:nvPr/>
        </p:nvSpPr>
        <p:spPr>
          <a:xfrm>
            <a:off x="8191500" y="4514850"/>
            <a:ext cx="66675" cy="66675"/>
          </a:xfrm>
          <a:prstGeom prst="ellipse">
            <a:avLst/>
          </a:prstGeom>
          <a:solidFill>
            <a:srgbClr val="398D8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1E4875-2A43-430F-B04E-04C0E3E5CC40}"/>
              </a:ext>
            </a:extLst>
          </p:cNvPr>
          <p:cNvSpPr>
            <a:spLocks noGrp="1"/>
          </p:cNvSpPr>
          <p:nvPr/>
        </p:nvSpPr>
        <p:spPr>
          <a:xfrm>
            <a:off x="8362950" y="4410075"/>
            <a:ext cx="3162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2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Поддржани се повеќе почетни ентитети.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1D4BA5-7095-4A49-B8E8-9759F5EAFADB}"/>
              </a:ext>
            </a:extLst>
          </p:cNvPr>
          <p:cNvSpPr>
            <a:spLocks noGrp="1"/>
          </p:cNvSpPr>
          <p:nvPr/>
        </p:nvSpPr>
        <p:spPr>
          <a:xfrm>
            <a:off x="742950" y="5667375"/>
            <a:ext cx="10706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Репрезентацијата на кандидатот опишува како тој се достигнува преку патеки релевантни за прашањето.</a:t>
            </a:r>
          </a:p>
        </p:txBody>
      </p:sp>
    </p:spTree>
    <p:extLst>
      <p:ext uri="{BB962C8B-B14F-4D97-AF65-F5344CB8AC3E}">
        <p14:creationId xmlns:p14="http://schemas.microsoft.com/office/powerpoint/2010/main" val="393851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EEDE8CA-5EB9-4DF7-A7FF-22DB5290AAD1}"/>
              </a:ext>
            </a:extLst>
          </p:cNvPr>
          <p:cNvSpPr>
            <a:spLocks noGrp="1"/>
          </p:cNvSpPr>
          <p:nvPr/>
        </p:nvSpPr>
        <p:spPr>
          <a:xfrm>
            <a:off x="552450" y="209550"/>
            <a:ext cx="1076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Метрики за пребарување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B5306A-DE08-4502-8C97-6B8CDD17736E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11087100" cy="38100"/>
          </a:xfrm>
          <a:prstGeom prst="rect">
            <a:avLst/>
          </a:prstGeom>
          <a:solidFill>
            <a:srgbClr val="D9794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6FA5F2-EB61-4C86-87A2-4D97466B20FA}"/>
              </a:ext>
            </a:extLst>
          </p:cNvPr>
          <p:cNvSpPr>
            <a:spLocks noGrp="1"/>
          </p:cNvSpPr>
          <p:nvPr/>
        </p:nvSpPr>
        <p:spPr>
          <a:xfrm>
            <a:off x="552450" y="6486525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b">
            <a:normAutofit/>
          </a:bodyPr>
          <a:lstStyle/>
          <a:p>
            <a:pPr algn="l">
              <a:defRPr sz="82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nDCG: Järvelin and Kekäläinen, 2002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9D1437-9C52-4EAE-920F-17E5B0A48A99}"/>
              </a:ext>
            </a:extLst>
          </p:cNvPr>
          <p:cNvSpPr>
            <a:spLocks noGrp="1"/>
          </p:cNvSpPr>
          <p:nvPr/>
        </p:nvSpPr>
        <p:spPr>
          <a:xfrm>
            <a:off x="11315700" y="648652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b">
            <a:normAutofit/>
          </a:bodyPr>
          <a:lstStyle/>
          <a:p>
            <a:pPr algn="r"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A3BC85-1B3C-489A-950A-84A5EBC6EFF5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485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800" b="1" i="0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D97942"/>
                </a:solidFill>
                <a:latin typeface="Arial"/>
                <a:ea typeface="Arial"/>
                <a:cs typeface="Arial"/>
              </a:rPr>
              <a:t>Рангирање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85738EF-AA1C-4553-9D4D-48AC386CA1A8}"/>
              </a:ext>
            </a:extLst>
          </p:cNvPr>
          <p:cNvSpPr>
            <a:spLocks noGrp="1"/>
          </p:cNvSpPr>
          <p:nvPr/>
        </p:nvSpPr>
        <p:spPr>
          <a:xfrm>
            <a:off x="666750" y="1619250"/>
            <a:ext cx="4857750" cy="1809750"/>
          </a:xfrm>
          <a:prstGeom prst="roundRect">
            <a:avLst>
              <a:gd name="adj" fmla="val 7368"/>
            </a:avLst>
          </a:prstGeom>
          <a:solidFill>
            <a:srgbClr val="FBEDE5"/>
          </a:solidFill>
          <a:ln w="14288">
            <a:solidFill>
              <a:srgbClr val="D97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961D1B3-8A4C-4675-BCB8-6264250A90A6}"/>
              </a:ext>
            </a:extLst>
          </p:cNvPr>
          <p:cNvSpPr>
            <a:spLocks noGrp="1"/>
          </p:cNvSpPr>
          <p:nvPr/>
        </p:nvSpPr>
        <p:spPr>
          <a:xfrm>
            <a:off x="876300" y="1962150"/>
            <a:ext cx="66675" cy="66675"/>
          </a:xfrm>
          <a:prstGeom prst="ellipse">
            <a:avLst/>
          </a:prstGeom>
          <a:solidFill>
            <a:srgbClr val="D9794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A66C8C-B1A7-45F8-88EC-ABF0A70BF095}"/>
              </a:ext>
            </a:extLst>
          </p:cNvPr>
          <p:cNvSpPr>
            <a:spLocks noGrp="1"/>
          </p:cNvSpPr>
          <p:nvPr/>
        </p:nvSpPr>
        <p:spPr>
          <a:xfrm>
            <a:off x="1047750" y="1857375"/>
            <a:ext cx="42576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350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Hits@1 / Hits@10 — барем еден точен одговор во првите 1 или 10 позиции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80939DA-F14A-41ED-9BDC-E98FE689815D}"/>
              </a:ext>
            </a:extLst>
          </p:cNvPr>
          <p:cNvSpPr>
            <a:spLocks noGrp="1"/>
          </p:cNvSpPr>
          <p:nvPr/>
        </p:nvSpPr>
        <p:spPr>
          <a:xfrm>
            <a:off x="876300" y="2752725"/>
            <a:ext cx="66675" cy="66675"/>
          </a:xfrm>
          <a:prstGeom prst="ellipse">
            <a:avLst/>
          </a:prstGeom>
          <a:solidFill>
            <a:srgbClr val="D9794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F2CA1B-2F81-4C10-8B01-E88BB768A823}"/>
              </a:ext>
            </a:extLst>
          </p:cNvPr>
          <p:cNvSpPr>
            <a:spLocks noGrp="1"/>
          </p:cNvSpPr>
          <p:nvPr/>
        </p:nvSpPr>
        <p:spPr>
          <a:xfrm>
            <a:off x="1047750" y="2647950"/>
            <a:ext cx="42576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350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nDCG@10 — позицијата и бројот на точни одговори во првите 10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5DAC87-449D-4CAA-BDD2-435BE7674A1E}"/>
              </a:ext>
            </a:extLst>
          </p:cNvPr>
          <p:cNvSpPr>
            <a:spLocks noGrp="1"/>
          </p:cNvSpPr>
          <p:nvPr/>
        </p:nvSpPr>
        <p:spPr>
          <a:xfrm>
            <a:off x="6191250" y="1104900"/>
            <a:ext cx="533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800" b="1" i="0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4F86C6"/>
                </a:solidFill>
                <a:latin typeface="Arial"/>
                <a:ea typeface="Arial"/>
                <a:cs typeface="Arial"/>
              </a:rPr>
              <a:t>Покриеност на точните одговори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4239560-36C6-4C55-B6CE-1F7ACD0A8760}"/>
              </a:ext>
            </a:extLst>
          </p:cNvPr>
          <p:cNvSpPr>
            <a:spLocks noGrp="1"/>
          </p:cNvSpPr>
          <p:nvPr/>
        </p:nvSpPr>
        <p:spPr>
          <a:xfrm>
            <a:off x="6191250" y="1619250"/>
            <a:ext cx="5334000" cy="762000"/>
          </a:xfrm>
          <a:prstGeom prst="roundRect">
            <a:avLst>
              <a:gd name="adj" fmla="val 12500"/>
            </a:avLst>
          </a:prstGeom>
          <a:solidFill>
            <a:srgbClr val="EAF2FB"/>
          </a:solidFill>
          <a:ln w="11430">
            <a:solidFill>
              <a:srgbClr val="4F8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9EAFCD-45E4-44A3-92FC-4AD025B6C890}"/>
              </a:ext>
            </a:extLst>
          </p:cNvPr>
          <p:cNvSpPr>
            <a:spLocks noGrp="1"/>
          </p:cNvSpPr>
          <p:nvPr/>
        </p:nvSpPr>
        <p:spPr>
          <a:xfrm>
            <a:off x="6305550" y="1685925"/>
            <a:ext cx="5105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425" b="0" i="0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4F86C6"/>
                </a:solidFill>
                <a:latin typeface="Arial"/>
                <a:ea typeface="Arial"/>
                <a:cs typeface="Arial"/>
              </a:rPr>
              <a:t>RetrievalGoldCoverage = (1/|Q|) Σq |Gq ∩ Rq| / |Gq|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2402969-3CA4-4B41-AFD3-77ACCF3A529A}"/>
              </a:ext>
            </a:extLst>
          </p:cNvPr>
          <p:cNvSpPr>
            <a:spLocks noGrp="1"/>
          </p:cNvSpPr>
          <p:nvPr/>
        </p:nvSpPr>
        <p:spPr>
          <a:xfrm>
            <a:off x="6191250" y="2571750"/>
            <a:ext cx="5334000" cy="762000"/>
          </a:xfrm>
          <a:prstGeom prst="roundRect">
            <a:avLst>
              <a:gd name="adj" fmla="val 12500"/>
            </a:avLst>
          </a:prstGeom>
          <a:solidFill>
            <a:srgbClr val="EAF2FB"/>
          </a:solidFill>
          <a:ln w="11430">
            <a:solidFill>
              <a:srgbClr val="4F8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C69469-9344-44CD-AAFF-56B264A0FD8B}"/>
              </a:ext>
            </a:extLst>
          </p:cNvPr>
          <p:cNvSpPr>
            <a:spLocks noGrp="1"/>
          </p:cNvSpPr>
          <p:nvPr/>
        </p:nvSpPr>
        <p:spPr>
          <a:xfrm>
            <a:off x="6305550" y="2638425"/>
            <a:ext cx="5105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425" b="0" i="0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4F86C6"/>
                </a:solidFill>
                <a:latin typeface="Arial"/>
                <a:ea typeface="Arial"/>
                <a:cs typeface="Arial"/>
              </a:rPr>
              <a:t>RetrievalFullGoldCoverage = (1/|Q|) Σq 𝕀(Gq ⊆ Rq)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716B5F8-CEA5-4551-B217-B9C18422BF86}"/>
              </a:ext>
            </a:extLst>
          </p:cNvPr>
          <p:cNvSpPr>
            <a:spLocks noGrp="1"/>
          </p:cNvSpPr>
          <p:nvPr/>
        </p:nvSpPr>
        <p:spPr>
          <a:xfrm>
            <a:off x="1714500" y="3981450"/>
            <a:ext cx="8763000" cy="1428750"/>
          </a:xfrm>
          <a:prstGeom prst="roundRect">
            <a:avLst>
              <a:gd name="adj" fmla="val 9333"/>
            </a:avLst>
          </a:prstGeom>
          <a:solidFill>
            <a:srgbClr val="F7F9FB"/>
          </a:solidFill>
          <a:ln w="12383">
            <a:solidFill>
              <a:srgbClr val="A9B4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6DA4AC-91C7-474C-BCE6-39753987167D}"/>
              </a:ext>
            </a:extLst>
          </p:cNvPr>
          <p:cNvSpPr>
            <a:spLocks noGrp="1"/>
          </p:cNvSpPr>
          <p:nvPr/>
        </p:nvSpPr>
        <p:spPr>
          <a:xfrm>
            <a:off x="2047875" y="4210050"/>
            <a:ext cx="1381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500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Пример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430FAFC-FA48-49FD-8E07-C7F0E8B96D01}"/>
              </a:ext>
            </a:extLst>
          </p:cNvPr>
          <p:cNvSpPr>
            <a:spLocks noGrp="1"/>
          </p:cNvSpPr>
          <p:nvPr/>
        </p:nvSpPr>
        <p:spPr>
          <a:xfrm>
            <a:off x="3476625" y="4143375"/>
            <a:ext cx="2571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2325" b="1" i="0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4F86C6"/>
                </a:solidFill>
                <a:latin typeface="Arial"/>
                <a:ea typeface="Arial"/>
                <a:cs typeface="Arial"/>
              </a:rPr>
              <a:t>2 / 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354D322-60E7-45B1-8A5B-70FC5FAEE068}"/>
              </a:ext>
            </a:extLst>
          </p:cNvPr>
          <p:cNvSpPr>
            <a:spLocks noGrp="1"/>
          </p:cNvSpPr>
          <p:nvPr/>
        </p:nvSpPr>
        <p:spPr>
          <a:xfrm>
            <a:off x="3476625" y="4600575"/>
            <a:ext cx="257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2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пронајдени точни одговори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EEC1E5F-7C9F-4C6C-9A6F-7A61DAE7C569}"/>
              </a:ext>
            </a:extLst>
          </p:cNvPr>
          <p:cNvSpPr>
            <a:spLocks noGrp="1"/>
          </p:cNvSpPr>
          <p:nvPr/>
        </p:nvSpPr>
        <p:spPr>
          <a:xfrm>
            <a:off x="6667500" y="4143375"/>
            <a:ext cx="238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2325" b="1" i="0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D9794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BEBACF5-1589-4799-BD6B-237CA5FB81E3}"/>
              </a:ext>
            </a:extLst>
          </p:cNvPr>
          <p:cNvSpPr>
            <a:spLocks noGrp="1"/>
          </p:cNvSpPr>
          <p:nvPr/>
        </p:nvSpPr>
        <p:spPr>
          <a:xfrm>
            <a:off x="6667500" y="4600575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2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целосна покриеност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166D4E-21A3-4784-A420-247905ECCD22}"/>
              </a:ext>
            </a:extLst>
          </p:cNvPr>
          <p:cNvSpPr>
            <a:spLocks noGrp="1"/>
          </p:cNvSpPr>
          <p:nvPr/>
        </p:nvSpPr>
        <p:spPr>
          <a:xfrm>
            <a:off x="2381250" y="5572125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2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Gq — точни одговори · Rq — пребарани кандидати</a:t>
            </a:r>
          </a:p>
        </p:txBody>
      </p:sp>
    </p:spTree>
    <p:extLst>
      <p:ext uri="{BB962C8B-B14F-4D97-AF65-F5344CB8AC3E}">
        <p14:creationId xmlns:p14="http://schemas.microsoft.com/office/powerpoint/2010/main" val="1893943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528EAF0-1EC2-412A-B52B-9FF0E1683ADB}"/>
              </a:ext>
            </a:extLst>
          </p:cNvPr>
          <p:cNvSpPr>
            <a:spLocks noGrp="1"/>
          </p:cNvSpPr>
          <p:nvPr/>
        </p:nvSpPr>
        <p:spPr>
          <a:xfrm>
            <a:off x="552450" y="209550"/>
            <a:ext cx="1076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Резултати од пребарувањето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05E6DA-20C8-45B8-92F0-7FF7AD9A05E2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11087100" cy="38100"/>
          </a:xfrm>
          <a:prstGeom prst="rect">
            <a:avLst/>
          </a:prstGeom>
          <a:solidFill>
            <a:srgbClr val="D9794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359488-DCAE-43C2-B477-8B1F3ADB2D45}"/>
              </a:ext>
            </a:extLst>
          </p:cNvPr>
          <p:cNvSpPr>
            <a:spLocks noGrp="1"/>
          </p:cNvSpPr>
          <p:nvPr/>
        </p:nvSpPr>
        <p:spPr>
          <a:xfrm>
            <a:off x="11315700" y="648652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b">
            <a:normAutofit/>
          </a:bodyPr>
          <a:lstStyle/>
          <a:p>
            <a:pPr algn="r"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0050" y="1067515"/>
            <a:ext cx="8286750" cy="3808569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3132804-446E-462D-B5A3-915426A2A7E2}"/>
              </a:ext>
            </a:extLst>
          </p:cNvPr>
          <p:cNvSpPr>
            <a:spLocks noGrp="1"/>
          </p:cNvSpPr>
          <p:nvPr/>
        </p:nvSpPr>
        <p:spPr>
          <a:xfrm>
            <a:off x="8953500" y="1162050"/>
            <a:ext cx="2667000" cy="3638550"/>
          </a:xfrm>
          <a:prstGeom prst="roundRect">
            <a:avLst>
              <a:gd name="adj" fmla="val 5000"/>
            </a:avLst>
          </a:prstGeom>
          <a:solidFill>
            <a:srgbClr val="FBEDE5"/>
          </a:solidFill>
          <a:ln w="16193">
            <a:solidFill>
              <a:srgbClr val="D97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0D9212-DF51-48E2-8BCF-07CAC137FFBB}"/>
              </a:ext>
            </a:extLst>
          </p:cNvPr>
          <p:cNvSpPr>
            <a:spLocks noGrp="1"/>
          </p:cNvSpPr>
          <p:nvPr/>
        </p:nvSpPr>
        <p:spPr>
          <a:xfrm>
            <a:off x="9239250" y="1381125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2175" b="1" i="0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D97942"/>
                </a:solidFill>
                <a:latin typeface="Arial"/>
                <a:ea typeface="Arial"/>
                <a:cs typeface="Arial"/>
              </a:rPr>
              <a:t>NBFNet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3C1FFF-C837-4026-9134-9FB67024F041}"/>
              </a:ext>
            </a:extLst>
          </p:cNvPr>
          <p:cNvSpPr>
            <a:spLocks noGrp="1"/>
          </p:cNvSpPr>
          <p:nvPr/>
        </p:nvSpPr>
        <p:spPr>
          <a:xfrm>
            <a:off x="9220200" y="1952625"/>
            <a:ext cx="2133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2100" b="1" i="0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D97942"/>
                </a:solidFill>
                <a:latin typeface="Arial"/>
                <a:ea typeface="Arial"/>
                <a:cs typeface="Arial"/>
              </a:rPr>
              <a:t>0,692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6195FB-0D1D-4A18-BD08-A3F3FC34949A}"/>
              </a:ext>
            </a:extLst>
          </p:cNvPr>
          <p:cNvSpPr>
            <a:spLocks noGrp="1"/>
          </p:cNvSpPr>
          <p:nvPr/>
        </p:nvSpPr>
        <p:spPr>
          <a:xfrm>
            <a:off x="9220200" y="2409825"/>
            <a:ext cx="2133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12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Hits@1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E20F21-18A0-496C-B5D4-AE39436B2C59}"/>
              </a:ext>
            </a:extLst>
          </p:cNvPr>
          <p:cNvSpPr>
            <a:spLocks noGrp="1"/>
          </p:cNvSpPr>
          <p:nvPr/>
        </p:nvSpPr>
        <p:spPr>
          <a:xfrm>
            <a:off x="9220200" y="2781300"/>
            <a:ext cx="2133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2100" b="1" i="0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D97942"/>
                </a:solidFill>
                <a:latin typeface="Arial"/>
                <a:ea typeface="Arial"/>
                <a:cs typeface="Arial"/>
              </a:rPr>
              <a:t>0,921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813A14-14B5-40F3-B290-8EBF010AF817}"/>
              </a:ext>
            </a:extLst>
          </p:cNvPr>
          <p:cNvSpPr>
            <a:spLocks noGrp="1"/>
          </p:cNvSpPr>
          <p:nvPr/>
        </p:nvSpPr>
        <p:spPr>
          <a:xfrm>
            <a:off x="9220200" y="3238500"/>
            <a:ext cx="2133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12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Hits@10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90F63C-558F-497D-93C3-410211B895A4}"/>
              </a:ext>
            </a:extLst>
          </p:cNvPr>
          <p:cNvSpPr>
            <a:spLocks noGrp="1"/>
          </p:cNvSpPr>
          <p:nvPr/>
        </p:nvSpPr>
        <p:spPr>
          <a:xfrm>
            <a:off x="9220200" y="3609975"/>
            <a:ext cx="2133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2100" b="1" i="0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D97942"/>
                </a:solidFill>
                <a:latin typeface="Arial"/>
                <a:ea typeface="Arial"/>
                <a:cs typeface="Arial"/>
              </a:rPr>
              <a:t>0,796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641CC1-81A9-430A-B153-D380F86521C2}"/>
              </a:ext>
            </a:extLst>
          </p:cNvPr>
          <p:cNvSpPr>
            <a:spLocks noGrp="1"/>
          </p:cNvSpPr>
          <p:nvPr/>
        </p:nvSpPr>
        <p:spPr>
          <a:xfrm>
            <a:off x="9220200" y="4067175"/>
            <a:ext cx="2133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12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nDCG@10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A11785-DAE3-4EA0-BA42-AF47189A58D3}"/>
              </a:ext>
            </a:extLst>
          </p:cNvPr>
          <p:cNvSpPr>
            <a:spLocks noGrp="1"/>
          </p:cNvSpPr>
          <p:nvPr/>
        </p:nvSpPr>
        <p:spPr>
          <a:xfrm>
            <a:off x="9144000" y="44196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средна вредност од 3 извршувања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C07EFEE-6758-495E-9373-40486E0BBC0D}"/>
              </a:ext>
            </a:extLst>
          </p:cNvPr>
          <p:cNvSpPr>
            <a:spLocks noGrp="1"/>
          </p:cNvSpPr>
          <p:nvPr/>
        </p:nvSpPr>
        <p:spPr>
          <a:xfrm>
            <a:off x="714375" y="5267325"/>
            <a:ext cx="10763250" cy="876300"/>
          </a:xfrm>
          <a:prstGeom prst="roundRect">
            <a:avLst>
              <a:gd name="adj" fmla="val 15217"/>
            </a:avLst>
          </a:prstGeom>
          <a:solidFill>
            <a:srgbClr val="F7F9FB"/>
          </a:solidFill>
          <a:ln w="11430">
            <a:solidFill>
              <a:srgbClr val="A9B4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C899750-EEE5-4225-BF68-8E3169ACB9E2}"/>
              </a:ext>
            </a:extLst>
          </p:cNvPr>
          <p:cNvSpPr>
            <a:spLocks noGrp="1"/>
          </p:cNvSpPr>
          <p:nvPr/>
        </p:nvSpPr>
        <p:spPr>
          <a:xfrm>
            <a:off x="1000125" y="5410200"/>
            <a:ext cx="10191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4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Условувањето со прашањето и експлицитното моделирање на релациските патеки даваат најдобри резултати. Advance GraphSAGE е силен едноставен компромис.</a:t>
            </a:r>
          </a:p>
        </p:txBody>
      </p:sp>
    </p:spTree>
    <p:extLst>
      <p:ext uri="{BB962C8B-B14F-4D97-AF65-F5344CB8AC3E}">
        <p14:creationId xmlns:p14="http://schemas.microsoft.com/office/powerpoint/2010/main" val="5031902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42EF028-B971-4D6E-9C21-52703C1006CD}"/>
              </a:ext>
            </a:extLst>
          </p:cNvPr>
          <p:cNvSpPr>
            <a:spLocks noGrp="1"/>
          </p:cNvSpPr>
          <p:nvPr/>
        </p:nvSpPr>
        <p:spPr>
          <a:xfrm>
            <a:off x="552450" y="209550"/>
            <a:ext cx="1076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Конструкција на доказниот подграф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30C4C8-10EF-4975-B12F-63D0568EB253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11087100" cy="38100"/>
          </a:xfrm>
          <a:prstGeom prst="rect">
            <a:avLst/>
          </a:prstGeom>
          <a:solidFill>
            <a:srgbClr val="398D8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C816E8-700D-467B-AE64-75109A06E8FE}"/>
              </a:ext>
            </a:extLst>
          </p:cNvPr>
          <p:cNvSpPr>
            <a:spLocks noGrp="1"/>
          </p:cNvSpPr>
          <p:nvPr/>
        </p:nvSpPr>
        <p:spPr>
          <a:xfrm>
            <a:off x="552450" y="6486525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b">
            <a:normAutofit/>
          </a:bodyPr>
          <a:lstStyle/>
          <a:p>
            <a:pPr algn="l">
              <a:defRPr sz="82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Goemans and Williamson, 1995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FA0E94-7425-4B5D-AA08-BE5C4C432093}"/>
              </a:ext>
            </a:extLst>
          </p:cNvPr>
          <p:cNvSpPr>
            <a:spLocks noGrp="1"/>
          </p:cNvSpPr>
          <p:nvPr/>
        </p:nvSpPr>
        <p:spPr>
          <a:xfrm>
            <a:off x="11315700" y="648652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b">
            <a:normAutofit/>
          </a:bodyPr>
          <a:lstStyle/>
          <a:p>
            <a:pPr algn="r"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08504" y="1047750"/>
            <a:ext cx="6993467" cy="39338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43F525B-9FD3-484B-8E88-9B9CBE097BF3}"/>
              </a:ext>
            </a:extLst>
          </p:cNvPr>
          <p:cNvSpPr>
            <a:spLocks noGrp="1"/>
          </p:cNvSpPr>
          <p:nvPr/>
        </p:nvSpPr>
        <p:spPr>
          <a:xfrm>
            <a:off x="7620000" y="1095375"/>
            <a:ext cx="4000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75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PCST: награда на јазлите наспроти трошок на рабовите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F03D113-8AE5-4CB5-B4F8-EE205F50A754}"/>
              </a:ext>
            </a:extLst>
          </p:cNvPr>
          <p:cNvSpPr>
            <a:spLocks noGrp="1"/>
          </p:cNvSpPr>
          <p:nvPr/>
        </p:nvSpPr>
        <p:spPr>
          <a:xfrm>
            <a:off x="7667625" y="1790700"/>
            <a:ext cx="3905250" cy="838200"/>
          </a:xfrm>
          <a:prstGeom prst="roundRect">
            <a:avLst>
              <a:gd name="adj" fmla="val 11364"/>
            </a:avLst>
          </a:prstGeom>
          <a:solidFill>
            <a:srgbClr val="E8F5F3"/>
          </a:solidFill>
          <a:ln w="11430">
            <a:solidFill>
              <a:srgbClr val="398D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EB749D-2A41-42BE-99A0-18847B0087F4}"/>
              </a:ext>
            </a:extLst>
          </p:cNvPr>
          <p:cNvSpPr>
            <a:spLocks noGrp="1"/>
          </p:cNvSpPr>
          <p:nvPr/>
        </p:nvSpPr>
        <p:spPr>
          <a:xfrm>
            <a:off x="7781925" y="1857375"/>
            <a:ext cx="36766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425" b="0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T* = arg maxT [Σv∈VT p(v) − Σe∈ET c(e)]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5055CE5-2E03-4219-84F3-ED4DECB2E9C4}"/>
              </a:ext>
            </a:extLst>
          </p:cNvPr>
          <p:cNvSpPr>
            <a:spLocks noGrp="1"/>
          </p:cNvSpPr>
          <p:nvPr/>
        </p:nvSpPr>
        <p:spPr>
          <a:xfrm>
            <a:off x="7667625" y="2819400"/>
            <a:ext cx="3905250" cy="619125"/>
          </a:xfrm>
          <a:prstGeom prst="roundRect">
            <a:avLst>
              <a:gd name="adj" fmla="val 15385"/>
            </a:avLst>
          </a:prstGeom>
          <a:solidFill>
            <a:srgbClr val="F7F9FB"/>
          </a:solidFill>
          <a:ln w="11430">
            <a:solidFill>
              <a:srgbClr val="A9B4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61A3B3-A02B-47F2-82E0-51A77AA2CC96}"/>
              </a:ext>
            </a:extLst>
          </p:cNvPr>
          <p:cNvSpPr>
            <a:spLocks noGrp="1"/>
          </p:cNvSpPr>
          <p:nvPr/>
        </p:nvSpPr>
        <p:spPr>
          <a:xfrm>
            <a:off x="7781925" y="2886075"/>
            <a:ext cx="36766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cconst(e) = λ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522A186-ED0E-4FAB-8400-1AE1BF0BAA61}"/>
              </a:ext>
            </a:extLst>
          </p:cNvPr>
          <p:cNvSpPr>
            <a:spLocks noGrp="1"/>
          </p:cNvSpPr>
          <p:nvPr/>
        </p:nvSpPr>
        <p:spPr>
          <a:xfrm>
            <a:off x="7667625" y="3629025"/>
            <a:ext cx="3905250" cy="733425"/>
          </a:xfrm>
          <a:prstGeom prst="roundRect">
            <a:avLst>
              <a:gd name="adj" fmla="val 12987"/>
            </a:avLst>
          </a:prstGeom>
          <a:solidFill>
            <a:srgbClr val="F7F9FB"/>
          </a:solidFill>
          <a:ln w="11430">
            <a:solidFill>
              <a:srgbClr val="A9B4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CF3868-47C7-4439-BC95-B4214DAA62C6}"/>
              </a:ext>
            </a:extLst>
          </p:cNvPr>
          <p:cNvSpPr>
            <a:spLocks noGrp="1"/>
          </p:cNvSpPr>
          <p:nvPr/>
        </p:nvSpPr>
        <p:spPr>
          <a:xfrm>
            <a:off x="7781925" y="3695700"/>
            <a:ext cx="36766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42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csem(e) = max(ε, λ[1 − cos(q,re)])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0007323-A5F6-4E56-8888-FBB1BC66BA0F}"/>
              </a:ext>
            </a:extLst>
          </p:cNvPr>
          <p:cNvSpPr>
            <a:spLocks noGrp="1"/>
          </p:cNvSpPr>
          <p:nvPr/>
        </p:nvSpPr>
        <p:spPr>
          <a:xfrm>
            <a:off x="1095375" y="5314950"/>
            <a:ext cx="10001250" cy="781050"/>
          </a:xfrm>
          <a:prstGeom prst="roundRect">
            <a:avLst>
              <a:gd name="adj" fmla="val 17073"/>
            </a:avLst>
          </a:prstGeom>
          <a:solidFill>
            <a:srgbClr val="E8F5F3"/>
          </a:solidFill>
          <a:ln w="14288">
            <a:solidFill>
              <a:srgbClr val="398D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D79A3A-BCA3-4897-9D50-CD510D5E6693}"/>
              </a:ext>
            </a:extLst>
          </p:cNvPr>
          <p:cNvSpPr>
            <a:spLocks noGrp="1"/>
          </p:cNvSpPr>
          <p:nvPr/>
        </p:nvSpPr>
        <p:spPr>
          <a:xfrm>
            <a:off x="1381125" y="5429250"/>
            <a:ext cx="9429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4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Најкратките патеки гарантираат поврзаност до секој кандидат; PCST може да отфрли кандидат кога поврзувањето е прескапо.</a:t>
            </a:r>
          </a:p>
        </p:txBody>
      </p:sp>
    </p:spTree>
    <p:extLst>
      <p:ext uri="{BB962C8B-B14F-4D97-AF65-F5344CB8AC3E}">
        <p14:creationId xmlns:p14="http://schemas.microsoft.com/office/powerpoint/2010/main" val="11788406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E993BDBA-A14F-4170-82A6-6F8E1D7DBC2D}"/>
              </a:ext>
            </a:extLst>
          </p:cNvPr>
          <p:cNvSpPr>
            <a:spLocks noGrp="1"/>
          </p:cNvSpPr>
          <p:nvPr/>
        </p:nvSpPr>
        <p:spPr>
          <a:xfrm>
            <a:off x="552450" y="209550"/>
            <a:ext cx="1076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Метрики за доказниот контекст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294223-85A7-4740-9A38-38B4386997A8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11087100" cy="38100"/>
          </a:xfrm>
          <a:prstGeom prst="rect">
            <a:avLst/>
          </a:prstGeom>
          <a:solidFill>
            <a:srgbClr val="398D8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1F84B1-7965-4DC6-BD3E-29B7759E2B30}"/>
              </a:ext>
            </a:extLst>
          </p:cNvPr>
          <p:cNvSpPr>
            <a:spLocks noGrp="1"/>
          </p:cNvSpPr>
          <p:nvPr/>
        </p:nvSpPr>
        <p:spPr>
          <a:xfrm>
            <a:off x="11315700" y="648652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b">
            <a:normAutofit/>
          </a:bodyPr>
          <a:lstStyle/>
          <a:p>
            <a:pPr algn="r"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28BF3F-120F-4C60-B36E-B2B2B197A923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485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800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Компактност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D44D4A8-C788-41F1-B500-B8BFF4778CA5}"/>
              </a:ext>
            </a:extLst>
          </p:cNvPr>
          <p:cNvSpPr>
            <a:spLocks noGrp="1"/>
          </p:cNvSpPr>
          <p:nvPr/>
        </p:nvSpPr>
        <p:spPr>
          <a:xfrm>
            <a:off x="666750" y="1619250"/>
            <a:ext cx="4857750" cy="3162300"/>
          </a:xfrm>
          <a:prstGeom prst="roundRect">
            <a:avLst>
              <a:gd name="adj" fmla="val 4217"/>
            </a:avLst>
          </a:prstGeom>
          <a:solidFill>
            <a:srgbClr val="E8F5F3"/>
          </a:solidFill>
          <a:ln w="14288">
            <a:solidFill>
              <a:srgbClr val="398D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6F7B49-16FB-46C5-91B7-7A7133E0F476}"/>
              </a:ext>
            </a:extLst>
          </p:cNvPr>
          <p:cNvSpPr>
            <a:spLocks noGrp="1"/>
          </p:cNvSpPr>
          <p:nvPr/>
        </p:nvSpPr>
        <p:spPr>
          <a:xfrm>
            <a:off x="933450" y="1885950"/>
            <a:ext cx="428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425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AverageTriples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708864-B23D-4CA0-8676-B5D42429ABBC}"/>
              </a:ext>
            </a:extLst>
          </p:cNvPr>
          <p:cNvSpPr>
            <a:spLocks noGrp="1"/>
          </p:cNvSpPr>
          <p:nvPr/>
        </p:nvSpPr>
        <p:spPr>
          <a:xfrm>
            <a:off x="933450" y="2190750"/>
            <a:ext cx="428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просечен број тројки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2271A5-0C71-465E-B702-1938A35C0966}"/>
              </a:ext>
            </a:extLst>
          </p:cNvPr>
          <p:cNvSpPr>
            <a:spLocks noGrp="1"/>
          </p:cNvSpPr>
          <p:nvPr/>
        </p:nvSpPr>
        <p:spPr>
          <a:xfrm>
            <a:off x="933450" y="2752725"/>
            <a:ext cx="428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425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ContextCandidateCoverage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BAFF09-DAFE-48DA-840B-5A91D8CE1360}"/>
              </a:ext>
            </a:extLst>
          </p:cNvPr>
          <p:cNvSpPr>
            <a:spLocks noGrp="1"/>
          </p:cNvSpPr>
          <p:nvPr/>
        </p:nvSpPr>
        <p:spPr>
          <a:xfrm>
            <a:off x="933450" y="3057525"/>
            <a:ext cx="428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удел на задржани кандидати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7F2DE4-5C4E-4CE3-8E56-9725873A634C}"/>
              </a:ext>
            </a:extLst>
          </p:cNvPr>
          <p:cNvSpPr>
            <a:spLocks noGrp="1"/>
          </p:cNvSpPr>
          <p:nvPr/>
        </p:nvSpPr>
        <p:spPr>
          <a:xfrm>
            <a:off x="933450" y="3619500"/>
            <a:ext cx="428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425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CandidateReduction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492749-515E-458B-9257-419C0526AB22}"/>
              </a:ext>
            </a:extLst>
          </p:cNvPr>
          <p:cNvSpPr>
            <a:spLocks noGrp="1"/>
          </p:cNvSpPr>
          <p:nvPr/>
        </p:nvSpPr>
        <p:spPr>
          <a:xfrm>
            <a:off x="933450" y="3924300"/>
            <a:ext cx="428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процент отфрлени кандидати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9D069B-BB57-45AC-9749-823ADB1E677C}"/>
              </a:ext>
            </a:extLst>
          </p:cNvPr>
          <p:cNvSpPr>
            <a:spLocks noGrp="1"/>
          </p:cNvSpPr>
          <p:nvPr/>
        </p:nvSpPr>
        <p:spPr>
          <a:xfrm>
            <a:off x="6191250" y="1104900"/>
            <a:ext cx="5334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800" b="1" i="0">
                <a:solidFill>
                  <a:srgbClr val="4E9B69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4E9B69"/>
                </a:solidFill>
                <a:latin typeface="Arial"/>
                <a:ea typeface="Arial"/>
                <a:cs typeface="Arial"/>
              </a:rPr>
              <a:t>Зачувана информација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DEDEE46-3DC3-45D2-965D-9851C2A33B26}"/>
              </a:ext>
            </a:extLst>
          </p:cNvPr>
          <p:cNvSpPr>
            <a:spLocks noGrp="1"/>
          </p:cNvSpPr>
          <p:nvPr/>
        </p:nvSpPr>
        <p:spPr>
          <a:xfrm>
            <a:off x="6191250" y="1619250"/>
            <a:ext cx="5334000" cy="895350"/>
          </a:xfrm>
          <a:prstGeom prst="roundRect">
            <a:avLst>
              <a:gd name="adj" fmla="val 10638"/>
            </a:avLst>
          </a:prstGeom>
          <a:solidFill>
            <a:srgbClr val="EAF6EE"/>
          </a:solidFill>
          <a:ln w="11430">
            <a:solidFill>
              <a:srgbClr val="4E9B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FB3DEAD-1989-4618-A996-43F927C58612}"/>
              </a:ext>
            </a:extLst>
          </p:cNvPr>
          <p:cNvSpPr>
            <a:spLocks noGrp="1"/>
          </p:cNvSpPr>
          <p:nvPr/>
        </p:nvSpPr>
        <p:spPr>
          <a:xfrm>
            <a:off x="6305550" y="1685925"/>
            <a:ext cx="51054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425" b="0" i="0">
                <a:solidFill>
                  <a:srgbClr val="4E9B6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4E9B69"/>
                </a:solidFill>
                <a:latin typeface="Arial"/>
                <a:ea typeface="Arial"/>
                <a:cs typeface="Arial"/>
              </a:rPr>
              <a:t>ContextGoldCoverage = (1/|Q|) Σq |Gq ∩ Cq| / |Gq|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7DDF38B-EA8E-4627-B71D-48B7515835DB}"/>
              </a:ext>
            </a:extLst>
          </p:cNvPr>
          <p:cNvSpPr>
            <a:spLocks noGrp="1"/>
          </p:cNvSpPr>
          <p:nvPr/>
        </p:nvSpPr>
        <p:spPr>
          <a:xfrm>
            <a:off x="6191250" y="2733675"/>
            <a:ext cx="5334000" cy="895350"/>
          </a:xfrm>
          <a:prstGeom prst="roundRect">
            <a:avLst>
              <a:gd name="adj" fmla="val 10638"/>
            </a:avLst>
          </a:prstGeom>
          <a:solidFill>
            <a:srgbClr val="EAF6EE"/>
          </a:solidFill>
          <a:ln w="11430">
            <a:solidFill>
              <a:srgbClr val="4E9B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9A8BB8-9D49-47DB-BC82-BCA199D4308E}"/>
              </a:ext>
            </a:extLst>
          </p:cNvPr>
          <p:cNvSpPr>
            <a:spLocks noGrp="1"/>
          </p:cNvSpPr>
          <p:nvPr/>
        </p:nvSpPr>
        <p:spPr>
          <a:xfrm>
            <a:off x="6305550" y="2800350"/>
            <a:ext cx="51054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425" b="0" i="0">
                <a:solidFill>
                  <a:srgbClr val="4E9B6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4E9B69"/>
                </a:solidFill>
                <a:latin typeface="Arial"/>
                <a:ea typeface="Arial"/>
                <a:cs typeface="Arial"/>
              </a:rPr>
              <a:t>ContextFullGoldCoverage = (1/|Q|) Σq 𝕀(Gq ⊆ Cq)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D2749C4-FB37-424E-97F2-107B14ABCA5C}"/>
              </a:ext>
            </a:extLst>
          </p:cNvPr>
          <p:cNvSpPr>
            <a:spLocks noGrp="1"/>
          </p:cNvSpPr>
          <p:nvPr/>
        </p:nvSpPr>
        <p:spPr>
          <a:xfrm>
            <a:off x="6381750" y="3857625"/>
            <a:ext cx="4953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275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Cq — ентитети присутни во тројките од доказниот контекст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0DBE70F-1C8C-405D-B9CC-AA358E96B631}"/>
              </a:ext>
            </a:extLst>
          </p:cNvPr>
          <p:cNvSpPr>
            <a:spLocks noGrp="1"/>
          </p:cNvSpPr>
          <p:nvPr/>
        </p:nvSpPr>
        <p:spPr>
          <a:xfrm>
            <a:off x="1714500" y="5219700"/>
            <a:ext cx="8763000" cy="781050"/>
          </a:xfrm>
          <a:prstGeom prst="roundRect">
            <a:avLst>
              <a:gd name="adj" fmla="val 17073"/>
            </a:avLst>
          </a:prstGeom>
          <a:solidFill>
            <a:srgbClr val="F7F9FB"/>
          </a:solidFill>
          <a:ln w="11430">
            <a:solidFill>
              <a:srgbClr val="A9B4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F7D9E8-AD3E-4654-9296-2E31B0D78CC0}"/>
              </a:ext>
            </a:extLst>
          </p:cNvPr>
          <p:cNvSpPr>
            <a:spLocks noGrp="1"/>
          </p:cNvSpPr>
          <p:nvPr/>
        </p:nvSpPr>
        <p:spPr>
          <a:xfrm>
            <a:off x="2000250" y="5343525"/>
            <a:ext cx="8191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Компактноста се оценува заедно со информацијата што останува достапна за јазичниот модел.</a:t>
            </a:r>
          </a:p>
        </p:txBody>
      </p:sp>
    </p:spTree>
    <p:extLst>
      <p:ext uri="{BB962C8B-B14F-4D97-AF65-F5344CB8AC3E}">
        <p14:creationId xmlns:p14="http://schemas.microsoft.com/office/powerpoint/2010/main" val="1383147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AEDA72E-DC92-4A14-ABD7-FFD78CBFB3B4}"/>
              </a:ext>
            </a:extLst>
          </p:cNvPr>
          <p:cNvSpPr>
            <a:spLocks noGrp="1"/>
          </p:cNvSpPr>
          <p:nvPr/>
        </p:nvSpPr>
        <p:spPr>
          <a:xfrm>
            <a:off x="552450" y="209550"/>
            <a:ext cx="1076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Компактност и зачувување на точните одговори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2C463-FA36-4A26-B1F9-33D13D736BDB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11087100" cy="38100"/>
          </a:xfrm>
          <a:prstGeom prst="rect">
            <a:avLst/>
          </a:prstGeom>
          <a:solidFill>
            <a:srgbClr val="398D8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70FCC5-B80F-4869-BC82-1C27A2F928C7}"/>
              </a:ext>
            </a:extLst>
          </p:cNvPr>
          <p:cNvSpPr>
            <a:spLocks noGrp="1"/>
          </p:cNvSpPr>
          <p:nvPr/>
        </p:nvSpPr>
        <p:spPr>
          <a:xfrm>
            <a:off x="11315700" y="648652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b">
            <a:normAutofit/>
          </a:bodyPr>
          <a:lstStyle/>
          <a:p>
            <a:pPr algn="r"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42900" y="1068625"/>
            <a:ext cx="7239000" cy="4996976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970FB69-1DEA-4398-B61D-FA08BC1BDD4E}"/>
              </a:ext>
            </a:extLst>
          </p:cNvPr>
          <p:cNvSpPr>
            <a:spLocks noGrp="1"/>
          </p:cNvSpPr>
          <p:nvPr/>
        </p:nvSpPr>
        <p:spPr>
          <a:xfrm>
            <a:off x="7858125" y="1143000"/>
            <a:ext cx="3667125" cy="1619250"/>
          </a:xfrm>
          <a:prstGeom prst="roundRect">
            <a:avLst>
              <a:gd name="adj" fmla="val 8235"/>
            </a:avLst>
          </a:prstGeom>
          <a:solidFill>
            <a:srgbClr val="E8F5F3"/>
          </a:solidFill>
          <a:ln w="17145">
            <a:solidFill>
              <a:srgbClr val="398D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EF82E2-E87F-406B-90B4-298342FD6A52}"/>
              </a:ext>
            </a:extLst>
          </p:cNvPr>
          <p:cNvSpPr>
            <a:spLocks noGrp="1"/>
          </p:cNvSpPr>
          <p:nvPr/>
        </p:nvSpPr>
        <p:spPr>
          <a:xfrm>
            <a:off x="8191500" y="1381125"/>
            <a:ext cx="30003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9206"/>
          </a:bodyPr>
          <a:lstStyle/>
          <a:p>
            <a:pPr algn="ctr">
              <a:defRPr sz="3150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≈ 85%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42E009-49FF-4CED-ACD8-1EC7DFC12794}"/>
              </a:ext>
            </a:extLst>
          </p:cNvPr>
          <p:cNvSpPr>
            <a:spLocks noGrp="1"/>
          </p:cNvSpPr>
          <p:nvPr/>
        </p:nvSpPr>
        <p:spPr>
          <a:xfrm>
            <a:off x="8191500" y="1838325"/>
            <a:ext cx="300037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35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помал доказен контекст со PCST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CE092B-7A5B-4FD8-AD94-A8D8757B99A1}"/>
              </a:ext>
            </a:extLst>
          </p:cNvPr>
          <p:cNvSpPr>
            <a:spLocks noGrp="1"/>
          </p:cNvSpPr>
          <p:nvPr/>
        </p:nvSpPr>
        <p:spPr>
          <a:xfrm>
            <a:off x="8001000" y="3143250"/>
            <a:ext cx="3381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Просечен број тројки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4256D2-ED36-4D73-B79A-887C1D47BB46}"/>
              </a:ext>
            </a:extLst>
          </p:cNvPr>
          <p:cNvSpPr>
            <a:spLocks noGrp="1"/>
          </p:cNvSpPr>
          <p:nvPr/>
        </p:nvSpPr>
        <p:spPr>
          <a:xfrm>
            <a:off x="7953375" y="3552825"/>
            <a:ext cx="1619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2025" b="1" i="0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4F86C6"/>
                </a:solidFill>
                <a:latin typeface="Arial"/>
                <a:ea typeface="Arial"/>
                <a:cs typeface="Arial"/>
              </a:rPr>
              <a:t>94,47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9402BD-8109-442F-A292-E7AC161D7B3D}"/>
              </a:ext>
            </a:extLst>
          </p:cNvPr>
          <p:cNvSpPr>
            <a:spLocks noGrp="1"/>
          </p:cNvSpPr>
          <p:nvPr/>
        </p:nvSpPr>
        <p:spPr>
          <a:xfrm>
            <a:off x="7953375" y="4010025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05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најкратки патеки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5DDDA6-C177-4E76-820D-690D6B17E31E}"/>
              </a:ext>
            </a:extLst>
          </p:cNvPr>
          <p:cNvSpPr>
            <a:spLocks noGrp="1"/>
          </p:cNvSpPr>
          <p:nvPr/>
        </p:nvSpPr>
        <p:spPr>
          <a:xfrm>
            <a:off x="9667875" y="3552825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875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13,50–14,45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62CF92-4010-402E-91FF-AF75527C24DF}"/>
              </a:ext>
            </a:extLst>
          </p:cNvPr>
          <p:cNvSpPr>
            <a:spLocks noGrp="1"/>
          </p:cNvSpPr>
          <p:nvPr/>
        </p:nvSpPr>
        <p:spPr>
          <a:xfrm>
            <a:off x="9667875" y="4010025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05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PCST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BD3296-B5B9-48D1-BAC9-A543950A183F}"/>
              </a:ext>
            </a:extLst>
          </p:cNvPr>
          <p:cNvSpPr>
            <a:spLocks noGrp="1"/>
          </p:cNvSpPr>
          <p:nvPr/>
        </p:nvSpPr>
        <p:spPr>
          <a:xfrm>
            <a:off x="8048625" y="4457700"/>
            <a:ext cx="3286125" cy="14288"/>
          </a:xfrm>
          <a:prstGeom prst="rect">
            <a:avLst/>
          </a:prstGeom>
          <a:solidFill>
            <a:srgbClr val="DDE3E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A28FBD-B2ED-4F5B-80BC-91AF81F110A0}"/>
              </a:ext>
            </a:extLst>
          </p:cNvPr>
          <p:cNvSpPr>
            <a:spLocks noGrp="1"/>
          </p:cNvSpPr>
          <p:nvPr/>
        </p:nvSpPr>
        <p:spPr>
          <a:xfrm>
            <a:off x="8096250" y="4667250"/>
            <a:ext cx="3190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27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Покриеноста се намалува минимално: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43580D-829D-4680-95ED-6E61AD06BB75}"/>
              </a:ext>
            </a:extLst>
          </p:cNvPr>
          <p:cNvSpPr>
            <a:spLocks noGrp="1"/>
          </p:cNvSpPr>
          <p:nvPr/>
        </p:nvSpPr>
        <p:spPr>
          <a:xfrm>
            <a:off x="8096250" y="5019675"/>
            <a:ext cx="319087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2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ContextGoldCoverage  0,888 → ≈0,881</a:t>
            </a:r>
          </a:p>
          <a:p>
            <a:pPr algn="ctr">
              <a:defRPr sz="12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ContextFullGoldCoverage  0,838 → ≈0,830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8B5DB2-5D8E-430E-92DF-88F0F0217972}"/>
              </a:ext>
            </a:extLst>
          </p:cNvPr>
          <p:cNvSpPr>
            <a:spLocks noGrp="1"/>
          </p:cNvSpPr>
          <p:nvPr/>
        </p:nvSpPr>
        <p:spPr>
          <a:xfrm>
            <a:off x="7905750" y="5829300"/>
            <a:ext cx="35718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200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Стратегијата на трошок има поголемо влијание од малите промени на λ.</a:t>
            </a:r>
          </a:p>
        </p:txBody>
      </p:sp>
    </p:spTree>
    <p:extLst>
      <p:ext uri="{BB962C8B-B14F-4D97-AF65-F5344CB8AC3E}">
        <p14:creationId xmlns:p14="http://schemas.microsoft.com/office/powerpoint/2010/main" val="20202881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EA01D29D-9111-4E60-9564-30069BCB48B0}"/>
              </a:ext>
            </a:extLst>
          </p:cNvPr>
          <p:cNvSpPr>
            <a:spLocks noGrp="1"/>
          </p:cNvSpPr>
          <p:nvPr/>
        </p:nvSpPr>
        <p:spPr>
          <a:xfrm>
            <a:off x="552450" y="209550"/>
            <a:ext cx="1076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Метрики за конечниот одговор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4A934E-AE1F-4A5D-B14A-5E99C94A851E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11087100" cy="38100"/>
          </a:xfrm>
          <a:prstGeom prst="rect">
            <a:avLst/>
          </a:prstGeom>
          <a:solidFill>
            <a:srgbClr val="8064A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B44C81-1537-46E2-A589-831F7BA5D9AD}"/>
              </a:ext>
            </a:extLst>
          </p:cNvPr>
          <p:cNvSpPr>
            <a:spLocks noGrp="1"/>
          </p:cNvSpPr>
          <p:nvPr/>
        </p:nvSpPr>
        <p:spPr>
          <a:xfrm>
            <a:off x="11315700" y="648652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b">
            <a:normAutofit/>
          </a:bodyPr>
          <a:lstStyle/>
          <a:p>
            <a:pPr algn="r"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BF945A-81AE-4913-BE02-12980960090E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485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800" b="1" i="0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8064A2"/>
                </a:solidFill>
                <a:latin typeface="Arial"/>
                <a:ea typeface="Arial"/>
                <a:cs typeface="Arial"/>
              </a:rPr>
              <a:t>Квалитет на одговорот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8AAD01E-F090-4BF9-95BB-AD0F14DD67F3}"/>
              </a:ext>
            </a:extLst>
          </p:cNvPr>
          <p:cNvSpPr>
            <a:spLocks noGrp="1"/>
          </p:cNvSpPr>
          <p:nvPr/>
        </p:nvSpPr>
        <p:spPr>
          <a:xfrm>
            <a:off x="666750" y="1619250"/>
            <a:ext cx="4857750" cy="2428875"/>
          </a:xfrm>
          <a:prstGeom prst="roundRect">
            <a:avLst>
              <a:gd name="adj" fmla="val 5490"/>
            </a:avLst>
          </a:prstGeom>
          <a:solidFill>
            <a:srgbClr val="F1ECF7"/>
          </a:solidFill>
          <a:ln w="14288">
            <a:solidFill>
              <a:srgbClr val="8064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4CC37F0-B9A4-4450-94F5-149BD99D5186}"/>
              </a:ext>
            </a:extLst>
          </p:cNvPr>
          <p:cNvSpPr>
            <a:spLocks noGrp="1"/>
          </p:cNvSpPr>
          <p:nvPr/>
        </p:nvSpPr>
        <p:spPr>
          <a:xfrm>
            <a:off x="904875" y="2028825"/>
            <a:ext cx="66675" cy="66675"/>
          </a:xfrm>
          <a:prstGeom prst="ellipse">
            <a:avLst/>
          </a:prstGeom>
          <a:solidFill>
            <a:srgbClr val="8064A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D1C017-103C-42DB-9393-4065095CD77B}"/>
              </a:ext>
            </a:extLst>
          </p:cNvPr>
          <p:cNvSpPr>
            <a:spLocks noGrp="1"/>
          </p:cNvSpPr>
          <p:nvPr/>
        </p:nvSpPr>
        <p:spPr>
          <a:xfrm>
            <a:off x="1076325" y="1924050"/>
            <a:ext cx="4210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350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Hit — вратен е барем еден точен одговор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54B7ABC-A030-4E86-AD76-B25C9C021664}"/>
              </a:ext>
            </a:extLst>
          </p:cNvPr>
          <p:cNvSpPr>
            <a:spLocks noGrp="1"/>
          </p:cNvSpPr>
          <p:nvPr/>
        </p:nvSpPr>
        <p:spPr>
          <a:xfrm>
            <a:off x="904875" y="2695575"/>
            <a:ext cx="66675" cy="66675"/>
          </a:xfrm>
          <a:prstGeom prst="ellipse">
            <a:avLst/>
          </a:prstGeom>
          <a:solidFill>
            <a:srgbClr val="8064A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B31B75-29CB-49E4-AE64-CF5E0F30403F}"/>
              </a:ext>
            </a:extLst>
          </p:cNvPr>
          <p:cNvSpPr>
            <a:spLocks noGrp="1"/>
          </p:cNvSpPr>
          <p:nvPr/>
        </p:nvSpPr>
        <p:spPr>
          <a:xfrm>
            <a:off x="1076325" y="2590800"/>
            <a:ext cx="4210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350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ExactMatch — целосно совпаѓање на множествата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82A031F-3448-4442-8325-23FAF572E9D8}"/>
              </a:ext>
            </a:extLst>
          </p:cNvPr>
          <p:cNvSpPr>
            <a:spLocks noGrp="1"/>
          </p:cNvSpPr>
          <p:nvPr/>
        </p:nvSpPr>
        <p:spPr>
          <a:xfrm>
            <a:off x="904875" y="3362325"/>
            <a:ext cx="66675" cy="66675"/>
          </a:xfrm>
          <a:prstGeom prst="ellipse">
            <a:avLst/>
          </a:prstGeom>
          <a:solidFill>
            <a:srgbClr val="8064A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48E7FE-46A6-45B4-AADC-98E26C8A616D}"/>
              </a:ext>
            </a:extLst>
          </p:cNvPr>
          <p:cNvSpPr>
            <a:spLocks noGrp="1"/>
          </p:cNvSpPr>
          <p:nvPr/>
        </p:nvSpPr>
        <p:spPr>
          <a:xfrm>
            <a:off x="1076325" y="3257550"/>
            <a:ext cx="42100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350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Precision · Recall · F1 — квалитет на генерираното множество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27F998-8ACB-49FA-8FE8-13AF3A5A9764}"/>
              </a:ext>
            </a:extLst>
          </p:cNvPr>
          <p:cNvSpPr>
            <a:spLocks noGrp="1"/>
          </p:cNvSpPr>
          <p:nvPr/>
        </p:nvSpPr>
        <p:spPr>
          <a:xfrm>
            <a:off x="6191250" y="1104900"/>
            <a:ext cx="5334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800" b="1" i="0">
                <a:solidFill>
                  <a:srgbClr val="4E9B69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4E9B69"/>
                </a:solidFill>
                <a:latin typeface="Arial"/>
                <a:ea typeface="Arial"/>
                <a:cs typeface="Arial"/>
              </a:rPr>
              <a:t>Искористување на контекстот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32C47A0-2BA1-4C98-B549-A1CC40057B3E}"/>
              </a:ext>
            </a:extLst>
          </p:cNvPr>
          <p:cNvSpPr>
            <a:spLocks noGrp="1"/>
          </p:cNvSpPr>
          <p:nvPr/>
        </p:nvSpPr>
        <p:spPr>
          <a:xfrm>
            <a:off x="6191250" y="1619250"/>
            <a:ext cx="5334000" cy="2428875"/>
          </a:xfrm>
          <a:prstGeom prst="roundRect">
            <a:avLst>
              <a:gd name="adj" fmla="val 5490"/>
            </a:avLst>
          </a:prstGeom>
          <a:solidFill>
            <a:srgbClr val="EAF6EE"/>
          </a:solidFill>
          <a:ln w="14288">
            <a:solidFill>
              <a:srgbClr val="4E9B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1E8E00-1B49-4342-8EF5-3EB33477B780}"/>
              </a:ext>
            </a:extLst>
          </p:cNvPr>
          <p:cNvSpPr>
            <a:spLocks noGrp="1"/>
          </p:cNvSpPr>
          <p:nvPr/>
        </p:nvSpPr>
        <p:spPr>
          <a:xfrm>
            <a:off x="6429375" y="1914525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425" b="1" i="0">
                <a:solidFill>
                  <a:srgbClr val="4E9B69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4E9B69"/>
                </a:solidFill>
                <a:latin typeface="Arial"/>
                <a:ea typeface="Arial"/>
                <a:cs typeface="Arial"/>
              </a:rPr>
              <a:t>FullContextCompleteAnswer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8435CD-C610-47B9-9C8A-E98BFA416B7A}"/>
              </a:ext>
            </a:extLst>
          </p:cNvPr>
          <p:cNvSpPr>
            <a:spLocks noGrp="1"/>
          </p:cNvSpPr>
          <p:nvPr/>
        </p:nvSpPr>
        <p:spPr>
          <a:xfrm>
            <a:off x="6429375" y="2228850"/>
            <a:ext cx="4857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Контекстот ги содржи сите точни одговори и моделот ги враќа сите.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45FF87A-A883-417D-AF28-F79FBE3116BD}"/>
              </a:ext>
            </a:extLst>
          </p:cNvPr>
          <p:cNvSpPr>
            <a:spLocks noGrp="1"/>
          </p:cNvSpPr>
          <p:nvPr/>
        </p:nvSpPr>
        <p:spPr>
          <a:xfrm>
            <a:off x="6429375" y="2981325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425" b="1" i="0">
                <a:solidFill>
                  <a:srgbClr val="4E9B69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4E9B69"/>
                </a:solidFill>
                <a:latin typeface="Arial"/>
                <a:ea typeface="Arial"/>
                <a:cs typeface="Arial"/>
              </a:rPr>
              <a:t>FullContextLLMOmission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93B6E04-4DAD-4A39-AB6C-7EE92DE6AC44}"/>
              </a:ext>
            </a:extLst>
          </p:cNvPr>
          <p:cNvSpPr>
            <a:spLocks noGrp="1"/>
          </p:cNvSpPr>
          <p:nvPr/>
        </p:nvSpPr>
        <p:spPr>
          <a:xfrm>
            <a:off x="6429375" y="3295650"/>
            <a:ext cx="4857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75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Контекстот е целосен, но моделот испушта најмалку еден точен одговор.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111BB8B-F315-4335-9521-F0D224702460}"/>
              </a:ext>
            </a:extLst>
          </p:cNvPr>
          <p:cNvSpPr>
            <a:spLocks noGrp="1"/>
          </p:cNvSpPr>
          <p:nvPr/>
        </p:nvSpPr>
        <p:spPr>
          <a:xfrm>
            <a:off x="1809750" y="4552950"/>
            <a:ext cx="8572500" cy="819150"/>
          </a:xfrm>
          <a:prstGeom prst="roundRect">
            <a:avLst>
              <a:gd name="adj" fmla="val 11628"/>
            </a:avLst>
          </a:prstGeom>
          <a:solidFill>
            <a:srgbClr val="F7F9FB"/>
          </a:solidFill>
          <a:ln w="11430">
            <a:solidFill>
              <a:srgbClr val="A9B4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565FFE0-BB95-4060-A3E9-DF782C23D710}"/>
              </a:ext>
            </a:extLst>
          </p:cNvPr>
          <p:cNvSpPr>
            <a:spLocks noGrp="1"/>
          </p:cNvSpPr>
          <p:nvPr/>
        </p:nvSpPr>
        <p:spPr>
          <a:xfrm>
            <a:off x="1924050" y="4619625"/>
            <a:ext cx="83439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LLMOmissionGivenFullContext = #{q: Gq⊆Cq ∧ Gq⊄Pq} / #{q: Gq⊆Cq}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FE5266B-F406-40A0-B9DD-1615044A173F}"/>
              </a:ext>
            </a:extLst>
          </p:cNvPr>
          <p:cNvSpPr>
            <a:spLocks noGrp="1"/>
          </p:cNvSpPr>
          <p:nvPr/>
        </p:nvSpPr>
        <p:spPr>
          <a:xfrm>
            <a:off x="1619250" y="5600700"/>
            <a:ext cx="8953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Метриката го изолира пропустот на јазичниот модел од загубата во претходните фази.</a:t>
            </a:r>
          </a:p>
        </p:txBody>
      </p:sp>
    </p:spTree>
    <p:extLst>
      <p:ext uri="{BB962C8B-B14F-4D97-AF65-F5344CB8AC3E}">
        <p14:creationId xmlns:p14="http://schemas.microsoft.com/office/powerpoint/2010/main" val="9452288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7CFBA19-D509-4280-9129-639F820296CE}"/>
              </a:ext>
            </a:extLst>
          </p:cNvPr>
          <p:cNvSpPr>
            <a:spLocks noGrp="1"/>
          </p:cNvSpPr>
          <p:nvPr/>
        </p:nvSpPr>
        <p:spPr>
          <a:xfrm>
            <a:off x="552450" y="209550"/>
            <a:ext cx="1076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Квалитет и потрошувачка на токени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B885FE-F30F-4348-B3F7-29C6FF16A349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11087100" cy="38100"/>
          </a:xfrm>
          <a:prstGeom prst="rect">
            <a:avLst/>
          </a:prstGeom>
          <a:solidFill>
            <a:srgbClr val="8064A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00464B-1275-4EBE-A25F-9B479A0BF501}"/>
              </a:ext>
            </a:extLst>
          </p:cNvPr>
          <p:cNvSpPr>
            <a:spLocks noGrp="1"/>
          </p:cNvSpPr>
          <p:nvPr/>
        </p:nvSpPr>
        <p:spPr>
          <a:xfrm>
            <a:off x="11315700" y="648652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b">
            <a:normAutofit/>
          </a:bodyPr>
          <a:lstStyle/>
          <a:p>
            <a:pPr algn="r"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28625" y="1019864"/>
            <a:ext cx="11334750" cy="3522872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5ADEB02-BCB7-43E8-B0D6-0D9F36E8FD83}"/>
              </a:ext>
            </a:extLst>
          </p:cNvPr>
          <p:cNvSpPr>
            <a:spLocks noGrp="1"/>
          </p:cNvSpPr>
          <p:nvPr/>
        </p:nvSpPr>
        <p:spPr>
          <a:xfrm>
            <a:off x="666750" y="4791075"/>
            <a:ext cx="5191125" cy="133350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 w="14288">
            <a:solidFill>
              <a:srgbClr val="4F8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A862D6-FE89-4C25-882F-9EF3599CB8E1}"/>
              </a:ext>
            </a:extLst>
          </p:cNvPr>
          <p:cNvSpPr>
            <a:spLocks noGrp="1"/>
          </p:cNvSpPr>
          <p:nvPr/>
        </p:nvSpPr>
        <p:spPr>
          <a:xfrm>
            <a:off x="904875" y="4933950"/>
            <a:ext cx="4714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 i="0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4F86C6"/>
                </a:solidFill>
                <a:latin typeface="Arial"/>
                <a:ea typeface="Arial"/>
                <a:cs typeface="Arial"/>
              </a:rPr>
              <a:t>Унија на најкратки патеки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8E3F20-FBB2-4B97-A316-90BA77C449F9}"/>
              </a:ext>
            </a:extLst>
          </p:cNvPr>
          <p:cNvSpPr>
            <a:spLocks noGrp="1"/>
          </p:cNvSpPr>
          <p:nvPr/>
        </p:nvSpPr>
        <p:spPr>
          <a:xfrm>
            <a:off x="790575" y="5305425"/>
            <a:ext cx="1581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 i="0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4F86C6"/>
                </a:solidFill>
                <a:latin typeface="Arial"/>
                <a:ea typeface="Arial"/>
                <a:cs typeface="Arial"/>
              </a:rPr>
              <a:t>0,802 / 0,804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F6321E-E6D2-425A-ABF0-9A809B10868A}"/>
              </a:ext>
            </a:extLst>
          </p:cNvPr>
          <p:cNvSpPr>
            <a:spLocks noGrp="1"/>
          </p:cNvSpPr>
          <p:nvPr/>
        </p:nvSpPr>
        <p:spPr>
          <a:xfrm>
            <a:off x="790575" y="5762625"/>
            <a:ext cx="1581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Hit · DeepSeek / GPT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5A8276-40A7-43A8-AADB-1F6ECA27C3FC}"/>
              </a:ext>
            </a:extLst>
          </p:cNvPr>
          <p:cNvSpPr>
            <a:spLocks noGrp="1"/>
          </p:cNvSpPr>
          <p:nvPr/>
        </p:nvSpPr>
        <p:spPr>
          <a:xfrm>
            <a:off x="2466975" y="5305425"/>
            <a:ext cx="1581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 i="0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4F86C6"/>
                </a:solidFill>
                <a:latin typeface="Arial"/>
                <a:ea typeface="Arial"/>
                <a:cs typeface="Arial"/>
              </a:rPr>
              <a:t>0,627 / 0,613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FC6AAA-37B0-4A76-93FD-7C09FC40303A}"/>
              </a:ext>
            </a:extLst>
          </p:cNvPr>
          <p:cNvSpPr>
            <a:spLocks noGrp="1"/>
          </p:cNvSpPr>
          <p:nvPr/>
        </p:nvSpPr>
        <p:spPr>
          <a:xfrm>
            <a:off x="2466975" y="5762625"/>
            <a:ext cx="1581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F1 · DeepSeek / GPT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A9EF80-F130-41A9-B005-171851E21B0A}"/>
              </a:ext>
            </a:extLst>
          </p:cNvPr>
          <p:cNvSpPr>
            <a:spLocks noGrp="1"/>
          </p:cNvSpPr>
          <p:nvPr/>
        </p:nvSpPr>
        <p:spPr>
          <a:xfrm>
            <a:off x="4143375" y="5305425"/>
            <a:ext cx="1581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 i="0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4F86C6"/>
                </a:solidFill>
                <a:latin typeface="Arial"/>
                <a:ea typeface="Arial"/>
                <a:cs typeface="Arial"/>
              </a:rPr>
              <a:t>3,42 / 3,07 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41351D-F43E-4126-9334-46E72FE1B3EF}"/>
              </a:ext>
            </a:extLst>
          </p:cNvPr>
          <p:cNvSpPr>
            <a:spLocks noGrp="1"/>
          </p:cNvSpPr>
          <p:nvPr/>
        </p:nvSpPr>
        <p:spPr>
          <a:xfrm>
            <a:off x="4143375" y="5762625"/>
            <a:ext cx="1581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токени · DeepSeek / GPT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63A3EB2-A9CF-49E0-A51A-F7925D4EE6B8}"/>
              </a:ext>
            </a:extLst>
          </p:cNvPr>
          <p:cNvSpPr>
            <a:spLocks noGrp="1"/>
          </p:cNvSpPr>
          <p:nvPr/>
        </p:nvSpPr>
        <p:spPr>
          <a:xfrm>
            <a:off x="6334125" y="4791075"/>
            <a:ext cx="5191125" cy="1333500"/>
          </a:xfrm>
          <a:prstGeom prst="roundRect">
            <a:avLst>
              <a:gd name="adj" fmla="val 10000"/>
            </a:avLst>
          </a:prstGeom>
          <a:solidFill>
            <a:srgbClr val="E8F5F3"/>
          </a:solidFill>
          <a:ln w="14288">
            <a:solidFill>
              <a:srgbClr val="398D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A5216A-839A-41F2-9FCD-6125BC38CEE3}"/>
              </a:ext>
            </a:extLst>
          </p:cNvPr>
          <p:cNvSpPr>
            <a:spLocks noGrp="1"/>
          </p:cNvSpPr>
          <p:nvPr/>
        </p:nvSpPr>
        <p:spPr>
          <a:xfrm>
            <a:off x="6572250" y="4933950"/>
            <a:ext cx="4714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Семантички PCST, λ=1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E72E37-F983-4556-A1F6-1FF887208E85}"/>
              </a:ext>
            </a:extLst>
          </p:cNvPr>
          <p:cNvSpPr>
            <a:spLocks noGrp="1"/>
          </p:cNvSpPr>
          <p:nvPr/>
        </p:nvSpPr>
        <p:spPr>
          <a:xfrm>
            <a:off x="6457950" y="5305425"/>
            <a:ext cx="1581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0,689 / 0,728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9A0ABF-C1F3-46F4-9235-AF36E5F82310}"/>
              </a:ext>
            </a:extLst>
          </p:cNvPr>
          <p:cNvSpPr>
            <a:spLocks noGrp="1"/>
          </p:cNvSpPr>
          <p:nvPr/>
        </p:nvSpPr>
        <p:spPr>
          <a:xfrm>
            <a:off x="6457950" y="5762625"/>
            <a:ext cx="1581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Hit · DeepSeek / GPT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F36BC57-7632-4D6D-BB6E-F8FD540772E2}"/>
              </a:ext>
            </a:extLst>
          </p:cNvPr>
          <p:cNvSpPr>
            <a:spLocks noGrp="1"/>
          </p:cNvSpPr>
          <p:nvPr/>
        </p:nvSpPr>
        <p:spPr>
          <a:xfrm>
            <a:off x="8134350" y="5305425"/>
            <a:ext cx="1581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0,492 / 0,477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ABFF4D-F7E0-40FB-ABF0-8036F8329BEB}"/>
              </a:ext>
            </a:extLst>
          </p:cNvPr>
          <p:cNvSpPr>
            <a:spLocks noGrp="1"/>
          </p:cNvSpPr>
          <p:nvPr/>
        </p:nvSpPr>
        <p:spPr>
          <a:xfrm>
            <a:off x="8134350" y="5762625"/>
            <a:ext cx="1581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F1 · DeepSeek / GPT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EED459C-496A-43E6-936B-62CB172534ED}"/>
              </a:ext>
            </a:extLst>
          </p:cNvPr>
          <p:cNvSpPr>
            <a:spLocks noGrp="1"/>
          </p:cNvSpPr>
          <p:nvPr/>
        </p:nvSpPr>
        <p:spPr>
          <a:xfrm>
            <a:off x="9810750" y="5305425"/>
            <a:ext cx="1581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0,69 / 0,66 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E28770A-CC0E-4D04-97BB-70744DDD2E11}"/>
              </a:ext>
            </a:extLst>
          </p:cNvPr>
          <p:cNvSpPr>
            <a:spLocks noGrp="1"/>
          </p:cNvSpPr>
          <p:nvPr/>
        </p:nvSpPr>
        <p:spPr>
          <a:xfrm>
            <a:off x="9810750" y="5762625"/>
            <a:ext cx="1581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токени · 78–80% помалку</a:t>
            </a:r>
          </a:p>
        </p:txBody>
      </p:sp>
    </p:spTree>
    <p:extLst>
      <p:ext uri="{BB962C8B-B14F-4D97-AF65-F5344CB8AC3E}">
        <p14:creationId xmlns:p14="http://schemas.microsoft.com/office/powerpoint/2010/main" val="9189406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EABAACA-A7A8-470E-B2A7-257FDC1AFC0D}"/>
              </a:ext>
            </a:extLst>
          </p:cNvPr>
          <p:cNvSpPr>
            <a:spLocks noGrp="1"/>
          </p:cNvSpPr>
          <p:nvPr/>
        </p:nvSpPr>
        <p:spPr>
          <a:xfrm>
            <a:off x="552450" y="209550"/>
            <a:ext cx="1076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Каде се губи информацијата?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1A01AF-5E90-4186-8B5A-5D7B908C0CF5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11087100" cy="38100"/>
          </a:xfrm>
          <a:prstGeom prst="rect">
            <a:avLst/>
          </a:prstGeom>
          <a:solidFill>
            <a:srgbClr val="8064A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CF4A9-3BA6-4262-AA76-D409909B72A6}"/>
              </a:ext>
            </a:extLst>
          </p:cNvPr>
          <p:cNvSpPr>
            <a:spLocks noGrp="1"/>
          </p:cNvSpPr>
          <p:nvPr/>
        </p:nvSpPr>
        <p:spPr>
          <a:xfrm>
            <a:off x="11315700" y="648652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b">
            <a:normAutofit/>
          </a:bodyPr>
          <a:lstStyle/>
          <a:p>
            <a:pPr algn="r"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33375" y="1006488"/>
            <a:ext cx="11525250" cy="41306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070C766-2E59-493B-80B6-E391F9DFBD1D}"/>
              </a:ext>
            </a:extLst>
          </p:cNvPr>
          <p:cNvSpPr>
            <a:spLocks noGrp="1"/>
          </p:cNvSpPr>
          <p:nvPr/>
        </p:nvSpPr>
        <p:spPr>
          <a:xfrm>
            <a:off x="523875" y="5191125"/>
            <a:ext cx="266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2100" b="1" i="0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D97942"/>
                </a:solidFill>
                <a:latin typeface="Arial"/>
                <a:ea typeface="Arial"/>
                <a:cs typeface="Arial"/>
              </a:rPr>
              <a:t>0,877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057453-0A05-4313-A079-1B090ED351B5}"/>
              </a:ext>
            </a:extLst>
          </p:cNvPr>
          <p:cNvSpPr>
            <a:spLocks noGrp="1"/>
          </p:cNvSpPr>
          <p:nvPr/>
        </p:nvSpPr>
        <p:spPr>
          <a:xfrm>
            <a:off x="523875" y="5648325"/>
            <a:ext cx="266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05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RetrievalGoldCoverage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71800B-E6AE-40FC-AF17-25D547A8CC1C}"/>
              </a:ext>
            </a:extLst>
          </p:cNvPr>
          <p:cNvSpPr>
            <a:spLocks noGrp="1"/>
          </p:cNvSpPr>
          <p:nvPr/>
        </p:nvSpPr>
        <p:spPr>
          <a:xfrm>
            <a:off x="3429000" y="5191125"/>
            <a:ext cx="266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2100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0,888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A7BA6F-BFFF-4FA6-A9A9-7CE6FCB7C92E}"/>
              </a:ext>
            </a:extLst>
          </p:cNvPr>
          <p:cNvSpPr>
            <a:spLocks noGrp="1"/>
          </p:cNvSpPr>
          <p:nvPr/>
        </p:nvSpPr>
        <p:spPr>
          <a:xfrm>
            <a:off x="3429000" y="5648325"/>
            <a:ext cx="266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05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ContextGoldCoverage</a:t>
            </a:r>
          </a:p>
          <a:p>
            <a:pPr algn="ctr">
              <a:defRPr sz="105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најкратки патеки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58D7E1-8FD7-4768-86F7-252A15D807FA}"/>
              </a:ext>
            </a:extLst>
          </p:cNvPr>
          <p:cNvSpPr>
            <a:spLocks noGrp="1"/>
          </p:cNvSpPr>
          <p:nvPr/>
        </p:nvSpPr>
        <p:spPr>
          <a:xfrm>
            <a:off x="6334125" y="5191125"/>
            <a:ext cx="266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875" b="1" i="0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8064A2"/>
                </a:solidFill>
                <a:latin typeface="Arial"/>
                <a:ea typeface="Arial"/>
                <a:cs typeface="Arial"/>
              </a:rPr>
              <a:t>0,211 / 0,237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3F3F94-C352-4D74-A322-FBA2A7E850A7}"/>
              </a:ext>
            </a:extLst>
          </p:cNvPr>
          <p:cNvSpPr>
            <a:spLocks noGrp="1"/>
          </p:cNvSpPr>
          <p:nvPr/>
        </p:nvSpPr>
        <p:spPr>
          <a:xfrm>
            <a:off x="6334125" y="5648325"/>
            <a:ext cx="266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05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LLM omission · DeepSeek / GPT</a:t>
            </a:r>
          </a:p>
          <a:p>
            <a:pPr algn="ctr">
              <a:defRPr sz="105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најкратки патеки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676485-5F60-4D5C-93A1-5097B34E3011}"/>
              </a:ext>
            </a:extLst>
          </p:cNvPr>
          <p:cNvSpPr>
            <a:spLocks noGrp="1"/>
          </p:cNvSpPr>
          <p:nvPr/>
        </p:nvSpPr>
        <p:spPr>
          <a:xfrm>
            <a:off x="9239250" y="5191125"/>
            <a:ext cx="266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2100" b="1" i="0">
                <a:solidFill>
                  <a:srgbClr val="4E9B69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4E9B69"/>
                </a:solidFill>
                <a:latin typeface="Arial"/>
                <a:ea typeface="Arial"/>
                <a:cs typeface="Arial"/>
              </a:rPr>
              <a:t>≈ 0,477 / 0,477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27C378-67A7-464B-B7C6-9E8233823801}"/>
              </a:ext>
            </a:extLst>
          </p:cNvPr>
          <p:cNvSpPr>
            <a:spLocks noGrp="1"/>
          </p:cNvSpPr>
          <p:nvPr/>
        </p:nvSpPr>
        <p:spPr>
          <a:xfrm>
            <a:off x="9239250" y="5648325"/>
            <a:ext cx="266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05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LLM omission · DeepSeek / GPT</a:t>
            </a:r>
          </a:p>
          <a:p>
            <a:pPr algn="ctr">
              <a:defRPr sz="105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семантички PCST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EDC55F-9C63-4911-A16F-8764B237CF25}"/>
              </a:ext>
            </a:extLst>
          </p:cNvPr>
          <p:cNvSpPr>
            <a:spLocks noGrp="1"/>
          </p:cNvSpPr>
          <p:nvPr/>
        </p:nvSpPr>
        <p:spPr>
          <a:xfrm>
            <a:off x="1000125" y="6134100"/>
            <a:ext cx="1019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9069"/>
          </a:bodyPr>
          <a:lstStyle/>
          <a:p>
            <a:pPr algn="ctr">
              <a:defRPr sz="1350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Присуството на точниот ентитет не е доволно — потребни се јасни релациски тројки што го поврзуваат со прашањето.</a:t>
            </a:r>
          </a:p>
        </p:txBody>
      </p:sp>
    </p:spTree>
    <p:extLst>
      <p:ext uri="{BB962C8B-B14F-4D97-AF65-F5344CB8AC3E}">
        <p14:creationId xmlns:p14="http://schemas.microsoft.com/office/powerpoint/2010/main" val="1250928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FAE84ED9-AFAC-4C01-9B7D-EF8D644FE2F7}"/>
              </a:ext>
            </a:extLst>
          </p:cNvPr>
          <p:cNvSpPr>
            <a:spLocks noGrp="1"/>
          </p:cNvSpPr>
          <p:nvPr/>
        </p:nvSpPr>
        <p:spPr>
          <a:xfrm>
            <a:off x="552450" y="209550"/>
            <a:ext cx="1076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Заклучоци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04C07C-361B-4446-9C05-9AFC9CA1CFC8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11087100" cy="38100"/>
          </a:xfrm>
          <a:prstGeom prst="rect">
            <a:avLst/>
          </a:prstGeom>
          <a:solidFill>
            <a:srgbClr val="4E9B6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B8FD3F-FD3A-4A1B-9348-A4EC49E522AE}"/>
              </a:ext>
            </a:extLst>
          </p:cNvPr>
          <p:cNvSpPr>
            <a:spLocks noGrp="1"/>
          </p:cNvSpPr>
          <p:nvPr/>
        </p:nvSpPr>
        <p:spPr>
          <a:xfrm>
            <a:off x="11315700" y="648652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b">
            <a:normAutofit/>
          </a:bodyPr>
          <a:lstStyle/>
          <a:p>
            <a:pPr algn="r"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4DE2065-3D84-48D5-B11A-30D6A8482F1C}"/>
              </a:ext>
            </a:extLst>
          </p:cNvPr>
          <p:cNvSpPr>
            <a:spLocks noGrp="1"/>
          </p:cNvSpPr>
          <p:nvPr/>
        </p:nvSpPr>
        <p:spPr>
          <a:xfrm>
            <a:off x="762000" y="1143000"/>
            <a:ext cx="10668000" cy="1285875"/>
          </a:xfrm>
          <a:prstGeom prst="roundRect">
            <a:avLst>
              <a:gd name="adj" fmla="val 10370"/>
            </a:avLst>
          </a:prstGeom>
          <a:solidFill>
            <a:srgbClr val="FBEDE5"/>
          </a:solidFill>
          <a:ln w="15240">
            <a:solidFill>
              <a:srgbClr val="D97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7D4981A-2004-43BD-99D8-6B13CFE147D2}"/>
              </a:ext>
            </a:extLst>
          </p:cNvPr>
          <p:cNvSpPr>
            <a:spLocks noGrp="1"/>
          </p:cNvSpPr>
          <p:nvPr/>
        </p:nvSpPr>
        <p:spPr>
          <a:xfrm>
            <a:off x="1028700" y="1409700"/>
            <a:ext cx="742950" cy="742950"/>
          </a:xfrm>
          <a:prstGeom prst="ellipse">
            <a:avLst/>
          </a:prstGeom>
          <a:solidFill>
            <a:srgbClr val="FFFFFF"/>
          </a:solidFill>
          <a:ln w="23813">
            <a:solidFill>
              <a:srgbClr val="D97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3DEDCE-B812-4408-BD7C-B6CA35919920}"/>
              </a:ext>
            </a:extLst>
          </p:cNvPr>
          <p:cNvSpPr>
            <a:spLocks noGrp="1"/>
          </p:cNvSpPr>
          <p:nvPr/>
        </p:nvSpPr>
        <p:spPr>
          <a:xfrm>
            <a:off x="1028700" y="1428750"/>
            <a:ext cx="742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2100" b="1" i="0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D9794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69C11A-8981-4ACE-A35F-10495C054059}"/>
              </a:ext>
            </a:extLst>
          </p:cNvPr>
          <p:cNvSpPr>
            <a:spLocks noGrp="1"/>
          </p:cNvSpPr>
          <p:nvPr/>
        </p:nvSpPr>
        <p:spPr>
          <a:xfrm>
            <a:off x="2095500" y="1314450"/>
            <a:ext cx="876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650" b="1" i="0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D97942"/>
                </a:solidFill>
                <a:latin typeface="Arial"/>
                <a:ea typeface="Arial"/>
                <a:cs typeface="Arial"/>
              </a:rPr>
              <a:t>NBFNet е најуспешен и најстабилен пребарувач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F99CF1-4DDA-4023-960E-4FB092B44E61}"/>
              </a:ext>
            </a:extLst>
          </p:cNvPr>
          <p:cNvSpPr>
            <a:spLocks noGrp="1"/>
          </p:cNvSpPr>
          <p:nvPr/>
        </p:nvSpPr>
        <p:spPr>
          <a:xfrm>
            <a:off x="2095500" y="1762125"/>
            <a:ext cx="876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350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Hits@10 = 0,921 ± 0,005 · nDCG@10 = 0,796 ± 0,007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0EE277D-C996-4F2D-ABA2-308E3B24B933}"/>
              </a:ext>
            </a:extLst>
          </p:cNvPr>
          <p:cNvSpPr>
            <a:spLocks noGrp="1"/>
          </p:cNvSpPr>
          <p:nvPr/>
        </p:nvSpPr>
        <p:spPr>
          <a:xfrm>
            <a:off x="762000" y="2762250"/>
            <a:ext cx="10668000" cy="1285875"/>
          </a:xfrm>
          <a:prstGeom prst="roundRect">
            <a:avLst>
              <a:gd name="adj" fmla="val 10370"/>
            </a:avLst>
          </a:prstGeom>
          <a:solidFill>
            <a:srgbClr val="E8F5F3"/>
          </a:solidFill>
          <a:ln w="15240">
            <a:solidFill>
              <a:srgbClr val="398D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542A5DC-4869-4031-81C3-D5BA47ACA414}"/>
              </a:ext>
            </a:extLst>
          </p:cNvPr>
          <p:cNvSpPr>
            <a:spLocks noGrp="1"/>
          </p:cNvSpPr>
          <p:nvPr/>
        </p:nvSpPr>
        <p:spPr>
          <a:xfrm>
            <a:off x="1028700" y="3028950"/>
            <a:ext cx="742950" cy="742950"/>
          </a:xfrm>
          <a:prstGeom prst="ellipse">
            <a:avLst/>
          </a:prstGeom>
          <a:solidFill>
            <a:srgbClr val="FFFFFF"/>
          </a:solidFill>
          <a:ln w="23813">
            <a:solidFill>
              <a:srgbClr val="398D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D1B0BB-1E29-40C8-9B80-08CA84CE384D}"/>
              </a:ext>
            </a:extLst>
          </p:cNvPr>
          <p:cNvSpPr>
            <a:spLocks noGrp="1"/>
          </p:cNvSpPr>
          <p:nvPr/>
        </p:nvSpPr>
        <p:spPr>
          <a:xfrm>
            <a:off x="1028700" y="3048000"/>
            <a:ext cx="742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2100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06EB2C-C4EB-4E65-9368-A6A1B521792B}"/>
              </a:ext>
            </a:extLst>
          </p:cNvPr>
          <p:cNvSpPr>
            <a:spLocks noGrp="1"/>
          </p:cNvSpPr>
          <p:nvPr/>
        </p:nvSpPr>
        <p:spPr>
          <a:xfrm>
            <a:off x="2095500" y="2933700"/>
            <a:ext cx="876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650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Најкратките патеки го даваат највисокиот конечен квалитет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D787FD6-4D7B-414D-B4B5-8F488C010F07}"/>
              </a:ext>
            </a:extLst>
          </p:cNvPr>
          <p:cNvSpPr>
            <a:spLocks noGrp="1"/>
          </p:cNvSpPr>
          <p:nvPr/>
        </p:nvSpPr>
        <p:spPr>
          <a:xfrm>
            <a:off x="2095500" y="3381375"/>
            <a:ext cx="876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350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Семантичкиот PCST создава ≈85% помал контекст и е подобар кога компактноста е приоритет.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708D3D0-2052-4CC6-9A8A-D14D23DF9D8D}"/>
              </a:ext>
            </a:extLst>
          </p:cNvPr>
          <p:cNvSpPr>
            <a:spLocks noGrp="1"/>
          </p:cNvSpPr>
          <p:nvPr/>
        </p:nvSpPr>
        <p:spPr>
          <a:xfrm>
            <a:off x="762000" y="4381500"/>
            <a:ext cx="10668000" cy="1285875"/>
          </a:xfrm>
          <a:prstGeom prst="roundRect">
            <a:avLst>
              <a:gd name="adj" fmla="val 10370"/>
            </a:avLst>
          </a:prstGeom>
          <a:solidFill>
            <a:srgbClr val="F1ECF7"/>
          </a:solidFill>
          <a:ln w="15240">
            <a:solidFill>
              <a:srgbClr val="8064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8398315-35C0-4FFD-AA32-E75004AD0C27}"/>
              </a:ext>
            </a:extLst>
          </p:cNvPr>
          <p:cNvSpPr>
            <a:spLocks noGrp="1"/>
          </p:cNvSpPr>
          <p:nvPr/>
        </p:nvSpPr>
        <p:spPr>
          <a:xfrm>
            <a:off x="1028700" y="4648200"/>
            <a:ext cx="742950" cy="742950"/>
          </a:xfrm>
          <a:prstGeom prst="ellipse">
            <a:avLst/>
          </a:prstGeom>
          <a:solidFill>
            <a:srgbClr val="FFFFFF"/>
          </a:solidFill>
          <a:ln w="23813">
            <a:solidFill>
              <a:srgbClr val="8064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D062D3-55DB-4BF1-812D-8A8024360666}"/>
              </a:ext>
            </a:extLst>
          </p:cNvPr>
          <p:cNvSpPr>
            <a:spLocks noGrp="1"/>
          </p:cNvSpPr>
          <p:nvPr/>
        </p:nvSpPr>
        <p:spPr>
          <a:xfrm>
            <a:off x="1028700" y="4667250"/>
            <a:ext cx="742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2100" b="1" i="0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8064A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8CFB49-306C-4627-B754-00A6AFC129A2}"/>
              </a:ext>
            </a:extLst>
          </p:cNvPr>
          <p:cNvSpPr>
            <a:spLocks noGrp="1"/>
          </p:cNvSpPr>
          <p:nvPr/>
        </p:nvSpPr>
        <p:spPr>
          <a:xfrm>
            <a:off x="2095500" y="4552950"/>
            <a:ext cx="876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650" b="1" i="0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8064A2"/>
                </a:solidFill>
                <a:latin typeface="Arial"/>
                <a:ea typeface="Arial"/>
                <a:cs typeface="Arial"/>
              </a:rPr>
              <a:t>Изборот на LLM го менува балансот меѓу Hit и F1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09EC0A5-6FA9-43A1-AF05-978EA622DD94}"/>
              </a:ext>
            </a:extLst>
          </p:cNvPr>
          <p:cNvSpPr>
            <a:spLocks noGrp="1"/>
          </p:cNvSpPr>
          <p:nvPr/>
        </p:nvSpPr>
        <p:spPr>
          <a:xfrm>
            <a:off x="2095500" y="5000625"/>
            <a:ext cx="876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350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Главното тесно грло е искористувањето на достапниот релациски контекст.</a:t>
            </a:r>
          </a:p>
        </p:txBody>
      </p:sp>
    </p:spTree>
    <p:extLst>
      <p:ext uri="{BB962C8B-B14F-4D97-AF65-F5344CB8AC3E}">
        <p14:creationId xmlns:p14="http://schemas.microsoft.com/office/powerpoint/2010/main" val="3619397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934F354-E506-4DA2-A1F0-B0E95A0BF964}"/>
              </a:ext>
            </a:extLst>
          </p:cNvPr>
          <p:cNvSpPr>
            <a:spLocks noGrp="1"/>
          </p:cNvSpPr>
          <p:nvPr/>
        </p:nvSpPr>
        <p:spPr>
          <a:xfrm>
            <a:off x="552450" y="209550"/>
            <a:ext cx="1076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23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Идни подобрувања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53060B-6EBA-4B04-8950-332C41DD3743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11087100" cy="38100"/>
          </a:xfrm>
          <a:prstGeom prst="rect">
            <a:avLst/>
          </a:prstGeom>
          <a:solidFill>
            <a:srgbClr val="4E9B6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383050-2B70-44C4-9EF9-375236EE2995}"/>
              </a:ext>
            </a:extLst>
          </p:cNvPr>
          <p:cNvSpPr>
            <a:spLocks noGrp="1"/>
          </p:cNvSpPr>
          <p:nvPr/>
        </p:nvSpPr>
        <p:spPr>
          <a:xfrm>
            <a:off x="11315700" y="648652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b">
            <a:normAutofit/>
          </a:bodyPr>
          <a:lstStyle/>
          <a:p>
            <a:pPr algn="r">
              <a:defRPr sz="900" b="0" i="0">
                <a:solidFill>
                  <a:srgbClr val="61708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17080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CDB3A42-445D-4F06-942E-537E3DB27798}"/>
              </a:ext>
            </a:extLst>
          </p:cNvPr>
          <p:cNvSpPr>
            <a:spLocks noGrp="1"/>
          </p:cNvSpPr>
          <p:nvPr/>
        </p:nvSpPr>
        <p:spPr>
          <a:xfrm>
            <a:off x="552450" y="1381125"/>
            <a:ext cx="3286125" cy="3667125"/>
          </a:xfrm>
          <a:prstGeom prst="roundRect">
            <a:avLst>
              <a:gd name="adj" fmla="val 5217"/>
            </a:avLst>
          </a:prstGeom>
          <a:solidFill>
            <a:srgbClr val="E8F5F3"/>
          </a:solidFill>
          <a:ln w="17145">
            <a:solidFill>
              <a:srgbClr val="398D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40F77F-823C-49A4-B379-4CF4BDFE988F}"/>
              </a:ext>
            </a:extLst>
          </p:cNvPr>
          <p:cNvSpPr>
            <a:spLocks noGrp="1"/>
          </p:cNvSpPr>
          <p:nvPr/>
        </p:nvSpPr>
        <p:spPr>
          <a:xfrm>
            <a:off x="885825" y="1695450"/>
            <a:ext cx="2619375" cy="47625"/>
          </a:xfrm>
          <a:prstGeom prst="rect">
            <a:avLst/>
          </a:prstGeom>
          <a:solidFill>
            <a:srgbClr val="398D8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72327B-4FE8-4D00-9817-EDBBD4E8510F}"/>
              </a:ext>
            </a:extLst>
          </p:cNvPr>
          <p:cNvSpPr>
            <a:spLocks noGrp="1"/>
          </p:cNvSpPr>
          <p:nvPr/>
        </p:nvSpPr>
        <p:spPr>
          <a:xfrm>
            <a:off x="838200" y="2047875"/>
            <a:ext cx="27146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725" b="1" i="0">
                <a:solidFill>
                  <a:srgbClr val="398D84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398D84"/>
                </a:solidFill>
                <a:latin typeface="Arial"/>
                <a:ea typeface="Arial"/>
                <a:cs typeface="Arial"/>
              </a:rPr>
              <a:t>Хибриден доказен подграф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599FE3-C193-461F-9FEE-E50176BB7064}"/>
              </a:ext>
            </a:extLst>
          </p:cNvPr>
          <p:cNvSpPr>
            <a:spLocks noGrp="1"/>
          </p:cNvSpPr>
          <p:nvPr/>
        </p:nvSpPr>
        <p:spPr>
          <a:xfrm>
            <a:off x="885825" y="3095625"/>
            <a:ext cx="2619375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350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Компактност на PCST со гарантирано зачувување на целосни и разбирливи патеки до најважните кандидати.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B2DBC6E-4577-4B7B-89A1-FEF4E3C572FE}"/>
              </a:ext>
            </a:extLst>
          </p:cNvPr>
          <p:cNvSpPr>
            <a:spLocks noGrp="1"/>
          </p:cNvSpPr>
          <p:nvPr/>
        </p:nvSpPr>
        <p:spPr>
          <a:xfrm>
            <a:off x="4276725" y="1381125"/>
            <a:ext cx="3286125" cy="3667125"/>
          </a:xfrm>
          <a:prstGeom prst="roundRect">
            <a:avLst>
              <a:gd name="adj" fmla="val 5217"/>
            </a:avLst>
          </a:prstGeom>
          <a:solidFill>
            <a:srgbClr val="FBEDE5"/>
          </a:solidFill>
          <a:ln w="17145">
            <a:solidFill>
              <a:srgbClr val="D97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250CC2-74EC-4B3B-8472-794533BF48C3}"/>
              </a:ext>
            </a:extLst>
          </p:cNvPr>
          <p:cNvSpPr>
            <a:spLocks noGrp="1"/>
          </p:cNvSpPr>
          <p:nvPr/>
        </p:nvSpPr>
        <p:spPr>
          <a:xfrm>
            <a:off x="4610100" y="1695450"/>
            <a:ext cx="2619375" cy="47625"/>
          </a:xfrm>
          <a:prstGeom prst="rect">
            <a:avLst/>
          </a:prstGeom>
          <a:solidFill>
            <a:srgbClr val="D9794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8F9DE6-569B-467F-BBCA-F3AFCAE959B7}"/>
              </a:ext>
            </a:extLst>
          </p:cNvPr>
          <p:cNvSpPr>
            <a:spLocks noGrp="1"/>
          </p:cNvSpPr>
          <p:nvPr/>
        </p:nvSpPr>
        <p:spPr>
          <a:xfrm>
            <a:off x="4562475" y="2047875"/>
            <a:ext cx="27146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725" b="1" i="0">
                <a:solidFill>
                  <a:srgbClr val="D97942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D97942"/>
                </a:solidFill>
                <a:latin typeface="Arial"/>
                <a:ea typeface="Arial"/>
                <a:cs typeface="Arial"/>
              </a:rPr>
              <a:t>Заедничка оптимизација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3C6C3A-6DB5-41A2-820F-D33AFB7AB9A3}"/>
              </a:ext>
            </a:extLst>
          </p:cNvPr>
          <p:cNvSpPr>
            <a:spLocks noGrp="1"/>
          </p:cNvSpPr>
          <p:nvPr/>
        </p:nvSpPr>
        <p:spPr>
          <a:xfrm>
            <a:off x="4610100" y="3095625"/>
            <a:ext cx="2619375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350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Пребарувачот и конструкцијата на подграфот заеднички да учат кои патеки се најкорисни за јазичниот модел.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877418F-B27D-4C92-B337-F5E6626EE28B}"/>
              </a:ext>
            </a:extLst>
          </p:cNvPr>
          <p:cNvSpPr>
            <a:spLocks noGrp="1"/>
          </p:cNvSpPr>
          <p:nvPr/>
        </p:nvSpPr>
        <p:spPr>
          <a:xfrm>
            <a:off x="8001000" y="1381125"/>
            <a:ext cx="3286125" cy="3667125"/>
          </a:xfrm>
          <a:prstGeom prst="roundRect">
            <a:avLst>
              <a:gd name="adj" fmla="val 5217"/>
            </a:avLst>
          </a:prstGeom>
          <a:solidFill>
            <a:srgbClr val="F1ECF7"/>
          </a:solidFill>
          <a:ln w="17145">
            <a:solidFill>
              <a:srgbClr val="8064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1E70AF-4395-4EA0-94B3-7A565B03FCD2}"/>
              </a:ext>
            </a:extLst>
          </p:cNvPr>
          <p:cNvSpPr>
            <a:spLocks noGrp="1"/>
          </p:cNvSpPr>
          <p:nvPr/>
        </p:nvSpPr>
        <p:spPr>
          <a:xfrm>
            <a:off x="8334375" y="1695450"/>
            <a:ext cx="2619375" cy="47625"/>
          </a:xfrm>
          <a:prstGeom prst="rect">
            <a:avLst/>
          </a:prstGeom>
          <a:solidFill>
            <a:srgbClr val="8064A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EB6239-F772-4612-9346-5C02E9684706}"/>
              </a:ext>
            </a:extLst>
          </p:cNvPr>
          <p:cNvSpPr>
            <a:spLocks noGrp="1"/>
          </p:cNvSpPr>
          <p:nvPr/>
        </p:nvSpPr>
        <p:spPr>
          <a:xfrm>
            <a:off x="8286750" y="2047875"/>
            <a:ext cx="27146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725" b="1" i="0">
                <a:solidFill>
                  <a:srgbClr val="8064A2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8064A2"/>
                </a:solidFill>
                <a:latin typeface="Arial"/>
                <a:ea typeface="Arial"/>
                <a:cs typeface="Arial"/>
              </a:rPr>
              <a:t>Поширока евалуација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3521BB-46E3-445C-A92D-5E7E2D2990CD}"/>
              </a:ext>
            </a:extLst>
          </p:cNvPr>
          <p:cNvSpPr>
            <a:spLocks noGrp="1"/>
          </p:cNvSpPr>
          <p:nvPr/>
        </p:nvSpPr>
        <p:spPr>
          <a:xfrm>
            <a:off x="8334375" y="3095625"/>
            <a:ext cx="2619375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1350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Дополнителни податочни множества, подолги патеки на расудување, повеќе извршувања и други јазични модели.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5216AD-5F41-47AB-AE6B-AF920363D512}"/>
              </a:ext>
            </a:extLst>
          </p:cNvPr>
          <p:cNvSpPr>
            <a:spLocks noGrp="1"/>
          </p:cNvSpPr>
          <p:nvPr/>
        </p:nvSpPr>
        <p:spPr>
          <a:xfrm>
            <a:off x="1285875" y="5505450"/>
            <a:ext cx="9620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650" b="1" i="0">
                <a:solidFill>
                  <a:srgbClr val="4E9B69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4E9B69"/>
                </a:solidFill>
                <a:latin typeface="Arial"/>
                <a:ea typeface="Arial"/>
                <a:cs typeface="Arial"/>
              </a:rPr>
              <a:t>Целта е доказниот контекст истовремено да биде компактен и доволно јасен за јазичниот модел.</a:t>
            </a:r>
          </a:p>
        </p:txBody>
      </p:sp>
    </p:spTree>
    <p:extLst>
      <p:ext uri="{BB962C8B-B14F-4D97-AF65-F5344CB8AC3E}">
        <p14:creationId xmlns:p14="http://schemas.microsoft.com/office/powerpoint/2010/main" val="19083708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CACBFD7-60F2-4806-AE0C-479E3800E1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4E9B6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41B029-F14B-4208-A05E-9C715893E921}"/>
              </a:ext>
            </a:extLst>
          </p:cNvPr>
          <p:cNvSpPr>
            <a:spLocks noGrp="1"/>
          </p:cNvSpPr>
          <p:nvPr/>
        </p:nvSpPr>
        <p:spPr>
          <a:xfrm>
            <a:off x="1143000" y="1619250"/>
            <a:ext cx="9906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3525" b="1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Ви благодарам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69CC65-6074-4014-BC9B-3E35E07FB613}"/>
              </a:ext>
            </a:extLst>
          </p:cNvPr>
          <p:cNvSpPr>
            <a:spLocks noGrp="1"/>
          </p:cNvSpPr>
          <p:nvPr/>
        </p:nvSpPr>
        <p:spPr>
          <a:xfrm>
            <a:off x="1143000" y="2686050"/>
            <a:ext cx="9906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2850" b="1" i="0">
                <a:solidFill>
                  <a:srgbClr val="4E9B69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4E9B69"/>
                </a:solidFill>
                <a:latin typeface="Arial"/>
                <a:ea typeface="Arial"/>
                <a:cs typeface="Arial"/>
              </a:rPr>
              <a:t>Прашања?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3CD4BE-9CE5-44E4-9129-AF745E752B24}"/>
              </a:ext>
            </a:extLst>
          </p:cNvPr>
          <p:cNvSpPr>
            <a:spLocks noGrp="1"/>
          </p:cNvSpPr>
          <p:nvPr/>
        </p:nvSpPr>
        <p:spPr>
          <a:xfrm>
            <a:off x="4000500" y="3771900"/>
            <a:ext cx="4191000" cy="19050"/>
          </a:xfrm>
          <a:prstGeom prst="rect">
            <a:avLst/>
          </a:prstGeom>
          <a:solidFill>
            <a:srgbClr val="DDE3E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C7E9DD-BD9D-4768-A1A1-E1CFA5375F07}"/>
              </a:ext>
            </a:extLst>
          </p:cNvPr>
          <p:cNvSpPr>
            <a:spLocks noGrp="1"/>
          </p:cNvSpPr>
          <p:nvPr/>
        </p:nvSpPr>
        <p:spPr>
          <a:xfrm>
            <a:off x="1143000" y="4095750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0" i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63746"/>
                </a:solidFill>
                <a:latin typeface="Arial"/>
                <a:ea typeface="Arial"/>
                <a:cs typeface="Arial"/>
              </a:rPr>
              <a:t>Виктор Костадиноски · 226009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D0CA7F-9C67-42A8-8095-A0751D355276}"/>
              </a:ext>
            </a:extLst>
          </p:cNvPr>
          <p:cNvSpPr>
            <a:spLocks noGrp="1"/>
          </p:cNvSpPr>
          <p:nvPr/>
        </p:nvSpPr>
        <p:spPr>
          <a:xfrm>
            <a:off x="1143000" y="4552950"/>
            <a:ext cx="9906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275" b="0" i="0">
                <a:solidFill>
                  <a:srgbClr val="4F86C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F86C6"/>
                </a:solidFill>
                <a:latin typeface="Arial"/>
                <a:ea typeface="Arial"/>
                <a:cs typeface="Arial"/>
              </a:rPr>
              <a:t>github.com/Itonkdong/graphragx</a:t>
            </a:r>
          </a:p>
        </p:txBody>
      </p:sp>
    </p:spTree>
    <p:extLst>
      <p:ext uri="{BB962C8B-B14F-4D97-AF65-F5344CB8AC3E}">
        <p14:creationId xmlns:p14="http://schemas.microsoft.com/office/powerpoint/2010/main" val="85197815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1276</Words>
  <Application>Microsoft Macintosh PowerPoint</Application>
  <DocSecurity>0</DocSecurity>
  <PresentationFormat>Widescreen</PresentationFormat>
  <Paragraphs>221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Костадиноски Виктор</cp:lastModifiedBy>
  <cp:revision>1</cp:revision>
  <dcterms:created xsi:type="dcterms:W3CDTF">2026-09-08T09:48:03Z</dcterms:created>
  <dcterms:modified xsi:type="dcterms:W3CDTF">2026-09-08T10:03:13Z</dcterms:modified>
</cp:coreProperties>
</file>