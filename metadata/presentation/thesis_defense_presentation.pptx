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6C6"/>
    <a:srgbClr val="617080"/>
    <a:srgbClr val="263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/>
    <p:restoredTop sz="94659"/>
  </p:normalViewPr>
  <p:slideViewPr>
    <p:cSldViewPr snapToGrid="0">
      <p:cViewPr varScale="1">
        <p:scale>
          <a:sx n="135" d="100"/>
          <a:sy n="135" d="100"/>
        </p:scale>
        <p:origin x="20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06389AF-E398-4865-B3A1-73701CBAD7E1}"/>
              </a:ext>
            </a:extLst>
          </p:cNvPr>
          <p:cNvSpPr>
            <a:spLocks noGrp="1"/>
          </p:cNvSpPr>
          <p:nvPr/>
        </p:nvSpPr>
        <p:spPr>
          <a:xfrm>
            <a:off x="762000" y="45720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Универзитет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„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Св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Кирил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и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Методиј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“</a:t>
            </a:r>
            <a:r>
              <a:rPr lang="mk-MK"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-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Скопје</a:t>
            </a:r>
            <a:endParaRPr sz="12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1B371A-8F62-439C-A1DE-138615320F83}"/>
              </a:ext>
            </a:extLst>
          </p:cNvPr>
          <p:cNvSpPr>
            <a:spLocks noGrp="1"/>
          </p:cNvSpPr>
          <p:nvPr/>
        </p:nvSpPr>
        <p:spPr>
          <a:xfrm>
            <a:off x="762000" y="75247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7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Факултет за информатички науки и компјутерско инженерство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E962A-2F16-4EDE-8E73-AAF2FC51C097}"/>
              </a:ext>
            </a:extLst>
          </p:cNvPr>
          <p:cNvSpPr>
            <a:spLocks noGrp="1"/>
          </p:cNvSpPr>
          <p:nvPr/>
        </p:nvSpPr>
        <p:spPr>
          <a:xfrm>
            <a:off x="3143250" y="1257300"/>
            <a:ext cx="5905500" cy="47625"/>
          </a:xfrm>
          <a:prstGeom prst="rect">
            <a:avLst/>
          </a:prstGeom>
          <a:solidFill>
            <a:srgbClr val="4F86C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71A606-1B5F-4767-A3AF-C477C0DBB232}"/>
              </a:ext>
            </a:extLst>
          </p:cNvPr>
          <p:cNvSpPr>
            <a:spLocks noGrp="1"/>
          </p:cNvSpPr>
          <p:nvPr/>
        </p:nvSpPr>
        <p:spPr>
          <a:xfrm>
            <a:off x="1095375" y="1752600"/>
            <a:ext cx="10001250" cy="2019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6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2625" b="1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Напредни архитектури на граф невронски мрежи за пребарување и расудување над графови при одговарање на прашања над графови на знаење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546335-4866-42CE-81A2-7F4C99F4E654}"/>
              </a:ext>
            </a:extLst>
          </p:cNvPr>
          <p:cNvSpPr>
            <a:spLocks noGrp="1"/>
          </p:cNvSpPr>
          <p:nvPr/>
        </p:nvSpPr>
        <p:spPr>
          <a:xfrm>
            <a:off x="1047750" y="495300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57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575" b="1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Ментор: проф. д-р Соња Гиевска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089A6C-A514-418A-859B-4DB4D713029F}"/>
              </a:ext>
            </a:extLst>
          </p:cNvPr>
          <p:cNvSpPr>
            <a:spLocks noGrp="1"/>
          </p:cNvSpPr>
          <p:nvPr/>
        </p:nvSpPr>
        <p:spPr>
          <a:xfrm>
            <a:off x="6381750" y="495300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57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575" b="1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Виктор Костадиноски · 226009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0896EC-DE7B-4E1D-A622-9F1FAEEE9481}"/>
              </a:ext>
            </a:extLst>
          </p:cNvPr>
          <p:cNvSpPr>
            <a:spLocks noGrp="1"/>
          </p:cNvSpPr>
          <p:nvPr/>
        </p:nvSpPr>
        <p:spPr>
          <a:xfrm>
            <a:off x="1047750" y="5619750"/>
            <a:ext cx="10096500" cy="14288"/>
          </a:xfrm>
          <a:prstGeom prst="rect">
            <a:avLst/>
          </a:prstGeom>
          <a:solidFill>
            <a:srgbClr val="A9B4B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7CF861-C097-46A0-9B08-1B615CC949C5}"/>
              </a:ext>
            </a:extLst>
          </p:cNvPr>
          <p:cNvSpPr>
            <a:spLocks noGrp="1"/>
          </p:cNvSpPr>
          <p:nvPr/>
        </p:nvSpPr>
        <p:spPr>
          <a:xfrm>
            <a:off x="1047750" y="5810250"/>
            <a:ext cx="1009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Септември 2026</a:t>
            </a:r>
          </a:p>
        </p:txBody>
      </p:sp>
    </p:spTree>
    <p:extLst>
      <p:ext uri="{BB962C8B-B14F-4D97-AF65-F5344CB8AC3E}">
        <p14:creationId xmlns:p14="http://schemas.microsoft.com/office/powerpoint/2010/main" val="380699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4D6C56-A4D5-44CD-8CAE-89551DA1AF33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 прашање до одговор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5F9236A-1A57-49AA-AE22-28EE1ABB9A57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F86C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298470-6FB1-4D1E-AFC2-D9C5133ED5B1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00667" y="857250"/>
            <a:ext cx="9990667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92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CBB127C-53C4-469F-9C55-5A539A99E00B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2325" b="1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Сродни пристапи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4D0CED-F486-41CC-A2E1-BC2C15E742D2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F86C6"/>
          </a:solidFill>
          <a:ln w="0">
            <a:noFill/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20D0A1-10D3-451D-8633-F84B1703C2B3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825" b="0" i="0" noProof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Mavromatis</a:t>
            </a:r>
            <a:r>
              <a:rPr lang="mk-MK" sz="825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825" b="0" i="0" noProof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and</a:t>
            </a:r>
            <a:r>
              <a:rPr lang="mk-MK" sz="825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825" b="0" i="0" noProof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Karypis</a:t>
            </a:r>
            <a:r>
              <a:rPr lang="mk-MK" sz="825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, 2025 · </a:t>
            </a:r>
            <a:r>
              <a:rPr lang="mk-MK" sz="825" b="0" i="0" noProof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He</a:t>
            </a:r>
            <a:r>
              <a:rPr lang="mk-MK" sz="825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825" b="0" i="0" noProof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et</a:t>
            </a:r>
            <a:r>
              <a:rPr lang="mk-MK" sz="825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825" b="0" i="0" noProof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al</a:t>
            </a:r>
            <a:r>
              <a:rPr lang="mk-MK" sz="825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., 2024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267D98-DEE9-4DFF-9A0C-35D1C13779B0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900" b="0" i="0" noProof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FEDAF4-12AF-462A-9B57-9E487C3D9758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1125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lang="mk-MK" sz="1125" b="1" i="0" noProof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GNN-RAG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DC981F-4AEF-44F3-9E0B-E8DA25737DAC}"/>
              </a:ext>
            </a:extLst>
          </p:cNvPr>
          <p:cNvSpPr>
            <a:spLocks noGrp="1"/>
          </p:cNvSpPr>
          <p:nvPr/>
        </p:nvSpPr>
        <p:spPr>
          <a:xfrm>
            <a:off x="742950" y="1381125"/>
            <a:ext cx="4857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lang="mk-MK" sz="1575" b="1" i="0" noProof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GNN-пребарување  →  најкратки патеки  →  LLM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A32267C-BE96-431C-AF0E-987954DF7CD7}"/>
              </a:ext>
            </a:extLst>
          </p:cNvPr>
          <p:cNvSpPr>
            <a:spLocks noGrp="1"/>
          </p:cNvSpPr>
          <p:nvPr/>
        </p:nvSpPr>
        <p:spPr>
          <a:xfrm>
            <a:off x="781050" y="2105025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6B7EF2-56E4-4D25-9881-358099CEAABD}"/>
              </a:ext>
            </a:extLst>
          </p:cNvPr>
          <p:cNvSpPr>
            <a:spLocks noGrp="1"/>
          </p:cNvSpPr>
          <p:nvPr/>
        </p:nvSpPr>
        <p:spPr>
          <a:xfrm>
            <a:off x="952500" y="2000250"/>
            <a:ext cx="4495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425" b="0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GNN ги рангира ентитетите-кандидати.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095336C-FEC7-402F-B8F0-23E119F28836}"/>
              </a:ext>
            </a:extLst>
          </p:cNvPr>
          <p:cNvSpPr>
            <a:spLocks noGrp="1"/>
          </p:cNvSpPr>
          <p:nvPr/>
        </p:nvSpPr>
        <p:spPr>
          <a:xfrm>
            <a:off x="781050" y="2676525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CDBB6C-0380-4C22-87DD-E0C24E39EFE8}"/>
              </a:ext>
            </a:extLst>
          </p:cNvPr>
          <p:cNvSpPr>
            <a:spLocks noGrp="1"/>
          </p:cNvSpPr>
          <p:nvPr/>
        </p:nvSpPr>
        <p:spPr>
          <a:xfrm>
            <a:off x="952500" y="2571750"/>
            <a:ext cx="4495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425" b="0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Најкратките патеки го формираат доказниот контекст.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251C30-0B80-4226-BAC4-FF088D6DAC92}"/>
              </a:ext>
            </a:extLst>
          </p:cNvPr>
          <p:cNvSpPr>
            <a:spLocks noGrp="1"/>
          </p:cNvSpPr>
          <p:nvPr/>
        </p:nvSpPr>
        <p:spPr>
          <a:xfrm>
            <a:off x="6048375" y="1123950"/>
            <a:ext cx="19050" cy="2143125"/>
          </a:xfrm>
          <a:prstGeom prst="rect">
            <a:avLst/>
          </a:prstGeom>
          <a:solidFill>
            <a:srgbClr val="DDE3E8"/>
          </a:solidFill>
          <a:ln w="0">
            <a:noFill/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1D1C4D-1EAD-4381-9603-F192DC016F92}"/>
              </a:ext>
            </a:extLst>
          </p:cNvPr>
          <p:cNvSpPr>
            <a:spLocks noGrp="1"/>
          </p:cNvSpPr>
          <p:nvPr/>
        </p:nvSpPr>
        <p:spPr>
          <a:xfrm>
            <a:off x="6524625" y="10668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112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lang="mk-MK" sz="1125" b="1" i="0" noProof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G-Retriever</a:t>
            </a:r>
            <a:endParaRPr lang="mk-MK" sz="1125" b="1" i="0" noProof="0" dirty="0">
              <a:solidFill>
                <a:srgbClr val="398D8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B9C1A7-BCF5-454D-B614-ACF4B2ADE9CE}"/>
              </a:ext>
            </a:extLst>
          </p:cNvPr>
          <p:cNvSpPr>
            <a:spLocks noGrp="1"/>
          </p:cNvSpPr>
          <p:nvPr/>
        </p:nvSpPr>
        <p:spPr>
          <a:xfrm>
            <a:off x="6524625" y="1381125"/>
            <a:ext cx="4857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lang="mk-MK" sz="1575" b="1" i="0" noProof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Кодер на графови  →  PCST  →  LLM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3CAC9A-AE75-40B0-9183-927614F172D6}"/>
              </a:ext>
            </a:extLst>
          </p:cNvPr>
          <p:cNvSpPr>
            <a:spLocks noGrp="1"/>
          </p:cNvSpPr>
          <p:nvPr/>
        </p:nvSpPr>
        <p:spPr>
          <a:xfrm>
            <a:off x="6562725" y="2105025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F926F4-E196-4ADC-9A45-5957F7B37B49}"/>
              </a:ext>
            </a:extLst>
          </p:cNvPr>
          <p:cNvSpPr>
            <a:spLocks noGrp="1"/>
          </p:cNvSpPr>
          <p:nvPr/>
        </p:nvSpPr>
        <p:spPr>
          <a:xfrm>
            <a:off x="6734175" y="2000250"/>
            <a:ext cx="44481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425" b="0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Кодерот на графови ги оценува јазлите.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A5F2894-68B1-407C-81CC-51A36300A3AA}"/>
              </a:ext>
            </a:extLst>
          </p:cNvPr>
          <p:cNvSpPr>
            <a:spLocks noGrp="1"/>
          </p:cNvSpPr>
          <p:nvPr/>
        </p:nvSpPr>
        <p:spPr>
          <a:xfrm>
            <a:off x="6562725" y="2676525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1A9BE1-4D42-4935-9A4D-10B3550A6DE6}"/>
              </a:ext>
            </a:extLst>
          </p:cNvPr>
          <p:cNvSpPr>
            <a:spLocks noGrp="1"/>
          </p:cNvSpPr>
          <p:nvPr/>
        </p:nvSpPr>
        <p:spPr>
          <a:xfrm>
            <a:off x="6734175" y="2571750"/>
            <a:ext cx="44481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425" b="0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PCST избира компактен доказен подграф.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C0CA12A-71B7-4776-92A3-1C0973A58E73}"/>
              </a:ext>
            </a:extLst>
          </p:cNvPr>
          <p:cNvSpPr>
            <a:spLocks noGrp="1"/>
          </p:cNvSpPr>
          <p:nvPr/>
        </p:nvSpPr>
        <p:spPr>
          <a:xfrm>
            <a:off x="742950" y="3667125"/>
            <a:ext cx="10668000" cy="1952625"/>
          </a:xfrm>
          <a:prstGeom prst="roundRect">
            <a:avLst>
              <a:gd name="adj" fmla="val 6829"/>
            </a:avLst>
          </a:prstGeom>
          <a:solidFill>
            <a:srgbClr val="F7F9FB"/>
          </a:solidFill>
          <a:ln w="19050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mk-MK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1B97B6-BF67-45EF-A3ED-55105AD6538D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lang="mk-MK" sz="1800" b="1" i="0" noProof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Истражувачка празнина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B9E60-11E9-4B0B-80E7-1661573F7EC9}"/>
              </a:ext>
            </a:extLst>
          </p:cNvPr>
          <p:cNvSpPr>
            <a:spLocks noGrp="1"/>
          </p:cNvSpPr>
          <p:nvPr/>
        </p:nvSpPr>
        <p:spPr>
          <a:xfrm>
            <a:off x="1047750" y="4410075"/>
            <a:ext cx="9858375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800" b="1" i="0" noProof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Недостига контролирана споредба на различни GNN-архитектури, стратегии за доказен подграф и јазични модели во една заедничка рамка.</a:t>
            </a:r>
          </a:p>
        </p:txBody>
      </p:sp>
    </p:spTree>
    <p:extLst>
      <p:ext uri="{BB962C8B-B14F-4D97-AF65-F5344CB8AC3E}">
        <p14:creationId xmlns:p14="http://schemas.microsoft.com/office/powerpoint/2010/main" val="1679459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59C785E-FE15-4769-9CC4-3DD959CB4BAF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Архитектура на системот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DF2084-8F86-465C-8305-6860EB8DCC52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F86C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88E5FD-9F50-4CA0-93F9-580A5DAE2307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1800" y="1000125"/>
            <a:ext cx="11328400" cy="424815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704B55B-4A06-4CE6-B77B-6120FA080572}"/>
              </a:ext>
            </a:extLst>
          </p:cNvPr>
          <p:cNvSpPr>
            <a:spLocks noGrp="1"/>
          </p:cNvSpPr>
          <p:nvPr/>
        </p:nvSpPr>
        <p:spPr>
          <a:xfrm>
            <a:off x="1381125" y="5495925"/>
            <a:ext cx="9429750" cy="685800"/>
          </a:xfrm>
          <a:prstGeom prst="roundRect">
            <a:avLst>
              <a:gd name="adj" fmla="val 19444"/>
            </a:avLst>
          </a:prstGeom>
          <a:solidFill>
            <a:srgbClr val="EAF2FB"/>
          </a:solidFill>
          <a:ln w="15240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DE4016-E3D2-4E01-8F15-C083DFA4BF67}"/>
              </a:ext>
            </a:extLst>
          </p:cNvPr>
          <p:cNvSpPr>
            <a:spLocks noGrp="1"/>
          </p:cNvSpPr>
          <p:nvPr/>
        </p:nvSpPr>
        <p:spPr>
          <a:xfrm>
            <a:off x="1666875" y="5610225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1667" lnSpcReduction="10000"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Резултатите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секоја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фаза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следат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одделно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да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утврди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каде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губи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потребната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информација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9294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938D00C-2FE1-4D48-94BD-09A7F7A55D23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Истражувачки прашања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FBEA9-D2C2-4914-98E2-ED685002A092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F86C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E0FA6-42C2-49C8-84D9-64515022A6A4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304219F-AD08-4DFD-BFD7-5A2C681505BD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3286125" cy="4095750"/>
          </a:xfrm>
          <a:prstGeom prst="roundRect">
            <a:avLst>
              <a:gd name="adj" fmla="val 5217"/>
            </a:avLst>
          </a:prstGeom>
          <a:solidFill>
            <a:srgbClr val="FBEDE5"/>
          </a:solidFill>
          <a:ln w="19050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AD89C1E-5EF7-4B66-8254-C93C61C8652D}"/>
              </a:ext>
            </a:extLst>
          </p:cNvPr>
          <p:cNvSpPr>
            <a:spLocks noGrp="1"/>
          </p:cNvSpPr>
          <p:nvPr/>
        </p:nvSpPr>
        <p:spPr>
          <a:xfrm>
            <a:off x="1762125" y="1714500"/>
            <a:ext cx="857250" cy="8572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007DB2-6C52-4BC7-8ED6-E9E062B21624}"/>
              </a:ext>
            </a:extLst>
          </p:cNvPr>
          <p:cNvSpPr>
            <a:spLocks noGrp="1"/>
          </p:cNvSpPr>
          <p:nvPr/>
        </p:nvSpPr>
        <p:spPr>
          <a:xfrm>
            <a:off x="1762125" y="1743075"/>
            <a:ext cx="857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55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66464F-2929-4D91-95BB-82242CDE4A62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Архитектура за пребарување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61D6D4-684D-4C53-BB70-C502D2393E80}"/>
              </a:ext>
            </a:extLst>
          </p:cNvPr>
          <p:cNvSpPr>
            <a:spLocks noGrp="1"/>
          </p:cNvSpPr>
          <p:nvPr/>
        </p:nvSpPr>
        <p:spPr>
          <a:xfrm>
            <a:off x="857250" y="3638550"/>
            <a:ext cx="267652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Како изборот на GNN-архитектура влијае врз рангирањето и опфатеноста на точните одговори?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BE16631-DF2B-4B51-80DC-0027554B554F}"/>
              </a:ext>
            </a:extLst>
          </p:cNvPr>
          <p:cNvSpPr>
            <a:spLocks noGrp="1"/>
          </p:cNvSpPr>
          <p:nvPr/>
        </p:nvSpPr>
        <p:spPr>
          <a:xfrm>
            <a:off x="4276725" y="1381125"/>
            <a:ext cx="3286125" cy="4095750"/>
          </a:xfrm>
          <a:prstGeom prst="roundRect">
            <a:avLst>
              <a:gd name="adj" fmla="val 5217"/>
            </a:avLst>
          </a:prstGeom>
          <a:solidFill>
            <a:srgbClr val="E8F5F3"/>
          </a:solidFill>
          <a:ln w="19050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E8C8DC-611F-4CE8-9167-0F1CFF35EB6B}"/>
              </a:ext>
            </a:extLst>
          </p:cNvPr>
          <p:cNvSpPr>
            <a:spLocks noGrp="1"/>
          </p:cNvSpPr>
          <p:nvPr/>
        </p:nvSpPr>
        <p:spPr>
          <a:xfrm>
            <a:off x="5486400" y="1714500"/>
            <a:ext cx="857250" cy="8572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E23EA2-50A5-48B6-919C-88E918B63FC3}"/>
              </a:ext>
            </a:extLst>
          </p:cNvPr>
          <p:cNvSpPr>
            <a:spLocks noGrp="1"/>
          </p:cNvSpPr>
          <p:nvPr/>
        </p:nvSpPr>
        <p:spPr>
          <a:xfrm>
            <a:off x="5486400" y="1743075"/>
            <a:ext cx="857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55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015294-0353-4F31-B6FC-6EB15FEF190C}"/>
              </a:ext>
            </a:extLst>
          </p:cNvPr>
          <p:cNvSpPr>
            <a:spLocks noGrp="1"/>
          </p:cNvSpPr>
          <p:nvPr/>
        </p:nvSpPr>
        <p:spPr>
          <a:xfrm>
            <a:off x="4562475" y="285750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Доказен подграф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3DF4BA-78AC-4DCE-9F27-F96D72AD65A5}"/>
              </a:ext>
            </a:extLst>
          </p:cNvPr>
          <p:cNvSpPr>
            <a:spLocks noGrp="1"/>
          </p:cNvSpPr>
          <p:nvPr/>
        </p:nvSpPr>
        <p:spPr>
          <a:xfrm>
            <a:off x="4581525" y="3638550"/>
            <a:ext cx="267652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Како конструкцијата на доказниот подграф влијае врз компактноста и зачувувањето на релевантните информации?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7583A76-9F44-4FD8-A7C7-BA75177B8FE2}"/>
              </a:ext>
            </a:extLst>
          </p:cNvPr>
          <p:cNvSpPr>
            <a:spLocks noGrp="1"/>
          </p:cNvSpPr>
          <p:nvPr/>
        </p:nvSpPr>
        <p:spPr>
          <a:xfrm>
            <a:off x="8001000" y="1381125"/>
            <a:ext cx="3286125" cy="4095750"/>
          </a:xfrm>
          <a:prstGeom prst="roundRect">
            <a:avLst>
              <a:gd name="adj" fmla="val 5217"/>
            </a:avLst>
          </a:prstGeom>
          <a:solidFill>
            <a:srgbClr val="F1ECF7"/>
          </a:solidFill>
          <a:ln w="19050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F2DCE8-8EC6-474B-9304-0F616F02ECCF}"/>
              </a:ext>
            </a:extLst>
          </p:cNvPr>
          <p:cNvSpPr>
            <a:spLocks noGrp="1"/>
          </p:cNvSpPr>
          <p:nvPr/>
        </p:nvSpPr>
        <p:spPr>
          <a:xfrm>
            <a:off x="9210675" y="1714500"/>
            <a:ext cx="857250" cy="8572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2C371C-792B-4C81-8822-E800E1B9BA11}"/>
              </a:ext>
            </a:extLst>
          </p:cNvPr>
          <p:cNvSpPr>
            <a:spLocks noGrp="1"/>
          </p:cNvSpPr>
          <p:nvPr/>
        </p:nvSpPr>
        <p:spPr>
          <a:xfrm>
            <a:off x="9210675" y="1743075"/>
            <a:ext cx="857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55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AE5C0D-47AB-415B-8E69-4A533DDB7371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2714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Јазичен модел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79C12B-7F1B-45E3-9D31-7418E8DFC9C2}"/>
              </a:ext>
            </a:extLst>
          </p:cNvPr>
          <p:cNvSpPr>
            <a:spLocks noGrp="1"/>
          </p:cNvSpPr>
          <p:nvPr/>
        </p:nvSpPr>
        <p:spPr>
          <a:xfrm>
            <a:off x="8305800" y="3638550"/>
            <a:ext cx="267652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Како изборот на LLM влијае врз конечната точност и искористувањето на достапниот доказен контекст?</a:t>
            </a:r>
          </a:p>
        </p:txBody>
      </p:sp>
    </p:spTree>
    <p:extLst>
      <p:ext uri="{BB962C8B-B14F-4D97-AF65-F5344CB8AC3E}">
        <p14:creationId xmlns:p14="http://schemas.microsoft.com/office/powerpoint/2010/main" val="1103904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83B8B409-9F74-4583-9D64-33477865012F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Податочно множество и експериментална поставеност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C19361-C0C6-4BFD-979C-246A3C9DBB15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F86C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18DB0E-475F-4B11-B97C-62CA6BE3F8F2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WebQSP: Yih et al., 2016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201915-D21E-4A2C-B5D5-9DA95FD9C052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F979789-B5F5-4152-990E-D14BAE93EAD0}"/>
              </a:ext>
            </a:extLst>
          </p:cNvPr>
          <p:cNvSpPr>
            <a:spLocks noGrp="1"/>
          </p:cNvSpPr>
          <p:nvPr/>
        </p:nvSpPr>
        <p:spPr>
          <a:xfrm>
            <a:off x="552450" y="1104900"/>
            <a:ext cx="4238625" cy="4667250"/>
          </a:xfrm>
          <a:prstGeom prst="roundRect">
            <a:avLst>
              <a:gd name="adj" fmla="val 3146"/>
            </a:avLst>
          </a:prstGeom>
          <a:solidFill>
            <a:srgbClr val="EAF2FB"/>
          </a:solidFill>
          <a:ln w="17145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E262D2-E960-4E02-ACBB-748E0EBD5881}"/>
              </a:ext>
            </a:extLst>
          </p:cNvPr>
          <p:cNvSpPr>
            <a:spLocks noGrp="1"/>
          </p:cNvSpPr>
          <p:nvPr/>
        </p:nvSpPr>
        <p:spPr>
          <a:xfrm>
            <a:off x="838200" y="1333500"/>
            <a:ext cx="3667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25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WebQuestionsSP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6342984-F701-4369-9B93-EC40C9856DBF}"/>
              </a:ext>
            </a:extLst>
          </p:cNvPr>
          <p:cNvSpPr>
            <a:spLocks noGrp="1"/>
          </p:cNvSpPr>
          <p:nvPr/>
        </p:nvSpPr>
        <p:spPr>
          <a:xfrm>
            <a:off x="876300" y="2152650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962B11-F6F8-47DE-9C6B-4E0590B7AF94}"/>
              </a:ext>
            </a:extLst>
          </p:cNvPr>
          <p:cNvSpPr>
            <a:spLocks noGrp="1"/>
          </p:cNvSpPr>
          <p:nvPr/>
        </p:nvSpPr>
        <p:spPr>
          <a:xfrm>
            <a:off x="1047750" y="2047875"/>
            <a:ext cx="33051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Прашања на природен јазик поврзани со Freebase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977199-09BF-4D42-8E9D-621EE2C90C47}"/>
              </a:ext>
            </a:extLst>
          </p:cNvPr>
          <p:cNvSpPr>
            <a:spLocks noGrp="1"/>
          </p:cNvSpPr>
          <p:nvPr/>
        </p:nvSpPr>
        <p:spPr>
          <a:xfrm>
            <a:off x="876300" y="2962275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EAE5FA-532A-4951-ACA7-67B23E9B4564}"/>
              </a:ext>
            </a:extLst>
          </p:cNvPr>
          <p:cNvSpPr>
            <a:spLocks noGrp="1"/>
          </p:cNvSpPr>
          <p:nvPr/>
        </p:nvSpPr>
        <p:spPr>
          <a:xfrm>
            <a:off x="1047750" y="2857500"/>
            <a:ext cx="33051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Локален граф за секое прашање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9720E9-BAA2-4F9F-B283-C7A16AF9A71A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66675" cy="66675"/>
          </a:xfrm>
          <a:prstGeom prst="ellipse">
            <a:avLst/>
          </a:prstGeom>
          <a:solidFill>
            <a:srgbClr val="26374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813C66-B241-40F3-A7FA-1C0D7C4BD743}"/>
              </a:ext>
            </a:extLst>
          </p:cNvPr>
          <p:cNvSpPr>
            <a:spLocks noGrp="1"/>
          </p:cNvSpPr>
          <p:nvPr/>
        </p:nvSpPr>
        <p:spPr>
          <a:xfrm>
            <a:off x="1047750" y="3476625"/>
            <a:ext cx="33051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Познати почетни ентитети и точни одговори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84CA23-938F-468F-9120-7273716863E0}"/>
              </a:ext>
            </a:extLst>
          </p:cNvPr>
          <p:cNvSpPr>
            <a:spLocks noGrp="1"/>
          </p:cNvSpPr>
          <p:nvPr/>
        </p:nvSpPr>
        <p:spPr>
          <a:xfrm>
            <a:off x="838200" y="4429125"/>
            <a:ext cx="36671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600" b="1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Поделба на податоците</a:t>
            </a:r>
            <a:endParaRPr sz="1500" b="1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40BA68-DEB3-4EC3-92CE-4A5F7B27712B}"/>
              </a:ext>
            </a:extLst>
          </p:cNvPr>
          <p:cNvSpPr>
            <a:spLocks noGrp="1"/>
          </p:cNvSpPr>
          <p:nvPr/>
        </p:nvSpPr>
        <p:spPr>
          <a:xfrm>
            <a:off x="838200" y="4810125"/>
            <a:ext cx="36671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Трени</a:t>
            </a:r>
            <a:r>
              <a:rPr lang="mk-MK" sz="135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рање: 2.848</a:t>
            </a:r>
          </a:p>
          <a:p>
            <a:pPr>
              <a:defRPr sz="13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Валидација: </a:t>
            </a:r>
            <a:r>
              <a:rPr lang="mk-MK" sz="135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250 · Тест: 1639</a:t>
            </a:r>
            <a:endParaRPr lang="mk-MK" sz="13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25FCA7-CBAB-4E51-8753-A7F60FD36E2F}"/>
              </a:ext>
            </a:extLst>
          </p:cNvPr>
          <p:cNvSpPr>
            <a:spLocks noGrp="1"/>
          </p:cNvSpPr>
          <p:nvPr/>
        </p:nvSpPr>
        <p:spPr>
          <a:xfrm>
            <a:off x="5334000" y="1200150"/>
            <a:ext cx="609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7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b="1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Заедничка конфигурација</a:t>
            </a:r>
            <a:endParaRPr sz="1725" b="1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37A5762-7714-4D9F-BC39-0D409D0E4A5E}"/>
              </a:ext>
            </a:extLst>
          </p:cNvPr>
          <p:cNvSpPr>
            <a:spLocks noGrp="1"/>
          </p:cNvSpPr>
          <p:nvPr/>
        </p:nvSpPr>
        <p:spPr>
          <a:xfrm>
            <a:off x="5333999" y="1809750"/>
            <a:ext cx="1807029" cy="1285875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7145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EEBBA1-38E5-44D0-BB1B-0473C7429B37}"/>
              </a:ext>
            </a:extLst>
          </p:cNvPr>
          <p:cNvSpPr>
            <a:spLocks noGrp="1"/>
          </p:cNvSpPr>
          <p:nvPr/>
        </p:nvSpPr>
        <p:spPr>
          <a:xfrm>
            <a:off x="5370738" y="2025287"/>
            <a:ext cx="1733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5000" lnSpcReduction="10000"/>
          </a:bodyPr>
          <a:lstStyle/>
          <a:p>
            <a:pPr algn="ctr">
              <a:defRPr sz="24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lang="mk-MK" sz="2400" b="1" dirty="0">
                <a:solidFill>
                  <a:srgbClr val="D97942"/>
                </a:solidFill>
                <a:latin typeface="Arial"/>
                <a:ea typeface="Arial"/>
                <a:cs typeface="Arial"/>
              </a:rPr>
              <a:t>Извршувања</a:t>
            </a:r>
            <a:endParaRPr sz="2400" b="1" i="0" dirty="0">
              <a:solidFill>
                <a:srgbClr val="D9794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2A8DDF-3CEF-4973-A4D0-0B6B8639DDF1}"/>
              </a:ext>
            </a:extLst>
          </p:cNvPr>
          <p:cNvSpPr>
            <a:spLocks noGrp="1"/>
          </p:cNvSpPr>
          <p:nvPr/>
        </p:nvSpPr>
        <p:spPr>
          <a:xfrm>
            <a:off x="5448300" y="2486025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3, независни</a:t>
            </a:r>
            <a:endParaRPr sz="12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3C0C236-23CD-4454-B531-66127A597C36}"/>
              </a:ext>
            </a:extLst>
          </p:cNvPr>
          <p:cNvSpPr>
            <a:spLocks noGrp="1"/>
          </p:cNvSpPr>
          <p:nvPr/>
        </p:nvSpPr>
        <p:spPr>
          <a:xfrm>
            <a:off x="7334250" y="1809750"/>
            <a:ext cx="1733550" cy="1285875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7145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D20705-240E-467F-8D87-AAA591645FB9}"/>
              </a:ext>
            </a:extLst>
          </p:cNvPr>
          <p:cNvSpPr>
            <a:spLocks noGrp="1"/>
          </p:cNvSpPr>
          <p:nvPr/>
        </p:nvSpPr>
        <p:spPr>
          <a:xfrm>
            <a:off x="7448550" y="2028825"/>
            <a:ext cx="15049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4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lang="mk-MK" sz="24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Праг</a:t>
            </a:r>
            <a:endParaRPr sz="2400" b="1" i="0" dirty="0">
              <a:solidFill>
                <a:srgbClr val="398D8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A7AA4E-FBAB-4E25-BF50-B0B54701D1BB}"/>
              </a:ext>
            </a:extLst>
          </p:cNvPr>
          <p:cNvSpPr>
            <a:spLocks noGrp="1"/>
          </p:cNvSpPr>
          <p:nvPr/>
        </p:nvSpPr>
        <p:spPr>
          <a:xfrm>
            <a:off x="7448550" y="2486025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0.7</a:t>
            </a:r>
            <a:endParaRPr sz="12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FE4B530-1D84-4439-8130-FACDB6887F71}"/>
              </a:ext>
            </a:extLst>
          </p:cNvPr>
          <p:cNvSpPr>
            <a:spLocks noGrp="1"/>
          </p:cNvSpPr>
          <p:nvPr/>
        </p:nvSpPr>
        <p:spPr>
          <a:xfrm>
            <a:off x="9334500" y="1809750"/>
            <a:ext cx="1733550" cy="1285875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7145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5A3CC8-2C75-4962-94B8-D5DBDD463A49}"/>
              </a:ext>
            </a:extLst>
          </p:cNvPr>
          <p:cNvSpPr>
            <a:spLocks noGrp="1"/>
          </p:cNvSpPr>
          <p:nvPr/>
        </p:nvSpPr>
        <p:spPr>
          <a:xfrm>
            <a:off x="9448800" y="2028825"/>
            <a:ext cx="15049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5000" lnSpcReduction="10000"/>
          </a:bodyPr>
          <a:lstStyle/>
          <a:p>
            <a:pPr algn="ctr">
              <a:defRPr sz="240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lang="mk-MK" sz="2400" b="1" i="0" dirty="0">
                <a:solidFill>
                  <a:srgbClr val="8064A2"/>
                </a:solidFill>
                <a:latin typeface="Arial"/>
                <a:ea typeface="Arial"/>
                <a:cs typeface="Arial"/>
              </a:rPr>
              <a:t>Кандидати</a:t>
            </a:r>
            <a:endParaRPr sz="2400" b="1" i="0" dirty="0">
              <a:solidFill>
                <a:srgbClr val="8064A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66D3D6-DF14-4961-8E5F-ACCEAE361146}"/>
              </a:ext>
            </a:extLst>
          </p:cNvPr>
          <p:cNvSpPr>
            <a:spLocks noGrp="1"/>
          </p:cNvSpPr>
          <p:nvPr/>
        </p:nvSpPr>
        <p:spPr>
          <a:xfrm>
            <a:off x="9448800" y="2486025"/>
            <a:ext cx="150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mk-MK"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10-15</a:t>
            </a:r>
            <a:endParaRPr sz="12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D3616D8-BC9C-4A79-AB8B-89118D0E529D}"/>
              </a:ext>
            </a:extLst>
          </p:cNvPr>
          <p:cNvSpPr>
            <a:spLocks noGrp="1"/>
          </p:cNvSpPr>
          <p:nvPr/>
        </p:nvSpPr>
        <p:spPr>
          <a:xfrm>
            <a:off x="5334000" y="3524250"/>
            <a:ext cx="5734050" cy="1619250"/>
          </a:xfrm>
          <a:prstGeom prst="roundRect">
            <a:avLst>
              <a:gd name="adj" fmla="val 8235"/>
            </a:avLst>
          </a:prstGeom>
          <a:solidFill>
            <a:srgbClr val="F7F9FB"/>
          </a:solidFill>
          <a:ln w="13335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A33165-F378-4047-B45F-39727844804B}"/>
              </a:ext>
            </a:extLst>
          </p:cNvPr>
          <p:cNvSpPr>
            <a:spLocks noGrp="1"/>
          </p:cNvSpPr>
          <p:nvPr/>
        </p:nvSpPr>
        <p:spPr>
          <a:xfrm>
            <a:off x="5953125" y="3919401"/>
            <a:ext cx="4495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30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lang="mk-MK" sz="3000" b="1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2.848</a:t>
            </a:r>
            <a:r>
              <a:rPr lang="mk-MK" sz="3000" b="1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/</a:t>
            </a:r>
            <a:r>
              <a:rPr lang="en-US" sz="3000" b="1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1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1.889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80F283B-F608-4B04-AB97-AE3E32F84D72}"/>
              </a:ext>
            </a:extLst>
          </p:cNvPr>
          <p:cNvSpPr>
            <a:spLocks noGrp="1"/>
          </p:cNvSpPr>
          <p:nvPr/>
        </p:nvSpPr>
        <p:spPr>
          <a:xfrm>
            <a:off x="5953125" y="4429125"/>
            <a:ext cx="4495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3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3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примероци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за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тренирање </a:t>
            </a:r>
            <a:r>
              <a:rPr lang="mk-MK" sz="135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·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135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примероци за</a:t>
            </a:r>
            <a:r>
              <a:rPr sz="1350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</a:t>
            </a:r>
            <a:r>
              <a:rPr lang="mk-MK" sz="1350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евалуација</a:t>
            </a:r>
            <a:endParaRPr sz="1350" b="0" i="0" dirty="0">
              <a:solidFill>
                <a:srgbClr val="4F86C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6244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F59FAA-75F4-4A83-A953-45A208FE96D2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Архитектури за пребарување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F12EA6-4384-442C-917D-6C40E4BA1A0D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61FE3F-3664-4DFD-A7E1-85414CD78BEA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00667" y="857250"/>
            <a:ext cx="9990667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77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1A15A17-40D3-4EDB-B249-7E5849DBE829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GraphSAGE и Advance GraphSAGE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B9DEF3-18C8-492C-9CAB-CFC105022596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3329D6-120A-4743-B040-C174063AAF8A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Hamilton et al., 2017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D6641D-2EE3-4635-ADFF-9B667AA4624C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70404" y="1028700"/>
            <a:ext cx="7755467" cy="43624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E95825-7586-455F-B853-33B812989303}"/>
              </a:ext>
            </a:extLst>
          </p:cNvPr>
          <p:cNvSpPr>
            <a:spLocks noGrp="1"/>
          </p:cNvSpPr>
          <p:nvPr/>
        </p:nvSpPr>
        <p:spPr>
          <a:xfrm>
            <a:off x="8334375" y="11049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Клучна разлика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738F8F7-83CA-4123-B33C-C3C3EB91F2FD}"/>
              </a:ext>
            </a:extLst>
          </p:cNvPr>
          <p:cNvSpPr>
            <a:spLocks noGrp="1"/>
          </p:cNvSpPr>
          <p:nvPr/>
        </p:nvSpPr>
        <p:spPr>
          <a:xfrm>
            <a:off x="8239125" y="1571625"/>
            <a:ext cx="3333750" cy="685800"/>
          </a:xfrm>
          <a:prstGeom prst="roundRect">
            <a:avLst>
              <a:gd name="adj" fmla="val 13889"/>
            </a:avLst>
          </a:prstGeom>
          <a:solidFill>
            <a:srgbClr val="EAF2FB"/>
          </a:solidFill>
          <a:ln w="11430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75E428-001D-4C0F-882D-AFAD46B59EC3}"/>
              </a:ext>
            </a:extLst>
          </p:cNvPr>
          <p:cNvSpPr>
            <a:spLocks noGrp="1"/>
          </p:cNvSpPr>
          <p:nvPr/>
        </p:nvSpPr>
        <p:spPr>
          <a:xfrm>
            <a:off x="8353425" y="1638300"/>
            <a:ext cx="3105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0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α(q,r) = cos(q,r)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3CC135A-69B4-4EBC-9FBA-DCD38D618F22}"/>
              </a:ext>
            </a:extLst>
          </p:cNvPr>
          <p:cNvSpPr>
            <a:spLocks noGrp="1"/>
          </p:cNvSpPr>
          <p:nvPr/>
        </p:nvSpPr>
        <p:spPr>
          <a:xfrm>
            <a:off x="8239125" y="2457450"/>
            <a:ext cx="3333750" cy="971550"/>
          </a:xfrm>
          <a:prstGeom prst="roundRect">
            <a:avLst>
              <a:gd name="adj" fmla="val 9804"/>
            </a:avLst>
          </a:prstGeom>
          <a:solidFill>
            <a:srgbClr val="FBEDE5"/>
          </a:solidFill>
          <a:ln w="11430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5FB2B3-D4F2-4852-8592-5B1E09D37281}"/>
              </a:ext>
            </a:extLst>
          </p:cNvPr>
          <p:cNvSpPr>
            <a:spLocks noGrp="1"/>
          </p:cNvSpPr>
          <p:nvPr/>
        </p:nvSpPr>
        <p:spPr>
          <a:xfrm>
            <a:off x="8353425" y="2524125"/>
            <a:ext cx="31051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α(q,r) = sigmoid(MLP[q̃ ∥ r̃ ∥ q̃⊙r̃])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34D01FB-5572-4B2F-A467-FBE0FD7040A6}"/>
              </a:ext>
            </a:extLst>
          </p:cNvPr>
          <p:cNvSpPr>
            <a:spLocks noGrp="1"/>
          </p:cNvSpPr>
          <p:nvPr/>
        </p:nvSpPr>
        <p:spPr>
          <a:xfrm>
            <a:off x="8334375" y="3895725"/>
            <a:ext cx="66675" cy="66675"/>
          </a:xfrm>
          <a:prstGeom prst="ellipse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FAB3A-822B-4A38-A556-30BB8DE8FDA3}"/>
              </a:ext>
            </a:extLst>
          </p:cNvPr>
          <p:cNvSpPr>
            <a:spLocks noGrp="1"/>
          </p:cNvSpPr>
          <p:nvPr/>
        </p:nvSpPr>
        <p:spPr>
          <a:xfrm>
            <a:off x="8505825" y="3790950"/>
            <a:ext cx="29241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Обратни рабови и резидуални врски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92B892A-5CB5-4B59-8F0E-1DBD52125D9B}"/>
              </a:ext>
            </a:extLst>
          </p:cNvPr>
          <p:cNvSpPr>
            <a:spLocks noGrp="1"/>
          </p:cNvSpPr>
          <p:nvPr/>
        </p:nvSpPr>
        <p:spPr>
          <a:xfrm>
            <a:off x="8334375" y="4467225"/>
            <a:ext cx="66675" cy="66675"/>
          </a:xfrm>
          <a:prstGeom prst="ellipse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F7D290-BFCC-4CCD-9A0D-C1DB2D6DB978}"/>
              </a:ext>
            </a:extLst>
          </p:cNvPr>
          <p:cNvSpPr>
            <a:spLocks noGrp="1"/>
          </p:cNvSpPr>
          <p:nvPr/>
        </p:nvSpPr>
        <p:spPr>
          <a:xfrm>
            <a:off x="8505825" y="4362450"/>
            <a:ext cx="29241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Нормализација и оценка условена од прашањето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D8A6B6-BCCA-4F15-AC3E-08160849F274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1042987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7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фиксно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семантичко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пондерирање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кон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научен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gate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конкретното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</a:t>
            </a:r>
            <a:r>
              <a:rPr sz="1575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409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1214F9F-97BC-4A9B-A227-F5B1F867E501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R-GCN и HGT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8F9FD8-B586-458C-B74E-D248C7C2488C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849C3F-4E4C-48CD-89A4-51D811D5715C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Schlichtkrull et al., 2018 · Hu et al., 2020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EAC1E0-3E54-432C-BAA2-6432C98D35C5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8125" y="1069777"/>
            <a:ext cx="7524750" cy="42326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72816F-11A2-4CDC-87D6-991CC1CB845A}"/>
              </a:ext>
            </a:extLst>
          </p:cNvPr>
          <p:cNvSpPr>
            <a:spLocks noGrp="1"/>
          </p:cNvSpPr>
          <p:nvPr/>
        </p:nvSpPr>
        <p:spPr>
          <a:xfrm>
            <a:off x="8096250" y="1104900"/>
            <a:ext cx="3381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65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R-GCN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C64CE06-C239-475C-95C7-ADBE0B0CD913}"/>
              </a:ext>
            </a:extLst>
          </p:cNvPr>
          <p:cNvSpPr>
            <a:spLocks noGrp="1"/>
          </p:cNvSpPr>
          <p:nvPr/>
        </p:nvSpPr>
        <p:spPr>
          <a:xfrm>
            <a:off x="8001000" y="1504950"/>
            <a:ext cx="3619500" cy="952500"/>
          </a:xfrm>
          <a:prstGeom prst="roundRect">
            <a:avLst>
              <a:gd name="adj" fmla="val 10000"/>
            </a:avLst>
          </a:prstGeom>
          <a:solidFill>
            <a:srgbClr val="FBEDE5"/>
          </a:solidFill>
          <a:ln w="11430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F94A42-518C-46EC-8722-B3CA240EA098}"/>
              </a:ext>
            </a:extLst>
          </p:cNvPr>
          <p:cNvSpPr>
            <a:spLocks noGrp="1"/>
          </p:cNvSpPr>
          <p:nvPr/>
        </p:nvSpPr>
        <p:spPr>
          <a:xfrm>
            <a:off x="8115300" y="1571625"/>
            <a:ext cx="33909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0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hᵥ⁽ˡ⁺¹⁾ = σ(W₀⁽ˡ⁾hᵥ⁽ˡ⁾ + Σᵣ Σᵤ 1/cᵥ,ᵣ · Wᵣ⁽ˡ⁾hᵤ⁽ˡ⁾)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F46108-00A0-4226-9060-CBE3B9CB7688}"/>
              </a:ext>
            </a:extLst>
          </p:cNvPr>
          <p:cNvSpPr>
            <a:spLocks noGrp="1"/>
          </p:cNvSpPr>
          <p:nvPr/>
        </p:nvSpPr>
        <p:spPr>
          <a:xfrm>
            <a:off x="8096250" y="2781300"/>
            <a:ext cx="66675" cy="66675"/>
          </a:xfrm>
          <a:prstGeom prst="ellipse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1FD1E2-11CE-4DAE-9452-1376646FC5FB}"/>
              </a:ext>
            </a:extLst>
          </p:cNvPr>
          <p:cNvSpPr>
            <a:spLocks noGrp="1"/>
          </p:cNvSpPr>
          <p:nvPr/>
        </p:nvSpPr>
        <p:spPr>
          <a:xfrm>
            <a:off x="8267700" y="2676525"/>
            <a:ext cx="32099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Различна трансформација за секој тип релација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D3B59A-C912-4E6C-83E3-51D0116A9EC9}"/>
              </a:ext>
            </a:extLst>
          </p:cNvPr>
          <p:cNvSpPr>
            <a:spLocks noGrp="1"/>
          </p:cNvSpPr>
          <p:nvPr/>
        </p:nvSpPr>
        <p:spPr>
          <a:xfrm>
            <a:off x="8096250" y="3524250"/>
            <a:ext cx="3381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65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HGT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331E24-8995-4DC4-ADE2-BEA978F86537}"/>
              </a:ext>
            </a:extLst>
          </p:cNvPr>
          <p:cNvSpPr>
            <a:spLocks noGrp="1"/>
          </p:cNvSpPr>
          <p:nvPr/>
        </p:nvSpPr>
        <p:spPr>
          <a:xfrm>
            <a:off x="8001000" y="3924300"/>
            <a:ext cx="3619500" cy="723900"/>
          </a:xfrm>
          <a:prstGeom prst="roundRect">
            <a:avLst>
              <a:gd name="adj" fmla="val 13158"/>
            </a:avLst>
          </a:prstGeom>
          <a:solidFill>
            <a:srgbClr val="F1ECF7"/>
          </a:solidFill>
          <a:ln w="11430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31BF66-9EC0-48D9-AC39-868C70B87410}"/>
              </a:ext>
            </a:extLst>
          </p:cNvPr>
          <p:cNvSpPr>
            <a:spLocks noGrp="1"/>
          </p:cNvSpPr>
          <p:nvPr/>
        </p:nvSpPr>
        <p:spPr>
          <a:xfrm>
            <a:off x="8115300" y="3990975"/>
            <a:ext cx="33909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650" b="0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αᵣ,ʲᵤᵥ = softmax(eᵣ,ʲᵤᵥ)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7815CA0-7362-4887-9332-C3B8BD75789C}"/>
              </a:ext>
            </a:extLst>
          </p:cNvPr>
          <p:cNvSpPr>
            <a:spLocks noGrp="1"/>
          </p:cNvSpPr>
          <p:nvPr/>
        </p:nvSpPr>
        <p:spPr>
          <a:xfrm>
            <a:off x="8096250" y="4962525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49DDA8-9B01-463F-B7A4-AFB33009ADB3}"/>
              </a:ext>
            </a:extLst>
          </p:cNvPr>
          <p:cNvSpPr>
            <a:spLocks noGrp="1"/>
          </p:cNvSpPr>
          <p:nvPr/>
        </p:nvSpPr>
        <p:spPr>
          <a:xfrm>
            <a:off x="8267700" y="4857750"/>
            <a:ext cx="32099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Релациски зависен attention за соседите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6A29F-2883-4018-AF16-3B246E59CF05}"/>
              </a:ext>
            </a:extLst>
          </p:cNvPr>
          <p:cNvSpPr>
            <a:spLocks noGrp="1"/>
          </p:cNvSpPr>
          <p:nvPr/>
        </p:nvSpPr>
        <p:spPr>
          <a:xfrm>
            <a:off x="809625" y="5743575"/>
            <a:ext cx="1057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И двете архитектури ја задржуваат релациската структура, но ја моделираат на различен начин.</a:t>
            </a:r>
          </a:p>
        </p:txBody>
      </p:sp>
    </p:spTree>
    <p:extLst>
      <p:ext uri="{BB962C8B-B14F-4D97-AF65-F5344CB8AC3E}">
        <p14:creationId xmlns:p14="http://schemas.microsoft.com/office/powerpoint/2010/main" val="625376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4DC3116-E27C-4D62-A2F2-91A0C7C3856A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ReaRev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7E67DC-197D-4D52-A9AA-1ECB77F2A3E6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D886A8-476D-42AF-AADA-867D703D26F1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Mavromatis and Karypis, 2022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4257D3-EE98-48F7-8C32-EF9812E753AE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1829" y="1028700"/>
            <a:ext cx="7755467" cy="43624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A6C4C42-9E4D-4990-A66B-F245FCC3B2D2}"/>
              </a:ext>
            </a:extLst>
          </p:cNvPr>
          <p:cNvSpPr>
            <a:spLocks noGrp="1"/>
          </p:cNvSpPr>
          <p:nvPr/>
        </p:nvSpPr>
        <p:spPr>
          <a:xfrm>
            <a:off x="8286750" y="11049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65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Приспособливо расудување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5D94DF-9B7E-4D12-B245-F35CA9150F4A}"/>
              </a:ext>
            </a:extLst>
          </p:cNvPr>
          <p:cNvSpPr>
            <a:spLocks noGrp="1"/>
          </p:cNvSpPr>
          <p:nvPr/>
        </p:nvSpPr>
        <p:spPr>
          <a:xfrm>
            <a:off x="8334375" y="1800225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F9AB62-D673-4419-AC43-4B305875D248}"/>
              </a:ext>
            </a:extLst>
          </p:cNvPr>
          <p:cNvSpPr>
            <a:spLocks noGrp="1"/>
          </p:cNvSpPr>
          <p:nvPr/>
        </p:nvSpPr>
        <p:spPr>
          <a:xfrm>
            <a:off x="8505825" y="1695450"/>
            <a:ext cx="29241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lang="mk-MK"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 прашањето се извлекуваат повеќе инструкции</a:t>
            </a:r>
            <a:endParaRPr sz="1275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DC87FAE-1EEB-4E20-9835-C603E3EC3731}"/>
              </a:ext>
            </a:extLst>
          </p:cNvPr>
          <p:cNvSpPr>
            <a:spLocks noGrp="1"/>
          </p:cNvSpPr>
          <p:nvPr/>
        </p:nvSpPr>
        <p:spPr>
          <a:xfrm>
            <a:off x="8334375" y="2533650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C69956-54DE-4C5C-82E5-CE3C27FCCF16}"/>
              </a:ext>
            </a:extLst>
          </p:cNvPr>
          <p:cNvSpPr>
            <a:spLocks noGrp="1"/>
          </p:cNvSpPr>
          <p:nvPr/>
        </p:nvSpPr>
        <p:spPr>
          <a:xfrm>
            <a:off x="8505825" y="2428875"/>
            <a:ext cx="29241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Инструкциите го насочуваат преносот на пораки.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24EDB0-9C5C-42B4-B6B9-9A572DCAC60E}"/>
              </a:ext>
            </a:extLst>
          </p:cNvPr>
          <p:cNvSpPr>
            <a:spLocks noGrp="1"/>
          </p:cNvSpPr>
          <p:nvPr/>
        </p:nvSpPr>
        <p:spPr>
          <a:xfrm>
            <a:off x="8334375" y="3267075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916FE0-107B-4CB6-A81C-9235B2EC3ADB}"/>
              </a:ext>
            </a:extLst>
          </p:cNvPr>
          <p:cNvSpPr>
            <a:spLocks noGrp="1"/>
          </p:cNvSpPr>
          <p:nvPr/>
        </p:nvSpPr>
        <p:spPr>
          <a:xfrm>
            <a:off x="8505825" y="3162300"/>
            <a:ext cx="29241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Собраната информација ги ревидира инструкциите.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5A7417E-1267-4331-AACF-8FEA57E9B641}"/>
              </a:ext>
            </a:extLst>
          </p:cNvPr>
          <p:cNvSpPr>
            <a:spLocks noGrp="1"/>
          </p:cNvSpPr>
          <p:nvPr/>
        </p:nvSpPr>
        <p:spPr>
          <a:xfrm>
            <a:off x="8096250" y="4191000"/>
            <a:ext cx="3524250" cy="819150"/>
          </a:xfrm>
          <a:prstGeom prst="roundRect">
            <a:avLst>
              <a:gd name="adj" fmla="val 11628"/>
            </a:avLst>
          </a:prstGeom>
          <a:solidFill>
            <a:srgbClr val="F1ECF7"/>
          </a:solidFill>
          <a:ln w="11430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A12149-A317-43C9-A7BA-868EB4FBB239}"/>
              </a:ext>
            </a:extLst>
          </p:cNvPr>
          <p:cNvSpPr>
            <a:spLocks noGrp="1"/>
          </p:cNvSpPr>
          <p:nvPr/>
        </p:nvSpPr>
        <p:spPr>
          <a:xfrm>
            <a:off x="8210550" y="4257675"/>
            <a:ext cx="3295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mᵏ,ᵗᵤ,ᵣ = pᵗᵤ ReLU(Wᵗᵣr ⊙ iᵏ)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1212B-808D-48CD-B39A-BE31CD787283}"/>
              </a:ext>
            </a:extLst>
          </p:cNvPr>
          <p:cNvSpPr>
            <a:spLocks noGrp="1"/>
          </p:cNvSpPr>
          <p:nvPr/>
        </p:nvSpPr>
        <p:spPr>
          <a:xfrm>
            <a:off x="857250" y="5724525"/>
            <a:ext cx="1047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ReaRev го менува толкувањето на прашањето според информацијата откриена во графот.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EA2F7D-04C6-C46E-5C8A-CEC7C3B2B0DC}"/>
              </a:ext>
            </a:extLst>
          </p:cNvPr>
          <p:cNvSpPr/>
          <p:nvPr/>
        </p:nvSpPr>
        <p:spPr>
          <a:xfrm>
            <a:off x="857250" y="4859383"/>
            <a:ext cx="6309904" cy="531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428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22C8946-042D-4A4F-ACAE-FBBACE52AE00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NBFNet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A2FDC4-CC3E-4A51-984F-796A6EFB8E63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74FAA5-5405-4F8A-9715-562B36E6CCEB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Zhu et al., 2021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0FB13E-F2F0-40B4-A5A1-AAEFFD7B2BEE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1829" y="1028700"/>
            <a:ext cx="7755467" cy="43624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7B439F-734E-4F88-BCBD-78BFA31A83B1}"/>
              </a:ext>
            </a:extLst>
          </p:cNvPr>
          <p:cNvSpPr>
            <a:spLocks noGrp="1"/>
          </p:cNvSpPr>
          <p:nvPr/>
        </p:nvSpPr>
        <p:spPr>
          <a:xfrm>
            <a:off x="8191500" y="110490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Научена Bellman–Ford постапка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27E239C-5787-45B3-9579-0F0DF075E764}"/>
              </a:ext>
            </a:extLst>
          </p:cNvPr>
          <p:cNvSpPr>
            <a:spLocks noGrp="1"/>
          </p:cNvSpPr>
          <p:nvPr/>
        </p:nvSpPr>
        <p:spPr>
          <a:xfrm>
            <a:off x="8096250" y="1676400"/>
            <a:ext cx="3524250" cy="742950"/>
          </a:xfrm>
          <a:prstGeom prst="roundRect">
            <a:avLst>
              <a:gd name="adj" fmla="val 12821"/>
            </a:avLst>
          </a:prstGeom>
          <a:solidFill>
            <a:srgbClr val="E8F5F3"/>
          </a:solidFill>
          <a:ln w="11430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D156DB-6D7A-4A70-B937-20855F8A99E4}"/>
              </a:ext>
            </a:extLst>
          </p:cNvPr>
          <p:cNvSpPr>
            <a:spLocks noGrp="1"/>
          </p:cNvSpPr>
          <p:nvPr/>
        </p:nvSpPr>
        <p:spPr>
          <a:xfrm>
            <a:off x="8210550" y="1743075"/>
            <a:ext cx="3295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hᵥ⁽⁰⁾ = q  ако v∈S;  0 во спротивно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B518678-4F3F-44BC-8516-C824E1A51F42}"/>
              </a:ext>
            </a:extLst>
          </p:cNvPr>
          <p:cNvSpPr>
            <a:spLocks noGrp="1"/>
          </p:cNvSpPr>
          <p:nvPr/>
        </p:nvSpPr>
        <p:spPr>
          <a:xfrm>
            <a:off x="8096250" y="2600325"/>
            <a:ext cx="3524250" cy="742950"/>
          </a:xfrm>
          <a:prstGeom prst="roundRect">
            <a:avLst>
              <a:gd name="adj" fmla="val 12821"/>
            </a:avLst>
          </a:prstGeom>
          <a:solidFill>
            <a:srgbClr val="E8F5F3"/>
          </a:solidFill>
          <a:ln w="11430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06B04D-B807-4847-A770-CC9E62F47ED3}"/>
              </a:ext>
            </a:extLst>
          </p:cNvPr>
          <p:cNvSpPr>
            <a:spLocks noGrp="1"/>
          </p:cNvSpPr>
          <p:nvPr/>
        </p:nvSpPr>
        <p:spPr>
          <a:xfrm>
            <a:off x="8210550" y="2667000"/>
            <a:ext cx="32956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0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m⁽ˡ⁾ᵤ,ᵣ,ᵥ = hᵤ⁽ˡ⁾ ⊙ wᵣ⁽ˡ⁾(q)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B2F9C99-9986-4334-ACEC-D539AEB9CF19}"/>
              </a:ext>
            </a:extLst>
          </p:cNvPr>
          <p:cNvSpPr>
            <a:spLocks noGrp="1"/>
          </p:cNvSpPr>
          <p:nvPr/>
        </p:nvSpPr>
        <p:spPr>
          <a:xfrm>
            <a:off x="8191500" y="3781425"/>
            <a:ext cx="66675" cy="66675"/>
          </a:xfrm>
          <a:prstGeom prst="ellipse">
            <a:avLst/>
          </a:prstGeom>
          <a:solidFill>
            <a:srgbClr val="398D8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AE30-2D90-4E0F-B38D-801313969865}"/>
              </a:ext>
            </a:extLst>
          </p:cNvPr>
          <p:cNvSpPr>
            <a:spLocks noGrp="1"/>
          </p:cNvSpPr>
          <p:nvPr/>
        </p:nvSpPr>
        <p:spPr>
          <a:xfrm>
            <a:off x="8362950" y="3676650"/>
            <a:ext cx="3162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Патеките и релациите се условени од прашањето.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1AB3D91-E1E6-4F30-949E-DB97848171FD}"/>
              </a:ext>
            </a:extLst>
          </p:cNvPr>
          <p:cNvSpPr>
            <a:spLocks noGrp="1"/>
          </p:cNvSpPr>
          <p:nvPr/>
        </p:nvSpPr>
        <p:spPr>
          <a:xfrm>
            <a:off x="8191500" y="4514850"/>
            <a:ext cx="66675" cy="66675"/>
          </a:xfrm>
          <a:prstGeom prst="ellipse">
            <a:avLst/>
          </a:prstGeom>
          <a:solidFill>
            <a:srgbClr val="398D8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1E4875-2A43-430F-B04E-04C0E3E5CC40}"/>
              </a:ext>
            </a:extLst>
          </p:cNvPr>
          <p:cNvSpPr>
            <a:spLocks noGrp="1"/>
          </p:cNvSpPr>
          <p:nvPr/>
        </p:nvSpPr>
        <p:spPr>
          <a:xfrm>
            <a:off x="8362950" y="4410075"/>
            <a:ext cx="3162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Поддржани се повеќе почетни ентитети.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1D4BA5-7095-4A49-B8E8-9759F5EAFADB}"/>
              </a:ext>
            </a:extLst>
          </p:cNvPr>
          <p:cNvSpPr>
            <a:spLocks noGrp="1"/>
          </p:cNvSpPr>
          <p:nvPr/>
        </p:nvSpPr>
        <p:spPr>
          <a:xfrm>
            <a:off x="742950" y="5667375"/>
            <a:ext cx="107061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Репрезентацијата на кандидатот опишува како тој се достигнува преку патеки релевантни за прашањето.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9A2899-8BE1-78E1-B211-95ACB6B3407C}"/>
              </a:ext>
            </a:extLst>
          </p:cNvPr>
          <p:cNvSpPr/>
          <p:nvPr/>
        </p:nvSpPr>
        <p:spPr>
          <a:xfrm>
            <a:off x="964610" y="4731612"/>
            <a:ext cx="6309904" cy="531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1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EEDE8CA-5EB9-4DF7-A7FF-22DB5290AAD1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Метрики за пребарување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B5306A-DE08-4502-8C97-6B8CDD17736E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6FA5F2-EB61-4C86-87A2-4D97466B20FA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nDCG: Järvelin and Kekäläinen, 2002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9D1437-9C52-4EAE-920F-17E5B0A48A99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A3BC85-1B3C-489A-950A-84A5EBC6EFF5}"/>
              </a:ext>
            </a:extLst>
          </p:cNvPr>
          <p:cNvSpPr>
            <a:spLocks noGrp="1"/>
          </p:cNvSpPr>
          <p:nvPr/>
        </p:nvSpPr>
        <p:spPr>
          <a:xfrm>
            <a:off x="666750" y="1104900"/>
            <a:ext cx="4857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Рангирање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85738EF-AA1C-4553-9D4D-48AC386CA1A8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4857750" cy="1809750"/>
          </a:xfrm>
          <a:prstGeom prst="roundRect">
            <a:avLst>
              <a:gd name="adj" fmla="val 7368"/>
            </a:avLst>
          </a:prstGeom>
          <a:solidFill>
            <a:srgbClr val="FBEDE5"/>
          </a:solidFill>
          <a:ln w="14288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961D1B3-8A4C-4675-BCB8-6264250A90A6}"/>
              </a:ext>
            </a:extLst>
          </p:cNvPr>
          <p:cNvSpPr>
            <a:spLocks noGrp="1"/>
          </p:cNvSpPr>
          <p:nvPr/>
        </p:nvSpPr>
        <p:spPr>
          <a:xfrm>
            <a:off x="876300" y="1962150"/>
            <a:ext cx="66675" cy="66675"/>
          </a:xfrm>
          <a:prstGeom prst="ellipse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66C8C-B1A7-45F8-88EC-ABF0A70BF095}"/>
              </a:ext>
            </a:extLst>
          </p:cNvPr>
          <p:cNvSpPr>
            <a:spLocks noGrp="1"/>
          </p:cNvSpPr>
          <p:nvPr/>
        </p:nvSpPr>
        <p:spPr>
          <a:xfrm>
            <a:off x="1047750" y="1857375"/>
            <a:ext cx="42576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Hits@1 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/ 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Hits@10 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—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барем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еден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точен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одговор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во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првите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1</a:t>
            </a:r>
            <a:r>
              <a:rPr lang="mk-MK"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, односно 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10 </a:t>
            </a:r>
            <a:r>
              <a:rPr lang="mk-MK"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кандидати</a:t>
            </a:r>
            <a:endParaRPr sz="1350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80939DA-F14A-41ED-9BDC-E98FE689815D}"/>
              </a:ext>
            </a:extLst>
          </p:cNvPr>
          <p:cNvSpPr>
            <a:spLocks noGrp="1"/>
          </p:cNvSpPr>
          <p:nvPr/>
        </p:nvSpPr>
        <p:spPr>
          <a:xfrm>
            <a:off x="876300" y="2752725"/>
            <a:ext cx="66675" cy="66675"/>
          </a:xfrm>
          <a:prstGeom prst="ellipse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2CA1B-2F81-4C10-8B01-E88BB768A823}"/>
              </a:ext>
            </a:extLst>
          </p:cNvPr>
          <p:cNvSpPr>
            <a:spLocks noGrp="1"/>
          </p:cNvSpPr>
          <p:nvPr/>
        </p:nvSpPr>
        <p:spPr>
          <a:xfrm>
            <a:off x="1047750" y="2647950"/>
            <a:ext cx="42576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nDCG@10 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—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позицијата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и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бројот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точни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одговори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во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првите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10</a:t>
            </a:r>
            <a:r>
              <a:rPr lang="mk-MK"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кандидати</a:t>
            </a:r>
            <a:endParaRPr sz="1350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5DAC87-449D-4CAA-BDD2-435BE7674A1E}"/>
              </a:ext>
            </a:extLst>
          </p:cNvPr>
          <p:cNvSpPr>
            <a:spLocks noGrp="1"/>
          </p:cNvSpPr>
          <p:nvPr/>
        </p:nvSpPr>
        <p:spPr>
          <a:xfrm>
            <a:off x="6191250" y="11049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Покриеност на точните одговори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4239560-36C6-4C55-B6CE-1F7ACD0A8760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EAF2FB"/>
          </a:solidFill>
          <a:ln w="11430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9EAFCD-45E4-44A3-92FC-4AD025B6C890}"/>
              </a:ext>
            </a:extLst>
          </p:cNvPr>
          <p:cNvSpPr>
            <a:spLocks noGrp="1"/>
          </p:cNvSpPr>
          <p:nvPr/>
        </p:nvSpPr>
        <p:spPr>
          <a:xfrm>
            <a:off x="6305550" y="1685925"/>
            <a:ext cx="5105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425" b="1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RetrievalGoldCoverage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= (1/|Q|) 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Σq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|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∩ 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| / |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|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2402969-3CA4-4B41-AFD3-77ACCF3A529A}"/>
              </a:ext>
            </a:extLst>
          </p:cNvPr>
          <p:cNvSpPr>
            <a:spLocks noGrp="1"/>
          </p:cNvSpPr>
          <p:nvPr/>
        </p:nvSpPr>
        <p:spPr>
          <a:xfrm>
            <a:off x="6191250" y="2571750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EAF2FB"/>
          </a:solidFill>
          <a:ln w="11430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C69469-9344-44CD-AAFF-56B264A0FD8B}"/>
              </a:ext>
            </a:extLst>
          </p:cNvPr>
          <p:cNvSpPr>
            <a:spLocks noGrp="1"/>
          </p:cNvSpPr>
          <p:nvPr/>
        </p:nvSpPr>
        <p:spPr>
          <a:xfrm>
            <a:off x="6305550" y="2638425"/>
            <a:ext cx="51054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425" b="1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RetrievalFullGoldCoverage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= (1/|Q|) 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Σq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𝕀(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 ⊆ </a:t>
            </a:r>
            <a:r>
              <a:rPr sz="142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Rq</a:t>
            </a:r>
            <a:r>
              <a:rPr sz="142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716B5F8-CEA5-4551-B217-B9C18422BF86}"/>
              </a:ext>
            </a:extLst>
          </p:cNvPr>
          <p:cNvSpPr>
            <a:spLocks noGrp="1"/>
          </p:cNvSpPr>
          <p:nvPr/>
        </p:nvSpPr>
        <p:spPr>
          <a:xfrm>
            <a:off x="2629988" y="3981450"/>
            <a:ext cx="6418761" cy="1428750"/>
          </a:xfrm>
          <a:prstGeom prst="roundRect">
            <a:avLst>
              <a:gd name="adj" fmla="val 9333"/>
            </a:avLst>
          </a:prstGeom>
          <a:solidFill>
            <a:srgbClr val="F7F9FB"/>
          </a:solidFill>
          <a:ln w="12383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6DA4AC-91C7-474C-BCE6-39753987167D}"/>
              </a:ext>
            </a:extLst>
          </p:cNvPr>
          <p:cNvSpPr>
            <a:spLocks noGrp="1"/>
          </p:cNvSpPr>
          <p:nvPr/>
        </p:nvSpPr>
        <p:spPr>
          <a:xfrm>
            <a:off x="2928938" y="4231684"/>
            <a:ext cx="1381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Пример</a:t>
            </a:r>
            <a:endParaRPr sz="1500" b="1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30FAFC-FA48-49FD-8E07-C7F0E8B96D01}"/>
              </a:ext>
            </a:extLst>
          </p:cNvPr>
          <p:cNvSpPr>
            <a:spLocks noGrp="1"/>
          </p:cNvSpPr>
          <p:nvPr/>
        </p:nvSpPr>
        <p:spPr>
          <a:xfrm>
            <a:off x="4119563" y="4246380"/>
            <a:ext cx="2571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325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325" b="1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54D322-60E7-45B1-8A5B-70FC5FAEE068}"/>
              </a:ext>
            </a:extLst>
          </p:cNvPr>
          <p:cNvSpPr>
            <a:spLocks noGrp="1"/>
          </p:cNvSpPr>
          <p:nvPr/>
        </p:nvSpPr>
        <p:spPr>
          <a:xfrm>
            <a:off x="4107657" y="4717868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пронајдени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точни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одговори</a:t>
            </a:r>
            <a:endParaRPr sz="12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C1E5F-7C9F-4C6C-9A6F-7A61DAE7C569}"/>
              </a:ext>
            </a:extLst>
          </p:cNvPr>
          <p:cNvSpPr>
            <a:spLocks noGrp="1"/>
          </p:cNvSpPr>
          <p:nvPr/>
        </p:nvSpPr>
        <p:spPr>
          <a:xfrm>
            <a:off x="6191250" y="4231684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325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325" b="1" i="0" dirty="0">
                <a:solidFill>
                  <a:srgbClr val="D9794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EBACF5-1589-4799-BD6B-237CA5FB81E3}"/>
              </a:ext>
            </a:extLst>
          </p:cNvPr>
          <p:cNvSpPr>
            <a:spLocks noGrp="1"/>
          </p:cNvSpPr>
          <p:nvPr/>
        </p:nvSpPr>
        <p:spPr>
          <a:xfrm>
            <a:off x="6215063" y="4703172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целосна</a:t>
            </a:r>
            <a:r>
              <a:rPr sz="12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покриеност</a:t>
            </a:r>
            <a:endParaRPr sz="12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166D4E-21A3-4784-A420-247905ECCD22}"/>
              </a:ext>
            </a:extLst>
          </p:cNvPr>
          <p:cNvSpPr>
            <a:spLocks noGrp="1"/>
          </p:cNvSpPr>
          <p:nvPr/>
        </p:nvSpPr>
        <p:spPr>
          <a:xfrm>
            <a:off x="2381250" y="5572125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Gq — точни одговори · Rq — пребарани кандидати</a:t>
            </a:r>
          </a:p>
        </p:txBody>
      </p:sp>
    </p:spTree>
    <p:extLst>
      <p:ext uri="{BB962C8B-B14F-4D97-AF65-F5344CB8AC3E}">
        <p14:creationId xmlns:p14="http://schemas.microsoft.com/office/powerpoint/2010/main" val="1893943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528EAF0-1EC2-412A-B52B-9FF0E1683ADB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Резултати од пребарувањето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05E6DA-20C8-45B8-92F0-7FF7AD9A05E2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59488-DCAE-43C2-B477-8B1F3ADB2D45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" y="1067515"/>
            <a:ext cx="8286750" cy="3808569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3132804-446E-462D-B5A3-915426A2A7E2}"/>
              </a:ext>
            </a:extLst>
          </p:cNvPr>
          <p:cNvSpPr>
            <a:spLocks noGrp="1"/>
          </p:cNvSpPr>
          <p:nvPr/>
        </p:nvSpPr>
        <p:spPr>
          <a:xfrm>
            <a:off x="8953500" y="1162050"/>
            <a:ext cx="2667000" cy="3638550"/>
          </a:xfrm>
          <a:prstGeom prst="roundRect">
            <a:avLst>
              <a:gd name="adj" fmla="val 5000"/>
            </a:avLst>
          </a:prstGeom>
          <a:solidFill>
            <a:srgbClr val="FBEDE5"/>
          </a:solidFill>
          <a:ln w="16193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D9212-DF51-48E2-8BCF-07CAC137FFBB}"/>
              </a:ext>
            </a:extLst>
          </p:cNvPr>
          <p:cNvSpPr>
            <a:spLocks noGrp="1"/>
          </p:cNvSpPr>
          <p:nvPr/>
        </p:nvSpPr>
        <p:spPr>
          <a:xfrm>
            <a:off x="9239250" y="1381125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75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NBFNet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3C1FFF-C837-4026-9134-9FB67024F041}"/>
              </a:ext>
            </a:extLst>
          </p:cNvPr>
          <p:cNvSpPr>
            <a:spLocks noGrp="1"/>
          </p:cNvSpPr>
          <p:nvPr/>
        </p:nvSpPr>
        <p:spPr>
          <a:xfrm>
            <a:off x="9220200" y="1952625"/>
            <a:ext cx="2133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0,692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6195FB-0D1D-4A18-BD08-A3F3FC34949A}"/>
              </a:ext>
            </a:extLst>
          </p:cNvPr>
          <p:cNvSpPr>
            <a:spLocks noGrp="1"/>
          </p:cNvSpPr>
          <p:nvPr/>
        </p:nvSpPr>
        <p:spPr>
          <a:xfrm>
            <a:off x="9220200" y="2409825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Hits@1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20F21-18A0-496C-B5D4-AE39436B2C59}"/>
              </a:ext>
            </a:extLst>
          </p:cNvPr>
          <p:cNvSpPr>
            <a:spLocks noGrp="1"/>
          </p:cNvSpPr>
          <p:nvPr/>
        </p:nvSpPr>
        <p:spPr>
          <a:xfrm>
            <a:off x="9220200" y="2781300"/>
            <a:ext cx="2133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0,921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813A14-14B5-40F3-B290-8EBF010AF817}"/>
              </a:ext>
            </a:extLst>
          </p:cNvPr>
          <p:cNvSpPr>
            <a:spLocks noGrp="1"/>
          </p:cNvSpPr>
          <p:nvPr/>
        </p:nvSpPr>
        <p:spPr>
          <a:xfrm>
            <a:off x="9220200" y="3238500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Hits@10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0F63C-558F-497D-93C3-410211B895A4}"/>
              </a:ext>
            </a:extLst>
          </p:cNvPr>
          <p:cNvSpPr>
            <a:spLocks noGrp="1"/>
          </p:cNvSpPr>
          <p:nvPr/>
        </p:nvSpPr>
        <p:spPr>
          <a:xfrm>
            <a:off x="9220200" y="3609975"/>
            <a:ext cx="2133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0,796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641CC1-81A9-430A-B153-D380F86521C2}"/>
              </a:ext>
            </a:extLst>
          </p:cNvPr>
          <p:cNvSpPr>
            <a:spLocks noGrp="1"/>
          </p:cNvSpPr>
          <p:nvPr/>
        </p:nvSpPr>
        <p:spPr>
          <a:xfrm>
            <a:off x="9220200" y="4067175"/>
            <a:ext cx="2133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nDCG@10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A11785-DAE3-4EA0-BA42-AF47189A58D3}"/>
              </a:ext>
            </a:extLst>
          </p:cNvPr>
          <p:cNvSpPr>
            <a:spLocks noGrp="1"/>
          </p:cNvSpPr>
          <p:nvPr/>
        </p:nvSpPr>
        <p:spPr>
          <a:xfrm>
            <a:off x="9144000" y="44196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средна вредност од 3 извршувања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C07EFEE-6758-495E-9373-40486E0BBC0D}"/>
              </a:ext>
            </a:extLst>
          </p:cNvPr>
          <p:cNvSpPr>
            <a:spLocks noGrp="1"/>
          </p:cNvSpPr>
          <p:nvPr/>
        </p:nvSpPr>
        <p:spPr>
          <a:xfrm>
            <a:off x="714375" y="5267325"/>
            <a:ext cx="10763250" cy="876300"/>
          </a:xfrm>
          <a:prstGeom prst="roundRect">
            <a:avLst>
              <a:gd name="adj" fmla="val 15217"/>
            </a:avLst>
          </a:prstGeom>
          <a:solidFill>
            <a:srgbClr val="F7F9FB"/>
          </a:solidFill>
          <a:ln w="11430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899750-EEE5-4225-BF68-8E3169ACB9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1019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Условувањето со прашањето и експлицитното моделирање на релациските патеки даваат најдобри резултати. Advance GraphSAGE е силен едноставен компромис.</a:t>
            </a:r>
          </a:p>
        </p:txBody>
      </p:sp>
    </p:spTree>
    <p:extLst>
      <p:ext uri="{BB962C8B-B14F-4D97-AF65-F5344CB8AC3E}">
        <p14:creationId xmlns:p14="http://schemas.microsoft.com/office/powerpoint/2010/main" val="503190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42EF028-B971-4D6E-9C21-52703C1006CD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Конструкција на доказниот подграф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30C4C8-10EF-4975-B12F-63D0568EB253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398D8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C816E8-700D-467B-AE64-75109A06E8FE}"/>
              </a:ext>
            </a:extLst>
          </p:cNvPr>
          <p:cNvSpPr>
            <a:spLocks noGrp="1"/>
          </p:cNvSpPr>
          <p:nvPr/>
        </p:nvSpPr>
        <p:spPr>
          <a:xfrm>
            <a:off x="552450" y="6486525"/>
            <a:ext cx="933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l">
              <a:defRPr sz="82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Goemans and Williamson, 1995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FA0E94-7425-4B5D-AA08-BE5C4C432093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08504" y="1047750"/>
            <a:ext cx="6993467" cy="39338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43F525B-9FD3-484B-8E88-9B9CBE097BF3}"/>
              </a:ext>
            </a:extLst>
          </p:cNvPr>
          <p:cNvSpPr>
            <a:spLocks noGrp="1"/>
          </p:cNvSpPr>
          <p:nvPr/>
        </p:nvSpPr>
        <p:spPr>
          <a:xfrm>
            <a:off x="7620000" y="1095375"/>
            <a:ext cx="4000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7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PCST: награда на јазлите наспроти трошок на рабовите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03D113-8AE5-4CB5-B4F8-EE205F50A754}"/>
              </a:ext>
            </a:extLst>
          </p:cNvPr>
          <p:cNvSpPr>
            <a:spLocks noGrp="1"/>
          </p:cNvSpPr>
          <p:nvPr/>
        </p:nvSpPr>
        <p:spPr>
          <a:xfrm>
            <a:off x="7667625" y="1790700"/>
            <a:ext cx="3905250" cy="838200"/>
          </a:xfrm>
          <a:prstGeom prst="roundRect">
            <a:avLst>
              <a:gd name="adj" fmla="val 11364"/>
            </a:avLst>
          </a:prstGeom>
          <a:solidFill>
            <a:srgbClr val="E8F5F3"/>
          </a:solidFill>
          <a:ln w="11430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EB749D-2A41-42BE-99A0-18847B0087F4}"/>
              </a:ext>
            </a:extLst>
          </p:cNvPr>
          <p:cNvSpPr>
            <a:spLocks noGrp="1"/>
          </p:cNvSpPr>
          <p:nvPr/>
        </p:nvSpPr>
        <p:spPr>
          <a:xfrm>
            <a:off x="7781925" y="1857375"/>
            <a:ext cx="36766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T* = arg maxT [Σv∈VT p(v) − Σe∈ET c(e)]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5055CE5-2E03-4219-84F3-ED4DECB2E9C4}"/>
              </a:ext>
            </a:extLst>
          </p:cNvPr>
          <p:cNvSpPr>
            <a:spLocks noGrp="1"/>
          </p:cNvSpPr>
          <p:nvPr/>
        </p:nvSpPr>
        <p:spPr>
          <a:xfrm>
            <a:off x="7667625" y="2819400"/>
            <a:ext cx="3905250" cy="619125"/>
          </a:xfrm>
          <a:prstGeom prst="roundRect">
            <a:avLst>
              <a:gd name="adj" fmla="val 15385"/>
            </a:avLst>
          </a:prstGeom>
          <a:solidFill>
            <a:srgbClr val="F7F9FB"/>
          </a:solidFill>
          <a:ln w="11430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61A3B3-A02B-47F2-82E0-51A77AA2CC96}"/>
              </a:ext>
            </a:extLst>
          </p:cNvPr>
          <p:cNvSpPr>
            <a:spLocks noGrp="1"/>
          </p:cNvSpPr>
          <p:nvPr/>
        </p:nvSpPr>
        <p:spPr>
          <a:xfrm>
            <a:off x="7781925" y="2886075"/>
            <a:ext cx="36766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cconst(e) = λ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522A186-ED0E-4FAB-8400-1AE1BF0BAA61}"/>
              </a:ext>
            </a:extLst>
          </p:cNvPr>
          <p:cNvSpPr>
            <a:spLocks noGrp="1"/>
          </p:cNvSpPr>
          <p:nvPr/>
        </p:nvSpPr>
        <p:spPr>
          <a:xfrm>
            <a:off x="7667625" y="3629025"/>
            <a:ext cx="3905250" cy="733425"/>
          </a:xfrm>
          <a:prstGeom prst="roundRect">
            <a:avLst>
              <a:gd name="adj" fmla="val 12987"/>
            </a:avLst>
          </a:prstGeom>
          <a:solidFill>
            <a:srgbClr val="F7F9FB"/>
          </a:solidFill>
          <a:ln w="11430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CF3868-47C7-4439-BC95-B4214DAA62C6}"/>
              </a:ext>
            </a:extLst>
          </p:cNvPr>
          <p:cNvSpPr>
            <a:spLocks noGrp="1"/>
          </p:cNvSpPr>
          <p:nvPr/>
        </p:nvSpPr>
        <p:spPr>
          <a:xfrm>
            <a:off x="7781925" y="3695700"/>
            <a:ext cx="36766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csem(e) = max(ε, λ[1 − cos(q,re)])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0007323-A5F6-4E56-8888-FBB1BC66BA0F}"/>
              </a:ext>
            </a:extLst>
          </p:cNvPr>
          <p:cNvSpPr>
            <a:spLocks noGrp="1"/>
          </p:cNvSpPr>
          <p:nvPr/>
        </p:nvSpPr>
        <p:spPr>
          <a:xfrm>
            <a:off x="1095375" y="5314950"/>
            <a:ext cx="10001250" cy="781050"/>
          </a:xfrm>
          <a:prstGeom prst="roundRect">
            <a:avLst>
              <a:gd name="adj" fmla="val 17073"/>
            </a:avLst>
          </a:prstGeom>
          <a:solidFill>
            <a:srgbClr val="E8F5F3"/>
          </a:solidFill>
          <a:ln w="14288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D79A3A-BCA3-4897-9D50-CD510D5E6693}"/>
              </a:ext>
            </a:extLst>
          </p:cNvPr>
          <p:cNvSpPr>
            <a:spLocks noGrp="1"/>
          </p:cNvSpPr>
          <p:nvPr/>
        </p:nvSpPr>
        <p:spPr>
          <a:xfrm>
            <a:off x="1381125" y="5429250"/>
            <a:ext cx="94297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Најкратките патеки гарантираат поврзаност до секој кандидат; PCST може да отфрли кандидат кога поврзувањето е прескапо.</a:t>
            </a:r>
          </a:p>
        </p:txBody>
      </p:sp>
    </p:spTree>
    <p:extLst>
      <p:ext uri="{BB962C8B-B14F-4D97-AF65-F5344CB8AC3E}">
        <p14:creationId xmlns:p14="http://schemas.microsoft.com/office/powerpoint/2010/main" val="1178840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993BDBA-A14F-4170-82A6-6F8E1D7DBC2D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Метрики за доказниот контекст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294223-85A7-4740-9A38-38B4386997A8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398D8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1F84B1-7965-4DC6-BD3E-29B7759E2B30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28BF3F-120F-4C60-B36E-B2B2B197A923}"/>
              </a:ext>
            </a:extLst>
          </p:cNvPr>
          <p:cNvSpPr>
            <a:spLocks noGrp="1"/>
          </p:cNvSpPr>
          <p:nvPr/>
        </p:nvSpPr>
        <p:spPr>
          <a:xfrm>
            <a:off x="666750" y="1104900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Компактност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D44D4A8-C788-41F1-B500-B8BFF4778CA5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4857750" cy="3162300"/>
          </a:xfrm>
          <a:prstGeom prst="roundRect">
            <a:avLst>
              <a:gd name="adj" fmla="val 4217"/>
            </a:avLst>
          </a:prstGeom>
          <a:solidFill>
            <a:srgbClr val="E8F5F3"/>
          </a:solidFill>
          <a:ln w="14288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6F7B49-16FB-46C5-91B7-7A7133E0F476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42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AverageTriples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708864-B23D-4CA0-8676-B5D42429ABBC}"/>
              </a:ext>
            </a:extLst>
          </p:cNvPr>
          <p:cNvSpPr>
            <a:spLocks noGrp="1"/>
          </p:cNvSpPr>
          <p:nvPr/>
        </p:nvSpPr>
        <p:spPr>
          <a:xfrm>
            <a:off x="933450" y="2190750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просечен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број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тројки</a:t>
            </a:r>
            <a:endParaRPr sz="1275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271A5-0C71-465E-B702-1938A35C0966}"/>
              </a:ext>
            </a:extLst>
          </p:cNvPr>
          <p:cNvSpPr>
            <a:spLocks noGrp="1"/>
          </p:cNvSpPr>
          <p:nvPr/>
        </p:nvSpPr>
        <p:spPr>
          <a:xfrm>
            <a:off x="933450" y="2752725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42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ContextCandidateCoverage</a:t>
            </a:r>
            <a:endParaRPr sz="1425" b="1" i="0" dirty="0">
              <a:solidFill>
                <a:srgbClr val="398D8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BAFF09-DAFE-48DA-840B-5A91D8CE1360}"/>
              </a:ext>
            </a:extLst>
          </p:cNvPr>
          <p:cNvSpPr>
            <a:spLocks noGrp="1"/>
          </p:cNvSpPr>
          <p:nvPr/>
        </p:nvSpPr>
        <p:spPr>
          <a:xfrm>
            <a:off x="933450" y="3057525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удел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задржани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кандидати</a:t>
            </a:r>
            <a:endParaRPr sz="1275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7F2DE4-5C4E-4CE3-8E56-9725873A634C}"/>
              </a:ext>
            </a:extLst>
          </p:cNvPr>
          <p:cNvSpPr>
            <a:spLocks noGrp="1"/>
          </p:cNvSpPr>
          <p:nvPr/>
        </p:nvSpPr>
        <p:spPr>
          <a:xfrm>
            <a:off x="933450" y="3619500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42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CandidateReduction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492749-515E-458B-9257-419C0526AB22}"/>
              </a:ext>
            </a:extLst>
          </p:cNvPr>
          <p:cNvSpPr>
            <a:spLocks noGrp="1"/>
          </p:cNvSpPr>
          <p:nvPr/>
        </p:nvSpPr>
        <p:spPr>
          <a:xfrm>
            <a:off x="933450" y="3924300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процент отфрлени кандидати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9D069B-BB57-45AC-9749-823ADB1E677C}"/>
              </a:ext>
            </a:extLst>
          </p:cNvPr>
          <p:cNvSpPr>
            <a:spLocks noGrp="1"/>
          </p:cNvSpPr>
          <p:nvPr/>
        </p:nvSpPr>
        <p:spPr>
          <a:xfrm>
            <a:off x="6191250" y="1104900"/>
            <a:ext cx="5334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Зачувана информација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DEDEE46-3DC3-45D2-965D-9851C2A33B26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5334000" cy="895350"/>
          </a:xfrm>
          <a:prstGeom prst="roundRect">
            <a:avLst>
              <a:gd name="adj" fmla="val 10638"/>
            </a:avLst>
          </a:prstGeom>
          <a:solidFill>
            <a:srgbClr val="EAF6EE"/>
          </a:solidFill>
          <a:ln w="11430">
            <a:solidFill>
              <a:srgbClr val="4E9B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B3DEAD-1989-4618-A996-43F927C58612}"/>
              </a:ext>
            </a:extLst>
          </p:cNvPr>
          <p:cNvSpPr>
            <a:spLocks noGrp="1"/>
          </p:cNvSpPr>
          <p:nvPr/>
        </p:nvSpPr>
        <p:spPr>
          <a:xfrm>
            <a:off x="6305550" y="1685925"/>
            <a:ext cx="51054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ContextGoldCoverage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 = (1/|Q|) 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Σq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 |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Gq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 ∩ 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Cq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| / |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Gq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|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7DDF38B-EA8E-4627-B71D-48B7515835DB}"/>
              </a:ext>
            </a:extLst>
          </p:cNvPr>
          <p:cNvSpPr>
            <a:spLocks noGrp="1"/>
          </p:cNvSpPr>
          <p:nvPr/>
        </p:nvSpPr>
        <p:spPr>
          <a:xfrm>
            <a:off x="6191250" y="2733675"/>
            <a:ext cx="5334000" cy="895350"/>
          </a:xfrm>
          <a:prstGeom prst="roundRect">
            <a:avLst>
              <a:gd name="adj" fmla="val 10638"/>
            </a:avLst>
          </a:prstGeom>
          <a:solidFill>
            <a:srgbClr val="EAF6EE"/>
          </a:solidFill>
          <a:ln w="11430">
            <a:solidFill>
              <a:srgbClr val="4E9B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9A8BB8-9D49-47DB-BC82-BCA199D4308E}"/>
              </a:ext>
            </a:extLst>
          </p:cNvPr>
          <p:cNvSpPr>
            <a:spLocks noGrp="1"/>
          </p:cNvSpPr>
          <p:nvPr/>
        </p:nvSpPr>
        <p:spPr>
          <a:xfrm>
            <a:off x="6305550" y="2800350"/>
            <a:ext cx="51054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ContextFullGoldCoverage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 = (1/|Q|) 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Σq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 𝕀(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Gq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 ⊆ </a:t>
            </a:r>
            <a:r>
              <a:rPr sz="1425" b="0" i="0" dirty="0" err="1">
                <a:solidFill>
                  <a:srgbClr val="4E9B69"/>
                </a:solidFill>
                <a:latin typeface="Arial"/>
                <a:ea typeface="Arial"/>
                <a:cs typeface="Arial"/>
              </a:rPr>
              <a:t>Cq</a:t>
            </a:r>
            <a:r>
              <a:rPr sz="1425" b="0" i="0" dirty="0">
                <a:solidFill>
                  <a:srgbClr val="4E9B69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2749C4-FB37-424E-97F2-107B14ABCA5C}"/>
              </a:ext>
            </a:extLst>
          </p:cNvPr>
          <p:cNvSpPr>
            <a:spLocks noGrp="1"/>
          </p:cNvSpPr>
          <p:nvPr/>
        </p:nvSpPr>
        <p:spPr>
          <a:xfrm>
            <a:off x="6381750" y="3857625"/>
            <a:ext cx="495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75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Cq — ентитети присутни во тројките од доказниот контекст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0DBE70F-1C8C-405D-B9CC-AA358E96B631}"/>
              </a:ext>
            </a:extLst>
          </p:cNvPr>
          <p:cNvSpPr>
            <a:spLocks noGrp="1"/>
          </p:cNvSpPr>
          <p:nvPr/>
        </p:nvSpPr>
        <p:spPr>
          <a:xfrm>
            <a:off x="1714500" y="5219700"/>
            <a:ext cx="8763000" cy="781050"/>
          </a:xfrm>
          <a:prstGeom prst="roundRect">
            <a:avLst>
              <a:gd name="adj" fmla="val 17073"/>
            </a:avLst>
          </a:prstGeom>
          <a:solidFill>
            <a:srgbClr val="F7F9FB"/>
          </a:solidFill>
          <a:ln w="11430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F7D9E8-AD3E-4654-9296-2E31B0D78CC0}"/>
              </a:ext>
            </a:extLst>
          </p:cNvPr>
          <p:cNvSpPr>
            <a:spLocks noGrp="1"/>
          </p:cNvSpPr>
          <p:nvPr/>
        </p:nvSpPr>
        <p:spPr>
          <a:xfrm>
            <a:off x="2000250" y="5343525"/>
            <a:ext cx="8191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Компактноста се оценува заедно со информацијата што останува достапна за јазичниот модел.</a:t>
            </a:r>
          </a:p>
        </p:txBody>
      </p:sp>
    </p:spTree>
    <p:extLst>
      <p:ext uri="{BB962C8B-B14F-4D97-AF65-F5344CB8AC3E}">
        <p14:creationId xmlns:p14="http://schemas.microsoft.com/office/powerpoint/2010/main" val="13831470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AEDA72E-DC92-4A14-ABD7-FFD78CBFB3B4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Компактност и зачувување на точните одговори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C2C463-FA36-4A26-B1F9-33D13D736BDB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398D8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70FCC5-B80F-4869-BC82-1C27A2F928C7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900" y="1068625"/>
            <a:ext cx="7239000" cy="4996976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70FB69-1DEA-4398-B61D-FA08BC1BDD4E}"/>
              </a:ext>
            </a:extLst>
          </p:cNvPr>
          <p:cNvSpPr>
            <a:spLocks noGrp="1"/>
          </p:cNvSpPr>
          <p:nvPr/>
        </p:nvSpPr>
        <p:spPr>
          <a:xfrm>
            <a:off x="7881937" y="2638425"/>
            <a:ext cx="3667125" cy="1619250"/>
          </a:xfrm>
          <a:prstGeom prst="roundRect">
            <a:avLst>
              <a:gd name="adj" fmla="val 8235"/>
            </a:avLst>
          </a:prstGeom>
          <a:solidFill>
            <a:srgbClr val="E8F5F3"/>
          </a:solidFill>
          <a:ln w="17145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EF82E2-E87F-406B-90B4-298342FD6A52}"/>
              </a:ext>
            </a:extLst>
          </p:cNvPr>
          <p:cNvSpPr>
            <a:spLocks noGrp="1"/>
          </p:cNvSpPr>
          <p:nvPr/>
        </p:nvSpPr>
        <p:spPr>
          <a:xfrm>
            <a:off x="8191499" y="2995613"/>
            <a:ext cx="3000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9206"/>
          </a:bodyPr>
          <a:lstStyle/>
          <a:p>
            <a:pPr algn="ctr">
              <a:defRPr sz="315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315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≈ 85%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42E009-49FF-4CED-ACD8-1EC7DFC12794}"/>
              </a:ext>
            </a:extLst>
          </p:cNvPr>
          <p:cNvSpPr>
            <a:spLocks noGrp="1"/>
          </p:cNvSpPr>
          <p:nvPr/>
        </p:nvSpPr>
        <p:spPr>
          <a:xfrm>
            <a:off x="8215311" y="3509963"/>
            <a:ext cx="30003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3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3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помал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доказен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контекст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со</a:t>
            </a:r>
            <a:r>
              <a:rPr sz="13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PCST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CE092B-7A5B-4FD8-AD94-A8D8757B99A1}"/>
              </a:ext>
            </a:extLst>
          </p:cNvPr>
          <p:cNvSpPr>
            <a:spLocks noGrp="1"/>
          </p:cNvSpPr>
          <p:nvPr/>
        </p:nvSpPr>
        <p:spPr>
          <a:xfrm>
            <a:off x="7953375" y="1300162"/>
            <a:ext cx="3381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Просечен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број</a:t>
            </a:r>
            <a:r>
              <a:rPr sz="150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50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тројки</a:t>
            </a:r>
            <a:endParaRPr sz="1500" b="1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4256D2-ED36-4D73-B79A-887C1D47BB46}"/>
              </a:ext>
            </a:extLst>
          </p:cNvPr>
          <p:cNvSpPr>
            <a:spLocks noGrp="1"/>
          </p:cNvSpPr>
          <p:nvPr/>
        </p:nvSpPr>
        <p:spPr>
          <a:xfrm>
            <a:off x="7905750" y="1709737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025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2025" b="1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94,47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9402BD-8109-442F-A292-E7AC161D7B3D}"/>
              </a:ext>
            </a:extLst>
          </p:cNvPr>
          <p:cNvSpPr>
            <a:spLocks noGrp="1"/>
          </p:cNvSpPr>
          <p:nvPr/>
        </p:nvSpPr>
        <p:spPr>
          <a:xfrm>
            <a:off x="7905750" y="2166937"/>
            <a:ext cx="161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најкратки</a:t>
            </a:r>
            <a:r>
              <a:rPr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патеки</a:t>
            </a:r>
            <a:endParaRPr sz="10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5DDDA6-C177-4E76-820D-690D6B17E31E}"/>
              </a:ext>
            </a:extLst>
          </p:cNvPr>
          <p:cNvSpPr>
            <a:spLocks noGrp="1"/>
          </p:cNvSpPr>
          <p:nvPr/>
        </p:nvSpPr>
        <p:spPr>
          <a:xfrm>
            <a:off x="9620250" y="1709737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13,50–14,45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2CF92-4010-402E-91FF-AF75527C24DF}"/>
              </a:ext>
            </a:extLst>
          </p:cNvPr>
          <p:cNvSpPr>
            <a:spLocks noGrp="1"/>
          </p:cNvSpPr>
          <p:nvPr/>
        </p:nvSpPr>
        <p:spPr>
          <a:xfrm>
            <a:off x="9620250" y="2166937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PCST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BD3296-B5B9-48D1-BAC9-A543950A183F}"/>
              </a:ext>
            </a:extLst>
          </p:cNvPr>
          <p:cNvSpPr>
            <a:spLocks noGrp="1"/>
          </p:cNvSpPr>
          <p:nvPr/>
        </p:nvSpPr>
        <p:spPr>
          <a:xfrm>
            <a:off x="8048625" y="4457700"/>
            <a:ext cx="3286125" cy="14288"/>
          </a:xfrm>
          <a:prstGeom prst="rect">
            <a:avLst/>
          </a:prstGeom>
          <a:solidFill>
            <a:srgbClr val="DDE3E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A28FBD-B2ED-4F5B-80BC-91AF81F110A0}"/>
              </a:ext>
            </a:extLst>
          </p:cNvPr>
          <p:cNvSpPr>
            <a:spLocks noGrp="1"/>
          </p:cNvSpPr>
          <p:nvPr/>
        </p:nvSpPr>
        <p:spPr>
          <a:xfrm>
            <a:off x="8096250" y="4667250"/>
            <a:ext cx="3190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7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Покриеноста се намалува минимално: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43580D-829D-4680-95ED-6E61AD06BB75}"/>
              </a:ext>
            </a:extLst>
          </p:cNvPr>
          <p:cNvSpPr>
            <a:spLocks noGrp="1"/>
          </p:cNvSpPr>
          <p:nvPr/>
        </p:nvSpPr>
        <p:spPr>
          <a:xfrm>
            <a:off x="8096250" y="5019675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ContextGoldCoverage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 0,888 → ≈</a:t>
            </a:r>
            <a:r>
              <a:rPr lang="mk-MK"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0,881</a:t>
            </a:r>
          </a:p>
          <a:p>
            <a:pPr algn="ctr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ContextFullGoldCoverage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 0,838 → ≈</a:t>
            </a:r>
            <a:r>
              <a:rPr lang="mk-MK"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0,830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8B5DB2-5D8E-430E-92DF-88F0F0217972}"/>
              </a:ext>
            </a:extLst>
          </p:cNvPr>
          <p:cNvSpPr>
            <a:spLocks noGrp="1"/>
          </p:cNvSpPr>
          <p:nvPr/>
        </p:nvSpPr>
        <p:spPr>
          <a:xfrm>
            <a:off x="7905750" y="5829300"/>
            <a:ext cx="35718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Стратегијата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трошок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има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поголемо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влијание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од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промени</a:t>
            </a:r>
            <a:r>
              <a:rPr lang="mk-MK" sz="1200" b="1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те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i="0" dirty="0" err="1">
                <a:solidFill>
                  <a:srgbClr val="398D84"/>
                </a:solidFill>
                <a:latin typeface="Arial"/>
                <a:ea typeface="Arial"/>
                <a:cs typeface="Arial"/>
              </a:rPr>
              <a:t>λ</a:t>
            </a:r>
            <a:r>
              <a:rPr sz="12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0288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A01D29D-9111-4E60-9564-30069BCB48B0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Метрики за конечниот одговор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4A934E-AE1F-4A5D-B14A-5E99C94A851E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B44C81-1537-46E2-A589-831F7BA5D9AD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BF945A-81AE-4913-BE02-12980960090E}"/>
              </a:ext>
            </a:extLst>
          </p:cNvPr>
          <p:cNvSpPr>
            <a:spLocks noGrp="1"/>
          </p:cNvSpPr>
          <p:nvPr/>
        </p:nvSpPr>
        <p:spPr>
          <a:xfrm>
            <a:off x="666750" y="1104900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Квалитет на одговорот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8AAD01E-F090-4BF9-95BB-AD0F14DD67F3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4857750" cy="2428875"/>
          </a:xfrm>
          <a:prstGeom prst="roundRect">
            <a:avLst>
              <a:gd name="adj" fmla="val 5490"/>
            </a:avLst>
          </a:prstGeom>
          <a:solidFill>
            <a:srgbClr val="F1ECF7"/>
          </a:solidFill>
          <a:ln w="14288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4CC37F0-B9A4-4450-94F5-149BD99D5186}"/>
              </a:ext>
            </a:extLst>
          </p:cNvPr>
          <p:cNvSpPr>
            <a:spLocks noGrp="1"/>
          </p:cNvSpPr>
          <p:nvPr/>
        </p:nvSpPr>
        <p:spPr>
          <a:xfrm>
            <a:off x="904875" y="2028825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D1C017-103C-42DB-9393-4065095CD77B}"/>
              </a:ext>
            </a:extLst>
          </p:cNvPr>
          <p:cNvSpPr>
            <a:spLocks noGrp="1"/>
          </p:cNvSpPr>
          <p:nvPr/>
        </p:nvSpPr>
        <p:spPr>
          <a:xfrm>
            <a:off x="1076325" y="1924050"/>
            <a:ext cx="4210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Hit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—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вратен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е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барем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еден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точен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одговор</a:t>
            </a:r>
            <a:endParaRPr sz="1350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54B7ABC-A030-4E86-AD76-B25C9C021664}"/>
              </a:ext>
            </a:extLst>
          </p:cNvPr>
          <p:cNvSpPr>
            <a:spLocks noGrp="1"/>
          </p:cNvSpPr>
          <p:nvPr/>
        </p:nvSpPr>
        <p:spPr>
          <a:xfrm>
            <a:off x="904875" y="2695575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B31B75-29CB-49E4-AE64-CF5E0F30403F}"/>
              </a:ext>
            </a:extLst>
          </p:cNvPr>
          <p:cNvSpPr>
            <a:spLocks noGrp="1"/>
          </p:cNvSpPr>
          <p:nvPr/>
        </p:nvSpPr>
        <p:spPr>
          <a:xfrm>
            <a:off x="1076325" y="2590800"/>
            <a:ext cx="4210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ExactMatch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—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целосно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совпаѓање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множествата</a:t>
            </a:r>
            <a:endParaRPr sz="1350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82A031F-3448-4442-8325-23FAF572E9D8}"/>
              </a:ext>
            </a:extLst>
          </p:cNvPr>
          <p:cNvSpPr>
            <a:spLocks noGrp="1"/>
          </p:cNvSpPr>
          <p:nvPr/>
        </p:nvSpPr>
        <p:spPr>
          <a:xfrm>
            <a:off x="904875" y="3362325"/>
            <a:ext cx="66675" cy="66675"/>
          </a:xfrm>
          <a:prstGeom prst="ellipse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48E7FE-46A6-45B4-AADC-98E26C8A616D}"/>
              </a:ext>
            </a:extLst>
          </p:cNvPr>
          <p:cNvSpPr>
            <a:spLocks noGrp="1"/>
          </p:cNvSpPr>
          <p:nvPr/>
        </p:nvSpPr>
        <p:spPr>
          <a:xfrm>
            <a:off x="1076325" y="3257550"/>
            <a:ext cx="4210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Precision · Recall · F1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—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квалитет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генерираното</a:t>
            </a:r>
            <a:r>
              <a:rPr sz="1350" b="0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множество</a:t>
            </a:r>
            <a:endParaRPr sz="1350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27F998-8ACB-49FA-8FE8-13AF3A5A9764}"/>
              </a:ext>
            </a:extLst>
          </p:cNvPr>
          <p:cNvSpPr>
            <a:spLocks noGrp="1"/>
          </p:cNvSpPr>
          <p:nvPr/>
        </p:nvSpPr>
        <p:spPr>
          <a:xfrm>
            <a:off x="6191250" y="1104900"/>
            <a:ext cx="5334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800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Искористување на контекстот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32C47A0-2BA1-4C98-B549-A1CC40057B3E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5334000" cy="2428875"/>
          </a:xfrm>
          <a:prstGeom prst="roundRect">
            <a:avLst>
              <a:gd name="adj" fmla="val 5490"/>
            </a:avLst>
          </a:prstGeom>
          <a:solidFill>
            <a:srgbClr val="EAF6EE"/>
          </a:solidFill>
          <a:ln w="14288">
            <a:solidFill>
              <a:srgbClr val="4E9B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1E8E00-1B49-4342-8EF5-3EB33477B780}"/>
              </a:ext>
            </a:extLst>
          </p:cNvPr>
          <p:cNvSpPr>
            <a:spLocks noGrp="1"/>
          </p:cNvSpPr>
          <p:nvPr/>
        </p:nvSpPr>
        <p:spPr>
          <a:xfrm>
            <a:off x="6429375" y="191452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425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FullContextCompleteAnswer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8435CD-C610-47B9-9C8A-E98BFA416B7A}"/>
              </a:ext>
            </a:extLst>
          </p:cNvPr>
          <p:cNvSpPr>
            <a:spLocks noGrp="1"/>
          </p:cNvSpPr>
          <p:nvPr/>
        </p:nvSpPr>
        <p:spPr>
          <a:xfrm>
            <a:off x="6429375" y="2228850"/>
            <a:ext cx="4857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Контекстот ги содржи сите точни одговори и моделот ги враќа сите.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5FF87A-A883-417D-AF28-F79FBE3116BD}"/>
              </a:ext>
            </a:extLst>
          </p:cNvPr>
          <p:cNvSpPr>
            <a:spLocks noGrp="1"/>
          </p:cNvSpPr>
          <p:nvPr/>
        </p:nvSpPr>
        <p:spPr>
          <a:xfrm>
            <a:off x="6429375" y="2981325"/>
            <a:ext cx="485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425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FullContextLLMOmission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3B6E04-4DAD-4A39-AB6C-7EE92DE6AC44}"/>
              </a:ext>
            </a:extLst>
          </p:cNvPr>
          <p:cNvSpPr>
            <a:spLocks noGrp="1"/>
          </p:cNvSpPr>
          <p:nvPr/>
        </p:nvSpPr>
        <p:spPr>
          <a:xfrm>
            <a:off x="6429375" y="3295650"/>
            <a:ext cx="4857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Контекстот е целосен, но моделот испушта најмалку еден точен одговор.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111BB8B-F315-4335-9521-F0D224702460}"/>
              </a:ext>
            </a:extLst>
          </p:cNvPr>
          <p:cNvSpPr>
            <a:spLocks noGrp="1"/>
          </p:cNvSpPr>
          <p:nvPr/>
        </p:nvSpPr>
        <p:spPr>
          <a:xfrm>
            <a:off x="1809750" y="4552950"/>
            <a:ext cx="8572500" cy="819150"/>
          </a:xfrm>
          <a:prstGeom prst="roundRect">
            <a:avLst>
              <a:gd name="adj" fmla="val 11628"/>
            </a:avLst>
          </a:prstGeom>
          <a:solidFill>
            <a:srgbClr val="F7F9FB"/>
          </a:solidFill>
          <a:ln w="11430">
            <a:solidFill>
              <a:srgbClr val="A9B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565FFE0-BB95-4060-A3E9-DF782C23D710}"/>
              </a:ext>
            </a:extLst>
          </p:cNvPr>
          <p:cNvSpPr>
            <a:spLocks noGrp="1"/>
          </p:cNvSpPr>
          <p:nvPr/>
        </p:nvSpPr>
        <p:spPr>
          <a:xfrm>
            <a:off x="1924050" y="4619625"/>
            <a:ext cx="83439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LLMOmissionGivenFullContext = #{q: Gq⊆Cq ∧ Gq⊄Pq} / #{q: Gq⊆Cq}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E5266B-F406-40A0-B9DD-1615044A173F}"/>
              </a:ext>
            </a:extLst>
          </p:cNvPr>
          <p:cNvSpPr>
            <a:spLocks noGrp="1"/>
          </p:cNvSpPr>
          <p:nvPr/>
        </p:nvSpPr>
        <p:spPr>
          <a:xfrm>
            <a:off x="1619250" y="5600700"/>
            <a:ext cx="8953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Метриката го изолира пропустот на јазичниот модел од загубата во претходните фази.</a:t>
            </a:r>
          </a:p>
        </p:txBody>
      </p:sp>
    </p:spTree>
    <p:extLst>
      <p:ext uri="{BB962C8B-B14F-4D97-AF65-F5344CB8AC3E}">
        <p14:creationId xmlns:p14="http://schemas.microsoft.com/office/powerpoint/2010/main" val="945228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7CFBA19-D509-4280-9129-639F820296CE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Квалитет и потрошувачка на токени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B885FE-F30F-4348-B3F7-29C6FF16A349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00464B-1275-4EBE-A25F-9B479A0BF501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8625" y="1019864"/>
            <a:ext cx="11334750" cy="3522872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5ADEB02-BCB7-43E8-B0D6-0D9F36E8FD83}"/>
              </a:ext>
            </a:extLst>
          </p:cNvPr>
          <p:cNvSpPr>
            <a:spLocks noGrp="1"/>
          </p:cNvSpPr>
          <p:nvPr/>
        </p:nvSpPr>
        <p:spPr>
          <a:xfrm>
            <a:off x="666750" y="4791075"/>
            <a:ext cx="5191125" cy="133350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 w="14288">
            <a:solidFill>
              <a:srgbClr val="4F86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A862D6-FE89-4C25-882F-9EF3599CB8E1}"/>
              </a:ext>
            </a:extLst>
          </p:cNvPr>
          <p:cNvSpPr>
            <a:spLocks noGrp="1"/>
          </p:cNvSpPr>
          <p:nvPr/>
        </p:nvSpPr>
        <p:spPr>
          <a:xfrm>
            <a:off x="904875" y="4933950"/>
            <a:ext cx="4714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Унија на најкратки патеки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8E3F20-FBB2-4B97-A316-90BA77C449F9}"/>
              </a:ext>
            </a:extLst>
          </p:cNvPr>
          <p:cNvSpPr>
            <a:spLocks noGrp="1"/>
          </p:cNvSpPr>
          <p:nvPr/>
        </p:nvSpPr>
        <p:spPr>
          <a:xfrm>
            <a:off x="790575" y="5305425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0,802 / 0,804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F6321E-E6D2-425A-ABF0-9A809B10868A}"/>
              </a:ext>
            </a:extLst>
          </p:cNvPr>
          <p:cNvSpPr>
            <a:spLocks noGrp="1"/>
          </p:cNvSpPr>
          <p:nvPr/>
        </p:nvSpPr>
        <p:spPr>
          <a:xfrm>
            <a:off x="790575" y="5762625"/>
            <a:ext cx="1581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Hit · DeepSeek / GPT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5A8276-40A7-43A8-AADB-1F6ECA27C3FC}"/>
              </a:ext>
            </a:extLst>
          </p:cNvPr>
          <p:cNvSpPr>
            <a:spLocks noGrp="1"/>
          </p:cNvSpPr>
          <p:nvPr/>
        </p:nvSpPr>
        <p:spPr>
          <a:xfrm>
            <a:off x="2466975" y="5305425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0,627 / 0,613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FC6AAA-37B0-4A76-93FD-7C09FC40303A}"/>
              </a:ext>
            </a:extLst>
          </p:cNvPr>
          <p:cNvSpPr>
            <a:spLocks noGrp="1"/>
          </p:cNvSpPr>
          <p:nvPr/>
        </p:nvSpPr>
        <p:spPr>
          <a:xfrm>
            <a:off x="2466975" y="5762625"/>
            <a:ext cx="1581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F1 · DeepSeek / GPT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9EF80-F130-41A9-B005-171851E21B0A}"/>
              </a:ext>
            </a:extLst>
          </p:cNvPr>
          <p:cNvSpPr>
            <a:spLocks noGrp="1"/>
          </p:cNvSpPr>
          <p:nvPr/>
        </p:nvSpPr>
        <p:spPr>
          <a:xfrm>
            <a:off x="4143375" y="5305425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F86C6"/>
                </a:solidFill>
                <a:latin typeface="Arial"/>
                <a:ea typeface="Arial"/>
                <a:cs typeface="Arial"/>
              </a:rPr>
              <a:t>3,42 / 3,07 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41351D-F43E-4126-9334-46E72FE1B3EF}"/>
              </a:ext>
            </a:extLst>
          </p:cNvPr>
          <p:cNvSpPr>
            <a:spLocks noGrp="1"/>
          </p:cNvSpPr>
          <p:nvPr/>
        </p:nvSpPr>
        <p:spPr>
          <a:xfrm>
            <a:off x="4143375" y="5762625"/>
            <a:ext cx="1581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токени</a:t>
            </a:r>
            <a:r>
              <a:rPr sz="9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· DeepSeek / GPT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63A3EB2-A9CF-49E0-A51A-F7925D4EE6B8}"/>
              </a:ext>
            </a:extLst>
          </p:cNvPr>
          <p:cNvSpPr>
            <a:spLocks noGrp="1"/>
          </p:cNvSpPr>
          <p:nvPr/>
        </p:nvSpPr>
        <p:spPr>
          <a:xfrm>
            <a:off x="6334125" y="4791075"/>
            <a:ext cx="5191125" cy="1333500"/>
          </a:xfrm>
          <a:prstGeom prst="roundRect">
            <a:avLst>
              <a:gd name="adj" fmla="val 10000"/>
            </a:avLst>
          </a:prstGeom>
          <a:solidFill>
            <a:srgbClr val="E8F5F3"/>
          </a:solidFill>
          <a:ln w="14288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A5216A-839A-41F2-9FCD-6125BC38CEE3}"/>
              </a:ext>
            </a:extLst>
          </p:cNvPr>
          <p:cNvSpPr>
            <a:spLocks noGrp="1"/>
          </p:cNvSpPr>
          <p:nvPr/>
        </p:nvSpPr>
        <p:spPr>
          <a:xfrm>
            <a:off x="6572250" y="4933950"/>
            <a:ext cx="4714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Семантички PCST, λ=1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E72E37-F983-4556-A1F6-1FF887208E85}"/>
              </a:ext>
            </a:extLst>
          </p:cNvPr>
          <p:cNvSpPr>
            <a:spLocks noGrp="1"/>
          </p:cNvSpPr>
          <p:nvPr/>
        </p:nvSpPr>
        <p:spPr>
          <a:xfrm>
            <a:off x="6457950" y="5305425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0,689 / 0,728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9A0ABF-C1F3-46F4-9235-AF36E5F82310}"/>
              </a:ext>
            </a:extLst>
          </p:cNvPr>
          <p:cNvSpPr>
            <a:spLocks noGrp="1"/>
          </p:cNvSpPr>
          <p:nvPr/>
        </p:nvSpPr>
        <p:spPr>
          <a:xfrm>
            <a:off x="6457950" y="5762625"/>
            <a:ext cx="1581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Hit · DeepSeek / GPT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36BC57-7632-4D6D-BB6E-F8FD540772E2}"/>
              </a:ext>
            </a:extLst>
          </p:cNvPr>
          <p:cNvSpPr>
            <a:spLocks noGrp="1"/>
          </p:cNvSpPr>
          <p:nvPr/>
        </p:nvSpPr>
        <p:spPr>
          <a:xfrm>
            <a:off x="8134350" y="5305425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0,492 / 0,477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ABFF4D-F7E0-40FB-ABF0-8036F8329BEB}"/>
              </a:ext>
            </a:extLst>
          </p:cNvPr>
          <p:cNvSpPr>
            <a:spLocks noGrp="1"/>
          </p:cNvSpPr>
          <p:nvPr/>
        </p:nvSpPr>
        <p:spPr>
          <a:xfrm>
            <a:off x="8134350" y="5762625"/>
            <a:ext cx="1581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F1 · DeepSeek / GPT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ED459C-496A-43E6-936B-62CB172534ED}"/>
              </a:ext>
            </a:extLst>
          </p:cNvPr>
          <p:cNvSpPr>
            <a:spLocks noGrp="1"/>
          </p:cNvSpPr>
          <p:nvPr/>
        </p:nvSpPr>
        <p:spPr>
          <a:xfrm>
            <a:off x="9810750" y="5305425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0,69 / 0,66 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28770A-CC0E-4D04-97BB-70744DDD2E11}"/>
              </a:ext>
            </a:extLst>
          </p:cNvPr>
          <p:cNvSpPr>
            <a:spLocks noGrp="1"/>
          </p:cNvSpPr>
          <p:nvPr/>
        </p:nvSpPr>
        <p:spPr>
          <a:xfrm>
            <a:off x="9810750" y="5762625"/>
            <a:ext cx="1581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токени</a:t>
            </a:r>
            <a:r>
              <a:rPr sz="90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· 78–80% </a:t>
            </a:r>
            <a:r>
              <a:rPr sz="90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помалку</a:t>
            </a:r>
            <a:endParaRPr sz="90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894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EABAACA-A7A8-470E-B2A7-257FDC1AFC0D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Каде се губи информацијата?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1A01AF-5E90-4186-8B5A-5D7B908C0CF5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8CF4A9-3BA6-4262-AA76-D409909B72A6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33375" y="1006488"/>
            <a:ext cx="11525250" cy="41306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070C766-2E59-493B-80B6-E391F9DFBD1D}"/>
              </a:ext>
            </a:extLst>
          </p:cNvPr>
          <p:cNvSpPr>
            <a:spLocks noGrp="1"/>
          </p:cNvSpPr>
          <p:nvPr/>
        </p:nvSpPr>
        <p:spPr>
          <a:xfrm>
            <a:off x="523875" y="5191125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0,877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057453-0A05-4313-A079-1B090ED351B5}"/>
              </a:ext>
            </a:extLst>
          </p:cNvPr>
          <p:cNvSpPr>
            <a:spLocks noGrp="1"/>
          </p:cNvSpPr>
          <p:nvPr/>
        </p:nvSpPr>
        <p:spPr>
          <a:xfrm>
            <a:off x="523875" y="5648325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RetrievalGoldCoverage</a:t>
            </a:r>
            <a:endParaRPr lang="mk-MK" sz="10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lang="en-US"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NBFNet</a:t>
            </a:r>
            <a:endParaRPr sz="10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71800B-E6AE-40FC-AF17-25D547A8CC1C}"/>
              </a:ext>
            </a:extLst>
          </p:cNvPr>
          <p:cNvSpPr>
            <a:spLocks noGrp="1"/>
          </p:cNvSpPr>
          <p:nvPr/>
        </p:nvSpPr>
        <p:spPr>
          <a:xfrm>
            <a:off x="3429000" y="5191125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21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0,888</a:t>
            </a:r>
            <a:r>
              <a:rPr lang="mk-MK" sz="2100" b="1" i="0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 / </a:t>
            </a:r>
            <a:r>
              <a:rPr lang="en-US" sz="2100" b="1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0,88</a:t>
            </a:r>
            <a:r>
              <a:rPr lang="mk-MK" sz="2100" b="1" dirty="0">
                <a:solidFill>
                  <a:srgbClr val="398D84"/>
                </a:solidFill>
                <a:latin typeface="Arial"/>
                <a:ea typeface="Arial"/>
                <a:cs typeface="Arial"/>
              </a:rPr>
              <a:t>1</a:t>
            </a:r>
            <a:endParaRPr sz="2100" b="1" i="0" dirty="0">
              <a:solidFill>
                <a:srgbClr val="398D8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A7BA6F-BFFF-4FA6-A9A9-7CE6FCB7C92E}"/>
              </a:ext>
            </a:extLst>
          </p:cNvPr>
          <p:cNvSpPr>
            <a:spLocks noGrp="1"/>
          </p:cNvSpPr>
          <p:nvPr/>
        </p:nvSpPr>
        <p:spPr>
          <a:xfrm>
            <a:off x="3429000" y="5648325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ContextGoldCoverage</a:t>
            </a:r>
            <a:endParaRPr sz="10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најкратки</a:t>
            </a:r>
            <a:r>
              <a:rPr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патеки</a:t>
            </a:r>
            <a:r>
              <a:rPr lang="mk-MK"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05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·</a:t>
            </a:r>
            <a:r>
              <a:rPr lang="mk-MK" sz="105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05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PCST</a:t>
            </a:r>
            <a:endParaRPr sz="10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58D7E1-8FD7-4768-86F7-252A15D807FA}"/>
              </a:ext>
            </a:extLst>
          </p:cNvPr>
          <p:cNvSpPr>
            <a:spLocks noGrp="1"/>
          </p:cNvSpPr>
          <p:nvPr/>
        </p:nvSpPr>
        <p:spPr>
          <a:xfrm>
            <a:off x="6334125" y="5191125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875" b="1" i="0" dirty="0">
                <a:solidFill>
                  <a:srgbClr val="8064A2"/>
                </a:solidFill>
                <a:latin typeface="Arial"/>
                <a:ea typeface="Arial"/>
                <a:cs typeface="Arial"/>
              </a:rPr>
              <a:t>0,211 / 0,237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3F3F94-C352-4D74-A322-FBA2A7E850A7}"/>
              </a:ext>
            </a:extLst>
          </p:cNvPr>
          <p:cNvSpPr>
            <a:spLocks noGrp="1"/>
          </p:cNvSpPr>
          <p:nvPr/>
        </p:nvSpPr>
        <p:spPr>
          <a:xfrm>
            <a:off x="6334125" y="5648325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LLM omission · DeepSeek / GPT</a:t>
            </a:r>
          </a:p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најкратки</a:t>
            </a:r>
            <a:r>
              <a:rPr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патеки</a:t>
            </a:r>
            <a:endParaRPr sz="1050" b="0" i="0" dirty="0">
              <a:solidFill>
                <a:srgbClr val="6170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676485-5F60-4D5C-93A1-5097B34E3011}"/>
              </a:ext>
            </a:extLst>
          </p:cNvPr>
          <p:cNvSpPr>
            <a:spLocks noGrp="1"/>
          </p:cNvSpPr>
          <p:nvPr/>
        </p:nvSpPr>
        <p:spPr>
          <a:xfrm>
            <a:off x="9239250" y="5191125"/>
            <a:ext cx="266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≈ 0,477 / 0,477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27C378-67A7-464B-B7C6-9E8233823801}"/>
              </a:ext>
            </a:extLst>
          </p:cNvPr>
          <p:cNvSpPr>
            <a:spLocks noGrp="1"/>
          </p:cNvSpPr>
          <p:nvPr/>
        </p:nvSpPr>
        <p:spPr>
          <a:xfrm>
            <a:off x="9239250" y="5648325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LLM omission · DeepSeek / GPT</a:t>
            </a:r>
          </a:p>
          <a:p>
            <a:pPr algn="ctr">
              <a:defRPr sz="105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1050" b="0" i="0" dirty="0" err="1">
                <a:solidFill>
                  <a:srgbClr val="617080"/>
                </a:solidFill>
                <a:latin typeface="Arial"/>
                <a:ea typeface="Arial"/>
                <a:cs typeface="Arial"/>
              </a:rPr>
              <a:t>семантички</a:t>
            </a:r>
            <a:r>
              <a:rPr sz="1050" b="0" i="0" dirty="0">
                <a:solidFill>
                  <a:srgbClr val="617080"/>
                </a:solidFill>
                <a:latin typeface="Arial"/>
                <a:ea typeface="Arial"/>
                <a:cs typeface="Arial"/>
              </a:rPr>
              <a:t> PCST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EDC55F-9C63-4911-A16F-8764B237CF25}"/>
              </a:ext>
            </a:extLst>
          </p:cNvPr>
          <p:cNvSpPr>
            <a:spLocks noGrp="1"/>
          </p:cNvSpPr>
          <p:nvPr/>
        </p:nvSpPr>
        <p:spPr>
          <a:xfrm>
            <a:off x="1000125" y="6134100"/>
            <a:ext cx="10191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9069"/>
          </a:bodyPr>
          <a:lstStyle/>
          <a:p>
            <a:pPr algn="ctr">
              <a:defRPr sz="1350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Присуството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на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точниот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ентитет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не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е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доволно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—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потребни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јасни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релациски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тројки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што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го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поврзуваат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со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i="0" dirty="0" err="1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прашањето</a:t>
            </a:r>
            <a:r>
              <a:rPr sz="1350" b="1" i="0" dirty="0">
                <a:solidFill>
                  <a:srgbClr val="26374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092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AE84ED9-AFAC-4C01-9B7D-EF8D644FE2F7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Заклучоци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04C07C-361B-4446-9C05-9AFC9CA1CFC8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E9B69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8FD3F-FD3A-4A1B-9348-A4EC49E522AE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4DE2065-3D84-48D5-B11A-30D6A8482F1C}"/>
              </a:ext>
            </a:extLst>
          </p:cNvPr>
          <p:cNvSpPr>
            <a:spLocks noGrp="1"/>
          </p:cNvSpPr>
          <p:nvPr/>
        </p:nvSpPr>
        <p:spPr>
          <a:xfrm>
            <a:off x="762000" y="1143000"/>
            <a:ext cx="10668000" cy="1285875"/>
          </a:xfrm>
          <a:prstGeom prst="roundRect">
            <a:avLst>
              <a:gd name="adj" fmla="val 10370"/>
            </a:avLst>
          </a:prstGeom>
          <a:solidFill>
            <a:srgbClr val="FBEDE5"/>
          </a:solidFill>
          <a:ln w="15240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7D4981A-2004-43BD-99D8-6B13CFE147D2}"/>
              </a:ext>
            </a:extLst>
          </p:cNvPr>
          <p:cNvSpPr>
            <a:spLocks noGrp="1"/>
          </p:cNvSpPr>
          <p:nvPr/>
        </p:nvSpPr>
        <p:spPr>
          <a:xfrm>
            <a:off x="1028700" y="1409700"/>
            <a:ext cx="742950" cy="742950"/>
          </a:xfrm>
          <a:prstGeom prst="ellipse">
            <a:avLst/>
          </a:prstGeom>
          <a:solidFill>
            <a:srgbClr val="FFFFFF"/>
          </a:solidFill>
          <a:ln w="23813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3DEDCE-B812-4408-BD7C-B6CA35919920}"/>
              </a:ext>
            </a:extLst>
          </p:cNvPr>
          <p:cNvSpPr>
            <a:spLocks noGrp="1"/>
          </p:cNvSpPr>
          <p:nvPr/>
        </p:nvSpPr>
        <p:spPr>
          <a:xfrm>
            <a:off x="1028700" y="1428750"/>
            <a:ext cx="7429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9C11A-8981-4ACE-A35F-10495C054059}"/>
              </a:ext>
            </a:extLst>
          </p:cNvPr>
          <p:cNvSpPr>
            <a:spLocks noGrp="1"/>
          </p:cNvSpPr>
          <p:nvPr/>
        </p:nvSpPr>
        <p:spPr>
          <a:xfrm>
            <a:off x="2095500" y="13144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650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NBFNet е најуспешен и најстабилен пребарувач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F99CF1-4DDA-4023-960E-4FB092B44E61}"/>
              </a:ext>
            </a:extLst>
          </p:cNvPr>
          <p:cNvSpPr>
            <a:spLocks noGrp="1"/>
          </p:cNvSpPr>
          <p:nvPr/>
        </p:nvSpPr>
        <p:spPr>
          <a:xfrm>
            <a:off x="2095500" y="1762125"/>
            <a:ext cx="8763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Hits@10 = 0,921 ± 0,005 · nDCG@10 = 0,796 ± 0,007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EE277D-C996-4F2D-ABA2-308E3B24B933}"/>
              </a:ext>
            </a:extLst>
          </p:cNvPr>
          <p:cNvSpPr>
            <a:spLocks noGrp="1"/>
          </p:cNvSpPr>
          <p:nvPr/>
        </p:nvSpPr>
        <p:spPr>
          <a:xfrm>
            <a:off x="762000" y="2762250"/>
            <a:ext cx="10668000" cy="1285875"/>
          </a:xfrm>
          <a:prstGeom prst="roundRect">
            <a:avLst>
              <a:gd name="adj" fmla="val 10370"/>
            </a:avLst>
          </a:prstGeom>
          <a:solidFill>
            <a:srgbClr val="E8F5F3"/>
          </a:solidFill>
          <a:ln w="15240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542A5DC-4869-4031-81C3-D5BA47ACA414}"/>
              </a:ext>
            </a:extLst>
          </p:cNvPr>
          <p:cNvSpPr>
            <a:spLocks noGrp="1"/>
          </p:cNvSpPr>
          <p:nvPr/>
        </p:nvSpPr>
        <p:spPr>
          <a:xfrm>
            <a:off x="1028700" y="3028950"/>
            <a:ext cx="742950" cy="742950"/>
          </a:xfrm>
          <a:prstGeom prst="ellipse">
            <a:avLst/>
          </a:prstGeom>
          <a:solidFill>
            <a:srgbClr val="FFFFFF"/>
          </a:solidFill>
          <a:ln w="23813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D1B0BB-1E29-40C8-9B80-08CA84CE384D}"/>
              </a:ext>
            </a:extLst>
          </p:cNvPr>
          <p:cNvSpPr>
            <a:spLocks noGrp="1"/>
          </p:cNvSpPr>
          <p:nvPr/>
        </p:nvSpPr>
        <p:spPr>
          <a:xfrm>
            <a:off x="1028700" y="3048000"/>
            <a:ext cx="7429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06EB2C-C4EB-4E65-9368-A6A1B521792B}"/>
              </a:ext>
            </a:extLst>
          </p:cNvPr>
          <p:cNvSpPr>
            <a:spLocks noGrp="1"/>
          </p:cNvSpPr>
          <p:nvPr/>
        </p:nvSpPr>
        <p:spPr>
          <a:xfrm>
            <a:off x="2095500" y="293370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650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Најкратките патеки го даваат највисокиот конечен квалитет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787FD6-4D7B-414D-B4B5-8F488C010F07}"/>
              </a:ext>
            </a:extLst>
          </p:cNvPr>
          <p:cNvSpPr>
            <a:spLocks noGrp="1"/>
          </p:cNvSpPr>
          <p:nvPr/>
        </p:nvSpPr>
        <p:spPr>
          <a:xfrm>
            <a:off x="2095500" y="3381375"/>
            <a:ext cx="8763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Семантичкиот PCST создава ≈85% помал контекст и е подобар кога компактноста е приоритет.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708D3D0-2052-4CC6-9A8A-D14D23DF9D8D}"/>
              </a:ext>
            </a:extLst>
          </p:cNvPr>
          <p:cNvSpPr>
            <a:spLocks noGrp="1"/>
          </p:cNvSpPr>
          <p:nvPr/>
        </p:nvSpPr>
        <p:spPr>
          <a:xfrm>
            <a:off x="762000" y="4381500"/>
            <a:ext cx="10668000" cy="1285875"/>
          </a:xfrm>
          <a:prstGeom prst="roundRect">
            <a:avLst>
              <a:gd name="adj" fmla="val 10370"/>
            </a:avLst>
          </a:prstGeom>
          <a:solidFill>
            <a:srgbClr val="F1ECF7"/>
          </a:solidFill>
          <a:ln w="15240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8398315-35C0-4FFD-AA32-E75004AD0C27}"/>
              </a:ext>
            </a:extLst>
          </p:cNvPr>
          <p:cNvSpPr>
            <a:spLocks noGrp="1"/>
          </p:cNvSpPr>
          <p:nvPr/>
        </p:nvSpPr>
        <p:spPr>
          <a:xfrm>
            <a:off x="1028700" y="4648200"/>
            <a:ext cx="742950" cy="742950"/>
          </a:xfrm>
          <a:prstGeom prst="ellipse">
            <a:avLst/>
          </a:prstGeom>
          <a:solidFill>
            <a:srgbClr val="FFFFFF"/>
          </a:solidFill>
          <a:ln w="23813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D062D3-55DB-4BF1-812D-8A8024360666}"/>
              </a:ext>
            </a:extLst>
          </p:cNvPr>
          <p:cNvSpPr>
            <a:spLocks noGrp="1"/>
          </p:cNvSpPr>
          <p:nvPr/>
        </p:nvSpPr>
        <p:spPr>
          <a:xfrm>
            <a:off x="1028700" y="4667250"/>
            <a:ext cx="7429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10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8CFB49-306C-4627-B754-00A6AFC129A2}"/>
              </a:ext>
            </a:extLst>
          </p:cNvPr>
          <p:cNvSpPr>
            <a:spLocks noGrp="1"/>
          </p:cNvSpPr>
          <p:nvPr/>
        </p:nvSpPr>
        <p:spPr>
          <a:xfrm>
            <a:off x="2095500" y="45529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650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Изборот на LLM го менува балансот меѓу Hit и F1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09EC0A5-6FA9-43A1-AF05-978EA622DD94}"/>
              </a:ext>
            </a:extLst>
          </p:cNvPr>
          <p:cNvSpPr>
            <a:spLocks noGrp="1"/>
          </p:cNvSpPr>
          <p:nvPr/>
        </p:nvSpPr>
        <p:spPr>
          <a:xfrm>
            <a:off x="2095500" y="5000625"/>
            <a:ext cx="8763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Главното тесно грло е искористувањето на достапниот релациски контекст.</a:t>
            </a:r>
          </a:p>
        </p:txBody>
      </p:sp>
    </p:spTree>
    <p:extLst>
      <p:ext uri="{BB962C8B-B14F-4D97-AF65-F5344CB8AC3E}">
        <p14:creationId xmlns:p14="http://schemas.microsoft.com/office/powerpoint/2010/main" val="3619397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34F354-E506-4DA2-A1F0-B0E95A0BF964}"/>
              </a:ext>
            </a:extLst>
          </p:cNvPr>
          <p:cNvSpPr>
            <a:spLocks noGrp="1"/>
          </p:cNvSpPr>
          <p:nvPr/>
        </p:nvSpPr>
        <p:spPr>
          <a:xfrm>
            <a:off x="552450" y="209550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3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Идни подобрувања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53060B-6EBA-4B04-8950-332C41DD3743}"/>
              </a:ext>
            </a:extLst>
          </p:cNvPr>
          <p:cNvSpPr>
            <a:spLocks noGrp="1"/>
          </p:cNvSpPr>
          <p:nvPr/>
        </p:nvSpPr>
        <p:spPr>
          <a:xfrm>
            <a:off x="552450" y="781050"/>
            <a:ext cx="11087100" cy="38100"/>
          </a:xfrm>
          <a:prstGeom prst="rect">
            <a:avLst/>
          </a:prstGeom>
          <a:solidFill>
            <a:srgbClr val="4E9B69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383050-2B70-44C4-9EF9-375236EE2995}"/>
              </a:ext>
            </a:extLst>
          </p:cNvPr>
          <p:cNvSpPr>
            <a:spLocks noGrp="1"/>
          </p:cNvSpPr>
          <p:nvPr/>
        </p:nvSpPr>
        <p:spPr>
          <a:xfrm>
            <a:off x="11315700" y="6486525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b">
            <a:normAutofit/>
          </a:bodyPr>
          <a:lstStyle/>
          <a:p>
            <a:pPr algn="r">
              <a:defRPr sz="900" b="0" i="0">
                <a:solidFill>
                  <a:srgbClr val="617080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1708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CDB3A42-445D-4F06-942E-537E3DB27798}"/>
              </a:ext>
            </a:extLst>
          </p:cNvPr>
          <p:cNvSpPr>
            <a:spLocks noGrp="1"/>
          </p:cNvSpPr>
          <p:nvPr/>
        </p:nvSpPr>
        <p:spPr>
          <a:xfrm>
            <a:off x="552450" y="1381125"/>
            <a:ext cx="3286125" cy="3667125"/>
          </a:xfrm>
          <a:prstGeom prst="roundRect">
            <a:avLst>
              <a:gd name="adj" fmla="val 5217"/>
            </a:avLst>
          </a:prstGeom>
          <a:solidFill>
            <a:srgbClr val="E8F5F3"/>
          </a:solidFill>
          <a:ln w="17145">
            <a:solidFill>
              <a:srgbClr val="398D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40F77F-823C-49A4-B379-4CF4BDFE988F}"/>
              </a:ext>
            </a:extLst>
          </p:cNvPr>
          <p:cNvSpPr>
            <a:spLocks noGrp="1"/>
          </p:cNvSpPr>
          <p:nvPr/>
        </p:nvSpPr>
        <p:spPr>
          <a:xfrm>
            <a:off x="885825" y="1695450"/>
            <a:ext cx="2619375" cy="47625"/>
          </a:xfrm>
          <a:prstGeom prst="rect">
            <a:avLst/>
          </a:prstGeom>
          <a:solidFill>
            <a:srgbClr val="398D8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72327B-4FE8-4D00-9817-EDBBD4E8510F}"/>
              </a:ext>
            </a:extLst>
          </p:cNvPr>
          <p:cNvSpPr>
            <a:spLocks noGrp="1"/>
          </p:cNvSpPr>
          <p:nvPr/>
        </p:nvSpPr>
        <p:spPr>
          <a:xfrm>
            <a:off x="838200" y="20478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 i="0">
                <a:solidFill>
                  <a:srgbClr val="398D84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98D84"/>
                </a:solidFill>
                <a:latin typeface="Arial"/>
                <a:ea typeface="Arial"/>
                <a:cs typeface="Arial"/>
              </a:rPr>
              <a:t>Хибриден доказен подграф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599FE3-C193-461F-9FEE-E50176BB7064}"/>
              </a:ext>
            </a:extLst>
          </p:cNvPr>
          <p:cNvSpPr>
            <a:spLocks noGrp="1"/>
          </p:cNvSpPr>
          <p:nvPr/>
        </p:nvSpPr>
        <p:spPr>
          <a:xfrm>
            <a:off x="885825" y="3095625"/>
            <a:ext cx="261937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Компактност на PCST со гарантирано зачувување на целосни и разбирливи патеки до најважните кандидати.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B2DBC6E-4577-4B7B-89A1-FEF4E3C572FE}"/>
              </a:ext>
            </a:extLst>
          </p:cNvPr>
          <p:cNvSpPr>
            <a:spLocks noGrp="1"/>
          </p:cNvSpPr>
          <p:nvPr/>
        </p:nvSpPr>
        <p:spPr>
          <a:xfrm>
            <a:off x="4276725" y="1381125"/>
            <a:ext cx="3286125" cy="3667125"/>
          </a:xfrm>
          <a:prstGeom prst="roundRect">
            <a:avLst>
              <a:gd name="adj" fmla="val 5217"/>
            </a:avLst>
          </a:prstGeom>
          <a:solidFill>
            <a:srgbClr val="FBEDE5"/>
          </a:solidFill>
          <a:ln w="17145">
            <a:solidFill>
              <a:srgbClr val="D979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250CC2-74EC-4B3B-8472-794533BF48C3}"/>
              </a:ext>
            </a:extLst>
          </p:cNvPr>
          <p:cNvSpPr>
            <a:spLocks noGrp="1"/>
          </p:cNvSpPr>
          <p:nvPr/>
        </p:nvSpPr>
        <p:spPr>
          <a:xfrm>
            <a:off x="4610100" y="1695450"/>
            <a:ext cx="2619375" cy="47625"/>
          </a:xfrm>
          <a:prstGeom prst="rect">
            <a:avLst/>
          </a:prstGeom>
          <a:solidFill>
            <a:srgbClr val="D9794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8F9DE6-569B-467F-BBCA-F3AFCAE959B7}"/>
              </a:ext>
            </a:extLst>
          </p:cNvPr>
          <p:cNvSpPr>
            <a:spLocks noGrp="1"/>
          </p:cNvSpPr>
          <p:nvPr/>
        </p:nvSpPr>
        <p:spPr>
          <a:xfrm>
            <a:off x="4562475" y="20478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 i="0">
                <a:solidFill>
                  <a:srgbClr val="D97942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D97942"/>
                </a:solidFill>
                <a:latin typeface="Arial"/>
                <a:ea typeface="Arial"/>
                <a:cs typeface="Arial"/>
              </a:rPr>
              <a:t>Заедничка оптимизација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3C6C3A-6DB5-41A2-820F-D33AFB7AB9A3}"/>
              </a:ext>
            </a:extLst>
          </p:cNvPr>
          <p:cNvSpPr>
            <a:spLocks noGrp="1"/>
          </p:cNvSpPr>
          <p:nvPr/>
        </p:nvSpPr>
        <p:spPr>
          <a:xfrm>
            <a:off x="4610100" y="3095625"/>
            <a:ext cx="261937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Пребарувачот и конструкцијата на подграфот заеднички да учат кои патеки се најкорисни за јазичниот модел.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877418F-B27D-4C92-B337-F5E6626EE28B}"/>
              </a:ext>
            </a:extLst>
          </p:cNvPr>
          <p:cNvSpPr>
            <a:spLocks noGrp="1"/>
          </p:cNvSpPr>
          <p:nvPr/>
        </p:nvSpPr>
        <p:spPr>
          <a:xfrm>
            <a:off x="8001000" y="1381125"/>
            <a:ext cx="3286125" cy="3667125"/>
          </a:xfrm>
          <a:prstGeom prst="roundRect">
            <a:avLst>
              <a:gd name="adj" fmla="val 5217"/>
            </a:avLst>
          </a:prstGeom>
          <a:solidFill>
            <a:srgbClr val="F1ECF7"/>
          </a:solidFill>
          <a:ln w="17145">
            <a:solidFill>
              <a:srgbClr val="8064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1E70AF-4395-4EA0-94B3-7A565B03FCD2}"/>
              </a:ext>
            </a:extLst>
          </p:cNvPr>
          <p:cNvSpPr>
            <a:spLocks noGrp="1"/>
          </p:cNvSpPr>
          <p:nvPr/>
        </p:nvSpPr>
        <p:spPr>
          <a:xfrm>
            <a:off x="8334375" y="1695450"/>
            <a:ext cx="2619375" cy="47625"/>
          </a:xfrm>
          <a:prstGeom prst="rect">
            <a:avLst/>
          </a:prstGeom>
          <a:solidFill>
            <a:srgbClr val="8064A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EB6239-F772-4612-9346-5C02E9684706}"/>
              </a:ext>
            </a:extLst>
          </p:cNvPr>
          <p:cNvSpPr>
            <a:spLocks noGrp="1"/>
          </p:cNvSpPr>
          <p:nvPr/>
        </p:nvSpPr>
        <p:spPr>
          <a:xfrm>
            <a:off x="8286750" y="2047875"/>
            <a:ext cx="27146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 i="0">
                <a:solidFill>
                  <a:srgbClr val="8064A2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8064A2"/>
                </a:solidFill>
                <a:latin typeface="Arial"/>
                <a:ea typeface="Arial"/>
                <a:cs typeface="Arial"/>
              </a:rPr>
              <a:t>Поширока евалуација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3521BB-46E3-445C-A92D-5E7E2D2990CD}"/>
              </a:ext>
            </a:extLst>
          </p:cNvPr>
          <p:cNvSpPr>
            <a:spLocks noGrp="1"/>
          </p:cNvSpPr>
          <p:nvPr/>
        </p:nvSpPr>
        <p:spPr>
          <a:xfrm>
            <a:off x="8334375" y="3095625"/>
            <a:ext cx="2619375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35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Дополнителни податочни множества, подолги патеки на расудување, повеќе извршувања и други јазични модели.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5216AD-5F41-47AB-AE6B-AF920363D512}"/>
              </a:ext>
            </a:extLst>
          </p:cNvPr>
          <p:cNvSpPr>
            <a:spLocks noGrp="1"/>
          </p:cNvSpPr>
          <p:nvPr/>
        </p:nvSpPr>
        <p:spPr>
          <a:xfrm>
            <a:off x="1285875" y="5505450"/>
            <a:ext cx="9620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650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Целта е доказниот контекст истовремено да биде компактен и доволно јасен за јазичниот модел.</a:t>
            </a:r>
          </a:p>
        </p:txBody>
      </p:sp>
    </p:spTree>
    <p:extLst>
      <p:ext uri="{BB962C8B-B14F-4D97-AF65-F5344CB8AC3E}">
        <p14:creationId xmlns:p14="http://schemas.microsoft.com/office/powerpoint/2010/main" val="1908370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ACBFD7-60F2-4806-AE0C-479E3800E1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4E9B69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41B029-F14B-4208-A05E-9C715893E921}"/>
              </a:ext>
            </a:extLst>
          </p:cNvPr>
          <p:cNvSpPr>
            <a:spLocks noGrp="1"/>
          </p:cNvSpPr>
          <p:nvPr/>
        </p:nvSpPr>
        <p:spPr>
          <a:xfrm>
            <a:off x="1143000" y="1619250"/>
            <a:ext cx="9906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3525" b="1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3525" b="1" i="0">
                <a:solidFill>
                  <a:srgbClr val="263746"/>
                </a:solidFill>
                <a:latin typeface="Arial"/>
                <a:ea typeface="Arial"/>
                <a:cs typeface="Arial"/>
              </a:rPr>
              <a:t>Ви благодарам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69CC65-6074-4014-BC9B-3E35E07FB613}"/>
              </a:ext>
            </a:extLst>
          </p:cNvPr>
          <p:cNvSpPr>
            <a:spLocks noGrp="1"/>
          </p:cNvSpPr>
          <p:nvPr/>
        </p:nvSpPr>
        <p:spPr>
          <a:xfrm>
            <a:off x="1143000" y="2686050"/>
            <a:ext cx="9906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850" b="1" i="0">
                <a:solidFill>
                  <a:srgbClr val="4E9B69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4E9B69"/>
                </a:solidFill>
                <a:latin typeface="Arial"/>
                <a:ea typeface="Arial"/>
                <a:cs typeface="Arial"/>
              </a:rPr>
              <a:t>Прашања?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3CD4BE-9CE5-44E4-9129-AF745E752B24}"/>
              </a:ext>
            </a:extLst>
          </p:cNvPr>
          <p:cNvSpPr>
            <a:spLocks noGrp="1"/>
          </p:cNvSpPr>
          <p:nvPr/>
        </p:nvSpPr>
        <p:spPr>
          <a:xfrm>
            <a:off x="4000500" y="3771900"/>
            <a:ext cx="4191000" cy="19050"/>
          </a:xfrm>
          <a:prstGeom prst="rect">
            <a:avLst/>
          </a:prstGeom>
          <a:solidFill>
            <a:srgbClr val="DDE3E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C7E9DD-BD9D-4768-A1A1-E1CFA5375F07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9906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0" i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endParaRPr lang="mk-MK" sz="1500" b="0" i="0" dirty="0">
              <a:solidFill>
                <a:srgbClr val="2637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D0CA7F-9C67-42A8-8095-A0751D355276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9906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275" b="0" i="0">
                <a:solidFill>
                  <a:srgbClr val="4F86C6"/>
                </a:solidFill>
                <a:latin typeface="Arial"/>
                <a:ea typeface="Arial"/>
                <a:cs typeface="Arial"/>
              </a:defRPr>
            </a:pPr>
            <a:r>
              <a:rPr sz="127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github.com</a:t>
            </a:r>
            <a:r>
              <a:rPr sz="127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/</a:t>
            </a:r>
            <a:r>
              <a:rPr sz="127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Itonkdong</a:t>
            </a:r>
            <a:r>
              <a:rPr sz="1275" b="0" i="0" dirty="0">
                <a:solidFill>
                  <a:srgbClr val="4F86C6"/>
                </a:solidFill>
                <a:latin typeface="Arial"/>
                <a:ea typeface="Arial"/>
                <a:cs typeface="Arial"/>
              </a:rPr>
              <a:t>/</a:t>
            </a:r>
            <a:r>
              <a:rPr sz="1275" b="0" i="0" dirty="0" err="1">
                <a:solidFill>
                  <a:srgbClr val="4F86C6"/>
                </a:solidFill>
                <a:latin typeface="Arial"/>
                <a:ea typeface="Arial"/>
                <a:cs typeface="Arial"/>
              </a:rPr>
              <a:t>graphragx</a:t>
            </a:r>
            <a:endParaRPr sz="1275" b="0" i="0" dirty="0">
              <a:solidFill>
                <a:srgbClr val="4F86C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19781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1278</Words>
  <Application>Microsoft Macintosh PowerPoint</Application>
  <DocSecurity>0</DocSecurity>
  <PresentationFormat>Widescreen</PresentationFormat>
  <Paragraphs>221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Костадиноски Виктор</cp:lastModifiedBy>
  <cp:revision>9</cp:revision>
  <dcterms:created xsi:type="dcterms:W3CDTF">2026-09-08T09:48:03Z</dcterms:created>
  <dcterms:modified xsi:type="dcterms:W3CDTF">2026-09-08T10:58:35Z</dcterms:modified>
</cp:coreProperties>
</file>