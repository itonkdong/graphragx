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c724969aba445e" /><Relationship Type="http://schemas.openxmlformats.org/officeDocument/2006/relationships/extended-properties" Target="/docProps/app.xml" Id="R1039ee30135841b1" /><Relationship Type="http://schemas.openxmlformats.org/officeDocument/2006/relationships/officeDocument" Target="/ppt/presentation.xml" Id="R78a597e53c58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f46194076e4014"/>
  </p:sldMasterIdLst>
  <p:notesMasterIdLst>
    <p:notesMasterId xmlns:r="http://schemas.openxmlformats.org/officeDocument/2006/relationships" r:id="R94520bc91aaf420e"/>
  </p:notesMasterIdLst>
  <p:sldIdLst>
    <p:sldId xmlns:r="http://schemas.openxmlformats.org/officeDocument/2006/relationships" id="256" r:id="R0be4b8cfcce04fc7"/>
    <p:sldId xmlns:r="http://schemas.openxmlformats.org/officeDocument/2006/relationships" id="257" r:id="R8bcc506e388c4315"/>
    <p:sldId xmlns:r="http://schemas.openxmlformats.org/officeDocument/2006/relationships" id="258" r:id="R08b97f6f2cbe4af9"/>
    <p:sldId xmlns:r="http://schemas.openxmlformats.org/officeDocument/2006/relationships" id="259" r:id="Rd60406571f3e4103"/>
    <p:sldId xmlns:r="http://schemas.openxmlformats.org/officeDocument/2006/relationships" id="260" r:id="Rff35c53d38e14eaa"/>
    <p:sldId xmlns:r="http://schemas.openxmlformats.org/officeDocument/2006/relationships" id="261" r:id="Red1ac3ecf93449ad"/>
    <p:sldId xmlns:r="http://schemas.openxmlformats.org/officeDocument/2006/relationships" id="262" r:id="R7d7ded5e11a94a24"/>
    <p:sldId xmlns:r="http://schemas.openxmlformats.org/officeDocument/2006/relationships" id="263" r:id="R118b83d270854c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d56d4b5e24192" /><Relationship Type="http://schemas.openxmlformats.org/officeDocument/2006/relationships/slideMaster" Target="/ppt/slideMasters/slideMaster1.xml" Id="Rc5f46194076e4014" /><Relationship Type="http://schemas.openxmlformats.org/officeDocument/2006/relationships/notesMaster" Target="/ppt/notesMasters/notesMaster1.xml" Id="R94520bc91aaf420e" /><Relationship Type="http://schemas.openxmlformats.org/officeDocument/2006/relationships/presProps" Target="/ppt/presProps.xml" Id="Ra4e6543477154c8a" /><Relationship Type="http://schemas.openxmlformats.org/officeDocument/2006/relationships/tableStyles" Target="/ppt/tableStyles.xml" Id="R72329e7f7e854ad3" /><Relationship Type="http://schemas.openxmlformats.org/officeDocument/2006/relationships/slide" Target="/ppt/slides/slide1.xml" Id="R0be4b8cfcce04fc7" /><Relationship Type="http://schemas.openxmlformats.org/officeDocument/2006/relationships/slide" Target="/ppt/slides/slide2.xml" Id="R8bcc506e388c4315" /><Relationship Type="http://schemas.openxmlformats.org/officeDocument/2006/relationships/slide" Target="/ppt/slides/slide3.xml" Id="R08b97f6f2cbe4af9" /><Relationship Type="http://schemas.openxmlformats.org/officeDocument/2006/relationships/slide" Target="/ppt/slides/slide4.xml" Id="Rd60406571f3e4103" /><Relationship Type="http://schemas.openxmlformats.org/officeDocument/2006/relationships/slide" Target="/ppt/slides/slide5.xml" Id="Rff35c53d38e14eaa" /><Relationship Type="http://schemas.openxmlformats.org/officeDocument/2006/relationships/slide" Target="/ppt/slides/slide6.xml" Id="Red1ac3ecf93449ad" /><Relationship Type="http://schemas.openxmlformats.org/officeDocument/2006/relationships/slide" Target="/ppt/slides/slide7.xml" Id="R7d7ded5e11a94a24" /><Relationship Type="http://schemas.openxmlformats.org/officeDocument/2006/relationships/slide" Target="/ppt/slides/slide8.xml" Id="R118b83d27085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c4f1e77ab1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3dbd862e7543b6" /><Relationship Type="http://schemas.openxmlformats.org/officeDocument/2006/relationships/notesMaster" Target="/ppt/notesMasters/notesMaster1.xml" Id="R806935f59cdd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ab61f7a144057" /><Relationship Type="http://schemas.openxmlformats.org/officeDocument/2006/relationships/notesMaster" Target="/ppt/notesMasters/notesMaster1.xml" Id="R8d519f16956f46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a3aa9c3a6948dd" /><Relationship Type="http://schemas.openxmlformats.org/officeDocument/2006/relationships/notesMaster" Target="/ppt/notesMasters/notesMaster1.xml" Id="R8d2b89fcfb2f4f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548c5be0df4194" /><Relationship Type="http://schemas.openxmlformats.org/officeDocument/2006/relationships/notesMaster" Target="/ppt/notesMasters/notesMaster1.xml" Id="Ra23ef862aa69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e7caed6e845d6" /><Relationship Type="http://schemas.openxmlformats.org/officeDocument/2006/relationships/notesMaster" Target="/ppt/notesMasters/notesMaster1.xml" Id="Rcb90714064194b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493b578ca4d30" /><Relationship Type="http://schemas.openxmlformats.org/officeDocument/2006/relationships/notesMaster" Target="/ppt/notesMasters/notesMaster1.xml" Id="Rff7b094a328846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828f22c0f543fd" /><Relationship Type="http://schemas.openxmlformats.org/officeDocument/2006/relationships/notesMaster" Target="/ppt/notesMasters/notesMaster1.xml" Id="R359650ef5013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88ea1edc7418f" /><Relationship Type="http://schemas.openxmlformats.org/officeDocument/2006/relationships/notesMaster" Target="/ppt/notesMasters/notesMaster1.xml" Id="R41f06b5222544f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bed4b0c6949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5def9f777c4794" /><Relationship Type="http://schemas.openxmlformats.org/officeDocument/2006/relationships/slideLayout" Target="/ppt/slideLayouts/slideLayout1.xml" Id="Rd1d7861826bb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d7861826bb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2f7bfbf964ff7" /><Relationship Type="http://schemas.openxmlformats.org/officeDocument/2006/relationships/notesSlide" Target="/ppt/notesSlides/notesSlide1.xml" Id="R2a95355f6f8845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8bc7ad1734acb" /><Relationship Type="http://schemas.openxmlformats.org/officeDocument/2006/relationships/notesSlide" Target="/ppt/notesSlides/notesSlide2.xml" Id="R835f5201793543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279fb445c4493" /><Relationship Type="http://schemas.openxmlformats.org/officeDocument/2006/relationships/notesSlide" Target="/ppt/notesSlides/notesSlide3.xml" Id="R933da28490a749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2f8a2ec0a49ea" /><Relationship Type="http://schemas.openxmlformats.org/officeDocument/2006/relationships/notesSlide" Target="/ppt/notesSlides/notesSlide4.xml" Id="Rc8be675bf43146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1ea62fb0e4792" /><Relationship Type="http://schemas.openxmlformats.org/officeDocument/2006/relationships/notesSlide" Target="/ppt/notesSlides/notesSlide5.xml" Id="Rdf11985f376e45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836f3cf134fcc" /><Relationship Type="http://schemas.openxmlformats.org/officeDocument/2006/relationships/notesSlide" Target="/ppt/notesSlides/notesSlide6.xml" Id="Rf2d74efd45d64a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b0858ce7c47c4" /><Relationship Type="http://schemas.openxmlformats.org/officeDocument/2006/relationships/notesSlide" Target="/ppt/notesSlides/notesSlide7.xml" Id="R7c3bdfc2a2204b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897b63025487c" /><Relationship Type="http://schemas.openxmlformats.org/officeDocument/2006/relationships/notesSlide" Target="/ppt/notesSlides/notesSlide8.xml" Id="R17c8ded603544d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538E0-EC3B-46A1-B5BF-A306829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"/>
            <a:ext cx="9334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 кој континент се наоѓа Колосеумот?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5D2C9-CE20-4D77-B021-98EFA55F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6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Прашање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BBD3-B4F2-4CF3-A941-1F28118A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1EA18-60AE-4D62-9547-3CEF810A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Колосеум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14A2C-54A3-4763-85C1-C4A09AD3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71ED9-ADEA-443E-8F85-E0FF341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86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Рим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D2AA5-D51C-4ED1-A58B-3E606B4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B83C4-BC30-44B9-BC3D-98096CD8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Италија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AD7CC-8932-4DD9-9254-1C1C932F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933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B8C29-6704-4659-BB8C-B0F38679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479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A98D0-4B22-4E83-A76A-D4ED4CF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147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Европа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3C66C-A8AB-49F0-AF8E-56A1FABB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CEAC8-561B-4199-8F38-0318561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197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Италијански јазик</a:t>
            </a:r>
          </a:p>
        </p:txBody>
      </p:sp>
      <p:cxnSp>
        <p:nvCxnSpPr>
          <p:cNvPr id="38" name=""/>
          <p:cNvCxnSpPr>
            <a:stCxn xmlns:a="http://schemas.openxmlformats.org/drawingml/2006/main" id="3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1733550" y="3190875"/>
            <a:ext cx="2228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4419600" y="3190875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7134225" y="3190875"/>
            <a:ext cx="2419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905625" y="3419475"/>
            <a:ext cx="0" cy="1514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8EEE0-79CE-430C-ADE4-13051FE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771775"/>
            <a:ext cx="142875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 наоѓа во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8D8BF-D475-4F9F-9907-13693AEB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71775"/>
            <a:ext cx="1000125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дел од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9E3D6-C1E3-40F8-BE25-E935700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71775"/>
            <a:ext cx="1190625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континент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4C10B-C6B8-4F60-ACC2-19F0ACB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службен јазик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C6D5C-ACBD-44A5-A901-11F7ED4C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почетен ентитет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47D10-76B5-485D-92A4-4F2235B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точен одговор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85F4D-CDF6-4A10-9FF2-21FD4833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1912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9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Два посредни ентитети го поврзуваат прашањето со одговорот</a:t>
            </a:r>
          </a:p>
        </p:txBody>
      </p:sp>
    </p:spTree>
    <p:extLst>
      <p:ext uri="{BB962C8B-B14F-4D97-AF65-F5344CB8AC3E}">
        <p14:creationId xmlns:p14="http://schemas.microsoft.com/office/powerpoint/2010/main" val="16882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FBDD7F-FDD9-4CF2-B292-762DFD31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8E435-C345-489F-8CC2-4DF4E4B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D8FF3-3775-4BFE-8535-B79E2BFB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AE07B-B35D-4DBC-A82F-5C53097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cxnSp>
        <p:nvCxnSpPr>
          <p:cNvPr id="46" name=""/>
          <p:cNvCxnSpPr>
            <a:stCxn xmlns:a="http://schemas.openxmlformats.org/drawingml/2006/main" id="1" idx="6"/>
            <a:endCxn xmlns:a="http://schemas.openxmlformats.org/drawingml/2006/main" id="2" idx="2"/>
          </p:cNvCxnSpPr>
          <p:nvPr/>
        </p:nvCxnSpPr>
        <p:spPr>
          <a:xfrm xmlns:a="http://schemas.openxmlformats.org/drawingml/2006/main">
            <a:off x="1638300" y="3314700"/>
            <a:ext cx="2819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2" idx="6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4591050" y="3314700"/>
            <a:ext cx="2867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3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7591425" y="3314700"/>
            <a:ext cx="2819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D4C41-4E6D-4546-913C-0E0A47EC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B205F-B3DA-4DED-9E40-CDBA3C9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43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2780A-6C4B-4386-96F8-7664CAEC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86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A803F-DF4D-4377-B546-EB5D92B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53" name=""/>
          <p:cNvCxnSpPr>
            <a:stCxn xmlns:a="http://schemas.openxmlformats.org/drawingml/2006/main" id="9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23797" y="2138222"/>
            <a:ext cx="433329" cy="31902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10" idx="7"/>
            <a:endCxn xmlns:a="http://schemas.openxmlformats.org/drawingml/2006/main" id="8" idx="3"/>
          </p:cNvCxnSpPr>
          <p:nvPr/>
        </p:nvCxnSpPr>
        <p:spPr>
          <a:xfrm xmlns:a="http://schemas.openxmlformats.org/drawingml/2006/main" flipV="1">
            <a:off x="890447" y="2686248"/>
            <a:ext cx="566679" cy="2333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8" idx="6"/>
          </p:cNvCxnSpPr>
          <p:nvPr/>
        </p:nvCxnSpPr>
        <p:spPr>
          <a:xfrm xmlns:a="http://schemas.openxmlformats.org/drawingml/2006/main" flipH="1" flipV="1">
            <a:off x="1733550" y="2571750"/>
            <a:ext cx="42862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D0108-090F-4C04-9FAD-F00BEE45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5C7B5-2889-4D57-B08A-293CBFC4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5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6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62247" y="2252522"/>
            <a:ext cx="547629" cy="204729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F86C6"/>
            </a:solidFill>
            <a:prstDash val="solid"/>
            <a:tail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4A580-3D62-4400-959F-AE394DCD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0" name=""/>
          <p:cNvCxnSpPr>
            <a:stCxn xmlns:a="http://schemas.openxmlformats.org/drawingml/2006/main" id="18" idx="7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V="1">
            <a:off x="3862247" y="2686248"/>
            <a:ext cx="547629" cy="261879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23C"/>
            </a:solidFill>
            <a:prstDash val="solid"/>
            <a:tail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06A68-CA02-4FAA-8284-2B55D053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62" name=""/>
          <p:cNvCxnSpPr>
            <a:stCxn xmlns:a="http://schemas.openxmlformats.org/drawingml/2006/main" id="20" idx="2"/>
            <a:endCxn xmlns:a="http://schemas.openxmlformats.org/drawingml/2006/main" id="15" idx="6"/>
          </p:cNvCxnSpPr>
          <p:nvPr/>
        </p:nvCxnSpPr>
        <p:spPr>
          <a:xfrm xmlns:a="http://schemas.openxmlformats.org/drawingml/2006/main" flipH="1">
            <a:off x="4686300" y="2476500"/>
            <a:ext cx="4381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72CFA-7195-4DB0-9CEF-C55B5BA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90700"/>
            <a:ext cx="1047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444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i₁  i₂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6354F-3C5F-4FA8-8605-C5B14AFA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00325"/>
            <a:ext cx="10477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GNN</a:t>
            </a:r>
          </a:p>
        </p:txBody>
      </p:sp>
      <p:cxnSp>
        <p:nvCxnSpPr>
          <p:cNvPr id="6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524750" y="21907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64A2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3" idx="3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8048625" y="1990725"/>
            <a:ext cx="0" cy="871538"/>
          </a:xfrm>
          <a:prstGeom xmlns:a="http://schemas.openxmlformats.org/drawingml/2006/main" prst="curvedConnector2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9C64E-AEFB-4B3C-8F23-479CD5A3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33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204E2-292C-4079-B160-F6FF8C5E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AA3E6B-ADB5-40A5-8B13-D374C12D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6F8851-7761-4AD2-8414-084371DB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371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8E5193-DE2F-4D7E-B1B1-FFAD65FB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72" name=""/>
          <p:cNvCxnSpPr>
            <a:stCxn xmlns:a="http://schemas.openxmlformats.org/drawingml/2006/main" id="26" idx="7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V="1">
            <a:off x="9688757" y="2576372"/>
            <a:ext cx="441220" cy="19357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7" idx="5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0291622" y="2576372"/>
            <a:ext cx="447955" cy="24793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8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V="1">
            <a:off x="10901222" y="2583107"/>
            <a:ext cx="422170" cy="2411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E141F-7C9B-4857-B40B-9869C25B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Агрегација на</a:t>
            </a:r>
          </a:p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соседството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7A1B0-6DA2-4E11-A86A-34EF711D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GraphSAGE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09D984-427F-48A3-8450-C21811D7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Релациско</a:t>
            </a:r>
          </a:p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моделирање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67276-8753-4092-B2BE-A71B47F4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Advance GraphSAGE</a:t>
            </a:r>
          </a:p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R-GCN · HGT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AEA571-CABE-4970-BA2D-B7898BA7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Приспособливо</a:t>
            </a:r>
          </a:p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расудување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8DEC15-956A-4411-8716-4F51B6DA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E02C19-9B0A-48AD-AC1F-1CA36B13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Расудување по</a:t>
            </a:r>
          </a:p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релациски патеки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74E713-FFA7-4606-B1AF-9FD14584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</p:spTree>
    <p:extLst>
      <p:ext uri="{BB962C8B-B14F-4D97-AF65-F5344CB8AC3E}">
        <p14:creationId xmlns:p14="http://schemas.microsoft.com/office/powerpoint/2010/main" val="1916370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DE97D6-2DBE-4456-A1AD-6B314A5F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GraphSAGE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BE386-BEC7-4B8C-A3A9-E80A2AD1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Advance GraphSAGE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093CB-61F7-491D-9102-C342224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F3D31-40B9-48D5-A78C-4B60D63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00125"/>
            <a:ext cx="1714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  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3DB3E-4749-48E5-8232-8DE6D131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00125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cos(q, r)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86125" y="12477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C7802-EAD1-424F-BE70-7EC5A17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405BB-C5B3-4A8F-9785-34A85269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62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8" idx="5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835733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C16F1-5AAC-4BA2-8BE4-0A4495A1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027" y="2408307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98A84-9F16-447C-B236-E72634DE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1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647825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E09A0-11CA-4E17-8722-BF0DFB3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94" y="3651576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877B1-62AF-45E4-A073-7E83F6F6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55" name=""/>
          <p:cNvCxnSpPr>
            <a:stCxn xmlns:a="http://schemas.openxmlformats.org/drawingml/2006/main" id="14" idx="0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 flipV="1">
            <a:off x="3238500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B4454-BCA8-45CE-B820-F0841950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550" y="3859129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7ECD6-D4EF-49CF-8ABD-2374465C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0001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cxnSp>
        <p:nvCxnSpPr>
          <p:cNvPr id="58" name=""/>
          <p:cNvCxnSpPr>
            <a:stCxn xmlns:a="http://schemas.openxmlformats.org/drawingml/2006/main" id="7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57575" y="33337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B3F44-FA27-43E0-B9A1-E04F3ACE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Фиксно семантичко пондерирање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84763-7909-4A18-AD68-F0D2E64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000125"/>
            <a:ext cx="1714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  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E5F6A-6E36-45D1-B7E1-CFD0652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00125"/>
            <a:ext cx="2190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научен gate α(q, r)</a:t>
            </a:r>
          </a:p>
        </p:txBody>
      </p:sp>
      <p:cxnSp>
        <p:nvCxnSpPr>
          <p:cNvPr id="6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10575" y="12477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7942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457B8-E96D-412A-A98B-78C597D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9207D-ACDD-4DDC-8163-DBC5A6F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62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4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2608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3" idx="1"/>
            <a:endCxn xmlns:a="http://schemas.openxmlformats.org/drawingml/2006/main" id="24" idx="5"/>
          </p:cNvCxnSpPr>
          <p:nvPr/>
        </p:nvCxnSpPr>
        <p:spPr>
          <a:xfrm xmlns:a="http://schemas.openxmlformats.org/drawingml/2006/main" flipH="1" flipV="1">
            <a:off x="7312608" y="2454858"/>
            <a:ext cx="1247857" cy="72398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BDBEF-2FD9-46CD-924E-5461FE3E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902" y="2408307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FC494-64EB-4C7E-B90A-51F764D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9" name=""/>
          <p:cNvCxnSpPr>
            <a:stCxn xmlns:a="http://schemas.openxmlformats.org/drawingml/2006/main" id="2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7124700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A23C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3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>
            <a:off x="7124700" y="3333750"/>
            <a:ext cx="13716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0B29A-038B-4902-8ECE-5F20EF51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969" y="3651576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273D2D-2DA1-4AF9-BBD1-471A206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73" name=""/>
          <p:cNvCxnSpPr>
            <a:stCxn xmlns:a="http://schemas.openxmlformats.org/drawingml/2006/main" id="32" idx="0"/>
            <a:endCxn xmlns:a="http://schemas.openxmlformats.org/drawingml/2006/main" id="23" idx="4"/>
          </p:cNvCxnSpPr>
          <p:nvPr/>
        </p:nvCxnSpPr>
        <p:spPr>
          <a:xfrm xmlns:a="http://schemas.openxmlformats.org/drawingml/2006/main" flipH="1" flipV="1">
            <a:off x="8715375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3" idx="4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15375" y="3552825"/>
            <a:ext cx="1428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28665-035D-4C93-B29A-FA2691DA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425" y="3859129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F6A9F4-DAD5-499D-B304-690E06EA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86100"/>
            <a:ext cx="10001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cxnSp>
        <p:nvCxnSpPr>
          <p:cNvPr id="77" name=""/>
          <p:cNvCxnSpPr>
            <a:stCxn xmlns:a="http://schemas.openxmlformats.org/drawingml/2006/main" id="23" idx="6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934450" y="33337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942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65037-A67D-4766-B1E8-85A7BF6F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11430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cxnSp>
        <p:nvCxnSpPr>
          <p:cNvPr id="79" name=""/>
          <p:cNvCxnSpPr>
            <a:stCxn xmlns:a="http://schemas.openxmlformats.org/drawingml/2006/main" id="38" idx="3"/>
            <a:endCxn xmlns:a="http://schemas.openxmlformats.org/drawingml/2006/main" id="36" idx="2"/>
          </p:cNvCxnSpPr>
          <p:nvPr/>
        </p:nvCxnSpPr>
        <p:spPr>
          <a:xfrm xmlns:a="http://schemas.openxmlformats.org/drawingml/2006/main" flipV="1">
            <a:off x="9525000" y="3581400"/>
            <a:ext cx="547688" cy="17430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955848-574B-4AFA-B400-9D4A682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15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7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Пондерирање научено за конкретното прашање</a:t>
            </a:r>
          </a:p>
        </p:txBody>
      </p:sp>
    </p:spTree>
    <p:extLst>
      <p:ext uri="{BB962C8B-B14F-4D97-AF65-F5344CB8AC3E}">
        <p14:creationId xmlns:p14="http://schemas.microsoft.com/office/powerpoint/2010/main" val="719687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4D9DE7-5DED-4EE8-B6A1-290E3AF9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R-GCN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21EB5-1CD3-4E1A-B9B1-60F2A0B2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HGT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F5602-4A8D-44C2-9E5A-ACFDB3F0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EDE41-7A6C-42AC-B393-65487D6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98BE3-D1A6-4FEF-A1CB-5F547AAF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2B3FA-A658-4FEA-8627-3EF9EBD8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Wᵣ₁</a:t>
            </a:r>
          </a:p>
        </p:txBody>
      </p:sp>
      <p:cxnSp>
        <p:nvCxnSpPr>
          <p:cNvPr id="41" name=""/>
          <p:cNvCxnSpPr>
            <a:stCxn xmlns:a="http://schemas.openxmlformats.org/drawingml/2006/main" id="5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76450" y="2143125"/>
            <a:ext cx="1162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43350" y="2571750"/>
            <a:ext cx="514630" cy="45748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C52DD-9F7F-47F5-A62D-B0953E37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892" y="1860835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9ED25-9AAD-4315-A547-67D3A94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F4E68-C9D4-4CF6-A045-69B60ECE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5277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A23C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Wᵣ₂</a:t>
            </a:r>
          </a:p>
        </p:txBody>
      </p:sp>
      <p:cxnSp>
        <p:nvCxnSpPr>
          <p:cNvPr id="46" name=""/>
          <p:cNvCxnSpPr>
            <a:stCxn xmlns:a="http://schemas.openxmlformats.org/drawingml/2006/main" id="10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885950" y="3352800"/>
            <a:ext cx="13525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5A23C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943350" y="3190875"/>
            <a:ext cx="44767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DE3DA-9F26-4E35-B294-CEBF3F35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649" y="352022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32367-3495-4F92-BE87-C8EE5D21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CF789-7EBA-46BB-8D63-4F1353D8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33825"/>
            <a:ext cx="7048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Wᵣ₃</a:t>
            </a:r>
          </a:p>
        </p:txBody>
      </p:sp>
      <p:cxnSp>
        <p:nvCxnSpPr>
          <p:cNvPr id="51" name=""/>
          <p:cNvCxnSpPr>
            <a:stCxn xmlns:a="http://schemas.openxmlformats.org/drawingml/2006/main" id="15" idx="7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692983" y="4133850"/>
            <a:ext cx="545517" cy="364542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4" idx="3"/>
          </p:cNvCxnSpPr>
          <p:nvPr/>
        </p:nvCxnSpPr>
        <p:spPr>
          <a:xfrm xmlns:a="http://schemas.openxmlformats.org/drawingml/2006/main" flipV="1">
            <a:off x="3943350" y="3352520"/>
            <a:ext cx="514630" cy="7813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E7CFF-2461-401D-8223-9C50C473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653" y="4562244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D7464-BBF7-4F15-AE03-C74D3449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962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064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BC205-95F3-45E9-8046-C56D3A25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cxnSp>
        <p:nvCxnSpPr>
          <p:cNvPr id="56" name=""/>
          <p:cNvCxnSpPr>
            <a:stCxn xmlns:a="http://schemas.openxmlformats.org/drawingml/2006/main" id="21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00950" y="2095500"/>
            <a:ext cx="2095780" cy="933730"/>
          </a:xfrm>
          <a:prstGeom xmlns:a="http://schemas.openxmlformats.org/drawingml/2006/main" prst="straightConnector1">
            <a:avLst/>
          </a:prstGeom>
          <a:ln xmlns:a="http://schemas.openxmlformats.org/drawingml/2006/main" w="52388">
            <a:solidFill>
              <a:srgbClr val="4F86C6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814D9-59AC-4068-BF8C-BBF020CE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545" y="193268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r₁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7EECE-0ECA-4F54-A886-CF49D08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488" y="2309813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α₁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6CFCF-A2AB-4EE5-B6FD-E3425A78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05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cxnSp>
        <p:nvCxnSpPr>
          <p:cNvPr id="60" name=""/>
          <p:cNvCxnSpPr>
            <a:stCxn xmlns:a="http://schemas.openxmlformats.org/drawingml/2006/main" id="25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7410450" y="3190875"/>
            <a:ext cx="22193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5A23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3FE04-1D8A-4E6A-A0BD-3985B372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60" y="3515057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r₂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A5183-4FEE-4C4F-AEAC-D2516010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3000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α₂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E212BB-0534-4D32-A7CB-0BE58891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9" idx="7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V="1">
            <a:off x="8265108" y="3352520"/>
            <a:ext cx="1431622" cy="1145872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8D84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13B19-B8A5-4AC5-9508-F51371A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78" y="4315269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3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r₃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FAD20C-345D-42B9-A812-B27708DB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718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α₃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F88C56-E684-4B8A-814E-44E6BA22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81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Трансформација според типот на релацијата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0AC615-5F67-4577-AF35-36725743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102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Релациски зависен attention</a:t>
            </a:r>
          </a:p>
        </p:txBody>
      </p:sp>
    </p:spTree>
    <p:extLst>
      <p:ext uri="{BB962C8B-B14F-4D97-AF65-F5344CB8AC3E}">
        <p14:creationId xmlns:p14="http://schemas.microsoft.com/office/powerpoint/2010/main" val="1993989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CE0CE-6D07-4A80-A882-BED3ED49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1313"/>
            <a:ext cx="15716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Прашање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D3E75-E03F-49D2-9736-B9E713C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0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Инструкции</a:t>
            </a:r>
          </a:p>
          <a:p xmlns:a="http://schemas.openxmlformats.org/drawingml/2006/main">
            <a:pPr algn="ctr">
              <a:defRPr sz="17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i₁   i₂   i₃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F393E-8360-4281-9FAB-27D50C9E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Расудување</a:t>
            </a:r>
          </a:p>
          <a:p xmlns:a="http://schemas.openxmlformats.org/drawingml/2006/main">
            <a:pPr algn="ctr">
              <a:defRPr sz="1725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над графот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EF947-B1F4-4980-8EDF-9474D6B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9125"/>
            <a:ext cx="2000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Собрана</a:t>
            </a:r>
          </a:p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информација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72988-EEB4-4A3E-B56E-17D0355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952500"/>
            <a:ext cx="2095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Ревизија на</a:t>
            </a:r>
          </a:p>
          <a:p xmlns:a="http://schemas.openxmlformats.org/drawingml/2006/main">
            <a:pPr algn="ctr">
              <a:defRPr sz="16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инструкциите</a:t>
            </a:r>
          </a:p>
        </p:txBody>
      </p:sp>
      <p:cxnSp>
        <p:nvCxnSpPr>
          <p:cNvPr id="25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2238375" y="1452563"/>
            <a:ext cx="809625" cy="176212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F86C6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2" idx="2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95750" y="1952625"/>
            <a:ext cx="1000125" cy="1262063"/>
          </a:xfrm>
          <a:prstGeom xmlns:a="http://schemas.openxmlformats.org/drawingml/2006/main" prst="bentConnector5">
            <a:avLst>
              <a:gd name="adj1" fmla="val 0"/>
              <a:gd name="adj2" fmla="val 18113"/>
              <a:gd name="adj3" fmla="val 77143"/>
            </a:avLst>
          </a:prstGeom>
          <a:ln xmlns:a="http://schemas.openxmlformats.org/drawingml/2006/main" w="28575">
            <a:solidFill>
              <a:srgbClr val="8064A2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3" idx="2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143625" y="3714750"/>
            <a:ext cx="1666875" cy="1190625"/>
          </a:xfrm>
          <a:prstGeom xmlns:a="http://schemas.openxmlformats.org/drawingml/2006/main" prst="bentConnector5">
            <a:avLst>
              <a:gd name="adj1" fmla="val 0"/>
              <a:gd name="adj2" fmla="val 19200"/>
              <a:gd name="adj3" fmla="val 86286"/>
            </a:avLst>
          </a:prstGeom>
          <a:ln xmlns:a="http://schemas.openxmlformats.org/drawingml/2006/main" w="28575">
            <a:solidFill>
              <a:srgbClr val="D97942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9810750" y="1952625"/>
            <a:ext cx="666750" cy="295275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5143500" y="1452563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064A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6D53C-E4DF-4F07-B3D7-C2D7CBBF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53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54BB6-7FF6-4934-B6F6-BFE7192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57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F923C-0D45-4B56-A15F-86553474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3CE02-C182-4135-8AB1-AA8A8F2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34" name=""/>
          <p:cNvCxnSpPr>
            <a:stCxn xmlns:a="http://schemas.openxmlformats.org/drawingml/2006/main" id="11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05375" y="5095875"/>
            <a:ext cx="531568" cy="19819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2" idx="7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V="1">
            <a:off x="5612057" y="5054028"/>
            <a:ext cx="573415" cy="24004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6374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B1FD9-93BF-4F8D-9F61-90FD105E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итерација  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774DB-2A68-47A0-A917-0845682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00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следна итерација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A33FB-E85F-46AD-803A-C34693AC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4837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4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Инструкциите се менуваат според информацијата откриена во графот</a:t>
            </a:r>
          </a:p>
        </p:txBody>
      </p:sp>
    </p:spTree>
    <p:extLst>
      <p:ext uri="{BB962C8B-B14F-4D97-AF65-F5344CB8AC3E}">
        <p14:creationId xmlns:p14="http://schemas.microsoft.com/office/powerpoint/2010/main" val="251609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20C71-ACD0-42B7-B02D-2C8785B8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5FA48-7F29-497F-8368-3256F2D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18EDB-DE10-4C2B-8869-997EB400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l =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EB865-1339-44DF-89C9-49A9E2E9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A23C"/>
                </a:solidFill>
                <a:latin typeface="Arial"/>
                <a:ea typeface="Arial"/>
                <a:cs typeface="Arial"/>
              </a:rPr>
              <a:t>Оценки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4BE42-9B5C-41A5-8EBF-5845F848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0FDAA-3B9B-401D-811B-2191DC89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почетен ентитет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ED14C-14B7-4205-B966-CA8961E7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477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BC547-EBEC-4DDA-81FB-7730FB7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иницијализација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CE584-555D-4EC6-AC3D-F0B2FFAD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669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46AD9-5484-4BE2-A51D-84C607C2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67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DAAF0-A7BE-4E23-BAAD-0259E518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FCB9E-0AE7-46B3-AC5C-2997084A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F1238-5FA2-4EA4-8C42-13DB863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1D7A0-1135-43ED-9B4E-7368D14F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647700" cy="647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B9786-32FB-4978-A84A-3ED4E5C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точен одговор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CA831-71A8-4B17-B2D3-D3C21B01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57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9B676-9AEC-4885-8723-88B60B4F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5A2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5A23C"/>
                </a:solidFill>
                <a:latin typeface="Arial"/>
                <a:ea typeface="Arial"/>
                <a:cs typeface="Arial"/>
              </a:rPr>
              <a:t>друг кандидат</a:t>
            </a:r>
          </a:p>
        </p:txBody>
      </p:sp>
      <p:cxnSp>
        <p:nvCxnSpPr>
          <p:cNvPr id="48" name=""/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666875" y="2238375"/>
            <a:ext cx="22574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9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267200" y="2238375"/>
            <a:ext cx="23241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6934200" y="2476500"/>
            <a:ext cx="225742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8D84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5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666875" y="3238500"/>
            <a:ext cx="22574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67200" y="4238625"/>
            <a:ext cx="23241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6934200" y="4476750"/>
            <a:ext cx="2276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5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16983" y="2359608"/>
            <a:ext cx="2424533" cy="199590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4BE"/>
            </a:solidFill>
            <a:prstDash val="dash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D5475-D5A0-4A42-BD9A-7C75E7F2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wᵣ₁(q)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D4746-0113-4EE8-90C5-3E19878C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wᵣ₂(q)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AA2C5-AA18-4042-A414-6857BFF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wᵣ₃(q)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A7431-C032-491F-8B45-F0CB588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1238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9050">
            <a:solidFill>
              <a:srgbClr val="4E9B69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9B69"/>
                </a:solidFill>
                <a:latin typeface="Arial"/>
                <a:ea typeface="Arial"/>
                <a:cs typeface="Arial"/>
              </a:rPr>
              <a:t>висока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80475-F4E0-4404-8868-60E117CD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91000"/>
            <a:ext cx="1238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9B4BE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ниска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A929E-90B4-4080-AE01-1B9B343C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53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Патеките и релациите се условени од прашањето</a:t>
            </a:r>
          </a:p>
        </p:txBody>
      </p:sp>
    </p:spTree>
    <p:extLst>
      <p:ext uri="{BB962C8B-B14F-4D97-AF65-F5344CB8AC3E}">
        <p14:creationId xmlns:p14="http://schemas.microsoft.com/office/powerpoint/2010/main" val="625692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8ABA63-A844-41EF-8883-250A57CB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Унија на најкратки патеки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20BA3-BB1A-42AC-BD86-458E4D9F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PCST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1688B-AC2C-484C-A59C-07817459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3875"/>
            <a:ext cx="1905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C410D-EC03-46A0-8B66-011C05B5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3CC62-1CF8-4446-A525-C96187A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F1540-7610-4098-B41A-2D7C9555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9C370-494C-4BB9-A8DE-8277C72B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34B6D-9F97-4B38-9641-7C45B67C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99301-8A23-47EA-AECA-9F606F7C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C1D03-DFA0-48A1-ABCC-91BB6BC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5908E-F8F3-4EFF-9894-D285AF6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76498" y="2352873"/>
            <a:ext cx="866378" cy="91400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0" name=""/>
          <p:cNvCxnSpPr>
            <a:stCxn xmlns:a="http://schemas.openxmlformats.org/drawingml/2006/main" id="5" idx="5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71873" y="2352873"/>
            <a:ext cx="866378" cy="6758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1" name=""/>
          <p:cNvCxnSpPr>
            <a:stCxn xmlns:a="http://schemas.openxmlformats.org/drawingml/2006/main" id="6" idx="7"/>
            <a:endCxn xmlns:a="http://schemas.openxmlformats.org/drawingml/2006/main" id="7" idx="3"/>
          </p:cNvCxnSpPr>
          <p:nvPr/>
        </p:nvCxnSpPr>
        <p:spPr>
          <a:xfrm xmlns:a="http://schemas.openxmlformats.org/drawingml/2006/main" flipV="1">
            <a:off x="3067248" y="2067123"/>
            <a:ext cx="914003" cy="9616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2" name=""/>
          <p:cNvCxnSpPr>
            <a:stCxn xmlns:a="http://schemas.openxmlformats.org/drawingml/2006/main" id="7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10248" y="2067123"/>
            <a:ext cx="818753" cy="866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3" name=""/>
          <p:cNvCxnSpPr>
            <a:stCxn xmlns:a="http://schemas.openxmlformats.org/drawingml/2006/main" id="6" idx="5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67248" y="3257748"/>
            <a:ext cx="675878" cy="1247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1" idx="6"/>
          </p:cNvCxnSpPr>
          <p:nvPr/>
        </p:nvCxnSpPr>
        <p:spPr>
          <a:xfrm xmlns:a="http://schemas.openxmlformats.org/drawingml/2006/main" flipH="1">
            <a:off x="2019300" y="4619625"/>
            <a:ext cx="16764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5" idx="4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57375" y="2400300"/>
            <a:ext cx="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1F2C4-B865-4735-BF15-A538A4F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F91E8-9C50-4FB6-A30B-369F009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F5F04-E980-4EA8-9B89-60CF8EBA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9A74C-D88E-454F-B33A-F4B9A062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90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17908-65C3-4B59-B168-39424F5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77BDF-EEDD-41D1-BEA3-576AA33E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80035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9F43E-D3B2-4F35-A8D6-D0D64968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2BD84-0D1C-4520-A776-853520B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23813">
            <a:solidFill>
              <a:srgbClr val="DDE3E8"/>
            </a:solidFill>
            <a:prstDash val="solid"/>
          </a:ln>
        </p:spPr>
      </p:sp>
      <p:cxnSp>
        <p:nvCxnSpPr>
          <p:cNvPr id="64" name=""/>
          <p:cNvCxnSpPr>
            <a:stCxn xmlns:a="http://schemas.openxmlformats.org/drawingml/2006/main" id="19" idx="7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V="1">
            <a:off x="7020123" y="2352873"/>
            <a:ext cx="866378" cy="914003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5" name=""/>
          <p:cNvCxnSpPr>
            <a:stCxn xmlns:a="http://schemas.openxmlformats.org/drawingml/2006/main" id="20" idx="5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115498" y="2352873"/>
            <a:ext cx="866378" cy="6758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6" name=""/>
          <p:cNvCxnSpPr>
            <a:stCxn xmlns:a="http://schemas.openxmlformats.org/drawingml/2006/main" id="21" idx="7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9210873" y="2067123"/>
            <a:ext cx="914003" cy="96162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7" name=""/>
          <p:cNvCxnSpPr>
            <a:stCxn xmlns:a="http://schemas.openxmlformats.org/drawingml/2006/main" id="22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353873" y="2067123"/>
            <a:ext cx="818753" cy="866378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8" name=""/>
          <p:cNvCxnSpPr>
            <a:stCxn xmlns:a="http://schemas.openxmlformats.org/drawingml/2006/main" id="21" idx="5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10873" y="3257748"/>
            <a:ext cx="675878" cy="124737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69" name=""/>
          <p:cNvCxnSpPr>
            <a:stCxn xmlns:a="http://schemas.openxmlformats.org/drawingml/2006/main" id="25" idx="2"/>
            <a:endCxn xmlns:a="http://schemas.openxmlformats.org/drawingml/2006/main" id="26" idx="6"/>
          </p:cNvCxnSpPr>
          <p:nvPr/>
        </p:nvCxnSpPr>
        <p:spPr>
          <a:xfrm xmlns:a="http://schemas.openxmlformats.org/drawingml/2006/main" flipH="1">
            <a:off x="8162925" y="4619625"/>
            <a:ext cx="16764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cxnSp>
        <p:nvCxnSpPr>
          <p:cNvPr id="70" name=""/>
          <p:cNvCxnSpPr>
            <a:stCxn xmlns:a="http://schemas.openxmlformats.org/drawingml/2006/main" id="20" idx="4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001000" y="2400300"/>
            <a:ext cx="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DE3E8"/>
            </a:solidFill>
            <a:prstDash val="solid"/>
            <a:tailEnd type="non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506EB-34DB-4A0A-93DF-9B1B646D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59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Се задржува патека до секој достижен кандидат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81C1FC-306B-4B32-866E-7E296EBC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Наградите на јазлите се споредуваат со трошоците на рабовите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86320D-713B-4B77-9891-5903EC5D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43625"/>
            <a:ext cx="2190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повеќе тројки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4F8215-4E0C-402D-8BC9-DC1BA2E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43625"/>
            <a:ext cx="2524125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компактен подграф</a:t>
            </a:r>
          </a:p>
        </p:txBody>
      </p:sp>
    </p:spTree>
    <p:extLst>
      <p:ext uri="{BB962C8B-B14F-4D97-AF65-F5344CB8AC3E}">
        <p14:creationId xmlns:p14="http://schemas.microsoft.com/office/powerpoint/2010/main" val="2130178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31642B-A434-4938-ADF0-DA0293EC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Локален граф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05271-AF82-453D-9701-725EEFF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Пребарани</a:t>
            </a:r>
          </a:p>
          <a:p xmlns:a="http://schemas.openxmlformats.org/drawingml/2006/main">
            <a:pPr algn="ctr">
              <a:defRPr sz="1800" b="1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ентитети-кандидати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DBECD-F5A1-4E4B-8A55-5C9889C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Доказен контекст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C212C-3162-4E9F-AB1C-22DAD4C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1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Одговор од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4F8D8-5D69-4BC5-BD19-F6174FB0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0573E-BAB4-4D27-9BF2-0113C44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9ACD5-4F09-4A09-9260-36FFA674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65108-93E6-4265-9282-BBB1676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solidFill>
              <a:srgbClr val="A9B4BE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619250" y="1647825"/>
            <a:ext cx="2809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4524375" y="1647825"/>
            <a:ext cx="2905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7524750" y="1647825"/>
            <a:ext cx="2809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4BE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BD283-D1A2-4DA2-8F9C-DA3CB927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8A4A9-033E-470C-B664-86559B58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05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B49CC-59BD-4AC5-8B20-E5E6E36D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6FD67-CC83-4E1B-9DAD-A1D49A0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52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72E4F-C82C-4B26-A02A-75E7BED5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6710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7DDF6-C31E-40CA-A677-D09EF75B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2" idx="7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V="1">
            <a:off x="890447" y="2700197"/>
            <a:ext cx="457480" cy="3622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59" name=""/>
          <p:cNvCxnSpPr>
            <a:stCxn xmlns:a="http://schemas.openxmlformats.org/drawingml/2006/main" id="13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509572" y="2700197"/>
            <a:ext cx="505105" cy="2669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0" name=""/>
          <p:cNvCxnSpPr>
            <a:stCxn xmlns:a="http://schemas.openxmlformats.org/drawingml/2006/main" id="14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176322" y="3128822"/>
            <a:ext cx="266980" cy="4574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7" idx="7"/>
          </p:cNvCxnSpPr>
          <p:nvPr/>
        </p:nvCxnSpPr>
        <p:spPr>
          <a:xfrm xmlns:a="http://schemas.openxmlformats.org/drawingml/2006/main" flipH="1">
            <a:off x="1652447" y="3128822"/>
            <a:ext cx="362230" cy="6479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cxnSp>
        <p:nvCxnSpPr>
          <p:cNvPr id="62" name=""/>
          <p:cNvCxnSpPr>
            <a:stCxn xmlns:a="http://schemas.openxmlformats.org/drawingml/2006/main" id="17" idx="1"/>
            <a:endCxn xmlns:a="http://schemas.openxmlformats.org/drawingml/2006/main" id="12" idx="5"/>
          </p:cNvCxnSpPr>
          <p:nvPr/>
        </p:nvCxnSpPr>
        <p:spPr>
          <a:xfrm xmlns:a="http://schemas.openxmlformats.org/drawingml/2006/main" flipH="1" flipV="1">
            <a:off x="890447" y="3224072"/>
            <a:ext cx="600355" cy="5527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746"/>
            </a:solidFill>
            <a:prstDash val="solid"/>
            <a:tail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594E8-DC42-446E-B30B-3C6D5602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33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BF329-9F82-4A34-B445-B43F1E90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8374E-68D3-4C6D-8A36-E0FDAFDF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81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E9985-8C3D-4BDB-A5CA-ACF398BE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956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70205-069F-4FA5-A17E-DE9F9B3F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10191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0154A-C1FB-455E-AC18-C1233BE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29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188471-819C-4A07-B9A8-E6F25A2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48075"/>
            <a:ext cx="8477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CEF17-59A8-489E-BC05-7D94D4E1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23813">
            <a:solidFill>
              <a:srgbClr val="4F86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7D24A-B5CB-453F-B890-77E19525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170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E13C24-A4A5-4972-83A8-CB94EBB2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23813">
            <a:solidFill>
              <a:srgbClr val="4E9B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E590A-27F8-4A3A-963C-C1E698C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718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E9B69"/>
            </a:solidFill>
            <a:prstDash val="dot"/>
          </a:ln>
        </p:spPr>
      </p:sp>
      <p:cxnSp>
        <p:nvCxnSpPr>
          <p:cNvPr id="74" name=""/>
          <p:cNvCxnSpPr>
            <a:stCxn xmlns:a="http://schemas.openxmlformats.org/drawingml/2006/main" id="30" idx="7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V="1">
            <a:off x="6707432" y="2985947"/>
            <a:ext cx="688870" cy="45074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3746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1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557947" y="2985947"/>
            <a:ext cx="688870" cy="3078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DE3E8"/>
            </a:solidFill>
            <a:prstDash val="dash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0857A-D6D8-4659-9FA4-8F234BDF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67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23813">
            <a:solidFill>
              <a:srgbClr val="E5A23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E140D6-154E-4E78-8A17-A8F33480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90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вратен одговор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737D91-774D-442F-A8EE-FFD8C28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89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9B69"/>
                </a:solidFill>
                <a:latin typeface="Arial"/>
                <a:ea typeface="Arial"/>
                <a:cs typeface="Arial"/>
              </a:rPr>
              <a:t>точниот ентитет е присутен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675030-3A2E-44A4-8296-BB4BB1E3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но не е вратен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80C753-8F8E-462A-83B3-48B5BFDE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Загубата може да настане и по пребарувањето</a:t>
            </a:r>
          </a:p>
        </p:txBody>
      </p:sp>
    </p:spTree>
    <p:extLst>
      <p:ext uri="{BB962C8B-B14F-4D97-AF65-F5344CB8AC3E}">
        <p14:creationId xmlns:p14="http://schemas.microsoft.com/office/powerpoint/2010/main" val="108895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2026-09-08T09:24:06.6900000Z</dcterms:created>
  <dcterms:modified xsi:type="dcterms:W3CDTF">2026-09-08T09:24:06.6900000Z</dcterms:modified>
</coreProperties>
</file>